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8" r:id="rId2"/>
    <p:sldId id="260" r:id="rId3"/>
    <p:sldId id="267" r:id="rId4"/>
    <p:sldId id="295" r:id="rId5"/>
    <p:sldId id="296" r:id="rId6"/>
    <p:sldId id="308" r:id="rId7"/>
    <p:sldId id="309" r:id="rId8"/>
    <p:sldId id="306" r:id="rId9"/>
    <p:sldId id="302" r:id="rId10"/>
    <p:sldId id="303" r:id="rId11"/>
    <p:sldId id="304" r:id="rId12"/>
    <p:sldId id="310" r:id="rId13"/>
    <p:sldId id="307" r:id="rId14"/>
    <p:sldId id="266" r:id="rId15"/>
    <p:sldId id="286" r:id="rId16"/>
    <p:sldId id="300" r:id="rId17"/>
    <p:sldId id="312" r:id="rId18"/>
    <p:sldId id="291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17D3"/>
    <a:srgbClr val="3CB250"/>
    <a:srgbClr val="095BFF"/>
    <a:srgbClr val="8ADEDE"/>
    <a:srgbClr val="009999"/>
    <a:srgbClr val="CCECFF"/>
    <a:srgbClr val="66CCFF"/>
    <a:srgbClr val="193D85"/>
    <a:srgbClr val="0070C0"/>
    <a:srgbClr val="602EC4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 autoAdjust="0"/>
    <p:restoredTop sz="94420" autoAdjust="0"/>
  </p:normalViewPr>
  <p:slideViewPr>
    <p:cSldViewPr>
      <p:cViewPr varScale="1">
        <p:scale>
          <a:sx n="51" d="100"/>
          <a:sy n="51" d="100"/>
        </p:scale>
        <p:origin x="-105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508" y="-84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E8A122-BCC4-4958-9EA3-7FC911BDA928}">
      <dsp:nvSpPr>
        <dsp:cNvPr id="0" name=""/>
        <dsp:cNvSpPr/>
      </dsp:nvSpPr>
      <dsp:spPr>
        <a:xfrm>
          <a:off x="3429050" y="2867151"/>
          <a:ext cx="2451845" cy="1349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115977"/>
              <a:satOff val="29452"/>
              <a:lumOff val="-28367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With the Test Plan in hand, and test environment now operational, it is time to execute the tests</a:t>
          </a:r>
          <a:endParaRPr lang="en-US" sz="1200" kern="1200" dirty="0"/>
        </a:p>
      </dsp:txBody>
      <dsp:txXfrm>
        <a:off x="4164603" y="3204463"/>
        <a:ext cx="1716292" cy="1011936"/>
      </dsp:txXfrm>
    </dsp:sp>
    <dsp:sp modelId="{EC862B46-AFA7-4134-A7B3-BB99681D1E2A}">
      <dsp:nvSpPr>
        <dsp:cNvPr id="0" name=""/>
        <dsp:cNvSpPr/>
      </dsp:nvSpPr>
      <dsp:spPr>
        <a:xfrm>
          <a:off x="215103" y="2867151"/>
          <a:ext cx="2082901" cy="1349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173966"/>
              <a:satOff val="44178"/>
              <a:lumOff val="-4255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Defect Reporting and analysis</a:t>
          </a:r>
          <a:endParaRPr lang="en-US" sz="1200" kern="1200" dirty="0"/>
        </a:p>
      </dsp:txBody>
      <dsp:txXfrm>
        <a:off x="215103" y="3204463"/>
        <a:ext cx="1458031" cy="1011936"/>
      </dsp:txXfrm>
    </dsp:sp>
    <dsp:sp modelId="{598D7D2F-A526-4215-83AF-D851EA46894B}">
      <dsp:nvSpPr>
        <dsp:cNvPr id="0" name=""/>
        <dsp:cNvSpPr/>
      </dsp:nvSpPr>
      <dsp:spPr>
        <a:xfrm>
          <a:off x="3653055" y="0"/>
          <a:ext cx="2082901" cy="1349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057989"/>
              <a:satOff val="14726"/>
              <a:lumOff val="-14183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Tool Evaluation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Decide on Framework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Test Plan, and Design </a:t>
          </a:r>
          <a:endParaRPr lang="en-US" sz="1200" kern="1200" dirty="0"/>
        </a:p>
      </dsp:txBody>
      <dsp:txXfrm>
        <a:off x="4277926" y="0"/>
        <a:ext cx="1458031" cy="1011936"/>
      </dsp:txXfrm>
    </dsp:sp>
    <dsp:sp modelId="{B0F0BFFA-F53D-48DE-AF4F-10BAEBC9129B}">
      <dsp:nvSpPr>
        <dsp:cNvPr id="0" name=""/>
        <dsp:cNvSpPr/>
      </dsp:nvSpPr>
      <dsp:spPr>
        <a:xfrm>
          <a:off x="215103" y="0"/>
          <a:ext cx="2082901" cy="13492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-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Feasibility Analysis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Identify candidates for automation</a:t>
          </a:r>
          <a:endParaRPr lang="en-US" sz="1200" kern="1200" dirty="0"/>
        </a:p>
      </dsp:txBody>
      <dsp:txXfrm>
        <a:off x="215103" y="0"/>
        <a:ext cx="1458031" cy="1011936"/>
      </dsp:txXfrm>
    </dsp:sp>
    <dsp:sp modelId="{CCAEBAD6-2E0D-4FA6-A95C-88E3FE9BACDA}">
      <dsp:nvSpPr>
        <dsp:cNvPr id="0" name=""/>
        <dsp:cNvSpPr/>
      </dsp:nvSpPr>
      <dsp:spPr>
        <a:xfrm>
          <a:off x="1180134" y="240334"/>
          <a:ext cx="1825701" cy="1825701"/>
        </a:xfrm>
        <a:prstGeom prst="pieWedg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>
                  <a:lumMod val="75000"/>
                </a:schemeClr>
              </a:solidFill>
            </a:rPr>
            <a:t>Test Automation Assessment</a:t>
          </a:r>
          <a:endParaRPr lang="en-US" sz="1400" b="1" kern="1200" dirty="0">
            <a:solidFill>
              <a:schemeClr val="tx1">
                <a:lumMod val="75000"/>
              </a:schemeClr>
            </a:solidFill>
          </a:endParaRPr>
        </a:p>
      </dsp:txBody>
      <dsp:txXfrm>
        <a:off x="1180134" y="240334"/>
        <a:ext cx="1825701" cy="1825701"/>
      </dsp:txXfrm>
    </dsp:sp>
    <dsp:sp modelId="{1AEE4179-1101-41EF-AC2B-57EBAD3813EB}">
      <dsp:nvSpPr>
        <dsp:cNvPr id="0" name=""/>
        <dsp:cNvSpPr/>
      </dsp:nvSpPr>
      <dsp:spPr>
        <a:xfrm rot="5400000">
          <a:off x="3090164" y="240334"/>
          <a:ext cx="1825701" cy="1825701"/>
        </a:xfrm>
        <a:prstGeom prst="pieWedge">
          <a:avLst/>
        </a:prstGeom>
        <a:solidFill>
          <a:schemeClr val="accent5">
            <a:hueOff val="-3057989"/>
            <a:satOff val="14726"/>
            <a:lumOff val="-14183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>
                  <a:lumMod val="75000"/>
                </a:schemeClr>
              </a:solidFill>
            </a:rPr>
            <a:t>Strategy Formulation</a:t>
          </a:r>
          <a:endParaRPr lang="en-US" sz="1400" b="1" kern="1200" dirty="0">
            <a:solidFill>
              <a:schemeClr val="tx1">
                <a:lumMod val="75000"/>
              </a:schemeClr>
            </a:solidFill>
          </a:endParaRPr>
        </a:p>
      </dsp:txBody>
      <dsp:txXfrm rot="5400000">
        <a:off x="3090164" y="240334"/>
        <a:ext cx="1825701" cy="1825701"/>
      </dsp:txXfrm>
    </dsp:sp>
    <dsp:sp modelId="{3EC011EA-F01F-45B3-8BC8-D06AE7E0F99B}">
      <dsp:nvSpPr>
        <dsp:cNvPr id="0" name=""/>
        <dsp:cNvSpPr/>
      </dsp:nvSpPr>
      <dsp:spPr>
        <a:xfrm rot="10800000">
          <a:off x="3090164" y="2150364"/>
          <a:ext cx="1825701" cy="1825701"/>
        </a:xfrm>
        <a:prstGeom prst="pieWedge">
          <a:avLst/>
        </a:prstGeom>
        <a:solidFill>
          <a:schemeClr val="accent5">
            <a:hueOff val="-6115977"/>
            <a:satOff val="29452"/>
            <a:lumOff val="-28367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>
                  <a:lumMod val="75000"/>
                </a:schemeClr>
              </a:solidFill>
            </a:rPr>
            <a:t>Automation Execution</a:t>
          </a:r>
          <a:endParaRPr lang="en-US" sz="1400" b="1" kern="1200" dirty="0">
            <a:solidFill>
              <a:schemeClr val="tx1">
                <a:lumMod val="75000"/>
              </a:schemeClr>
            </a:solidFill>
          </a:endParaRPr>
        </a:p>
      </dsp:txBody>
      <dsp:txXfrm rot="10800000">
        <a:off x="3090164" y="2150364"/>
        <a:ext cx="1825701" cy="1825701"/>
      </dsp:txXfrm>
    </dsp:sp>
    <dsp:sp modelId="{4A2BAEDA-207A-4E11-8D3D-D48CDCFD4653}">
      <dsp:nvSpPr>
        <dsp:cNvPr id="0" name=""/>
        <dsp:cNvSpPr/>
      </dsp:nvSpPr>
      <dsp:spPr>
        <a:xfrm rot="16200000">
          <a:off x="1180134" y="2150364"/>
          <a:ext cx="1825701" cy="1825701"/>
        </a:xfrm>
        <a:prstGeom prst="pieWedge">
          <a:avLst/>
        </a:prstGeom>
        <a:solidFill>
          <a:schemeClr val="accent5">
            <a:hueOff val="-9173966"/>
            <a:satOff val="44178"/>
            <a:lumOff val="-4255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>
                  <a:lumMod val="75000"/>
                </a:schemeClr>
              </a:solidFill>
            </a:rPr>
            <a:t>Review/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solidFill>
                <a:schemeClr val="tx1">
                  <a:lumMod val="75000"/>
                </a:schemeClr>
              </a:solidFill>
            </a:rPr>
            <a:t>Reporting</a:t>
          </a:r>
          <a:endParaRPr lang="en-US" sz="1400" b="1" kern="1200" dirty="0">
            <a:solidFill>
              <a:schemeClr val="tx1">
                <a:lumMod val="75000"/>
              </a:schemeClr>
            </a:solidFill>
          </a:endParaRPr>
        </a:p>
      </dsp:txBody>
      <dsp:txXfrm rot="16200000">
        <a:off x="1180134" y="2150364"/>
        <a:ext cx="1825701" cy="1825701"/>
      </dsp:txXfrm>
    </dsp:sp>
    <dsp:sp modelId="{2267CDE7-97AF-48A4-9E63-67287B530BAC}">
      <dsp:nvSpPr>
        <dsp:cNvPr id="0" name=""/>
        <dsp:cNvSpPr/>
      </dsp:nvSpPr>
      <dsp:spPr>
        <a:xfrm>
          <a:off x="2732824" y="1728724"/>
          <a:ext cx="630351" cy="548132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C0988-F21E-45A0-B1EA-AB7266FF7CA6}">
      <dsp:nvSpPr>
        <dsp:cNvPr id="0" name=""/>
        <dsp:cNvSpPr/>
      </dsp:nvSpPr>
      <dsp:spPr>
        <a:xfrm rot="10800000">
          <a:off x="2732824" y="1939544"/>
          <a:ext cx="630351" cy="548132"/>
        </a:xfrm>
        <a:prstGeom prst="circular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B7AEE-4E9D-4D0C-B546-B4547499105B}" type="datetimeFigureOut">
              <a:rPr lang="en-US" smtClean="0"/>
              <a:pPr/>
              <a:t>4/22/2010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7817D-FFCC-4E15-A7F8-865451CB86C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AB94A-81C0-47C5-8740-F905AD124BBF}" type="datetimeFigureOut">
              <a:rPr lang="en-US" smtClean="0"/>
              <a:pPr/>
              <a:t>4/22/2010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E1AE8-9039-45EE-BE0A-54F943F88BF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BE1AE8-9039-45EE-BE0A-54F943F88BF8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7" name="Object 15"/>
          <p:cNvGraphicFramePr>
            <a:graphicFrameLocks noChangeAspect="1"/>
          </p:cNvGraphicFramePr>
          <p:nvPr/>
        </p:nvGraphicFramePr>
        <p:xfrm>
          <a:off x="44450" y="2393950"/>
          <a:ext cx="9077325" cy="1819275"/>
        </p:xfrm>
        <a:graphic>
          <a:graphicData uri="http://schemas.openxmlformats.org/presentationml/2006/ole">
            <p:oleObj spid="_x0000_s3087" name="Image" r:id="rId3" imgW="10209524" imgH="1815873" progId="">
              <p:embed/>
            </p:oleObj>
          </a:graphicData>
        </a:graphic>
      </p:graphicFrame>
      <p:grpSp>
        <p:nvGrpSpPr>
          <p:cNvPr id="3088" name="Group 16"/>
          <p:cNvGrpSpPr>
            <a:grpSpLocks/>
          </p:cNvGrpSpPr>
          <p:nvPr/>
        </p:nvGrpSpPr>
        <p:grpSpPr bwMode="auto">
          <a:xfrm>
            <a:off x="34925" y="4292600"/>
            <a:ext cx="9074150" cy="2520950"/>
            <a:chOff x="0" y="2640"/>
            <a:chExt cx="5760" cy="1680"/>
          </a:xfrm>
        </p:grpSpPr>
        <p:sp>
          <p:nvSpPr>
            <p:cNvPr id="3089" name="Rectangle 17"/>
            <p:cNvSpPr>
              <a:spLocks noChangeArrowheads="1"/>
            </p:cNvSpPr>
            <p:nvPr userDrawn="1"/>
          </p:nvSpPr>
          <p:spPr bwMode="gray">
            <a:xfrm>
              <a:off x="0" y="2640"/>
              <a:ext cx="5760" cy="168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90" name="Rectangle 18"/>
            <p:cNvSpPr>
              <a:spLocks noChangeArrowheads="1"/>
            </p:cNvSpPr>
            <p:nvPr userDrawn="1"/>
          </p:nvSpPr>
          <p:spPr bwMode="gray">
            <a:xfrm>
              <a:off x="0" y="2640"/>
              <a:ext cx="5760" cy="96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091" name="Rectangle 19"/>
          <p:cNvSpPr>
            <a:spLocks noChangeArrowheads="1"/>
          </p:cNvSpPr>
          <p:nvPr/>
        </p:nvSpPr>
        <p:spPr bwMode="gray">
          <a:xfrm>
            <a:off x="34925" y="44450"/>
            <a:ext cx="9074150" cy="228282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092" name="Group 20"/>
          <p:cNvGrpSpPr>
            <a:grpSpLocks/>
          </p:cNvGrpSpPr>
          <p:nvPr/>
        </p:nvGrpSpPr>
        <p:grpSpPr bwMode="auto">
          <a:xfrm>
            <a:off x="-4763" y="0"/>
            <a:ext cx="9148763" cy="6856413"/>
            <a:chOff x="-3" y="0"/>
            <a:chExt cx="5763" cy="4319"/>
          </a:xfrm>
        </p:grpSpPr>
        <p:sp>
          <p:nvSpPr>
            <p:cNvPr id="3093" name="AutoShape 21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94" name="Freeform 22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5" name="Freeform 23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6" name="Freeform 24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7" name="Freeform 25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ltGray">
          <a:xfrm>
            <a:off x="762000" y="990600"/>
            <a:ext cx="7772400" cy="10668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953000"/>
            <a:ext cx="6400800" cy="533400"/>
          </a:xfr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630FEEC-E79C-4FE6-92DC-7DB507548918}" type="slidenum">
              <a:rPr lang="en-US"/>
              <a:pPr/>
              <a:t>‹#›</a:t>
            </a:fld>
            <a:endParaRPr lang="en-US" dirty="0"/>
          </a:p>
        </p:txBody>
      </p:sp>
      <p:grpSp>
        <p:nvGrpSpPr>
          <p:cNvPr id="3098" name="Group 26"/>
          <p:cNvGrpSpPr>
            <a:grpSpLocks/>
          </p:cNvGrpSpPr>
          <p:nvPr/>
        </p:nvGrpSpPr>
        <p:grpSpPr bwMode="auto">
          <a:xfrm>
            <a:off x="2482850" y="2895600"/>
            <a:ext cx="2698750" cy="1041400"/>
            <a:chOff x="1610" y="1965"/>
            <a:chExt cx="1700" cy="656"/>
          </a:xfrm>
        </p:grpSpPr>
        <p:pic>
          <p:nvPicPr>
            <p:cNvPr id="3099" name="Picture 27" descr="Untitled-1 copy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gray">
            <a:xfrm>
              <a:off x="2426" y="1965"/>
              <a:ext cx="590" cy="590"/>
            </a:xfrm>
            <a:prstGeom prst="rect">
              <a:avLst/>
            </a:prstGeom>
            <a:noFill/>
          </p:spPr>
        </p:pic>
        <p:pic>
          <p:nvPicPr>
            <p:cNvPr id="3100" name="Picture 28" descr="Untitled-1 copy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gray">
            <a:xfrm>
              <a:off x="3061" y="2372"/>
              <a:ext cx="249" cy="249"/>
            </a:xfrm>
            <a:prstGeom prst="rect">
              <a:avLst/>
            </a:prstGeom>
            <a:noFill/>
          </p:spPr>
        </p:pic>
        <p:pic>
          <p:nvPicPr>
            <p:cNvPr id="3101" name="Picture 29" descr="Untitled-1 copy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gray">
            <a:xfrm>
              <a:off x="1610" y="2237"/>
              <a:ext cx="363" cy="36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47045A9F-F6A1-4722-A856-3E4BA1F52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303D92A4-0910-47E8-8438-305CD50B8B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7BC933A0-51FE-4C25-8C56-8534602260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8F9828DE-0AAE-485D-A16A-0F9C3C5DD21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64894E68-D2D4-4B40-8E14-DB1F50DC8A1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64894E68-D2D4-4B40-8E14-DB1F50DC8A1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671812DD-8893-481F-A8E5-DBFD558D704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3D40DE1B-67E9-4C13-806F-92145D8736B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3B61711B-7A2F-4866-8794-951437BA6EF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22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22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E7F78565-0222-4B79-86D8-610F2C490EC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629400" cy="8683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r>
              <a:rPr lang="en-US" dirty="0" smtClean="0"/>
              <a:t>Click icon to add table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05200" y="6477000"/>
            <a:ext cx="2133600" cy="244475"/>
          </a:xfrm>
        </p:spPr>
        <p:txBody>
          <a:bodyPr/>
          <a:lstStyle>
            <a:lvl1pPr algn="ctr">
              <a:defRPr sz="1200"/>
            </a:lvl1pPr>
          </a:lstStyle>
          <a:p>
            <a:fld id="{F403B79D-3C58-4CA5-AD57-A48EE2C412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5" name="Group 11"/>
          <p:cNvGrpSpPr>
            <a:grpSpLocks/>
          </p:cNvGrpSpPr>
          <p:nvPr/>
        </p:nvGrpSpPr>
        <p:grpSpPr bwMode="auto">
          <a:xfrm>
            <a:off x="0" y="285750"/>
            <a:ext cx="9156700" cy="911225"/>
            <a:chOff x="-1" y="196"/>
            <a:chExt cx="5768" cy="635"/>
          </a:xfrm>
        </p:grpSpPr>
        <p:sp>
          <p:nvSpPr>
            <p:cNvPr id="1036" name="Rectangle 12"/>
            <p:cNvSpPr>
              <a:spLocks noChangeArrowheads="1"/>
            </p:cNvSpPr>
            <p:nvPr userDrawn="1"/>
          </p:nvSpPr>
          <p:spPr bwMode="gray">
            <a:xfrm>
              <a:off x="1" y="196"/>
              <a:ext cx="5766" cy="635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37" name="Freeform 13"/>
            <p:cNvSpPr>
              <a:spLocks/>
            </p:cNvSpPr>
            <p:nvPr userDrawn="1"/>
          </p:nvSpPr>
          <p:spPr bwMode="gray">
            <a:xfrm flipH="1" flipV="1">
              <a:off x="2265" y="196"/>
              <a:ext cx="3497" cy="226"/>
            </a:xfrm>
            <a:custGeom>
              <a:avLst/>
              <a:gdLst/>
              <a:ahLst/>
              <a:cxnLst>
                <a:cxn ang="0">
                  <a:pos x="45" y="590"/>
                </a:cxn>
                <a:cxn ang="0">
                  <a:pos x="1497" y="590"/>
                </a:cxn>
                <a:cxn ang="0">
                  <a:pos x="0" y="0"/>
                </a:cxn>
                <a:cxn ang="0">
                  <a:pos x="0" y="590"/>
                </a:cxn>
              </a:cxnLst>
              <a:rect l="0" t="0" r="r" b="b"/>
              <a:pathLst>
                <a:path w="1497" h="590">
                  <a:moveTo>
                    <a:pt x="45" y="590"/>
                  </a:moveTo>
                  <a:lnTo>
                    <a:pt x="1497" y="590"/>
                  </a:lnTo>
                  <a:lnTo>
                    <a:pt x="0" y="0"/>
                  </a:lnTo>
                  <a:lnTo>
                    <a:pt x="0" y="590"/>
                  </a:lnTo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38" name="Freeform 14"/>
            <p:cNvSpPr>
              <a:spLocks/>
            </p:cNvSpPr>
            <p:nvPr userDrawn="1"/>
          </p:nvSpPr>
          <p:spPr bwMode="gray">
            <a:xfrm>
              <a:off x="-1" y="513"/>
              <a:ext cx="3702" cy="311"/>
            </a:xfrm>
            <a:custGeom>
              <a:avLst/>
              <a:gdLst/>
              <a:ahLst/>
              <a:cxnLst>
                <a:cxn ang="0">
                  <a:pos x="45" y="590"/>
                </a:cxn>
                <a:cxn ang="0">
                  <a:pos x="1497" y="590"/>
                </a:cxn>
                <a:cxn ang="0">
                  <a:pos x="0" y="0"/>
                </a:cxn>
                <a:cxn ang="0">
                  <a:pos x="0" y="590"/>
                </a:cxn>
              </a:cxnLst>
              <a:rect l="0" t="0" r="r" b="b"/>
              <a:pathLst>
                <a:path w="1497" h="590">
                  <a:moveTo>
                    <a:pt x="45" y="590"/>
                  </a:moveTo>
                  <a:lnTo>
                    <a:pt x="1497" y="590"/>
                  </a:lnTo>
                  <a:lnTo>
                    <a:pt x="0" y="0"/>
                  </a:lnTo>
                  <a:lnTo>
                    <a:pt x="0" y="590"/>
                  </a:lnTo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1588" y="0"/>
            <a:ext cx="9144000" cy="2413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12700" y="1235075"/>
            <a:ext cx="9132888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41" name="Picture 17" descr="Untitled-1 copy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gray">
          <a:xfrm>
            <a:off x="252413" y="382588"/>
            <a:ext cx="720725" cy="720725"/>
          </a:xfrm>
          <a:prstGeom prst="rect">
            <a:avLst/>
          </a:prstGeom>
          <a:noFill/>
        </p:spPr>
      </p:pic>
      <p:pic>
        <p:nvPicPr>
          <p:cNvPr id="1042" name="Picture 18" descr="Untitled-1 copy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gray">
          <a:xfrm>
            <a:off x="973138" y="765175"/>
            <a:ext cx="358775" cy="358775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676400" y="274638"/>
            <a:ext cx="66294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fld id="{CFB08D8D-A3D6-4A7A-A802-091B49E2F91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Agile Methodology </a:t>
            </a:r>
            <a:endParaRPr lang="en-US" dirty="0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>
                    <a:lumMod val="50000"/>
                  </a:schemeClr>
                </a:solidFill>
              </a:rPr>
              <a:t>Prakat Solutions</a:t>
            </a: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274638"/>
            <a:ext cx="6629400" cy="868362"/>
          </a:xfrm>
        </p:spPr>
        <p:txBody>
          <a:bodyPr/>
          <a:lstStyle/>
          <a:p>
            <a:r>
              <a:rPr lang="en-US" sz="3200" dirty="0" smtClean="0"/>
              <a:t>Contents</a:t>
            </a:r>
            <a:endParaRPr lang="en-US" sz="3200" dirty="0"/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gray">
          <a:xfrm>
            <a:off x="381000" y="14478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Introduction/Overview</a:t>
            </a:r>
            <a:endParaRPr lang="en-US" sz="1600" dirty="0"/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gray">
          <a:xfrm>
            <a:off x="381000" y="19812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Agile Vs. Waterfall approach</a:t>
            </a:r>
            <a:endParaRPr lang="en-US" sz="1600" b="1" dirty="0"/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gray">
          <a:xfrm>
            <a:off x="381000" y="25146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Agile Framework </a:t>
            </a:r>
            <a:endParaRPr lang="en-US" sz="1600" dirty="0"/>
          </a:p>
        </p:txBody>
      </p:sp>
      <p:sp>
        <p:nvSpPr>
          <p:cNvPr id="13321" name="AutoShape 9"/>
          <p:cNvSpPr>
            <a:spLocks noChangeArrowheads="1"/>
          </p:cNvSpPr>
          <p:nvPr/>
        </p:nvSpPr>
        <p:spPr bwMode="gray">
          <a:xfrm>
            <a:off x="381000" y="30480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Agile Methods/Processes</a:t>
            </a:r>
            <a:endParaRPr lang="en-US" sz="1600" b="1" dirty="0"/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">
          <a:xfrm>
            <a:off x="381000" y="41148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Scrum Roles</a:t>
            </a:r>
            <a:endParaRPr lang="en-US" sz="1600" b="1" dirty="0"/>
          </a:p>
        </p:txBody>
      </p:sp>
      <p:sp>
        <p:nvSpPr>
          <p:cNvPr id="11" name="AutoShape 8"/>
          <p:cNvSpPr>
            <a:spLocks noChangeArrowheads="1"/>
          </p:cNvSpPr>
          <p:nvPr/>
        </p:nvSpPr>
        <p:spPr bwMode="gray">
          <a:xfrm>
            <a:off x="381000" y="51816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Artifacts</a:t>
            </a:r>
            <a:endParaRPr lang="en-US" sz="1600" dirty="0"/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gray">
          <a:xfrm>
            <a:off x="381000" y="56388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Sprint</a:t>
            </a:r>
            <a:endParaRPr lang="en-US" sz="1600" dirty="0"/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gray">
          <a:xfrm>
            <a:off x="381000" y="61722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Sprint Team Structure</a:t>
            </a:r>
            <a:endParaRPr lang="en-US" sz="1600" dirty="0"/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gray">
          <a:xfrm>
            <a:off x="381000" y="46482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Ceremonies</a:t>
            </a:r>
            <a:endParaRPr lang="en-US" sz="1600" b="1" dirty="0"/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gray">
          <a:xfrm>
            <a:off x="381000" y="3581400"/>
            <a:ext cx="7467600" cy="381000"/>
          </a:xfrm>
          <a:prstGeom prst="roundRect">
            <a:avLst>
              <a:gd name="adj" fmla="val 49106"/>
            </a:avLst>
          </a:prstGeom>
          <a:solidFill>
            <a:schemeClr val="bg1"/>
          </a:solidFill>
          <a:ln w="28575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lang="en-US" sz="1600" b="1" dirty="0" smtClean="0"/>
              <a:t>Scrum</a:t>
            </a:r>
            <a:endParaRPr lang="en-US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6629400" cy="868362"/>
          </a:xfrm>
        </p:spPr>
        <p:txBody>
          <a:bodyPr/>
          <a:lstStyle/>
          <a:p>
            <a:r>
              <a:rPr lang="en-US" sz="3200" dirty="0" smtClean="0"/>
              <a:t>Introduction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648200"/>
          </a:xfrm>
        </p:spPr>
        <p:txBody>
          <a:bodyPr anchor="ctr"/>
          <a:lstStyle/>
          <a:p>
            <a:pPr marL="228600" indent="-228600" algn="just">
              <a:spcBef>
                <a:spcPts val="800"/>
              </a:spcBef>
              <a:buFont typeface="Wingdings" pitchFamily="2" charset="2"/>
              <a:buChar char="§"/>
            </a:pPr>
            <a:endParaRPr lang="en-US" sz="2400" dirty="0" smtClean="0"/>
          </a:p>
          <a:p>
            <a:pPr marL="228600" indent="-228600" algn="just">
              <a:spcBef>
                <a:spcPts val="800"/>
              </a:spcBef>
              <a:buNone/>
            </a:pPr>
            <a:r>
              <a:rPr lang="en-US" sz="2400" dirty="0" smtClean="0"/>
              <a:t>“Agile Methodology” definition:</a:t>
            </a:r>
          </a:p>
          <a:p>
            <a:pPr marL="228600" indent="-228600" algn="just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400" dirty="0" smtClean="0"/>
              <a:t>The Word Agile means “Moving Quickly”, which explains    the concept of Agile Testing.</a:t>
            </a:r>
          </a:p>
          <a:p>
            <a:pPr marL="228600" indent="-228600" algn="just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400" dirty="0" smtClean="0"/>
              <a:t>The testers have to adapt to rapid deployment cycles and changes in testing patterns.</a:t>
            </a:r>
          </a:p>
          <a:p>
            <a:pPr marL="228600" indent="-228600" algn="just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400" dirty="0" smtClean="0"/>
              <a:t>Agile testing focuses on testing iteratively against newly developed code until quality is achieved from an end customer's perspective.</a:t>
            </a:r>
          </a:p>
          <a:p>
            <a:pPr marL="228600" indent="-228600" algn="just">
              <a:spcBef>
                <a:spcPts val="800"/>
              </a:spcBef>
              <a:buFont typeface="Wingdings" pitchFamily="2" charset="2"/>
              <a:buChar char="§"/>
            </a:pPr>
            <a:r>
              <a:rPr lang="en-US" sz="2400" dirty="0" smtClean="0"/>
              <a:t>In fact , the emphasis is shifted from "testers as quality police" to something more like "entire project team working towards demonstrable quality“.</a:t>
            </a:r>
          </a:p>
          <a:p>
            <a:pPr marL="0" indent="0" algn="just">
              <a:buNone/>
            </a:pPr>
            <a:endParaRPr lang="en-US" sz="2400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3505200" y="6537325"/>
            <a:ext cx="2133600" cy="244475"/>
          </a:xfrm>
        </p:spPr>
        <p:txBody>
          <a:bodyPr/>
          <a:lstStyle/>
          <a:p>
            <a:fld id="{47045A9F-F6A1-4722-A856-3E4BA1F52BF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Agile Vs Waterfall Approach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5562600" y="1828800"/>
            <a:ext cx="2581275" cy="1460500"/>
            <a:chOff x="2200" y="1570"/>
            <a:chExt cx="1496" cy="1496"/>
          </a:xfrm>
        </p:grpSpPr>
        <p:sp>
          <p:nvSpPr>
            <p:cNvPr id="14" name="Oval 7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5" name="Oval 8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5725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6" name="Oval 9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54118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7" name="Oval 10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18" name="Oval 11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grpSp>
        <p:nvGrpSpPr>
          <p:cNvPr id="19" name="Group 24"/>
          <p:cNvGrpSpPr>
            <a:grpSpLocks/>
          </p:cNvGrpSpPr>
          <p:nvPr/>
        </p:nvGrpSpPr>
        <p:grpSpPr bwMode="auto">
          <a:xfrm>
            <a:off x="914400" y="1828800"/>
            <a:ext cx="2667001" cy="1460500"/>
            <a:chOff x="2200" y="1570"/>
            <a:chExt cx="1496" cy="1496"/>
          </a:xfrm>
        </p:grpSpPr>
        <p:sp>
          <p:nvSpPr>
            <p:cNvPr id="20" name="Oval 25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21" name="Oval 26"/>
            <p:cNvSpPr>
              <a:spLocks noChangeArrowheads="1"/>
            </p:cNvSpPr>
            <p:nvPr/>
          </p:nvSpPr>
          <p:spPr bwMode="gray">
            <a:xfrm>
              <a:off x="2200" y="1570"/>
              <a:ext cx="1496" cy="1496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69804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22" name="Oval 27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23" name="Oval 28"/>
            <p:cNvSpPr>
              <a:spLocks noChangeArrowheads="1"/>
            </p:cNvSpPr>
            <p:nvPr/>
          </p:nvSpPr>
          <p:spPr bwMode="gray">
            <a:xfrm>
              <a:off x="2298" y="1668"/>
              <a:ext cx="1300" cy="1300"/>
            </a:xfrm>
            <a:prstGeom prst="ellipse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8627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  <p:sp>
          <p:nvSpPr>
            <p:cNvPr id="24" name="Oval 29"/>
            <p:cNvSpPr>
              <a:spLocks noChangeArrowheads="1"/>
            </p:cNvSpPr>
            <p:nvPr/>
          </p:nvSpPr>
          <p:spPr bwMode="gray">
            <a:xfrm>
              <a:off x="2363" y="1733"/>
              <a:ext cx="1170" cy="1170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5" name="Rectangle 33"/>
          <p:cNvSpPr>
            <a:spLocks noChangeArrowheads="1"/>
          </p:cNvSpPr>
          <p:nvPr/>
        </p:nvSpPr>
        <p:spPr bwMode="gray">
          <a:xfrm>
            <a:off x="6172200" y="2438400"/>
            <a:ext cx="12858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Waterfall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6" name="Rectangle 34"/>
          <p:cNvSpPr>
            <a:spLocks noChangeArrowheads="1"/>
          </p:cNvSpPr>
          <p:nvPr/>
        </p:nvSpPr>
        <p:spPr bwMode="gray">
          <a:xfrm>
            <a:off x="838200" y="2438400"/>
            <a:ext cx="2743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Agile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2" name="Content Placeholder 41"/>
          <p:cNvSpPr>
            <a:spLocks noGrp="1"/>
          </p:cNvSpPr>
          <p:nvPr>
            <p:ph idx="1"/>
          </p:nvPr>
        </p:nvSpPr>
        <p:spPr>
          <a:xfrm>
            <a:off x="304800" y="3505200"/>
            <a:ext cx="3962400" cy="3048000"/>
          </a:xfrm>
          <a:prstGeom prst="roundRect">
            <a:avLst/>
          </a:prstGeom>
          <a:gradFill flip="none" rotWithShape="1">
            <a:gsLst>
              <a:gs pos="0">
                <a:srgbClr val="3217D3">
                  <a:tint val="66000"/>
                  <a:satMod val="160000"/>
                </a:srgbClr>
              </a:gs>
              <a:gs pos="50000">
                <a:srgbClr val="3217D3">
                  <a:tint val="44500"/>
                  <a:satMod val="160000"/>
                </a:srgbClr>
              </a:gs>
              <a:gs pos="100000">
                <a:srgbClr val="3217D3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3217D3"/>
                </a:solidFill>
              </a:rPr>
              <a:t>The Agile Methodology proposes continuous testing in parallel  with development. </a:t>
            </a:r>
          </a:p>
          <a:p>
            <a:pPr marL="228600" indent="-228600" algn="just">
              <a:buNone/>
            </a:pPr>
            <a:endParaRPr lang="en-US" sz="1400" dirty="0" smtClean="0">
              <a:solidFill>
                <a:srgbClr val="3217D3"/>
              </a:solidFill>
            </a:endParaRPr>
          </a:p>
          <a:p>
            <a:pPr marL="228600" indent="-228600" algn="just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3217D3"/>
                </a:solidFill>
              </a:rPr>
              <a:t>Testing moves the project forward leading to new strategy called Test Driven Development.</a:t>
            </a:r>
          </a:p>
          <a:p>
            <a:pPr marL="228600" indent="-228600" algn="just">
              <a:buNone/>
            </a:pPr>
            <a:endParaRPr lang="en-US" sz="1400" dirty="0" smtClean="0">
              <a:solidFill>
                <a:srgbClr val="3217D3"/>
              </a:solidFill>
            </a:endParaRPr>
          </a:p>
          <a:p>
            <a:pPr marL="228600" indent="-228600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3217D3"/>
                </a:solidFill>
              </a:rPr>
              <a:t>Testers provide information, feedback and suggestions rather than being last phase of defense.</a:t>
            </a:r>
          </a:p>
          <a:p>
            <a:pPr marL="228600" indent="-228600">
              <a:buFont typeface="Wingdings" pitchFamily="2" charset="2"/>
              <a:buChar char="§"/>
            </a:pPr>
            <a:endParaRPr lang="en-US" sz="1200" dirty="0" smtClean="0">
              <a:solidFill>
                <a:srgbClr val="3217D3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029200" y="3505200"/>
            <a:ext cx="3733800" cy="3048000"/>
          </a:xfrm>
          <a:prstGeom prst="roundRect">
            <a:avLst/>
          </a:prstGeom>
          <a:gradFill flip="none" rotWithShape="1">
            <a:gsLst>
              <a:gs pos="0">
                <a:srgbClr val="0099FF">
                  <a:tint val="66000"/>
                  <a:satMod val="160000"/>
                </a:srgbClr>
              </a:gs>
              <a:gs pos="50000">
                <a:srgbClr val="0099FF">
                  <a:tint val="44500"/>
                  <a:satMod val="160000"/>
                </a:srgbClr>
              </a:gs>
              <a:gs pos="100000">
                <a:srgbClr val="0099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0070C0"/>
                </a:solidFill>
              </a:rPr>
              <a:t>Traditional Waterfall Methodology is a sequential process, in which progress is through the phases of Requirement, Design, Implementation, Verification and Maintenance.</a:t>
            </a:r>
          </a:p>
          <a:p>
            <a:pPr marL="228600" indent="-228600" algn="just"/>
            <a:endParaRPr lang="en-US" sz="1400" dirty="0" smtClean="0">
              <a:solidFill>
                <a:srgbClr val="0070C0"/>
              </a:solidFill>
            </a:endParaRPr>
          </a:p>
          <a:p>
            <a:pPr marL="228600" indent="-228600" algn="just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0070C0"/>
                </a:solidFill>
              </a:rPr>
              <a:t>Most of the test execution occurs after the requirements have been defined and the coding process has been completed.</a:t>
            </a:r>
          </a:p>
          <a:p>
            <a:pPr marL="228600" indent="-228600" algn="just"/>
            <a:endParaRPr lang="en-US" sz="1400" dirty="0" smtClean="0">
              <a:solidFill>
                <a:srgbClr val="0070C0"/>
              </a:solidFill>
            </a:endParaRPr>
          </a:p>
          <a:p>
            <a:pPr marL="228600" indent="-228600" algn="just">
              <a:buFont typeface="Wingdings" pitchFamily="2" charset="2"/>
              <a:buChar char="§"/>
            </a:pPr>
            <a:r>
              <a:rPr lang="en-US" sz="1400" dirty="0" smtClean="0">
                <a:solidFill>
                  <a:srgbClr val="0070C0"/>
                </a:solidFill>
              </a:rPr>
              <a:t>The Test Team and the Development Team work as two different entities.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Agile Framework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2971800"/>
            <a:ext cx="8534400" cy="3886200"/>
          </a:xfrm>
          <a:prstGeom prst="rect">
            <a:avLst/>
          </a:prstGeom>
          <a:solidFill>
            <a:srgbClr val="CCECFF"/>
          </a:solidFill>
          <a:ln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609600" y="1524000"/>
            <a:ext cx="1066800" cy="609600"/>
          </a:xfrm>
          <a:prstGeom prst="rightArrow">
            <a:avLst>
              <a:gd name="adj1" fmla="val 67143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lowchart: Multidocument 7"/>
          <p:cNvSpPr/>
          <p:nvPr/>
        </p:nvSpPr>
        <p:spPr>
          <a:xfrm>
            <a:off x="609600" y="2209800"/>
            <a:ext cx="838200" cy="533400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9600" y="1676400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Initiation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0" name="Cube 9"/>
          <p:cNvSpPr/>
          <p:nvPr/>
        </p:nvSpPr>
        <p:spPr>
          <a:xfrm>
            <a:off x="1828800" y="1676400"/>
            <a:ext cx="1905000" cy="2286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ube 11"/>
          <p:cNvSpPr/>
          <p:nvPr/>
        </p:nvSpPr>
        <p:spPr>
          <a:xfrm>
            <a:off x="1828800" y="1905000"/>
            <a:ext cx="1905000" cy="2286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ube 12"/>
          <p:cNvSpPr/>
          <p:nvPr/>
        </p:nvSpPr>
        <p:spPr>
          <a:xfrm>
            <a:off x="1828800" y="2133600"/>
            <a:ext cx="1905000" cy="2286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ube 13"/>
          <p:cNvSpPr/>
          <p:nvPr/>
        </p:nvSpPr>
        <p:spPr>
          <a:xfrm>
            <a:off x="1828800" y="2362200"/>
            <a:ext cx="1905000" cy="2286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05000" y="1676400"/>
            <a:ext cx="1752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Process Charter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05000" y="1905000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Requirement</a:t>
            </a:r>
            <a:r>
              <a:rPr lang="en-US" sz="1200" dirty="0" smtClean="0">
                <a:solidFill>
                  <a:schemeClr val="tx2"/>
                </a:solidFill>
              </a:rPr>
              <a:t> </a:t>
            </a:r>
            <a:r>
              <a:rPr lang="en-US" sz="1100" dirty="0" smtClean="0">
                <a:solidFill>
                  <a:schemeClr val="tx2"/>
                </a:solidFill>
              </a:rPr>
              <a:t>Workshops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05000" y="2133600"/>
            <a:ext cx="1752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Architectural Framework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05000" y="2362200"/>
            <a:ext cx="1752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Training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810000" y="1752600"/>
            <a:ext cx="6096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4572000" y="1752600"/>
            <a:ext cx="8382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334000" y="2133600"/>
            <a:ext cx="914400" cy="3048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572000" y="17526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Release 1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0" y="2133600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Release 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4876800" y="2133600"/>
            <a:ext cx="228600" cy="838200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ube 24"/>
          <p:cNvSpPr/>
          <p:nvPr/>
        </p:nvSpPr>
        <p:spPr>
          <a:xfrm>
            <a:off x="609600" y="3505200"/>
            <a:ext cx="990600" cy="3810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ube 25"/>
          <p:cNvSpPr/>
          <p:nvPr/>
        </p:nvSpPr>
        <p:spPr>
          <a:xfrm>
            <a:off x="1524000" y="3733800"/>
            <a:ext cx="1371600" cy="457200"/>
          </a:xfrm>
          <a:prstGeom prst="cube">
            <a:avLst/>
          </a:prstGeom>
          <a:solidFill>
            <a:srgbClr val="8ADE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ube 27"/>
          <p:cNvSpPr/>
          <p:nvPr/>
        </p:nvSpPr>
        <p:spPr>
          <a:xfrm>
            <a:off x="2362200" y="3733800"/>
            <a:ext cx="1219200" cy="457200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2"/>
                </a:solidFill>
              </a:rPr>
              <a:t>Week 2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9" name="Cube 28"/>
          <p:cNvSpPr/>
          <p:nvPr/>
        </p:nvSpPr>
        <p:spPr>
          <a:xfrm>
            <a:off x="3276600" y="3733800"/>
            <a:ext cx="1371600" cy="457200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2"/>
                </a:solidFill>
              </a:rPr>
              <a:t>Week 3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0" name="Cube 29"/>
          <p:cNvSpPr/>
          <p:nvPr/>
        </p:nvSpPr>
        <p:spPr>
          <a:xfrm>
            <a:off x="4114800" y="3733800"/>
            <a:ext cx="914400" cy="457200"/>
          </a:xfrm>
          <a:prstGeom prst="cub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2"/>
                </a:solidFill>
              </a:rPr>
              <a:t>Week 4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76400" y="3886200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Week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 smtClean="0">
                <a:solidFill>
                  <a:schemeClr val="tx2"/>
                </a:solidFill>
              </a:rPr>
              <a:t>1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30480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Sprint Planning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1752600" y="3352800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Meeting</a:t>
            </a:r>
            <a:endParaRPr lang="en-US" sz="1200" dirty="0"/>
          </a:p>
        </p:txBody>
      </p:sp>
      <p:sp>
        <p:nvSpPr>
          <p:cNvPr id="34" name="TextBox 33"/>
          <p:cNvSpPr txBox="1"/>
          <p:nvPr/>
        </p:nvSpPr>
        <p:spPr>
          <a:xfrm>
            <a:off x="2743200" y="3352800"/>
            <a:ext cx="205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Feedback/Usability Testing</a:t>
            </a:r>
            <a:endParaRPr lang="en-US" sz="1200" dirty="0"/>
          </a:p>
        </p:txBody>
      </p:sp>
      <p:sp>
        <p:nvSpPr>
          <p:cNvPr id="35" name="Cube 34"/>
          <p:cNvSpPr/>
          <p:nvPr/>
        </p:nvSpPr>
        <p:spPr>
          <a:xfrm>
            <a:off x="6096000" y="3733800"/>
            <a:ext cx="1295400" cy="381000"/>
          </a:xfrm>
          <a:prstGeom prst="cube">
            <a:avLst/>
          </a:prstGeom>
          <a:solidFill>
            <a:srgbClr val="8ADE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Cube 35"/>
          <p:cNvSpPr/>
          <p:nvPr/>
        </p:nvSpPr>
        <p:spPr>
          <a:xfrm>
            <a:off x="5715000" y="3505200"/>
            <a:ext cx="457200" cy="304800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Wave 38"/>
          <p:cNvSpPr/>
          <p:nvPr/>
        </p:nvSpPr>
        <p:spPr>
          <a:xfrm>
            <a:off x="7543800" y="3657600"/>
            <a:ext cx="914400" cy="457200"/>
          </a:xfrm>
          <a:prstGeom prst="wave">
            <a:avLst/>
          </a:prstGeom>
          <a:solidFill>
            <a:srgbClr val="0099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620000" y="3733800"/>
            <a:ext cx="76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Release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48400" y="38100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Sprint N</a:t>
            </a:r>
            <a:endParaRPr lang="en-US" sz="1200" dirty="0">
              <a:solidFill>
                <a:schemeClr val="tx2"/>
              </a:solidFill>
            </a:endParaRPr>
          </a:p>
        </p:txBody>
      </p:sp>
      <p:cxnSp>
        <p:nvCxnSpPr>
          <p:cNvPr id="45" name="Straight Connector 44"/>
          <p:cNvCxnSpPr/>
          <p:nvPr/>
        </p:nvCxnSpPr>
        <p:spPr>
          <a:xfrm>
            <a:off x="5181600" y="3962400"/>
            <a:ext cx="609600" cy="1588"/>
          </a:xfrm>
          <a:prstGeom prst="line">
            <a:avLst/>
          </a:prstGeom>
          <a:ln w="381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953000" y="29718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4"/>
                </a:solidFill>
              </a:rPr>
              <a:t>Release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00600" y="3276600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4"/>
                </a:solidFill>
              </a:rPr>
              <a:t>Sprint Deployment</a:t>
            </a:r>
            <a:endParaRPr lang="en-US" sz="1200" dirty="0">
              <a:solidFill>
                <a:schemeClr val="accent4"/>
              </a:solidFill>
            </a:endParaRPr>
          </a:p>
        </p:txBody>
      </p:sp>
      <p:cxnSp>
        <p:nvCxnSpPr>
          <p:cNvPr id="49" name="Straight Arrow Connector 48"/>
          <p:cNvCxnSpPr/>
          <p:nvPr/>
        </p:nvCxnSpPr>
        <p:spPr>
          <a:xfrm rot="16200000" flipH="1">
            <a:off x="5181600" y="3581400"/>
            <a:ext cx="381000" cy="2286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81000" y="4572000"/>
            <a:ext cx="1143000" cy="2286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1600200" y="4572000"/>
            <a:ext cx="2209800" cy="2286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ounded Rectangle 51"/>
          <p:cNvSpPr/>
          <p:nvPr/>
        </p:nvSpPr>
        <p:spPr>
          <a:xfrm>
            <a:off x="3886200" y="4572000"/>
            <a:ext cx="3200400" cy="2286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ounded Rectangle 52"/>
          <p:cNvSpPr/>
          <p:nvPr/>
        </p:nvSpPr>
        <p:spPr>
          <a:xfrm>
            <a:off x="7162800" y="4572000"/>
            <a:ext cx="1524000" cy="2286000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3810000" y="2209800"/>
            <a:ext cx="1066800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4495800" y="22860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PM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10000" y="2514600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Release Plan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477000" y="1447800"/>
            <a:ext cx="2286000" cy="1524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Isosceles Triangle 58"/>
          <p:cNvSpPr/>
          <p:nvPr/>
        </p:nvSpPr>
        <p:spPr>
          <a:xfrm>
            <a:off x="6553200" y="15240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Isosceles Triangle 59"/>
          <p:cNvSpPr/>
          <p:nvPr/>
        </p:nvSpPr>
        <p:spPr>
          <a:xfrm>
            <a:off x="6553200" y="17526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Isosceles Triangle 60"/>
          <p:cNvSpPr/>
          <p:nvPr/>
        </p:nvSpPr>
        <p:spPr>
          <a:xfrm>
            <a:off x="6553200" y="19812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Isosceles Triangle 61"/>
          <p:cNvSpPr/>
          <p:nvPr/>
        </p:nvSpPr>
        <p:spPr>
          <a:xfrm>
            <a:off x="4419600" y="2362200"/>
            <a:ext cx="152400" cy="152400"/>
          </a:xfrm>
          <a:prstGeom prst="triangl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Isosceles Triangle 62"/>
          <p:cNvSpPr/>
          <p:nvPr/>
        </p:nvSpPr>
        <p:spPr>
          <a:xfrm>
            <a:off x="6553200" y="24384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Isosceles Triangle 63"/>
          <p:cNvSpPr/>
          <p:nvPr/>
        </p:nvSpPr>
        <p:spPr>
          <a:xfrm>
            <a:off x="6553200" y="26670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6934200" y="1447800"/>
            <a:ext cx="1752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 Business User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934200" y="1676400"/>
            <a:ext cx="198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 Business Ambassador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934200" y="1905000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SME ( IT)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34200" y="21336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OS Coordinator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34200" y="2362200"/>
            <a:ext cx="13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Developer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34200" y="259080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- Tester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5800" y="5029200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Scope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85800" y="5943600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Tasks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76" name="Isosceles Triangle 75"/>
          <p:cNvSpPr/>
          <p:nvPr/>
        </p:nvSpPr>
        <p:spPr>
          <a:xfrm>
            <a:off x="533400" y="47244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Isosceles Triangle 76"/>
          <p:cNvSpPr/>
          <p:nvPr/>
        </p:nvSpPr>
        <p:spPr>
          <a:xfrm>
            <a:off x="762000" y="47244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Isosceles Triangle 77"/>
          <p:cNvSpPr/>
          <p:nvPr/>
        </p:nvSpPr>
        <p:spPr>
          <a:xfrm>
            <a:off x="990600" y="47244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Isosceles Triangle 78"/>
          <p:cNvSpPr/>
          <p:nvPr/>
        </p:nvSpPr>
        <p:spPr>
          <a:xfrm>
            <a:off x="1219200" y="47244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Isosceles Triangle 79"/>
          <p:cNvSpPr/>
          <p:nvPr/>
        </p:nvSpPr>
        <p:spPr>
          <a:xfrm>
            <a:off x="685800" y="64008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Isosceles Triangle 80"/>
          <p:cNvSpPr/>
          <p:nvPr/>
        </p:nvSpPr>
        <p:spPr>
          <a:xfrm>
            <a:off x="990600" y="64008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7" name="Curved Left Arrow 96"/>
          <p:cNvSpPr/>
          <p:nvPr/>
        </p:nvSpPr>
        <p:spPr>
          <a:xfrm>
            <a:off x="1219200" y="5257800"/>
            <a:ext cx="228600" cy="609600"/>
          </a:xfrm>
          <a:prstGeom prst="curvedLeftArrow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Curved Right Arrow 112"/>
          <p:cNvSpPr/>
          <p:nvPr/>
        </p:nvSpPr>
        <p:spPr>
          <a:xfrm flipV="1">
            <a:off x="533400" y="5257800"/>
            <a:ext cx="228600" cy="609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057400" y="5562600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Understanding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2667000" y="49530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Functionality Review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2819400" y="6019800"/>
            <a:ext cx="83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Design Session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676400" y="5029200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Prioritize Features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752600" y="6096000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tx2"/>
                </a:solidFill>
              </a:rPr>
              <a:t>Estimation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9" name="Isosceles Triangle 118"/>
          <p:cNvSpPr/>
          <p:nvPr/>
        </p:nvSpPr>
        <p:spPr>
          <a:xfrm>
            <a:off x="2819400" y="48006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Isosceles Triangle 119"/>
          <p:cNvSpPr/>
          <p:nvPr/>
        </p:nvSpPr>
        <p:spPr>
          <a:xfrm>
            <a:off x="2971800" y="46482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Isosceles Triangle 120"/>
          <p:cNvSpPr/>
          <p:nvPr/>
        </p:nvSpPr>
        <p:spPr>
          <a:xfrm>
            <a:off x="3124200" y="48006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Isosceles Triangle 121"/>
          <p:cNvSpPr/>
          <p:nvPr/>
        </p:nvSpPr>
        <p:spPr>
          <a:xfrm>
            <a:off x="3276600" y="46482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3" name="Curved Left Arrow 122"/>
          <p:cNvSpPr/>
          <p:nvPr/>
        </p:nvSpPr>
        <p:spPr>
          <a:xfrm>
            <a:off x="3505200" y="5410200"/>
            <a:ext cx="228600" cy="533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4" name="Curved Right Arrow 123"/>
          <p:cNvSpPr/>
          <p:nvPr/>
        </p:nvSpPr>
        <p:spPr>
          <a:xfrm flipV="1">
            <a:off x="1752600" y="5486400"/>
            <a:ext cx="228600" cy="609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Curved Down Arrow 124"/>
          <p:cNvSpPr/>
          <p:nvPr/>
        </p:nvSpPr>
        <p:spPr>
          <a:xfrm>
            <a:off x="2286000" y="4953000"/>
            <a:ext cx="457200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Curved Left Arrow 125"/>
          <p:cNvSpPr/>
          <p:nvPr/>
        </p:nvSpPr>
        <p:spPr>
          <a:xfrm rot="5400000">
            <a:off x="2552700" y="6210300"/>
            <a:ext cx="190500" cy="5715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Isosceles Triangle 126"/>
          <p:cNvSpPr/>
          <p:nvPr/>
        </p:nvSpPr>
        <p:spPr>
          <a:xfrm>
            <a:off x="3429000" y="48006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Isosceles Triangle 127"/>
          <p:cNvSpPr/>
          <p:nvPr/>
        </p:nvSpPr>
        <p:spPr>
          <a:xfrm>
            <a:off x="3581400" y="47244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9" name="Isosceles Triangle 128"/>
          <p:cNvSpPr/>
          <p:nvPr/>
        </p:nvSpPr>
        <p:spPr>
          <a:xfrm>
            <a:off x="1676400" y="48006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Isosceles Triangle 129"/>
          <p:cNvSpPr/>
          <p:nvPr/>
        </p:nvSpPr>
        <p:spPr>
          <a:xfrm>
            <a:off x="1828800" y="48768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Isosceles Triangle 130"/>
          <p:cNvSpPr/>
          <p:nvPr/>
        </p:nvSpPr>
        <p:spPr>
          <a:xfrm>
            <a:off x="2057400" y="48768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Isosceles Triangle 131"/>
          <p:cNvSpPr/>
          <p:nvPr/>
        </p:nvSpPr>
        <p:spPr>
          <a:xfrm>
            <a:off x="1676400" y="63246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" name="Isosceles Triangle 132"/>
          <p:cNvSpPr/>
          <p:nvPr/>
        </p:nvSpPr>
        <p:spPr>
          <a:xfrm>
            <a:off x="1905000" y="63246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Isosceles Triangle 133"/>
          <p:cNvSpPr/>
          <p:nvPr/>
        </p:nvSpPr>
        <p:spPr>
          <a:xfrm>
            <a:off x="2057400" y="64770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Isosceles Triangle 134"/>
          <p:cNvSpPr/>
          <p:nvPr/>
        </p:nvSpPr>
        <p:spPr>
          <a:xfrm>
            <a:off x="3581400" y="60198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Isosceles Triangle 135"/>
          <p:cNvSpPr/>
          <p:nvPr/>
        </p:nvSpPr>
        <p:spPr>
          <a:xfrm>
            <a:off x="3581400" y="62484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Isosceles Triangle 136"/>
          <p:cNvSpPr/>
          <p:nvPr/>
        </p:nvSpPr>
        <p:spPr>
          <a:xfrm>
            <a:off x="3352800" y="64770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Isosceles Triangle 137"/>
          <p:cNvSpPr/>
          <p:nvPr/>
        </p:nvSpPr>
        <p:spPr>
          <a:xfrm>
            <a:off x="3581400" y="64770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4419600" y="54864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TDD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715000" y="541020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Testing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3962400" y="4953000"/>
            <a:ext cx="83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Select Feature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4648200" y="472440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Write Tests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4953000" y="5257800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Code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4876800" y="601980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Verify Feature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4038600" y="601980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Monitor Progress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5638800" y="4724400"/>
            <a:ext cx="838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Run Functional Tests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6172200" y="5791200"/>
            <a:ext cx="838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Run Regression Tests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5486400" y="5943600"/>
            <a:ext cx="381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Fix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49" name="Isosceles Triangle 148"/>
          <p:cNvSpPr/>
          <p:nvPr/>
        </p:nvSpPr>
        <p:spPr>
          <a:xfrm>
            <a:off x="4191000" y="47244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Isosceles Triangle 149"/>
          <p:cNvSpPr/>
          <p:nvPr/>
        </p:nvSpPr>
        <p:spPr>
          <a:xfrm>
            <a:off x="5334000" y="51816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Curved Down Arrow 150"/>
          <p:cNvSpPr/>
          <p:nvPr/>
        </p:nvSpPr>
        <p:spPr>
          <a:xfrm>
            <a:off x="4419600" y="4800600"/>
            <a:ext cx="304800" cy="152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Isosceles Triangle 151"/>
          <p:cNvSpPr/>
          <p:nvPr/>
        </p:nvSpPr>
        <p:spPr>
          <a:xfrm>
            <a:off x="4648200" y="45720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Isosceles Triangle 152"/>
          <p:cNvSpPr/>
          <p:nvPr/>
        </p:nvSpPr>
        <p:spPr>
          <a:xfrm>
            <a:off x="4876800" y="45720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Curved Left Arrow 153"/>
          <p:cNvSpPr/>
          <p:nvPr/>
        </p:nvSpPr>
        <p:spPr>
          <a:xfrm>
            <a:off x="5105400" y="4953000"/>
            <a:ext cx="152400" cy="3810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Curved Left Arrow 155"/>
          <p:cNvSpPr/>
          <p:nvPr/>
        </p:nvSpPr>
        <p:spPr>
          <a:xfrm>
            <a:off x="5257800" y="5486400"/>
            <a:ext cx="152400" cy="457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Curved Right Arrow 156"/>
          <p:cNvSpPr/>
          <p:nvPr/>
        </p:nvSpPr>
        <p:spPr>
          <a:xfrm flipV="1">
            <a:off x="3962400" y="5334000"/>
            <a:ext cx="228600" cy="6858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Curved Left Arrow 157"/>
          <p:cNvSpPr/>
          <p:nvPr/>
        </p:nvSpPr>
        <p:spPr>
          <a:xfrm rot="5400000">
            <a:off x="4667250" y="6229350"/>
            <a:ext cx="152400" cy="4953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Curved Left Arrow 158"/>
          <p:cNvSpPr/>
          <p:nvPr/>
        </p:nvSpPr>
        <p:spPr>
          <a:xfrm>
            <a:off x="6553200" y="5029200"/>
            <a:ext cx="304800" cy="838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Curved Right Arrow 159"/>
          <p:cNvSpPr/>
          <p:nvPr/>
        </p:nvSpPr>
        <p:spPr>
          <a:xfrm flipV="1">
            <a:off x="5562600" y="5257800"/>
            <a:ext cx="152400" cy="609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Curved Up Arrow 163"/>
          <p:cNvSpPr/>
          <p:nvPr/>
        </p:nvSpPr>
        <p:spPr>
          <a:xfrm flipH="1">
            <a:off x="5638800" y="6172200"/>
            <a:ext cx="533400" cy="2286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5" name="Isosceles Triangle 164"/>
          <p:cNvSpPr/>
          <p:nvPr/>
        </p:nvSpPr>
        <p:spPr>
          <a:xfrm>
            <a:off x="4038600" y="64008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6" name="Isosceles Triangle 165"/>
          <p:cNvSpPr/>
          <p:nvPr/>
        </p:nvSpPr>
        <p:spPr>
          <a:xfrm>
            <a:off x="4267200" y="64008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7" name="Isosceles Triangle 166"/>
          <p:cNvSpPr/>
          <p:nvPr/>
        </p:nvSpPr>
        <p:spPr>
          <a:xfrm>
            <a:off x="5105400" y="64008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Isosceles Triangle 167"/>
          <p:cNvSpPr/>
          <p:nvPr/>
        </p:nvSpPr>
        <p:spPr>
          <a:xfrm>
            <a:off x="5334000" y="64008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9" name="Isosceles Triangle 168"/>
          <p:cNvSpPr/>
          <p:nvPr/>
        </p:nvSpPr>
        <p:spPr>
          <a:xfrm>
            <a:off x="6019800" y="47244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0" name="Isosceles Triangle 169"/>
          <p:cNvSpPr/>
          <p:nvPr/>
        </p:nvSpPr>
        <p:spPr>
          <a:xfrm>
            <a:off x="6248400" y="47244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1" name="Isosceles Triangle 170"/>
          <p:cNvSpPr/>
          <p:nvPr/>
        </p:nvSpPr>
        <p:spPr>
          <a:xfrm>
            <a:off x="5486400" y="57912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2" name="Isosceles Triangle 171"/>
          <p:cNvSpPr/>
          <p:nvPr/>
        </p:nvSpPr>
        <p:spPr>
          <a:xfrm>
            <a:off x="5715000" y="57912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Isosceles Triangle 172"/>
          <p:cNvSpPr/>
          <p:nvPr/>
        </p:nvSpPr>
        <p:spPr>
          <a:xfrm>
            <a:off x="6324600" y="63246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Isosceles Triangle 173"/>
          <p:cNvSpPr/>
          <p:nvPr/>
        </p:nvSpPr>
        <p:spPr>
          <a:xfrm>
            <a:off x="6553200" y="63246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TextBox 174"/>
          <p:cNvSpPr txBox="1"/>
          <p:nvPr/>
        </p:nvSpPr>
        <p:spPr>
          <a:xfrm>
            <a:off x="7239000" y="5029200"/>
            <a:ext cx="838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Iteration Showcase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7239000" y="6019800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Usability Testing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7772400" y="5638800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chemeClr val="tx2"/>
                </a:solidFill>
              </a:rPr>
              <a:t>Update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78" name="Curved Left Arrow 177"/>
          <p:cNvSpPr/>
          <p:nvPr/>
        </p:nvSpPr>
        <p:spPr>
          <a:xfrm>
            <a:off x="8001000" y="5105400"/>
            <a:ext cx="228600" cy="5334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2" name="Isosceles Triangle 181"/>
          <p:cNvSpPr/>
          <p:nvPr/>
        </p:nvSpPr>
        <p:spPr>
          <a:xfrm>
            <a:off x="7391400" y="64008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3" name="Isosceles Triangle 182"/>
          <p:cNvSpPr/>
          <p:nvPr/>
        </p:nvSpPr>
        <p:spPr>
          <a:xfrm>
            <a:off x="8229600" y="58674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Isosceles Triangle 183"/>
          <p:cNvSpPr/>
          <p:nvPr/>
        </p:nvSpPr>
        <p:spPr>
          <a:xfrm>
            <a:off x="8382000" y="57150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5" name="Isosceles Triangle 184"/>
          <p:cNvSpPr/>
          <p:nvPr/>
        </p:nvSpPr>
        <p:spPr>
          <a:xfrm>
            <a:off x="7239000" y="48006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" name="Isosceles Triangle 185"/>
          <p:cNvSpPr/>
          <p:nvPr/>
        </p:nvSpPr>
        <p:spPr>
          <a:xfrm>
            <a:off x="7391400" y="4572000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Isosceles Triangle 186"/>
          <p:cNvSpPr/>
          <p:nvPr/>
        </p:nvSpPr>
        <p:spPr>
          <a:xfrm>
            <a:off x="7467600" y="4800600"/>
            <a:ext cx="152400" cy="152400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Isosceles Triangle 187"/>
          <p:cNvSpPr/>
          <p:nvPr/>
        </p:nvSpPr>
        <p:spPr>
          <a:xfrm>
            <a:off x="7620000" y="46482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Isosceles Triangle 188"/>
          <p:cNvSpPr/>
          <p:nvPr/>
        </p:nvSpPr>
        <p:spPr>
          <a:xfrm>
            <a:off x="7696200" y="48768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0" name="Isosceles Triangle 189"/>
          <p:cNvSpPr/>
          <p:nvPr/>
        </p:nvSpPr>
        <p:spPr>
          <a:xfrm>
            <a:off x="7848600" y="47244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3" name="Straight Arrow Connector 192"/>
          <p:cNvCxnSpPr/>
          <p:nvPr/>
        </p:nvCxnSpPr>
        <p:spPr>
          <a:xfrm rot="16200000" flipH="1">
            <a:off x="1790700" y="4229100"/>
            <a:ext cx="304800" cy="2286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/>
          <p:cNvCxnSpPr/>
          <p:nvPr/>
        </p:nvCxnSpPr>
        <p:spPr>
          <a:xfrm rot="5400000">
            <a:off x="800100" y="4229100"/>
            <a:ext cx="533400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/>
          <p:cNvCxnSpPr/>
          <p:nvPr/>
        </p:nvCxnSpPr>
        <p:spPr>
          <a:xfrm>
            <a:off x="3124200" y="4191000"/>
            <a:ext cx="990600" cy="3810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/>
          <p:cNvCxnSpPr/>
          <p:nvPr/>
        </p:nvCxnSpPr>
        <p:spPr>
          <a:xfrm>
            <a:off x="3962400" y="4191000"/>
            <a:ext cx="914400" cy="3048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/>
          <p:cNvCxnSpPr/>
          <p:nvPr/>
        </p:nvCxnSpPr>
        <p:spPr>
          <a:xfrm>
            <a:off x="4800600" y="4191000"/>
            <a:ext cx="762000" cy="3048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Arrow Connector 227"/>
          <p:cNvCxnSpPr/>
          <p:nvPr/>
        </p:nvCxnSpPr>
        <p:spPr>
          <a:xfrm>
            <a:off x="5029200" y="4038600"/>
            <a:ext cx="2438400" cy="53340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Curved Left Arrow 229"/>
          <p:cNvSpPr/>
          <p:nvPr/>
        </p:nvSpPr>
        <p:spPr>
          <a:xfrm flipV="1">
            <a:off x="7924800" y="5943600"/>
            <a:ext cx="228600" cy="457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4" name="Isosceles Triangle 233"/>
          <p:cNvSpPr/>
          <p:nvPr/>
        </p:nvSpPr>
        <p:spPr>
          <a:xfrm>
            <a:off x="6553200" y="22098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Agile Methods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>
              <a:buNone/>
            </a:pPr>
            <a:r>
              <a:rPr lang="en-US" sz="2000" dirty="0" smtClean="0"/>
              <a:t>The following are some of the Agile Methods which are commonly </a:t>
            </a:r>
          </a:p>
          <a:p>
            <a:pPr>
              <a:buNone/>
            </a:pPr>
            <a:r>
              <a:rPr lang="en-US" sz="2000" dirty="0" smtClean="0"/>
              <a:t>Used: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Scrum</a:t>
            </a:r>
          </a:p>
          <a:p>
            <a:pPr>
              <a:buNone/>
            </a:pPr>
            <a:r>
              <a:rPr lang="en-US" sz="2000" dirty="0" smtClean="0"/>
              <a:t>     Product progresses in a series of month-long “sprints”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Extreme Programming (XP)</a:t>
            </a:r>
          </a:p>
          <a:p>
            <a:pPr>
              <a:buNone/>
            </a:pPr>
            <a:r>
              <a:rPr lang="en-US" sz="2000" dirty="0" smtClean="0"/>
              <a:t>	Product progresses in short development cycles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Crystal Clear</a:t>
            </a:r>
          </a:p>
          <a:p>
            <a:pPr>
              <a:buNone/>
            </a:pPr>
            <a:r>
              <a:rPr lang="en-US" sz="2000" dirty="0" smtClean="0"/>
              <a:t>     Applied to the team of up to 6 or 8 developers working on non Life Critical Systems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i="1" dirty="0" smtClean="0"/>
              <a:t>Focus: </a:t>
            </a:r>
            <a:r>
              <a:rPr lang="en-US" sz="2000" b="1" i="1" dirty="0" smtClean="0"/>
              <a:t>Scrum</a:t>
            </a:r>
            <a:r>
              <a:rPr lang="en-US" sz="2000" i="1" dirty="0" smtClean="0"/>
              <a:t> - the Test Driven Development(TDD) method</a:t>
            </a:r>
            <a:r>
              <a:rPr lang="en-US" sz="1800" i="1" dirty="0" smtClean="0"/>
              <a:t>.</a:t>
            </a:r>
            <a:endParaRPr lang="en-US" sz="18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Scrum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Scrum is an agile method for project management. Scrum </a:t>
            </a:r>
          </a:p>
          <a:p>
            <a:pPr>
              <a:buNone/>
            </a:pPr>
            <a:r>
              <a:rPr lang="en-US" sz="2400" dirty="0" smtClean="0"/>
              <a:t>is characterized by: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 living backlog of prioritized work to be done.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Completion of a largely fixed set of backlog items in a series of short iterations or </a:t>
            </a:r>
            <a:r>
              <a:rPr lang="en-US" sz="2400" b="1" dirty="0" smtClean="0"/>
              <a:t>Sprints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 brief daily meeting.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 brief planning session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/>
              <a:t>A brief Retrospective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Scrum Process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ube 5"/>
          <p:cNvSpPr/>
          <p:nvPr/>
        </p:nvSpPr>
        <p:spPr>
          <a:xfrm>
            <a:off x="457200" y="4114800"/>
            <a:ext cx="1524000" cy="3048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Cube 7"/>
          <p:cNvSpPr/>
          <p:nvPr/>
        </p:nvSpPr>
        <p:spPr>
          <a:xfrm>
            <a:off x="457200" y="3962400"/>
            <a:ext cx="1524000" cy="2286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ube 8"/>
          <p:cNvSpPr/>
          <p:nvPr/>
        </p:nvSpPr>
        <p:spPr>
          <a:xfrm>
            <a:off x="533400" y="3581400"/>
            <a:ext cx="1524000" cy="2286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ube 9"/>
          <p:cNvSpPr/>
          <p:nvPr/>
        </p:nvSpPr>
        <p:spPr>
          <a:xfrm>
            <a:off x="457200" y="3810000"/>
            <a:ext cx="1524000" cy="2286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2133600" y="3810000"/>
            <a:ext cx="838200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lowchart: Multidocument 11"/>
          <p:cNvSpPr/>
          <p:nvPr/>
        </p:nvSpPr>
        <p:spPr>
          <a:xfrm>
            <a:off x="3200400" y="3657600"/>
            <a:ext cx="1066800" cy="685800"/>
          </a:xfrm>
          <a:prstGeom prst="flowChartMultidocumen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Arrow 12"/>
          <p:cNvSpPr/>
          <p:nvPr/>
        </p:nvSpPr>
        <p:spPr>
          <a:xfrm>
            <a:off x="4876800" y="3733800"/>
            <a:ext cx="243840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urved Right Arrow 14"/>
          <p:cNvSpPr/>
          <p:nvPr/>
        </p:nvSpPr>
        <p:spPr>
          <a:xfrm rot="5400000" flipV="1">
            <a:off x="5410200" y="1371600"/>
            <a:ext cx="914400" cy="1524000"/>
          </a:xfrm>
          <a:prstGeom prst="curvedRightArrow">
            <a:avLst>
              <a:gd name="adj1" fmla="val 25000"/>
              <a:gd name="adj2" fmla="val 50000"/>
              <a:gd name="adj3" fmla="val 746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Circular Arrow 15"/>
          <p:cNvSpPr/>
          <p:nvPr/>
        </p:nvSpPr>
        <p:spPr>
          <a:xfrm flipH="1">
            <a:off x="4495800" y="2286000"/>
            <a:ext cx="2133600" cy="2895600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9634712"/>
              <a:gd name="adj5" fmla="val 125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Cube 20"/>
          <p:cNvSpPr/>
          <p:nvPr/>
        </p:nvSpPr>
        <p:spPr>
          <a:xfrm>
            <a:off x="7467600" y="3581400"/>
            <a:ext cx="1143000" cy="914400"/>
          </a:xfrm>
          <a:prstGeom prst="cub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410200" y="198120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24 hrs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5400" y="3124200"/>
            <a:ext cx="1143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2-4 Weeks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Product Backlog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rot="5400000" flipH="1" flipV="1">
            <a:off x="800100" y="4762500"/>
            <a:ext cx="533400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76600" y="4953000"/>
            <a:ext cx="1295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Sprint Backlog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rot="5400000" flipH="1" flipV="1">
            <a:off x="3314700" y="4686300"/>
            <a:ext cx="533400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91400" y="5181600"/>
            <a:ext cx="137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Product Increment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rot="5400000" flipH="1" flipV="1">
            <a:off x="7544594" y="4876800"/>
            <a:ext cx="608806" cy="794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971800" y="1752600"/>
            <a:ext cx="16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tx2"/>
                </a:solidFill>
              </a:rPr>
              <a:t>Daily Scrum Meeting</a:t>
            </a:r>
            <a:endParaRPr lang="en-US" sz="1600" dirty="0">
              <a:solidFill>
                <a:schemeClr val="tx2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4114800" y="2133600"/>
            <a:ext cx="990600" cy="1588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Scrum Roles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dirty="0" smtClean="0"/>
              <a:t>Scrum contains sets of practices and predefined roles. The </a:t>
            </a:r>
          </a:p>
          <a:p>
            <a:pPr>
              <a:buNone/>
            </a:pPr>
            <a:r>
              <a:rPr lang="en-US" sz="1800" dirty="0" smtClean="0"/>
              <a:t>main roles in Scrum are: </a:t>
            </a:r>
          </a:p>
          <a:p>
            <a:pPr lvl="0">
              <a:buFont typeface="Wingdings" pitchFamily="2" charset="2"/>
              <a:buChar char="§"/>
            </a:pPr>
            <a:r>
              <a:rPr lang="en-US" sz="1800" dirty="0" smtClean="0"/>
              <a:t>The “</a:t>
            </a:r>
            <a:r>
              <a:rPr lang="en-US" sz="1800" b="1" dirty="0" smtClean="0"/>
              <a:t>Scrum Master</a:t>
            </a:r>
            <a:r>
              <a:rPr lang="en-US" sz="1800" dirty="0" smtClean="0"/>
              <a:t>”, who maintains the processes (typically a project manager)</a:t>
            </a:r>
          </a:p>
          <a:p>
            <a:pPr lvl="0">
              <a:buFont typeface="Wingdings" pitchFamily="2" charset="2"/>
              <a:buChar char="§"/>
            </a:pPr>
            <a:r>
              <a:rPr lang="en-US" sz="1800" dirty="0" smtClean="0"/>
              <a:t>The “</a:t>
            </a:r>
            <a:r>
              <a:rPr lang="en-US" sz="1800" b="1" dirty="0" smtClean="0"/>
              <a:t>Product Owner</a:t>
            </a:r>
            <a:r>
              <a:rPr lang="en-US" sz="1800" dirty="0" smtClean="0"/>
              <a:t>”, who represents the stakeholders, represents the business</a:t>
            </a:r>
          </a:p>
          <a:p>
            <a:pPr lvl="0">
              <a:buFont typeface="Wingdings" pitchFamily="2" charset="2"/>
              <a:buChar char="§"/>
            </a:pPr>
            <a:r>
              <a:rPr lang="en-US" sz="1800" dirty="0" smtClean="0"/>
              <a:t>The “</a:t>
            </a:r>
            <a:r>
              <a:rPr lang="en-US" sz="1800" b="1" dirty="0" smtClean="0"/>
              <a:t>Team</a:t>
            </a:r>
            <a:r>
              <a:rPr lang="en-US" sz="1800" dirty="0" smtClean="0"/>
              <a:t>”, a cross-functional group of about 5 - 7 people who do the actual analysis, design, implementation, testing, etc.</a:t>
            </a:r>
          </a:p>
          <a:p>
            <a:pPr lvl="0">
              <a:buNone/>
            </a:pPr>
            <a:endParaRPr lang="en-US" sz="1800" dirty="0" smtClean="0"/>
          </a:p>
          <a:p>
            <a:pPr lvl="0">
              <a:buNone/>
            </a:pPr>
            <a:r>
              <a:rPr lang="en-US" sz="1800" dirty="0" smtClean="0"/>
              <a:t>All roles fall into two distinct groups – “</a:t>
            </a:r>
            <a:r>
              <a:rPr lang="en-US" sz="1800" b="1" dirty="0" smtClean="0"/>
              <a:t>Pigs” </a:t>
            </a:r>
            <a:r>
              <a:rPr lang="en-US" sz="1800" dirty="0" smtClean="0"/>
              <a:t>and</a:t>
            </a:r>
            <a:r>
              <a:rPr lang="en-US" sz="1800" b="1" dirty="0" smtClean="0"/>
              <a:t> “Chickens” </a:t>
            </a:r>
            <a:r>
              <a:rPr lang="en-US" sz="1800" dirty="0" smtClean="0"/>
              <a:t>based on the </a:t>
            </a:r>
          </a:p>
          <a:p>
            <a:pPr lvl="0">
              <a:buNone/>
            </a:pPr>
            <a:r>
              <a:rPr lang="en-US" sz="1800" dirty="0" smtClean="0"/>
              <a:t>nature of their involvement in the project.</a:t>
            </a:r>
          </a:p>
          <a:p>
            <a:pPr>
              <a:buFont typeface="Wingdings" pitchFamily="2" charset="2"/>
              <a:buChar char="§"/>
            </a:pPr>
            <a:r>
              <a:rPr lang="en-US" sz="1800" b="1" dirty="0" smtClean="0"/>
              <a:t>Pigs </a:t>
            </a:r>
            <a:r>
              <a:rPr lang="en-US" sz="1800" dirty="0" smtClean="0"/>
              <a:t>- Committed to the project. E.g., Scrum Master, Team</a:t>
            </a:r>
          </a:p>
          <a:p>
            <a:pPr>
              <a:buFont typeface="Wingdings" pitchFamily="2" charset="2"/>
              <a:buChar char="§"/>
            </a:pPr>
            <a:r>
              <a:rPr lang="en-US" sz="1800" b="1" dirty="0" smtClean="0"/>
              <a:t>Chickens</a:t>
            </a:r>
            <a:r>
              <a:rPr lang="en-US" sz="1800" dirty="0" smtClean="0"/>
              <a:t> - People for whom the Software is built. E.g., Stakeholders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Ceremonies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The practices followed by the team in Scrum are,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Sprint Planning Meeting: </a:t>
            </a:r>
            <a:r>
              <a:rPr lang="en-US" sz="2400" dirty="0" smtClean="0"/>
              <a:t>is held at the beginning of the Sprint Cycle.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Daily Scrum Meeting: </a:t>
            </a:r>
            <a:r>
              <a:rPr lang="en-US" sz="2400" dirty="0" smtClean="0"/>
              <a:t>Project status meeting on each day during a Sprint. Discussions will be on the work of previous day, present day and the problems in achieving goals.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Sprint Review: </a:t>
            </a:r>
            <a:r>
              <a:rPr lang="en-US" sz="2400" dirty="0" smtClean="0"/>
              <a:t>Review and report the work progress to the Stakeholders.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Sprint Retrospective: </a:t>
            </a:r>
            <a:r>
              <a:rPr lang="en-US" sz="2400" dirty="0" smtClean="0"/>
              <a:t>All team members reflect on the past Sprint and focus on continuous process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Artifacts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Following are the key documents in Scrum,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Product Backlog: </a:t>
            </a:r>
            <a:r>
              <a:rPr lang="en-US" sz="2400" dirty="0" smtClean="0"/>
              <a:t>Is the high level document for the entire project. It is the property of the Product Owner.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/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Sprint Backlog: </a:t>
            </a:r>
            <a:r>
              <a:rPr lang="en-US" sz="2400" dirty="0" smtClean="0"/>
              <a:t>Is a document containing information about how the team is going to implement the upcoming sprint. It is the property of the Team.</a:t>
            </a:r>
          </a:p>
          <a:p>
            <a:pPr>
              <a:buFont typeface="Wingdings" pitchFamily="2" charset="2"/>
              <a:buChar char="§"/>
            </a:pPr>
            <a:endParaRPr lang="en-US" sz="2400" b="1" dirty="0" smtClean="0"/>
          </a:p>
          <a:p>
            <a:pPr>
              <a:buFont typeface="Wingdings" pitchFamily="2" charset="2"/>
              <a:buChar char="§"/>
            </a:pPr>
            <a:r>
              <a:rPr lang="en-US" sz="2400" b="1" dirty="0" smtClean="0"/>
              <a:t>Burn Down Chart: </a:t>
            </a:r>
            <a:r>
              <a:rPr lang="en-US" sz="2400" dirty="0" smtClean="0"/>
              <a:t>Is a publicly displayed chart showing remaining work in the sprint backlog. It is updated every day.</a:t>
            </a:r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8" name="Flowchart: Multidocument 17"/>
          <p:cNvSpPr/>
          <p:nvPr/>
        </p:nvSpPr>
        <p:spPr>
          <a:xfrm>
            <a:off x="6934200" y="3962400"/>
            <a:ext cx="1066800" cy="685800"/>
          </a:xfrm>
          <a:prstGeom prst="flowChartMultidocument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Cube 18"/>
          <p:cNvSpPr/>
          <p:nvPr/>
        </p:nvSpPr>
        <p:spPr>
          <a:xfrm flipV="1">
            <a:off x="6858000" y="2743200"/>
            <a:ext cx="1524000" cy="23223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ube 19"/>
          <p:cNvSpPr/>
          <p:nvPr/>
        </p:nvSpPr>
        <p:spPr>
          <a:xfrm flipV="1">
            <a:off x="6858000" y="2971800"/>
            <a:ext cx="1524000" cy="1524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Cube 20"/>
          <p:cNvSpPr/>
          <p:nvPr/>
        </p:nvSpPr>
        <p:spPr>
          <a:xfrm flipV="1">
            <a:off x="6934200" y="2667000"/>
            <a:ext cx="1524000" cy="1524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ube 21"/>
          <p:cNvSpPr/>
          <p:nvPr/>
        </p:nvSpPr>
        <p:spPr>
          <a:xfrm flipV="1">
            <a:off x="6858000" y="2895600"/>
            <a:ext cx="1524000" cy="152400"/>
          </a:xfrm>
          <a:prstGeom prst="cube">
            <a:avLst/>
          </a:prstGeom>
          <a:solidFill>
            <a:schemeClr val="tx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Sprint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/>
              <a:t>Sprint Initiation Phase: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Define process charter: </a:t>
            </a:r>
            <a:r>
              <a:rPr lang="en-US" sz="2000" dirty="0" smtClean="0"/>
              <a:t>Derive the 	processes by considering project specifics.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Requirement workshops: </a:t>
            </a:r>
            <a:r>
              <a:rPr lang="en-US" sz="2000" dirty="0" smtClean="0"/>
              <a:t>A detailed requirement workshop with</a:t>
            </a:r>
          </a:p>
          <a:p>
            <a:pPr>
              <a:buNone/>
            </a:pPr>
            <a:r>
              <a:rPr lang="en-US" sz="2000" dirty="0" smtClean="0"/>
              <a:t>	business users to collect as many requirements as possible.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Architecture workshops: </a:t>
            </a:r>
            <a:r>
              <a:rPr lang="en-US" sz="2000" dirty="0" smtClean="0"/>
              <a:t>Conduct an architecture workshop for known requirements to define a base architectural blueprint and design guidelines.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 smtClean="0"/>
              <a:t>Training and readiness: </a:t>
            </a:r>
            <a:r>
              <a:rPr lang="en-US" sz="2000" dirty="0" smtClean="0"/>
              <a:t>Identify the training needs for the developers and complete the training before the start of the project.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Sprint Execution happens once the Initiation Phase is Completed.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45A9F-F6A1-4722-A856-3E4BA1F52BF6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7239000" cy="868362"/>
          </a:xfrm>
        </p:spPr>
        <p:txBody>
          <a:bodyPr/>
          <a:lstStyle/>
          <a:p>
            <a:r>
              <a:rPr lang="en-US" sz="3200" dirty="0" smtClean="0"/>
              <a:t>Sprint Execution Phase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8686800" cy="4648200"/>
          </a:xfrm>
        </p:spPr>
        <p:txBody>
          <a:bodyPr/>
          <a:lstStyle/>
          <a:p>
            <a:pPr marL="457200" indent="-457200" algn="just">
              <a:buNone/>
            </a:pPr>
            <a:r>
              <a:rPr lang="en-US" sz="1800" dirty="0" smtClean="0"/>
              <a:t>Phases for sprint execution are described below: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Sprint Planning (1-2 Days): </a:t>
            </a:r>
            <a:r>
              <a:rPr lang="en-US" sz="1800" dirty="0" smtClean="0"/>
              <a:t>This is a very short phase prior to sprint.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Sprint Understanding (1 Week): </a:t>
            </a:r>
            <a:r>
              <a:rPr lang="en-US" sz="1800" dirty="0" smtClean="0"/>
              <a:t>Entire project team participates.</a:t>
            </a:r>
            <a:endParaRPr lang="en-US" sz="1800" b="1" dirty="0" smtClean="0"/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Test Driven Development (1-2 Weeks): </a:t>
            </a:r>
            <a:r>
              <a:rPr lang="en-US" sz="1800" dirty="0" smtClean="0"/>
              <a:t>Developers and Testers select feature of Development. Tests and Codes are written in this phase.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Regression testing (1 Week): </a:t>
            </a:r>
            <a:r>
              <a:rPr lang="en-US" sz="1800" dirty="0" smtClean="0"/>
              <a:t>Code is moved to the testing environment after the Unit Testing.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Iteration showcase (1 Week): </a:t>
            </a:r>
            <a:r>
              <a:rPr lang="en-US" sz="1800" dirty="0" smtClean="0"/>
              <a:t>After the Regression Testing, the deliverable is showcased to Customer and SME (IT).</a:t>
            </a:r>
          </a:p>
          <a:p>
            <a:pPr>
              <a:buFont typeface="Wingdings" pitchFamily="2" charset="2"/>
              <a:buChar char="§"/>
            </a:pPr>
            <a:r>
              <a:rPr lang="en-US" sz="1800" b="1" dirty="0" smtClean="0"/>
              <a:t> Knowledge management (2-3 Days): </a:t>
            </a:r>
            <a:r>
              <a:rPr lang="en-US" sz="1800" dirty="0" smtClean="0"/>
              <a:t>This phase is to make sure that the documents regarding the Sprint are up to date.</a:t>
            </a:r>
            <a:endParaRPr lang="en-US" sz="1800" b="1" dirty="0" smtClean="0"/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1800" b="1" dirty="0" smtClean="0"/>
              <a:t>Parallel sprint execution: </a:t>
            </a:r>
            <a:r>
              <a:rPr lang="en-US" sz="1800" dirty="0" smtClean="0"/>
              <a:t>The sprints can be executed in parallel as well to speed up the Development.</a:t>
            </a:r>
            <a:endParaRPr lang="en-US" sz="1800" b="1" dirty="0" smtClean="0"/>
          </a:p>
          <a:p>
            <a:pPr marL="457200" indent="-457200" algn="just">
              <a:buAutoNum type="arabicPeriod"/>
            </a:pPr>
            <a:endParaRPr lang="en-US" sz="2400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3505200" y="6537325"/>
            <a:ext cx="2133600" cy="244475"/>
          </a:xfrm>
        </p:spPr>
        <p:txBody>
          <a:bodyPr/>
          <a:lstStyle/>
          <a:p>
            <a:fld id="{7BC933A0-51FE-4C25-8C56-853460226052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/>
          <p:cNvSpPr>
            <a:spLocks noGrp="1" noChangeArrowheads="1"/>
          </p:cNvSpPr>
          <p:nvPr>
            <p:ph type="title"/>
          </p:nvPr>
        </p:nvSpPr>
        <p:spPr>
          <a:xfrm>
            <a:off x="1600200" y="274638"/>
            <a:ext cx="6629400" cy="868362"/>
          </a:xfrm>
        </p:spPr>
        <p:txBody>
          <a:bodyPr/>
          <a:lstStyle/>
          <a:p>
            <a:r>
              <a:rPr lang="en-US" sz="3200" dirty="0" smtClean="0"/>
              <a:t>Sprint Team Structure</a:t>
            </a:r>
            <a:endParaRPr lang="en-US" sz="3200" dirty="0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>
          <a:xfrm>
            <a:off x="3505200" y="6537325"/>
            <a:ext cx="2133600" cy="244475"/>
          </a:xfrm>
        </p:spPr>
        <p:txBody>
          <a:bodyPr/>
          <a:lstStyle/>
          <a:p>
            <a:fld id="{64894E68-D2D4-4B40-8E14-DB1F50DC8A18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209800" y="3886200"/>
            <a:ext cx="441960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1219200" y="4876800"/>
            <a:ext cx="1981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 flipH="1" flipV="1">
            <a:off x="1296194" y="2971006"/>
            <a:ext cx="1828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514600" y="2514600"/>
            <a:ext cx="2895600" cy="27432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752600" y="4191000"/>
            <a:ext cx="369332" cy="10668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200" dirty="0" smtClean="0"/>
              <a:t>Offshore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1752600" y="27432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1200" dirty="0" smtClean="0"/>
              <a:t>Onsite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09800" y="289560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Onsite Coordinator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3733800" y="2209800"/>
            <a:ext cx="167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Business User</a:t>
            </a:r>
            <a:endParaRPr lang="en-US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5181600" y="304800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SME (IT)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6248400" y="2209800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Customer Contacts</a:t>
            </a:r>
            <a:endParaRPr lang="en-US" sz="1400" dirty="0"/>
          </a:p>
        </p:txBody>
      </p:sp>
      <p:cxnSp>
        <p:nvCxnSpPr>
          <p:cNvPr id="36" name="Straight Arrow Connector 35"/>
          <p:cNvCxnSpPr/>
          <p:nvPr/>
        </p:nvCxnSpPr>
        <p:spPr>
          <a:xfrm rot="10800000" flipV="1">
            <a:off x="6172200" y="3200400"/>
            <a:ext cx="990600" cy="14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1"/>
          </p:cNvCxnSpPr>
          <p:nvPr/>
        </p:nvCxnSpPr>
        <p:spPr>
          <a:xfrm rot="10800000">
            <a:off x="5181600" y="2362203"/>
            <a:ext cx="1066800" cy="14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rot="5400000">
            <a:off x="6820294" y="2857108"/>
            <a:ext cx="685801" cy="7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05400" y="3962400"/>
            <a:ext cx="2438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Business Ambassador</a:t>
            </a:r>
            <a:endParaRPr 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2590800" y="419100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PM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2590800" y="49530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Tester</a:t>
            </a:r>
            <a:endParaRPr lang="en-US" sz="1400" dirty="0"/>
          </a:p>
        </p:txBody>
      </p:sp>
      <p:sp>
        <p:nvSpPr>
          <p:cNvPr id="57" name="TextBox 56"/>
          <p:cNvSpPr txBox="1"/>
          <p:nvPr/>
        </p:nvSpPr>
        <p:spPr>
          <a:xfrm>
            <a:off x="4191000" y="50292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Developers</a:t>
            </a:r>
            <a:endParaRPr lang="en-US" sz="1400" dirty="0"/>
          </a:p>
        </p:txBody>
      </p:sp>
      <p:cxnSp>
        <p:nvCxnSpPr>
          <p:cNvPr id="62" name="Straight Connector 61"/>
          <p:cNvCxnSpPr/>
          <p:nvPr/>
        </p:nvCxnSpPr>
        <p:spPr>
          <a:xfrm>
            <a:off x="5410200" y="3657600"/>
            <a:ext cx="76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rot="5400000">
            <a:off x="5981700" y="3848100"/>
            <a:ext cx="381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rot="5400000">
            <a:off x="6058693" y="4380707"/>
            <a:ext cx="2286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rot="10800000">
            <a:off x="5257800" y="44958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>
            <a:off x="3581400" y="2286000"/>
            <a:ext cx="152400" cy="152400"/>
          </a:xfrm>
          <a:prstGeom prst="triangle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Isosceles Triangle 28"/>
          <p:cNvSpPr/>
          <p:nvPr/>
        </p:nvSpPr>
        <p:spPr>
          <a:xfrm>
            <a:off x="2438400" y="2743200"/>
            <a:ext cx="152400" cy="152400"/>
          </a:xfrm>
          <a:prstGeom prst="triangle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Isosceles Triangle 29"/>
          <p:cNvSpPr/>
          <p:nvPr/>
        </p:nvSpPr>
        <p:spPr>
          <a:xfrm>
            <a:off x="5943600" y="3276600"/>
            <a:ext cx="152400" cy="152400"/>
          </a:xfrm>
          <a:prstGeom prst="triangle">
            <a:avLst/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Isosceles Triangle 34"/>
          <p:cNvSpPr/>
          <p:nvPr/>
        </p:nvSpPr>
        <p:spPr>
          <a:xfrm>
            <a:off x="2514600" y="5029200"/>
            <a:ext cx="152400" cy="152400"/>
          </a:xfrm>
          <a:prstGeom prst="triangle">
            <a:avLst/>
          </a:prstGeom>
          <a:solidFill>
            <a:srgbClr val="3217D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Isosceles Triangle 36"/>
          <p:cNvSpPr/>
          <p:nvPr/>
        </p:nvSpPr>
        <p:spPr>
          <a:xfrm>
            <a:off x="2438400" y="4267200"/>
            <a:ext cx="152400" cy="152400"/>
          </a:xfrm>
          <a:prstGeom prst="triangle">
            <a:avLst/>
          </a:prstGeom>
          <a:solidFill>
            <a:srgbClr val="C0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/>
          <p:cNvSpPr/>
          <p:nvPr/>
        </p:nvSpPr>
        <p:spPr>
          <a:xfrm>
            <a:off x="5257800" y="5105400"/>
            <a:ext cx="152400" cy="152400"/>
          </a:xfrm>
          <a:prstGeom prst="triangle">
            <a:avLst/>
          </a:prstGeom>
          <a:solidFill>
            <a:srgbClr val="3CB25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Isosceles Triangle 39"/>
          <p:cNvSpPr/>
          <p:nvPr/>
        </p:nvSpPr>
        <p:spPr>
          <a:xfrm>
            <a:off x="6992983" y="4073434"/>
            <a:ext cx="152400" cy="152400"/>
          </a:xfrm>
          <a:prstGeom prst="triangle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543800" cy="868362"/>
          </a:xfrm>
        </p:spPr>
        <p:txBody>
          <a:bodyPr/>
          <a:lstStyle/>
          <a:p>
            <a:r>
              <a:rPr lang="en-US" dirty="0" smtClean="0"/>
              <a:t>Team Structure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04800" y="1371600"/>
          <a:ext cx="85344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5638800"/>
              </a:tblGrid>
              <a:tr h="623233">
                <a:tc>
                  <a:txBody>
                    <a:bodyPr/>
                    <a:lstStyle/>
                    <a:p>
                      <a:r>
                        <a:rPr lang="en-US" dirty="0" smtClean="0"/>
                        <a:t>Roles</a:t>
                      </a:r>
                      <a:endParaRPr lang="en-US" dirty="0"/>
                    </a:p>
                  </a:txBody>
                  <a:tcPr>
                    <a:solidFill>
                      <a:srgbClr val="193D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Responsibilities</a:t>
                      </a:r>
                      <a:endParaRPr lang="en-US" dirty="0"/>
                    </a:p>
                  </a:txBody>
                  <a:tcPr>
                    <a:solidFill>
                      <a:srgbClr val="193D85"/>
                    </a:solidFill>
                  </a:tcPr>
                </a:tc>
              </a:tr>
              <a:tr h="779042">
                <a:tc>
                  <a:txBody>
                    <a:bodyPr/>
                    <a:lstStyle/>
                    <a:p>
                      <a:r>
                        <a:rPr lang="en-US" dirty="0" smtClean="0"/>
                        <a:t>Business User (Customer)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Defining requirements.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Review and feedback.</a:t>
                      </a:r>
                      <a:endParaRPr lang="en-US" dirty="0"/>
                    </a:p>
                  </a:txBody>
                  <a:tcPr/>
                </a:tc>
              </a:tr>
              <a:tr h="11685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Subject Matter Expert –IT (Customer)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Point of contact for service provider’s team.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Takes decisions on behalf of customer organization.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Technical review and feedback.</a:t>
                      </a:r>
                      <a:endParaRPr lang="en-US" dirty="0"/>
                    </a:p>
                  </a:txBody>
                  <a:tcPr/>
                </a:tc>
              </a:tr>
              <a:tr h="1090658">
                <a:tc>
                  <a:txBody>
                    <a:bodyPr/>
                    <a:lstStyle/>
                    <a:p>
                      <a:r>
                        <a:rPr lang="en-US" dirty="0" smtClean="0"/>
                        <a:t>Project Manager (Service Provider)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Planning and tracking progress.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Status reporting &amp; Conflict resolutions.</a:t>
                      </a:r>
                      <a:endParaRPr lang="en-US" dirty="0" smtClean="0"/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Ensure people motivation.</a:t>
                      </a:r>
                    </a:p>
                  </a:txBody>
                  <a:tcPr/>
                </a:tc>
              </a:tr>
              <a:tr h="1215305">
                <a:tc>
                  <a:txBody>
                    <a:bodyPr/>
                    <a:lstStyle/>
                    <a:p>
                      <a:r>
                        <a:rPr lang="en-US" dirty="0" smtClean="0"/>
                        <a:t>Onsite Coordinator (Service Provider)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issue resolutions.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Coordinating with business user for understanding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requirements and changes.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Coordinating with SME-IT for technical decisions.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04800"/>
            <a:ext cx="7543800" cy="868362"/>
          </a:xfrm>
        </p:spPr>
        <p:txBody>
          <a:bodyPr/>
          <a:lstStyle/>
          <a:p>
            <a:r>
              <a:rPr lang="en-US" dirty="0" smtClean="0"/>
              <a:t>Team Structure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04800" y="1371600"/>
          <a:ext cx="8534400" cy="444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/>
                <a:gridCol w="5638800"/>
              </a:tblGrid>
              <a:tr h="623233">
                <a:tc>
                  <a:txBody>
                    <a:bodyPr/>
                    <a:lstStyle/>
                    <a:p>
                      <a:r>
                        <a:rPr lang="en-US" dirty="0" smtClean="0"/>
                        <a:t>Roles</a:t>
                      </a:r>
                      <a:endParaRPr lang="en-US" dirty="0"/>
                    </a:p>
                  </a:txBody>
                  <a:tcPr>
                    <a:solidFill>
                      <a:srgbClr val="193D8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Responsibilities</a:t>
                      </a:r>
                      <a:endParaRPr lang="en-US" dirty="0"/>
                    </a:p>
                  </a:txBody>
                  <a:tcPr>
                    <a:solidFill>
                      <a:srgbClr val="193D85"/>
                    </a:solidFill>
                  </a:tcPr>
                </a:tc>
              </a:tr>
              <a:tr h="779042">
                <a:tc>
                  <a:txBody>
                    <a:bodyPr/>
                    <a:lstStyle/>
                    <a:p>
                      <a:r>
                        <a:rPr lang="en-US" dirty="0" smtClean="0"/>
                        <a:t>Business Ambassador (Service Provider)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Senior resource with domain background.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Helps the development team in functional understanding and works with testing team for verification and validation of the software product.</a:t>
                      </a:r>
                      <a:endParaRPr lang="en-US" dirty="0"/>
                    </a:p>
                  </a:txBody>
                  <a:tcPr/>
                </a:tc>
              </a:tr>
              <a:tr h="1168562">
                <a:tc>
                  <a:txBody>
                    <a:bodyPr/>
                    <a:lstStyle/>
                    <a:p>
                      <a:r>
                        <a:rPr lang="en-US" dirty="0" smtClean="0"/>
                        <a:t>Developer               (Service Provider)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Develops code and unit tests.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impact analysis of changes by collaborating with colleagues and with customer point of contacts</a:t>
                      </a:r>
                      <a:endParaRPr lang="en-US" dirty="0"/>
                    </a:p>
                  </a:txBody>
                  <a:tcPr/>
                </a:tc>
              </a:tr>
              <a:tr h="109065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Tester                       (Service Provider)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Develops automated test cases by working with developers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feature wise integration testing in parallel with</a:t>
                      </a:r>
                    </a:p>
                    <a:p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 and regression testing after code freeze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6629400" cy="868362"/>
          </a:xfrm>
        </p:spPr>
        <p:txBody>
          <a:bodyPr/>
          <a:lstStyle/>
          <a:p>
            <a:r>
              <a:rPr lang="en-US" sz="3200" dirty="0" smtClean="0"/>
              <a:t>Conclusion</a:t>
            </a:r>
            <a:endParaRPr lang="en-US" sz="3200" dirty="0"/>
          </a:p>
        </p:txBody>
      </p:sp>
      <p:sp>
        <p:nvSpPr>
          <p:cNvPr id="4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505200" y="6537325"/>
            <a:ext cx="2133600" cy="244475"/>
          </a:xfrm>
        </p:spPr>
        <p:txBody>
          <a:bodyPr/>
          <a:lstStyle/>
          <a:p>
            <a:fld id="{64894E68-D2D4-4B40-8E14-DB1F50DC8A1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219200"/>
            <a:ext cx="8915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Agile methods promote a disciplined project management</a:t>
            </a:r>
          </a:p>
          <a:p>
            <a:pPr>
              <a:buNone/>
            </a:pPr>
            <a:r>
              <a:rPr lang="en-US" sz="2400" dirty="0" smtClean="0"/>
              <a:t> process that encourages frequent inspection and </a:t>
            </a:r>
          </a:p>
          <a:p>
            <a:pPr>
              <a:buNone/>
            </a:pPr>
            <a:r>
              <a:rPr lang="en-US" sz="2400" dirty="0" smtClean="0"/>
              <a:t>Adaptation. </a:t>
            </a:r>
          </a:p>
          <a:p>
            <a:pPr>
              <a:buNone/>
            </a:pPr>
            <a:r>
              <a:rPr lang="en-US" sz="2400" dirty="0" smtClean="0"/>
              <a:t>Agile Methods are considered Lightweight and People Based rather than Plan Based.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mple presentation slides">
  <a:themeElements>
    <a:clrScheme name="ms01_1 1">
      <a:dk1>
        <a:srgbClr val="1D528D"/>
      </a:dk1>
      <a:lt1>
        <a:srgbClr val="FFFFFF"/>
      </a:lt1>
      <a:dk2>
        <a:srgbClr val="000000"/>
      </a:dk2>
      <a:lt2>
        <a:srgbClr val="CACACA"/>
      </a:lt2>
      <a:accent1>
        <a:srgbClr val="0099CC"/>
      </a:accent1>
      <a:accent2>
        <a:srgbClr val="BFA907"/>
      </a:accent2>
      <a:accent3>
        <a:srgbClr val="FFFFFF"/>
      </a:accent3>
      <a:accent4>
        <a:srgbClr val="174578"/>
      </a:accent4>
      <a:accent5>
        <a:srgbClr val="AACAE2"/>
      </a:accent5>
      <a:accent6>
        <a:srgbClr val="AD9906"/>
      </a:accent6>
      <a:hlink>
        <a:srgbClr val="6E81E0"/>
      </a:hlink>
      <a:folHlink>
        <a:srgbClr val="00999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666699"/>
        </a:dk1>
        <a:lt1>
          <a:srgbClr val="FFFFFF"/>
        </a:lt1>
        <a:dk2>
          <a:srgbClr val="000000"/>
        </a:dk2>
        <a:lt2>
          <a:srgbClr val="CACACA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presentation slides</Template>
  <TotalTime>3873</TotalTime>
  <Words>1122</Words>
  <Application>Microsoft Office PowerPoint</Application>
  <PresentationFormat>On-screen Show (4:3)</PresentationFormat>
  <Paragraphs>229</Paragraphs>
  <Slides>18</Slides>
  <Notes>18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Sample presentation slides</vt:lpstr>
      <vt:lpstr>Image</vt:lpstr>
      <vt:lpstr>Agile Methodology </vt:lpstr>
      <vt:lpstr>Contents</vt:lpstr>
      <vt:lpstr>Introduction</vt:lpstr>
      <vt:lpstr>Agile Vs Waterfall Approach</vt:lpstr>
      <vt:lpstr>Agile Framework</vt:lpstr>
      <vt:lpstr>Agile Methods</vt:lpstr>
      <vt:lpstr>Scrum</vt:lpstr>
      <vt:lpstr>Scrum Process</vt:lpstr>
      <vt:lpstr>Scrum Roles</vt:lpstr>
      <vt:lpstr>Ceremonies</vt:lpstr>
      <vt:lpstr>Artifacts</vt:lpstr>
      <vt:lpstr>Sprint</vt:lpstr>
      <vt:lpstr>Sprint Execution Phase</vt:lpstr>
      <vt:lpstr>Sprint Team Structure</vt:lpstr>
      <vt:lpstr>Team Structure</vt:lpstr>
      <vt:lpstr>Team Structure</vt:lpstr>
      <vt:lpstr>Conclusion</vt:lpstr>
      <vt:lpstr>Thank You</vt:lpstr>
    </vt:vector>
  </TitlesOfParts>
  <Company>Theme Gallery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add title</dc:title>
  <dc:creator>Prakat Solutions</dc:creator>
  <cp:lastModifiedBy>Valued Acer Customer</cp:lastModifiedBy>
  <cp:revision>356</cp:revision>
  <dcterms:created xsi:type="dcterms:W3CDTF">2009-10-22T23:46:38Z</dcterms:created>
  <dcterms:modified xsi:type="dcterms:W3CDTF">2010-04-22T07:24:50Z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TC011367961033</vt:lpwstr>
  </property>
</Properties>
</file>