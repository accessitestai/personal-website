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610" autoAdjust="0"/>
    <p:restoredTop sz="86405" autoAdjust="0"/>
  </p:normalViewPr>
  <p:slideViewPr>
    <p:cSldViewPr snapToGrid="0" snapToObjects="1">
      <p:cViewPr varScale="1">
        <p:scale>
          <a:sx n="79" d="100"/>
          <a:sy n="79" d="100"/>
        </p:scale>
        <p:origin x="72" y="317"/>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7063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a 15-minute awareness session on Digital Accessibility. We will cover 6 key topics: what digital accessibility is, why it matters, its impact, who benefits, types of disabilities per WCAG, and the history of WCAG itself. Please feel free to ask questions at any point.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the 6 topics we will cover today. Each topic is colour-coded with a teal number badge. We will spend roughly 2 to 2.5 minutes per topic.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Accessibility means everyone, including people with disabilities, can use digital products. The four pillars of WCAG are Perceivable, Operable, Understandable, and Robust, often abbreviated as POUR. Think of it as removing the digital kerb: just as a physical ramp helps wheelchair users, accessibility features help users across all abilities.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not an afterthought. When baked into the design and development process from the start, it costs far less, performs better, and serves a broader audience. Retrofitting accessibility after launch is like trying to add ramps to a building after construction: possible, but expensive and often inadequate. The three pillars of why accessibility is a need are: human rights, legal compliance, and sound business strategy.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of accessibility spans far beyond compliance. Accessible products are simply better products. The curb-cut effect shows that features designed for disability benefit everyone: captions help in noisy environments, keyboard navigation helps power users, and clear language helps non-native speakers. The commercial opportunity is also enormous: persons with disabilities and their families represent a combined spending power that no business can afford to ignore.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not just for a small minority. When we design for the full spectrum of users, we serve everyone better. Permanent disabilities are just one part of the picture. Temporary and situational limitations affect all of us at different points in our lives. Designing for the most constrained user invariably produces a better experience for every user.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WCAG recognises multiple categories of disability. On this slide we cover the first four: Visual, Auditory, Motor or Physical, and Cognitive. Visual disabilities include blindness like my own, low vision, and colour blindness. Auditory disabilities affect hearing. Motor disabilities affect the ability to use standard input devices. Cognitive disabilities include conditions like dyslexia and ADHD that affect information processing.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from the previous slide, we now cover Speech, Neurological, Learning, and Multiple or Complex disabilities. Speech disabilities are often overlooked because many voice-first designs assume all users can speak clearly. Neurological conditions like epilepsy require us to avoid flashing content. Learning disabilities benefit enormously from well-structured, predictable layouts. Finally, many users have multiple overlapping conditions, which is why holistic WCAG compliance matters.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WCAG was born from a simple truth: the web should work for everyone. In 1997, the W3C created the Web Accessibility Initiative. WCAG 1.0 in 1999 gave us the first technical standards. WCAG 2.0 in 2008 introduced the technology-neutral POUR framework still in use today. WCAG 2.1 in 2018 addressed mobile and cognitive gaps. WCAG 2.2 in 2023 is the current recommended standard. WCAG 3.0 is in active development and will introduce a more nuanced scoring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attending this session. Let us recap the five key takeaways: Accessibility is a baseline requirement, not optional. The POUR principles guide all WCAG thinking. 1.3 billion people need accessible design, and everyone benefits from it. Shift Left: integrate accessibility from day one. WCAG 2.2 is current; prepare for WCAG 3.0. I am happy to take any questions.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3E"/>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64592" cy="5143500"/>
          </a:xfrm>
          <a:prstGeom prst="rect">
            <a:avLst/>
          </a:prstGeom>
          <a:solidFill>
            <a:srgbClr val="028090"/>
          </a:solidFill>
          <a:ln w="12700">
            <a:solidFill>
              <a:srgbClr val="028090"/>
            </a:solidFill>
            <a:prstDash val="solid"/>
          </a:ln>
        </p:spPr>
        <p:txBody>
          <a:bodyPr/>
          <a:lstStyle/>
          <a:p>
            <a:endParaRPr lang="en-IN"/>
          </a:p>
        </p:txBody>
      </p:sp>
      <p:sp>
        <p:nvSpPr>
          <p:cNvPr id="3" name="Shape 1">
            <a:extLst>
              <a:ext uri="{C183D7F6-B498-43B3-948B-1728B52AA6E4}">
                <adec:decorative xmlns:adec="http://schemas.microsoft.com/office/drawing/2017/decorative" val="1"/>
              </a:ext>
            </a:extLst>
          </p:cNvPr>
          <p:cNvSpPr/>
          <p:nvPr/>
        </p:nvSpPr>
        <p:spPr>
          <a:xfrm>
            <a:off x="5943600" y="0"/>
            <a:ext cx="3200400" cy="5143500"/>
          </a:xfrm>
          <a:prstGeom prst="rect">
            <a:avLst/>
          </a:prstGeom>
          <a:solidFill>
            <a:srgbClr val="028090">
              <a:alpha val="20000"/>
            </a:srgbClr>
          </a:solidFill>
          <a:ln w="12700">
            <a:solidFill>
              <a:srgbClr val="028090">
                <a:alpha val="20000"/>
              </a:srgbClr>
            </a:solidFill>
            <a:prstDash val="solid"/>
          </a:ln>
        </p:spPr>
        <p:txBody>
          <a:bodyPr/>
          <a:lstStyle/>
          <a:p>
            <a:endParaRPr lang="en-IN"/>
          </a:p>
        </p:txBody>
      </p:sp>
      <p:sp>
        <p:nvSpPr>
          <p:cNvPr id="4" name="Shape 2">
            <a:extLst>
              <a:ext uri="{C183D7F6-B498-43B3-948B-1728B52AA6E4}">
                <adec:decorative xmlns:adec="http://schemas.microsoft.com/office/drawing/2017/decorative" val="1"/>
              </a:ext>
            </a:extLst>
          </p:cNvPr>
          <p:cNvSpPr/>
          <p:nvPr/>
        </p:nvSpPr>
        <p:spPr>
          <a:xfrm>
            <a:off x="6583680" y="914400"/>
            <a:ext cx="2286000" cy="2286000"/>
          </a:xfrm>
          <a:prstGeom prst="ellipse">
            <a:avLst/>
          </a:prstGeom>
          <a:solidFill>
            <a:srgbClr val="F4A261">
              <a:alpha val="70000"/>
            </a:srgbClr>
          </a:solidFill>
          <a:ln w="12700">
            <a:solidFill>
              <a:srgbClr val="F4A261">
                <a:alpha val="50000"/>
              </a:srgbClr>
            </a:solidFill>
            <a:prstDash val="solid"/>
          </a:ln>
        </p:spPr>
        <p:txBody>
          <a:bodyPr/>
          <a:lstStyle/>
          <a:p>
            <a:endParaRPr lang="en-IN"/>
          </a:p>
        </p:txBody>
      </p:sp>
      <p:sp>
        <p:nvSpPr>
          <p:cNvPr id="5" name="Text 3"/>
          <p:cNvSpPr/>
          <p:nvPr/>
        </p:nvSpPr>
        <p:spPr>
          <a:xfrm>
            <a:off x="457200" y="914400"/>
            <a:ext cx="6858000" cy="640080"/>
          </a:xfrm>
          <a:prstGeom prst="rect">
            <a:avLst/>
          </a:prstGeom>
          <a:noFill/>
          <a:ln/>
        </p:spPr>
        <p:txBody>
          <a:bodyPr wrap="square" lIns="0" tIns="0" rIns="0" bIns="0" rtlCol="0" anchor="ctr"/>
          <a:lstStyle/>
          <a:p>
            <a:pPr marL="0" indent="0">
              <a:buNone/>
            </a:pPr>
            <a:r>
              <a:rPr lang="en-US" sz="2200" dirty="0">
                <a:solidFill>
                  <a:srgbClr val="00A896"/>
                </a:solidFill>
              </a:rPr>
              <a:t>General Awareness on</a:t>
            </a:r>
            <a:endParaRPr lang="en-US" sz="2200" dirty="0"/>
          </a:p>
        </p:txBody>
      </p:sp>
      <p:sp>
        <p:nvSpPr>
          <p:cNvPr id="6" name="Text 4"/>
          <p:cNvSpPr/>
          <p:nvPr/>
        </p:nvSpPr>
        <p:spPr>
          <a:xfrm>
            <a:off x="457200" y="1508760"/>
            <a:ext cx="6858000" cy="1005840"/>
          </a:xfrm>
          <a:prstGeom prst="rect">
            <a:avLst/>
          </a:prstGeom>
          <a:noFill/>
          <a:ln/>
        </p:spPr>
        <p:txBody>
          <a:bodyPr wrap="square" lIns="0" tIns="0" rIns="0" bIns="0" rtlCol="0" anchor="ctr"/>
          <a:lstStyle/>
          <a:p>
            <a:pPr marL="0" indent="0">
              <a:buNone/>
            </a:pPr>
            <a:r>
              <a:rPr lang="en-US" sz="4600" b="1" dirty="0">
                <a:solidFill>
                  <a:srgbClr val="FFFFFF"/>
                </a:solidFill>
              </a:rPr>
              <a:t>Digital Accessibility</a:t>
            </a:r>
            <a:endParaRPr lang="en-US" sz="4600" dirty="0"/>
          </a:p>
        </p:txBody>
      </p:sp>
      <p:sp>
        <p:nvSpPr>
          <p:cNvPr id="7" name="Text 5"/>
          <p:cNvSpPr/>
          <p:nvPr/>
        </p:nvSpPr>
        <p:spPr>
          <a:xfrm>
            <a:off x="457200" y="2606040"/>
            <a:ext cx="6858000" cy="457200"/>
          </a:xfrm>
          <a:prstGeom prst="rect">
            <a:avLst/>
          </a:prstGeom>
          <a:noFill/>
          <a:ln/>
        </p:spPr>
        <p:txBody>
          <a:bodyPr wrap="square" lIns="0" tIns="0" rIns="0" bIns="0" rtlCol="0" anchor="ctr"/>
          <a:lstStyle/>
          <a:p>
            <a:pPr marL="0" indent="0">
              <a:buNone/>
            </a:pPr>
            <a:r>
              <a:rPr lang="en-US" sz="1600" i="1" dirty="0">
                <a:solidFill>
                  <a:srgbClr val="F4A261"/>
                </a:solidFill>
              </a:rPr>
              <a:t>Building an Inclusive Digital World for Everyone</a:t>
            </a:r>
            <a:endParaRPr lang="en-US" sz="1600" dirty="0"/>
          </a:p>
        </p:txBody>
      </p:sp>
      <p:sp>
        <p:nvSpPr>
          <p:cNvPr id="8" name="Shape 6">
            <a:extLst>
              <a:ext uri="{C183D7F6-B498-43B3-948B-1728B52AA6E4}">
                <adec:decorative xmlns:adec="http://schemas.microsoft.com/office/drawing/2017/decorative" val="1"/>
              </a:ext>
            </a:extLst>
          </p:cNvPr>
          <p:cNvSpPr/>
          <p:nvPr/>
        </p:nvSpPr>
        <p:spPr>
          <a:xfrm>
            <a:off x="457200" y="3337560"/>
            <a:ext cx="5943600" cy="27432"/>
          </a:xfrm>
          <a:prstGeom prst="rect">
            <a:avLst/>
          </a:prstGeom>
          <a:solidFill>
            <a:srgbClr val="028090"/>
          </a:solidFill>
          <a:ln w="12700">
            <a:solidFill>
              <a:srgbClr val="028090"/>
            </a:solidFill>
            <a:prstDash val="solid"/>
          </a:ln>
        </p:spPr>
        <p:txBody>
          <a:bodyPr/>
          <a:lstStyle/>
          <a:p>
            <a:endParaRPr lang="en-IN"/>
          </a:p>
        </p:txBody>
      </p:sp>
      <p:sp>
        <p:nvSpPr>
          <p:cNvPr id="9" name="Text 7"/>
          <p:cNvSpPr/>
          <p:nvPr/>
        </p:nvSpPr>
        <p:spPr>
          <a:xfrm>
            <a:off x="457200" y="3474720"/>
            <a:ext cx="5943600" cy="365760"/>
          </a:xfrm>
          <a:prstGeom prst="rect">
            <a:avLst/>
          </a:prstGeom>
          <a:noFill/>
          <a:ln/>
        </p:spPr>
        <p:txBody>
          <a:bodyPr wrap="square" lIns="0" tIns="0" rIns="0" bIns="0" rtlCol="0" anchor="ctr"/>
          <a:lstStyle/>
          <a:p>
            <a:pPr marL="0" indent="0">
              <a:buNone/>
            </a:pPr>
            <a:r>
              <a:rPr lang="en-US" sz="1300" dirty="0">
                <a:solidFill>
                  <a:srgbClr val="C4DDE4"/>
                </a:solidFill>
              </a:rPr>
              <a:t>A 15-Minute Awareness Session</a:t>
            </a:r>
            <a:endParaRPr lang="en-US" sz="1300" dirty="0"/>
          </a:p>
        </p:txBody>
      </p:sp>
      <p:sp>
        <p:nvSpPr>
          <p:cNvPr id="10" name="Title 9">
            <a:extLst>
              <a:ext uri="{FF2B5EF4-FFF2-40B4-BE49-F238E27FC236}">
                <a16:creationId xmlns:a16="http://schemas.microsoft.com/office/drawing/2014/main" id="{11135761-B2C8-B777-40B4-BEA41138D1A1}"/>
              </a:ext>
            </a:extLst>
          </p:cNvPr>
          <p:cNvSpPr>
            <a:spLocks noGrp="1"/>
          </p:cNvSpPr>
          <p:nvPr>
            <p:ph type="title" idx="4294967295"/>
          </p:nvPr>
        </p:nvSpPr>
        <p:spPr>
          <a:xfrm>
            <a:off x="628650" y="274638"/>
            <a:ext cx="7886700" cy="993775"/>
          </a:xfrm>
          <a:prstGeom prst="rect">
            <a:avLst/>
          </a:prstGeom>
        </p:spPr>
        <p:txBody>
          <a:bodyPr/>
          <a:lstStyle/>
          <a:p>
            <a:r>
              <a:rPr lang="en-US" dirty="0"/>
              <a:t>		</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9144000" cy="914400"/>
          </a:xfrm>
          <a:prstGeom prst="rect">
            <a:avLst/>
          </a:prstGeom>
          <a:solidFill>
            <a:srgbClr val="0D2B3E"/>
          </a:solidFill>
          <a:ln w="12700">
            <a:solidFill>
              <a:srgbClr val="0D2B3E"/>
            </a:solidFill>
            <a:prstDash val="solid"/>
          </a:ln>
        </p:spPr>
        <p:txBody>
          <a:bodyPr/>
          <a:lstStyle/>
          <a:p>
            <a:endParaRPr lang="en-IN"/>
          </a:p>
        </p:txBody>
      </p:sp>
      <p:sp>
        <p:nvSpPr>
          <p:cNvPr id="3" name="Text 1"/>
          <p:cNvSpPr/>
          <p:nvPr/>
        </p:nvSpPr>
        <p:spPr>
          <a:xfrm>
            <a:off x="36576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rPr>
              <a:t>Agenda</a:t>
            </a:r>
            <a:endParaRPr lang="en-US" sz="3200" dirty="0"/>
          </a:p>
        </p:txBody>
      </p:sp>
      <p:sp>
        <p:nvSpPr>
          <p:cNvPr id="4" name="Shape 2">
            <a:extLst>
              <a:ext uri="{C183D7F6-B498-43B3-948B-1728B52AA6E4}">
                <adec:decorative xmlns:adec="http://schemas.microsoft.com/office/drawing/2017/decorative" val="1"/>
              </a:ext>
            </a:extLst>
          </p:cNvPr>
          <p:cNvSpPr/>
          <p:nvPr/>
        </p:nvSpPr>
        <p:spPr>
          <a:xfrm>
            <a:off x="365760" y="1051560"/>
            <a:ext cx="4114800" cy="100584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5" name="Shape 3">
            <a:extLst>
              <a:ext uri="{C183D7F6-B498-43B3-948B-1728B52AA6E4}">
                <adec:decorative xmlns:adec="http://schemas.microsoft.com/office/drawing/2017/decorative" val="1"/>
              </a:ext>
            </a:extLst>
          </p:cNvPr>
          <p:cNvSpPr/>
          <p:nvPr/>
        </p:nvSpPr>
        <p:spPr>
          <a:xfrm>
            <a:off x="365760" y="1051560"/>
            <a:ext cx="502920" cy="1005840"/>
          </a:xfrm>
          <a:prstGeom prst="rect">
            <a:avLst/>
          </a:prstGeom>
          <a:solidFill>
            <a:srgbClr val="028090"/>
          </a:solidFill>
          <a:ln w="12700">
            <a:solidFill>
              <a:srgbClr val="028090"/>
            </a:solidFill>
            <a:prstDash val="solid"/>
          </a:ln>
        </p:spPr>
        <p:txBody>
          <a:bodyPr/>
          <a:lstStyle/>
          <a:p>
            <a:endParaRPr lang="en-IN"/>
          </a:p>
        </p:txBody>
      </p:sp>
      <p:sp>
        <p:nvSpPr>
          <p:cNvPr id="6" name="Text 4"/>
          <p:cNvSpPr/>
          <p:nvPr/>
        </p:nvSpPr>
        <p:spPr>
          <a:xfrm>
            <a:off x="384048" y="1280160"/>
            <a:ext cx="457200" cy="502920"/>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7" name="Text 5"/>
          <p:cNvSpPr/>
          <p:nvPr/>
        </p:nvSpPr>
        <p:spPr>
          <a:xfrm>
            <a:off x="960120" y="1234440"/>
            <a:ext cx="3429000" cy="640080"/>
          </a:xfrm>
          <a:prstGeom prst="rect">
            <a:avLst/>
          </a:prstGeom>
          <a:noFill/>
          <a:ln/>
        </p:spPr>
        <p:txBody>
          <a:bodyPr wrap="square" lIns="0" tIns="0" rIns="0" bIns="0" rtlCol="0" anchor="ctr"/>
          <a:lstStyle/>
          <a:p>
            <a:pPr marL="0" indent="0">
              <a:buNone/>
            </a:pPr>
            <a:r>
              <a:rPr lang="en-US" sz="1200" dirty="0">
                <a:solidFill>
                  <a:srgbClr val="1A3040"/>
                </a:solidFill>
              </a:rPr>
              <a:t>What is Digital Accessibility?</a:t>
            </a:r>
            <a:endParaRPr lang="en-US" sz="1200" dirty="0"/>
          </a:p>
        </p:txBody>
      </p:sp>
      <p:sp>
        <p:nvSpPr>
          <p:cNvPr id="8" name="Shape 6">
            <a:extLst>
              <a:ext uri="{C183D7F6-B498-43B3-948B-1728B52AA6E4}">
                <adec:decorative xmlns:adec="http://schemas.microsoft.com/office/drawing/2017/decorative" val="1"/>
              </a:ext>
            </a:extLst>
          </p:cNvPr>
          <p:cNvSpPr/>
          <p:nvPr/>
        </p:nvSpPr>
        <p:spPr>
          <a:xfrm>
            <a:off x="365760" y="2286000"/>
            <a:ext cx="4114800" cy="100584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9" name="Shape 7">
            <a:extLst>
              <a:ext uri="{C183D7F6-B498-43B3-948B-1728B52AA6E4}">
                <adec:decorative xmlns:adec="http://schemas.microsoft.com/office/drawing/2017/decorative" val="1"/>
              </a:ext>
            </a:extLst>
          </p:cNvPr>
          <p:cNvSpPr/>
          <p:nvPr/>
        </p:nvSpPr>
        <p:spPr>
          <a:xfrm>
            <a:off x="365760" y="2286000"/>
            <a:ext cx="502920" cy="1005840"/>
          </a:xfrm>
          <a:prstGeom prst="rect">
            <a:avLst/>
          </a:prstGeom>
          <a:solidFill>
            <a:srgbClr val="028090"/>
          </a:solidFill>
          <a:ln w="12700">
            <a:solidFill>
              <a:srgbClr val="028090"/>
            </a:solidFill>
            <a:prstDash val="solid"/>
          </a:ln>
        </p:spPr>
        <p:txBody>
          <a:bodyPr/>
          <a:lstStyle/>
          <a:p>
            <a:endParaRPr lang="en-IN"/>
          </a:p>
        </p:txBody>
      </p:sp>
      <p:sp>
        <p:nvSpPr>
          <p:cNvPr id="10" name="Text 8"/>
          <p:cNvSpPr/>
          <p:nvPr/>
        </p:nvSpPr>
        <p:spPr>
          <a:xfrm>
            <a:off x="384048" y="2514600"/>
            <a:ext cx="457200" cy="502920"/>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1" name="Text 9"/>
          <p:cNvSpPr/>
          <p:nvPr/>
        </p:nvSpPr>
        <p:spPr>
          <a:xfrm>
            <a:off x="960120" y="2468880"/>
            <a:ext cx="3429000" cy="640080"/>
          </a:xfrm>
          <a:prstGeom prst="rect">
            <a:avLst/>
          </a:prstGeom>
          <a:noFill/>
          <a:ln/>
        </p:spPr>
        <p:txBody>
          <a:bodyPr wrap="square" lIns="0" tIns="0" rIns="0" bIns="0" rtlCol="0" anchor="ctr"/>
          <a:lstStyle/>
          <a:p>
            <a:pPr marL="0" indent="0">
              <a:buNone/>
            </a:pPr>
            <a:r>
              <a:rPr lang="en-US" sz="1200" dirty="0">
                <a:solidFill>
                  <a:srgbClr val="1A3040"/>
                </a:solidFill>
              </a:rPr>
              <a:t>Why Accessibility is a Need, Not a Retrofit</a:t>
            </a:r>
            <a:endParaRPr lang="en-US" sz="1200" dirty="0"/>
          </a:p>
        </p:txBody>
      </p:sp>
      <p:sp>
        <p:nvSpPr>
          <p:cNvPr id="12" name="Shape 10">
            <a:extLst>
              <a:ext uri="{C183D7F6-B498-43B3-948B-1728B52AA6E4}">
                <adec:decorative xmlns:adec="http://schemas.microsoft.com/office/drawing/2017/decorative" val="1"/>
              </a:ext>
            </a:extLst>
          </p:cNvPr>
          <p:cNvSpPr/>
          <p:nvPr/>
        </p:nvSpPr>
        <p:spPr>
          <a:xfrm>
            <a:off x="365760" y="3520440"/>
            <a:ext cx="4114800" cy="100584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13" name="Shape 11">
            <a:extLst>
              <a:ext uri="{C183D7F6-B498-43B3-948B-1728B52AA6E4}">
                <adec:decorative xmlns:adec="http://schemas.microsoft.com/office/drawing/2017/decorative" val="1"/>
              </a:ext>
            </a:extLst>
          </p:cNvPr>
          <p:cNvSpPr/>
          <p:nvPr/>
        </p:nvSpPr>
        <p:spPr>
          <a:xfrm>
            <a:off x="365760" y="3520440"/>
            <a:ext cx="502920" cy="1005840"/>
          </a:xfrm>
          <a:prstGeom prst="rect">
            <a:avLst/>
          </a:prstGeom>
          <a:solidFill>
            <a:srgbClr val="028090"/>
          </a:solidFill>
          <a:ln w="12700">
            <a:solidFill>
              <a:srgbClr val="028090"/>
            </a:solidFill>
            <a:prstDash val="solid"/>
          </a:ln>
        </p:spPr>
        <p:txBody>
          <a:bodyPr/>
          <a:lstStyle/>
          <a:p>
            <a:endParaRPr lang="en-IN"/>
          </a:p>
        </p:txBody>
      </p:sp>
      <p:sp>
        <p:nvSpPr>
          <p:cNvPr id="14" name="Text 12"/>
          <p:cNvSpPr/>
          <p:nvPr/>
        </p:nvSpPr>
        <p:spPr>
          <a:xfrm>
            <a:off x="384048" y="3749040"/>
            <a:ext cx="457200" cy="502920"/>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15" name="Text 13"/>
          <p:cNvSpPr/>
          <p:nvPr/>
        </p:nvSpPr>
        <p:spPr>
          <a:xfrm>
            <a:off x="960120" y="3703320"/>
            <a:ext cx="3429000" cy="640080"/>
          </a:xfrm>
          <a:prstGeom prst="rect">
            <a:avLst/>
          </a:prstGeom>
          <a:noFill/>
          <a:ln/>
        </p:spPr>
        <p:txBody>
          <a:bodyPr wrap="square" lIns="0" tIns="0" rIns="0" bIns="0" rtlCol="0" anchor="ctr"/>
          <a:lstStyle/>
          <a:p>
            <a:pPr marL="0" indent="0">
              <a:buNone/>
            </a:pPr>
            <a:r>
              <a:rPr lang="en-US" sz="1200" dirty="0">
                <a:solidFill>
                  <a:srgbClr val="1A3040"/>
                </a:solidFill>
              </a:rPr>
              <a:t>The Impact of Accessible Digital Products</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4754880" y="1051560"/>
            <a:ext cx="4114800" cy="100584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17" name="Shape 15">
            <a:extLst>
              <a:ext uri="{C183D7F6-B498-43B3-948B-1728B52AA6E4}">
                <adec:decorative xmlns:adec="http://schemas.microsoft.com/office/drawing/2017/decorative" val="1"/>
              </a:ext>
            </a:extLst>
          </p:cNvPr>
          <p:cNvSpPr/>
          <p:nvPr/>
        </p:nvSpPr>
        <p:spPr>
          <a:xfrm>
            <a:off x="4754880" y="1051560"/>
            <a:ext cx="502920" cy="1005840"/>
          </a:xfrm>
          <a:prstGeom prst="rect">
            <a:avLst/>
          </a:prstGeom>
          <a:solidFill>
            <a:srgbClr val="028090"/>
          </a:solidFill>
          <a:ln w="12700">
            <a:solidFill>
              <a:srgbClr val="028090"/>
            </a:solidFill>
            <a:prstDash val="solid"/>
          </a:ln>
        </p:spPr>
        <p:txBody>
          <a:bodyPr/>
          <a:lstStyle/>
          <a:p>
            <a:endParaRPr lang="en-IN"/>
          </a:p>
        </p:txBody>
      </p:sp>
      <p:sp>
        <p:nvSpPr>
          <p:cNvPr id="18" name="Text 16"/>
          <p:cNvSpPr/>
          <p:nvPr/>
        </p:nvSpPr>
        <p:spPr>
          <a:xfrm>
            <a:off x="4773168" y="1280160"/>
            <a:ext cx="457200" cy="502920"/>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19" name="Text 17"/>
          <p:cNvSpPr/>
          <p:nvPr/>
        </p:nvSpPr>
        <p:spPr>
          <a:xfrm>
            <a:off x="5349240" y="1234440"/>
            <a:ext cx="3429000" cy="640080"/>
          </a:xfrm>
          <a:prstGeom prst="rect">
            <a:avLst/>
          </a:prstGeom>
          <a:noFill/>
          <a:ln/>
        </p:spPr>
        <p:txBody>
          <a:bodyPr wrap="square" lIns="0" tIns="0" rIns="0" bIns="0" rtlCol="0" anchor="ctr"/>
          <a:lstStyle/>
          <a:p>
            <a:pPr marL="0" indent="0">
              <a:buNone/>
            </a:pPr>
            <a:r>
              <a:rPr lang="en-US" sz="1200" dirty="0">
                <a:solidFill>
                  <a:srgbClr val="1A3040"/>
                </a:solidFill>
              </a:rPr>
              <a:t>Who Are the End Users?</a:t>
            </a:r>
            <a:endParaRPr lang="en-US" sz="1200" dirty="0"/>
          </a:p>
        </p:txBody>
      </p:sp>
      <p:sp>
        <p:nvSpPr>
          <p:cNvPr id="20" name="Shape 18">
            <a:extLst>
              <a:ext uri="{C183D7F6-B498-43B3-948B-1728B52AA6E4}">
                <adec:decorative xmlns:adec="http://schemas.microsoft.com/office/drawing/2017/decorative" val="1"/>
              </a:ext>
            </a:extLst>
          </p:cNvPr>
          <p:cNvSpPr/>
          <p:nvPr/>
        </p:nvSpPr>
        <p:spPr>
          <a:xfrm>
            <a:off x="4754880" y="2286000"/>
            <a:ext cx="4114800" cy="100584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21" name="Shape 19">
            <a:extLst>
              <a:ext uri="{C183D7F6-B498-43B3-948B-1728B52AA6E4}">
                <adec:decorative xmlns:adec="http://schemas.microsoft.com/office/drawing/2017/decorative" val="1"/>
              </a:ext>
            </a:extLst>
          </p:cNvPr>
          <p:cNvSpPr/>
          <p:nvPr/>
        </p:nvSpPr>
        <p:spPr>
          <a:xfrm>
            <a:off x="4754880" y="2286000"/>
            <a:ext cx="502920" cy="1005840"/>
          </a:xfrm>
          <a:prstGeom prst="rect">
            <a:avLst/>
          </a:prstGeom>
          <a:solidFill>
            <a:srgbClr val="028090"/>
          </a:solidFill>
          <a:ln w="12700">
            <a:solidFill>
              <a:srgbClr val="028090"/>
            </a:solidFill>
            <a:prstDash val="solid"/>
          </a:ln>
        </p:spPr>
        <p:txBody>
          <a:bodyPr/>
          <a:lstStyle/>
          <a:p>
            <a:endParaRPr lang="en-IN"/>
          </a:p>
        </p:txBody>
      </p:sp>
      <p:sp>
        <p:nvSpPr>
          <p:cNvPr id="22" name="Text 20"/>
          <p:cNvSpPr/>
          <p:nvPr/>
        </p:nvSpPr>
        <p:spPr>
          <a:xfrm>
            <a:off x="4773168" y="2514600"/>
            <a:ext cx="457200" cy="502920"/>
          </a:xfrm>
          <a:prstGeom prst="rect">
            <a:avLst/>
          </a:prstGeom>
          <a:noFill/>
          <a:ln/>
        </p:spPr>
        <p:txBody>
          <a:bodyPr wrap="square" lIns="0" tIns="0" rIns="0" bIns="0" rtlCol="0" anchor="ctr"/>
          <a:lstStyle/>
          <a:p>
            <a:pPr marL="0" indent="0" algn="ctr">
              <a:buNone/>
            </a:pPr>
            <a:r>
              <a:rPr lang="en-US" sz="1600" b="1" dirty="0">
                <a:solidFill>
                  <a:srgbClr val="FFFFFF"/>
                </a:solidFill>
              </a:rPr>
              <a:t>05</a:t>
            </a:r>
            <a:endParaRPr lang="en-US" sz="1600" dirty="0"/>
          </a:p>
        </p:txBody>
      </p:sp>
      <p:sp>
        <p:nvSpPr>
          <p:cNvPr id="23" name="Text 21"/>
          <p:cNvSpPr/>
          <p:nvPr/>
        </p:nvSpPr>
        <p:spPr>
          <a:xfrm>
            <a:off x="5349240" y="2468880"/>
            <a:ext cx="3429000" cy="640080"/>
          </a:xfrm>
          <a:prstGeom prst="rect">
            <a:avLst/>
          </a:prstGeom>
          <a:noFill/>
          <a:ln/>
        </p:spPr>
        <p:txBody>
          <a:bodyPr wrap="square" lIns="0" tIns="0" rIns="0" bIns="0" rtlCol="0" anchor="ctr"/>
          <a:lstStyle/>
          <a:p>
            <a:pPr marL="0" indent="0">
              <a:buNone/>
            </a:pPr>
            <a:r>
              <a:rPr lang="en-US" sz="1200" dirty="0">
                <a:solidFill>
                  <a:srgbClr val="1A3040"/>
                </a:solidFill>
              </a:rPr>
              <a:t>Types of Disabilities as per WCAG</a:t>
            </a:r>
            <a:endParaRPr lang="en-US" sz="1200" dirty="0"/>
          </a:p>
        </p:txBody>
      </p:sp>
      <p:sp>
        <p:nvSpPr>
          <p:cNvPr id="24" name="Shape 22">
            <a:extLst>
              <a:ext uri="{C183D7F6-B498-43B3-948B-1728B52AA6E4}">
                <adec:decorative xmlns:adec="http://schemas.microsoft.com/office/drawing/2017/decorative" val="1"/>
              </a:ext>
            </a:extLst>
          </p:cNvPr>
          <p:cNvSpPr/>
          <p:nvPr/>
        </p:nvSpPr>
        <p:spPr>
          <a:xfrm>
            <a:off x="4754880" y="3520440"/>
            <a:ext cx="4114800" cy="100584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25" name="Shape 23">
            <a:extLst>
              <a:ext uri="{C183D7F6-B498-43B3-948B-1728B52AA6E4}">
                <adec:decorative xmlns:adec="http://schemas.microsoft.com/office/drawing/2017/decorative" val="1"/>
              </a:ext>
            </a:extLst>
          </p:cNvPr>
          <p:cNvSpPr/>
          <p:nvPr/>
        </p:nvSpPr>
        <p:spPr>
          <a:xfrm>
            <a:off x="4754880" y="3520440"/>
            <a:ext cx="502920" cy="1005840"/>
          </a:xfrm>
          <a:prstGeom prst="rect">
            <a:avLst/>
          </a:prstGeom>
          <a:solidFill>
            <a:srgbClr val="028090"/>
          </a:solidFill>
          <a:ln w="12700">
            <a:solidFill>
              <a:srgbClr val="028090"/>
            </a:solidFill>
            <a:prstDash val="solid"/>
          </a:ln>
        </p:spPr>
        <p:txBody>
          <a:bodyPr/>
          <a:lstStyle/>
          <a:p>
            <a:endParaRPr lang="en-IN"/>
          </a:p>
        </p:txBody>
      </p:sp>
      <p:sp>
        <p:nvSpPr>
          <p:cNvPr id="26" name="Text 24"/>
          <p:cNvSpPr/>
          <p:nvPr/>
        </p:nvSpPr>
        <p:spPr>
          <a:xfrm>
            <a:off x="4773168" y="3749040"/>
            <a:ext cx="457200" cy="502920"/>
          </a:xfrm>
          <a:prstGeom prst="rect">
            <a:avLst/>
          </a:prstGeom>
          <a:noFill/>
          <a:ln/>
        </p:spPr>
        <p:txBody>
          <a:bodyPr wrap="square" lIns="0" tIns="0" rIns="0" bIns="0" rtlCol="0" anchor="ctr"/>
          <a:lstStyle/>
          <a:p>
            <a:pPr marL="0" indent="0" algn="ctr">
              <a:buNone/>
            </a:pPr>
            <a:r>
              <a:rPr lang="en-US" sz="1600" b="1" dirty="0">
                <a:solidFill>
                  <a:srgbClr val="FFFFFF"/>
                </a:solidFill>
              </a:rPr>
              <a:t>06</a:t>
            </a:r>
            <a:endParaRPr lang="en-US" sz="1600" dirty="0"/>
          </a:p>
        </p:txBody>
      </p:sp>
      <p:sp>
        <p:nvSpPr>
          <p:cNvPr id="27" name="Text 25"/>
          <p:cNvSpPr/>
          <p:nvPr/>
        </p:nvSpPr>
        <p:spPr>
          <a:xfrm>
            <a:off x="5349240" y="3703320"/>
            <a:ext cx="3429000" cy="640080"/>
          </a:xfrm>
          <a:prstGeom prst="rect">
            <a:avLst/>
          </a:prstGeom>
          <a:noFill/>
          <a:ln/>
        </p:spPr>
        <p:txBody>
          <a:bodyPr wrap="square" lIns="0" tIns="0" rIns="0" bIns="0" rtlCol="0" anchor="ctr"/>
          <a:lstStyle/>
          <a:p>
            <a:pPr marL="0" indent="0">
              <a:buNone/>
            </a:pPr>
            <a:r>
              <a:rPr lang="en-US" sz="1200" dirty="0">
                <a:solidFill>
                  <a:srgbClr val="1A3040"/>
                </a:solidFill>
              </a:rPr>
              <a:t>What is WCAG? A Brief History</a:t>
            </a:r>
            <a:endParaRPr lang="en-US" sz="1200" dirty="0"/>
          </a:p>
        </p:txBody>
      </p:sp>
      <p:sp>
        <p:nvSpPr>
          <p:cNvPr id="28" name="Shape 26">
            <a:extLst>
              <a:ext uri="{C183D7F6-B498-43B3-948B-1728B52AA6E4}">
                <adec:decorative xmlns:adec="http://schemas.microsoft.com/office/drawing/2017/decorative" val="1"/>
              </a:ext>
            </a:extLst>
          </p:cNvPr>
          <p:cNvSpPr/>
          <p:nvPr/>
        </p:nvSpPr>
        <p:spPr>
          <a:xfrm>
            <a:off x="0" y="4846320"/>
            <a:ext cx="9144000" cy="297180"/>
          </a:xfrm>
          <a:prstGeom prst="rect">
            <a:avLst/>
          </a:prstGeom>
          <a:solidFill>
            <a:srgbClr val="0D2B3E"/>
          </a:solidFill>
          <a:ln w="12700">
            <a:solidFill>
              <a:srgbClr val="0D2B3E"/>
            </a:solidFill>
            <a:prstDash val="solid"/>
          </a:ln>
        </p:spPr>
        <p:txBody>
          <a:bodyPr/>
          <a:lstStyle/>
          <a:p>
            <a:endParaRPr lang="en-IN"/>
          </a:p>
        </p:txBody>
      </p:sp>
      <p:sp>
        <p:nvSpPr>
          <p:cNvPr id="29" name="Text 27"/>
          <p:cNvSpPr/>
          <p:nvPr/>
        </p:nvSpPr>
        <p:spPr>
          <a:xfrm>
            <a:off x="274320" y="4864608"/>
            <a:ext cx="4572000" cy="256032"/>
          </a:xfrm>
          <a:prstGeom prst="rect">
            <a:avLst/>
          </a:prstGeom>
          <a:noFill/>
          <a:ln/>
        </p:spPr>
        <p:txBody>
          <a:bodyPr wrap="square" lIns="0" tIns="0" rIns="0" bIns="0" rtlCol="0" anchor="ctr"/>
          <a:lstStyle/>
          <a:p>
            <a:pPr marL="0" indent="0">
              <a:buNone/>
            </a:pPr>
            <a:r>
              <a:rPr lang="en-US" sz="900" dirty="0">
                <a:solidFill>
                  <a:srgbClr val="C4DDE4"/>
                </a:solidFill>
              </a:rPr>
              <a:t>Digital Accessibility Awareness</a:t>
            </a:r>
            <a:endParaRPr lang="en-US" sz="900" dirty="0"/>
          </a:p>
        </p:txBody>
      </p:sp>
      <p:sp>
        <p:nvSpPr>
          <p:cNvPr id="30" name="Text 28"/>
          <p:cNvSpPr/>
          <p:nvPr/>
        </p:nvSpPr>
        <p:spPr>
          <a:xfrm>
            <a:off x="8229600" y="4864608"/>
            <a:ext cx="640080" cy="256032"/>
          </a:xfrm>
          <a:prstGeom prst="rect">
            <a:avLst/>
          </a:prstGeom>
          <a:noFill/>
          <a:ln/>
        </p:spPr>
        <p:txBody>
          <a:bodyPr wrap="square" lIns="0" tIns="0" rIns="0" bIns="0" rtlCol="0" anchor="ctr"/>
          <a:lstStyle/>
          <a:p>
            <a:pPr marL="0" indent="0" algn="r">
              <a:buNone/>
            </a:pPr>
            <a:r>
              <a:rPr lang="en-US" sz="900" dirty="0">
                <a:solidFill>
                  <a:srgbClr val="C4DDE4"/>
                </a:solidFill>
              </a:rPr>
              <a:t>Slide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9144000" cy="914400"/>
          </a:xfrm>
          <a:prstGeom prst="rect">
            <a:avLst/>
          </a:prstGeom>
          <a:solidFill>
            <a:srgbClr val="028090"/>
          </a:solidFill>
          <a:ln w="12700">
            <a:solidFill>
              <a:srgbClr val="028090"/>
            </a:solidFill>
            <a:prstDash val="solid"/>
          </a:ln>
        </p:spPr>
        <p:txBody>
          <a:bodyPr/>
          <a:lstStyle/>
          <a:p>
            <a:endParaRPr lang="en-IN"/>
          </a:p>
        </p:txBody>
      </p:sp>
      <p:sp>
        <p:nvSpPr>
          <p:cNvPr id="3" name="Text 1"/>
          <p:cNvSpPr/>
          <p:nvPr/>
        </p:nvSpPr>
        <p:spPr>
          <a:xfrm>
            <a:off x="365760" y="137160"/>
            <a:ext cx="8229600" cy="640080"/>
          </a:xfrm>
          <a:prstGeom prst="rect">
            <a:avLst/>
          </a:prstGeom>
          <a:noFill/>
          <a:ln/>
        </p:spPr>
        <p:txBody>
          <a:bodyPr wrap="square" lIns="0" tIns="0" rIns="0" bIns="0" rtlCol="0" anchor="ctr"/>
          <a:lstStyle/>
          <a:p>
            <a:pPr marL="0" indent="0">
              <a:buNone/>
            </a:pPr>
            <a:r>
              <a:rPr lang="en-US" sz="2800" b="1" dirty="0">
                <a:solidFill>
                  <a:srgbClr val="FFFFFF"/>
                </a:solidFill>
              </a:rPr>
              <a:t>01 |  What is Digital Accessibility?</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365760" y="1005840"/>
            <a:ext cx="8412480" cy="1188720"/>
          </a:xfrm>
          <a:prstGeom prst="rect">
            <a:avLst/>
          </a:prstGeom>
          <a:solidFill>
            <a:srgbClr val="0D2B3E"/>
          </a:solidFill>
          <a:ln w="12700">
            <a:solidFill>
              <a:srgbClr val="0D2B3E"/>
            </a:solidFill>
            <a:prstDash val="solid"/>
          </a:ln>
          <a:effectLst>
            <a:outerShdw blurRad="76200" dist="25400" dir="8100000" algn="bl" rotWithShape="0">
              <a:srgbClr val="000000">
                <a:alpha val="15000"/>
              </a:srgbClr>
            </a:outerShdw>
          </a:effectLst>
        </p:spPr>
        <p:txBody>
          <a:bodyPr/>
          <a:lstStyle/>
          <a:p>
            <a:endParaRPr lang="en-IN"/>
          </a:p>
        </p:txBody>
      </p:sp>
      <p:sp>
        <p:nvSpPr>
          <p:cNvPr id="5" name="Shape 3">
            <a:extLst>
              <a:ext uri="{C183D7F6-B498-43B3-948B-1728B52AA6E4}">
                <adec:decorative xmlns:adec="http://schemas.microsoft.com/office/drawing/2017/decorative" val="1"/>
              </a:ext>
            </a:extLst>
          </p:cNvPr>
          <p:cNvSpPr/>
          <p:nvPr/>
        </p:nvSpPr>
        <p:spPr>
          <a:xfrm>
            <a:off x="365760" y="1005840"/>
            <a:ext cx="109728" cy="1188720"/>
          </a:xfrm>
          <a:prstGeom prst="rect">
            <a:avLst/>
          </a:prstGeom>
          <a:solidFill>
            <a:srgbClr val="F4A261"/>
          </a:solidFill>
          <a:ln w="12700">
            <a:solidFill>
              <a:srgbClr val="F4A261"/>
            </a:solidFill>
            <a:prstDash val="solid"/>
          </a:ln>
        </p:spPr>
        <p:txBody>
          <a:bodyPr/>
          <a:lstStyle/>
          <a:p>
            <a:endParaRPr lang="en-IN"/>
          </a:p>
        </p:txBody>
      </p:sp>
      <p:sp>
        <p:nvSpPr>
          <p:cNvPr id="6" name="Text 4"/>
          <p:cNvSpPr/>
          <p:nvPr/>
        </p:nvSpPr>
        <p:spPr>
          <a:xfrm>
            <a:off x="594360" y="1051560"/>
            <a:ext cx="8046720" cy="1097280"/>
          </a:xfrm>
          <a:prstGeom prst="rect">
            <a:avLst/>
          </a:prstGeom>
          <a:noFill/>
          <a:ln/>
        </p:spPr>
        <p:txBody>
          <a:bodyPr wrap="square" lIns="0" tIns="0" rIns="0" bIns="0" rtlCol="0" anchor="ctr"/>
          <a:lstStyle/>
          <a:p>
            <a:pPr marL="0" indent="0">
              <a:buNone/>
            </a:pPr>
            <a:r>
              <a:rPr lang="en-US" sz="1400" i="1" dirty="0">
                <a:solidFill>
                  <a:srgbClr val="FFFFFF"/>
                </a:solidFill>
              </a:rPr>
              <a:t>Digital Accessibility is the practice of designing and developing websites, applications, and digital content so that people with disabilities can perceive, understand, navigate, and interact with them on an equal basis with others.</a:t>
            </a:r>
            <a:endParaRPr lang="en-US" sz="1400" dirty="0"/>
          </a:p>
        </p:txBody>
      </p:sp>
      <p:sp>
        <p:nvSpPr>
          <p:cNvPr id="7" name="Shape 5">
            <a:extLst>
              <a:ext uri="{C183D7F6-B498-43B3-948B-1728B52AA6E4}">
                <adec:decorative xmlns:adec="http://schemas.microsoft.com/office/drawing/2017/decorative" val="1"/>
              </a:ext>
            </a:extLst>
          </p:cNvPr>
          <p:cNvSpPr/>
          <p:nvPr/>
        </p:nvSpPr>
        <p:spPr>
          <a:xfrm>
            <a:off x="274320" y="2377440"/>
            <a:ext cx="2011680" cy="219456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8" name="Shape 6">
            <a:extLst>
              <a:ext uri="{C183D7F6-B498-43B3-948B-1728B52AA6E4}">
                <adec:decorative xmlns:adec="http://schemas.microsoft.com/office/drawing/2017/decorative" val="1"/>
              </a:ext>
            </a:extLst>
          </p:cNvPr>
          <p:cNvSpPr/>
          <p:nvPr/>
        </p:nvSpPr>
        <p:spPr>
          <a:xfrm>
            <a:off x="274320" y="2377440"/>
            <a:ext cx="2011680" cy="411480"/>
          </a:xfrm>
          <a:prstGeom prst="rect">
            <a:avLst/>
          </a:prstGeom>
          <a:solidFill>
            <a:srgbClr val="028090"/>
          </a:solidFill>
          <a:ln w="12700">
            <a:solidFill>
              <a:srgbClr val="028090"/>
            </a:solidFill>
            <a:prstDash val="solid"/>
          </a:ln>
        </p:spPr>
        <p:txBody>
          <a:bodyPr/>
          <a:lstStyle/>
          <a:p>
            <a:endParaRPr lang="en-IN"/>
          </a:p>
        </p:txBody>
      </p:sp>
      <p:sp>
        <p:nvSpPr>
          <p:cNvPr id="9" name="Text 7"/>
          <p:cNvSpPr/>
          <p:nvPr/>
        </p:nvSpPr>
        <p:spPr>
          <a:xfrm>
            <a:off x="365760" y="2395728"/>
            <a:ext cx="1828800" cy="347472"/>
          </a:xfrm>
          <a:prstGeom prst="rect">
            <a:avLst/>
          </a:prstGeom>
          <a:noFill/>
          <a:ln/>
        </p:spPr>
        <p:txBody>
          <a:bodyPr wrap="square" lIns="0" tIns="0" rIns="0" bIns="0" rtlCol="0" anchor="ctr"/>
          <a:lstStyle/>
          <a:p>
            <a:pPr marL="0" indent="0" algn="ctr">
              <a:buNone/>
            </a:pPr>
            <a:r>
              <a:rPr lang="en-US" sz="1200" b="1" dirty="0">
                <a:solidFill>
                  <a:srgbClr val="FFFFFF"/>
                </a:solidFill>
              </a:rPr>
              <a:t>Perceivable</a:t>
            </a:r>
            <a:endParaRPr lang="en-US" sz="1200" dirty="0"/>
          </a:p>
        </p:txBody>
      </p:sp>
      <p:sp>
        <p:nvSpPr>
          <p:cNvPr id="10" name="Text 8"/>
          <p:cNvSpPr/>
          <p:nvPr/>
        </p:nvSpPr>
        <p:spPr>
          <a:xfrm>
            <a:off x="365760" y="2852928"/>
            <a:ext cx="1828800" cy="1554480"/>
          </a:xfrm>
          <a:prstGeom prst="rect">
            <a:avLst/>
          </a:prstGeom>
          <a:noFill/>
          <a:ln/>
        </p:spPr>
        <p:txBody>
          <a:bodyPr wrap="square" lIns="0" tIns="0" rIns="0" bIns="0" rtlCol="0" anchor="ctr"/>
          <a:lstStyle/>
          <a:p>
            <a:pPr marL="0" indent="0">
              <a:buNone/>
            </a:pPr>
            <a:r>
              <a:rPr lang="en-US" sz="1100" dirty="0">
                <a:solidFill>
                  <a:srgbClr val="1A3040"/>
                </a:solidFill>
              </a:rPr>
              <a:t>Information must be presented in ways users can sense.</a:t>
            </a:r>
            <a:endParaRPr lang="en-US" sz="1100" dirty="0"/>
          </a:p>
        </p:txBody>
      </p:sp>
      <p:sp>
        <p:nvSpPr>
          <p:cNvPr id="11" name="Shape 9">
            <a:extLst>
              <a:ext uri="{C183D7F6-B498-43B3-948B-1728B52AA6E4}">
                <adec:decorative xmlns:adec="http://schemas.microsoft.com/office/drawing/2017/decorative" val="1"/>
              </a:ext>
            </a:extLst>
          </p:cNvPr>
          <p:cNvSpPr/>
          <p:nvPr/>
        </p:nvSpPr>
        <p:spPr>
          <a:xfrm>
            <a:off x="2450592" y="2377440"/>
            <a:ext cx="2011680" cy="219456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12" name="Shape 10">
            <a:extLst>
              <a:ext uri="{C183D7F6-B498-43B3-948B-1728B52AA6E4}">
                <adec:decorative xmlns:adec="http://schemas.microsoft.com/office/drawing/2017/decorative" val="1"/>
              </a:ext>
            </a:extLst>
          </p:cNvPr>
          <p:cNvSpPr/>
          <p:nvPr/>
        </p:nvSpPr>
        <p:spPr>
          <a:xfrm>
            <a:off x="2450592" y="2377440"/>
            <a:ext cx="2011680" cy="411480"/>
          </a:xfrm>
          <a:prstGeom prst="rect">
            <a:avLst/>
          </a:prstGeom>
          <a:solidFill>
            <a:srgbClr val="00A896"/>
          </a:solidFill>
          <a:ln w="12700">
            <a:solidFill>
              <a:srgbClr val="00A896"/>
            </a:solidFill>
            <a:prstDash val="solid"/>
          </a:ln>
        </p:spPr>
        <p:txBody>
          <a:bodyPr/>
          <a:lstStyle/>
          <a:p>
            <a:endParaRPr lang="en-IN"/>
          </a:p>
        </p:txBody>
      </p:sp>
      <p:sp>
        <p:nvSpPr>
          <p:cNvPr id="13" name="Text 11"/>
          <p:cNvSpPr/>
          <p:nvPr/>
        </p:nvSpPr>
        <p:spPr>
          <a:xfrm>
            <a:off x="2542032" y="2395728"/>
            <a:ext cx="1828800" cy="347472"/>
          </a:xfrm>
          <a:prstGeom prst="rect">
            <a:avLst/>
          </a:prstGeom>
          <a:noFill/>
          <a:ln/>
        </p:spPr>
        <p:txBody>
          <a:bodyPr wrap="square" lIns="0" tIns="0" rIns="0" bIns="0" rtlCol="0" anchor="ctr"/>
          <a:lstStyle/>
          <a:p>
            <a:pPr marL="0" indent="0" algn="ctr">
              <a:buNone/>
            </a:pPr>
            <a:r>
              <a:rPr lang="en-US" sz="1200" b="1" dirty="0">
                <a:solidFill>
                  <a:srgbClr val="FFFFFF"/>
                </a:solidFill>
              </a:rPr>
              <a:t>Operable</a:t>
            </a:r>
            <a:endParaRPr lang="en-US" sz="1200" dirty="0"/>
          </a:p>
        </p:txBody>
      </p:sp>
      <p:sp>
        <p:nvSpPr>
          <p:cNvPr id="14" name="Text 12"/>
          <p:cNvSpPr/>
          <p:nvPr/>
        </p:nvSpPr>
        <p:spPr>
          <a:xfrm>
            <a:off x="2542032" y="2852928"/>
            <a:ext cx="1828800" cy="1554480"/>
          </a:xfrm>
          <a:prstGeom prst="rect">
            <a:avLst/>
          </a:prstGeom>
          <a:noFill/>
          <a:ln/>
        </p:spPr>
        <p:txBody>
          <a:bodyPr wrap="square" lIns="0" tIns="0" rIns="0" bIns="0" rtlCol="0" anchor="ctr"/>
          <a:lstStyle/>
          <a:p>
            <a:pPr marL="0" indent="0">
              <a:buNone/>
            </a:pPr>
            <a:r>
              <a:rPr lang="en-US" sz="1100" dirty="0">
                <a:solidFill>
                  <a:srgbClr val="1A3040"/>
                </a:solidFill>
              </a:rPr>
              <a:t>Interface components must be navigable and usable.</a:t>
            </a:r>
            <a:endParaRPr lang="en-US" sz="1100" dirty="0"/>
          </a:p>
        </p:txBody>
      </p:sp>
      <p:sp>
        <p:nvSpPr>
          <p:cNvPr id="15" name="Shape 13">
            <a:extLst>
              <a:ext uri="{C183D7F6-B498-43B3-948B-1728B52AA6E4}">
                <adec:decorative xmlns:adec="http://schemas.microsoft.com/office/drawing/2017/decorative" val="1"/>
              </a:ext>
            </a:extLst>
          </p:cNvPr>
          <p:cNvSpPr/>
          <p:nvPr/>
        </p:nvSpPr>
        <p:spPr>
          <a:xfrm>
            <a:off x="4626864" y="2377440"/>
            <a:ext cx="2011680" cy="219456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16" name="Shape 14">
            <a:extLst>
              <a:ext uri="{C183D7F6-B498-43B3-948B-1728B52AA6E4}">
                <adec:decorative xmlns:adec="http://schemas.microsoft.com/office/drawing/2017/decorative" val="1"/>
              </a:ext>
            </a:extLst>
          </p:cNvPr>
          <p:cNvSpPr/>
          <p:nvPr/>
        </p:nvSpPr>
        <p:spPr>
          <a:xfrm>
            <a:off x="4626864" y="2377440"/>
            <a:ext cx="2011680" cy="411480"/>
          </a:xfrm>
          <a:prstGeom prst="rect">
            <a:avLst/>
          </a:prstGeom>
          <a:solidFill>
            <a:srgbClr val="028090"/>
          </a:solidFill>
          <a:ln w="12700">
            <a:solidFill>
              <a:srgbClr val="028090"/>
            </a:solidFill>
            <a:prstDash val="solid"/>
          </a:ln>
        </p:spPr>
        <p:txBody>
          <a:bodyPr/>
          <a:lstStyle/>
          <a:p>
            <a:endParaRPr lang="en-IN"/>
          </a:p>
        </p:txBody>
      </p:sp>
      <p:sp>
        <p:nvSpPr>
          <p:cNvPr id="17" name="Text 15"/>
          <p:cNvSpPr/>
          <p:nvPr/>
        </p:nvSpPr>
        <p:spPr>
          <a:xfrm>
            <a:off x="4718304" y="2395728"/>
            <a:ext cx="1828800" cy="347472"/>
          </a:xfrm>
          <a:prstGeom prst="rect">
            <a:avLst/>
          </a:prstGeom>
          <a:noFill/>
          <a:ln/>
        </p:spPr>
        <p:txBody>
          <a:bodyPr wrap="square" lIns="0" tIns="0" rIns="0" bIns="0" rtlCol="0" anchor="ctr"/>
          <a:lstStyle/>
          <a:p>
            <a:pPr marL="0" indent="0" algn="ctr">
              <a:buNone/>
            </a:pPr>
            <a:r>
              <a:rPr lang="en-US" sz="1200" b="1" dirty="0">
                <a:solidFill>
                  <a:srgbClr val="FFFFFF"/>
                </a:solidFill>
              </a:rPr>
              <a:t>Understandable</a:t>
            </a:r>
            <a:endParaRPr lang="en-US" sz="1200" dirty="0"/>
          </a:p>
        </p:txBody>
      </p:sp>
      <p:sp>
        <p:nvSpPr>
          <p:cNvPr id="18" name="Text 16"/>
          <p:cNvSpPr/>
          <p:nvPr/>
        </p:nvSpPr>
        <p:spPr>
          <a:xfrm>
            <a:off x="4718304" y="2852928"/>
            <a:ext cx="1828800" cy="1554480"/>
          </a:xfrm>
          <a:prstGeom prst="rect">
            <a:avLst/>
          </a:prstGeom>
          <a:noFill/>
          <a:ln/>
        </p:spPr>
        <p:txBody>
          <a:bodyPr wrap="square" lIns="0" tIns="0" rIns="0" bIns="0" rtlCol="0" anchor="ctr"/>
          <a:lstStyle/>
          <a:p>
            <a:pPr marL="0" indent="0">
              <a:buNone/>
            </a:pPr>
            <a:r>
              <a:rPr lang="en-US" sz="1100" dirty="0">
                <a:solidFill>
                  <a:srgbClr val="1A3040"/>
                </a:solidFill>
              </a:rPr>
              <a:t>Content and operation must be clear and predictable.</a:t>
            </a:r>
            <a:endParaRPr lang="en-US" sz="1100" dirty="0"/>
          </a:p>
        </p:txBody>
      </p:sp>
      <p:sp>
        <p:nvSpPr>
          <p:cNvPr id="19" name="Shape 17">
            <a:extLst>
              <a:ext uri="{C183D7F6-B498-43B3-948B-1728B52AA6E4}">
                <adec:decorative xmlns:adec="http://schemas.microsoft.com/office/drawing/2017/decorative" val="1"/>
              </a:ext>
            </a:extLst>
          </p:cNvPr>
          <p:cNvSpPr/>
          <p:nvPr/>
        </p:nvSpPr>
        <p:spPr>
          <a:xfrm>
            <a:off x="6803136" y="2377440"/>
            <a:ext cx="2011680" cy="219456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20" name="Shape 18">
            <a:extLst>
              <a:ext uri="{C183D7F6-B498-43B3-948B-1728B52AA6E4}">
                <adec:decorative xmlns:adec="http://schemas.microsoft.com/office/drawing/2017/decorative" val="1"/>
              </a:ext>
            </a:extLst>
          </p:cNvPr>
          <p:cNvSpPr/>
          <p:nvPr/>
        </p:nvSpPr>
        <p:spPr>
          <a:xfrm>
            <a:off x="6803136" y="2377440"/>
            <a:ext cx="2011680" cy="411480"/>
          </a:xfrm>
          <a:prstGeom prst="rect">
            <a:avLst/>
          </a:prstGeom>
          <a:solidFill>
            <a:srgbClr val="00A896"/>
          </a:solidFill>
          <a:ln w="12700">
            <a:solidFill>
              <a:srgbClr val="00A896"/>
            </a:solidFill>
            <a:prstDash val="solid"/>
          </a:ln>
        </p:spPr>
        <p:txBody>
          <a:bodyPr/>
          <a:lstStyle/>
          <a:p>
            <a:endParaRPr lang="en-IN"/>
          </a:p>
        </p:txBody>
      </p:sp>
      <p:sp>
        <p:nvSpPr>
          <p:cNvPr id="21" name="Text 19"/>
          <p:cNvSpPr/>
          <p:nvPr/>
        </p:nvSpPr>
        <p:spPr>
          <a:xfrm>
            <a:off x="6894576" y="2395728"/>
            <a:ext cx="1828800" cy="347472"/>
          </a:xfrm>
          <a:prstGeom prst="rect">
            <a:avLst/>
          </a:prstGeom>
          <a:noFill/>
          <a:ln/>
        </p:spPr>
        <p:txBody>
          <a:bodyPr wrap="square" lIns="0" tIns="0" rIns="0" bIns="0" rtlCol="0" anchor="ctr"/>
          <a:lstStyle/>
          <a:p>
            <a:pPr marL="0" indent="0" algn="ctr">
              <a:buNone/>
            </a:pPr>
            <a:r>
              <a:rPr lang="en-US" sz="1200" b="1" dirty="0">
                <a:solidFill>
                  <a:srgbClr val="FFFFFF"/>
                </a:solidFill>
              </a:rPr>
              <a:t>Robust</a:t>
            </a:r>
            <a:endParaRPr lang="en-US" sz="1200" dirty="0"/>
          </a:p>
        </p:txBody>
      </p:sp>
      <p:sp>
        <p:nvSpPr>
          <p:cNvPr id="22" name="Text 20"/>
          <p:cNvSpPr/>
          <p:nvPr/>
        </p:nvSpPr>
        <p:spPr>
          <a:xfrm>
            <a:off x="6894576" y="2852928"/>
            <a:ext cx="1828800" cy="1554480"/>
          </a:xfrm>
          <a:prstGeom prst="rect">
            <a:avLst/>
          </a:prstGeom>
          <a:noFill/>
          <a:ln/>
        </p:spPr>
        <p:txBody>
          <a:bodyPr wrap="square" lIns="0" tIns="0" rIns="0" bIns="0" rtlCol="0" anchor="ctr"/>
          <a:lstStyle/>
          <a:p>
            <a:pPr marL="0" indent="0">
              <a:buNone/>
            </a:pPr>
            <a:r>
              <a:rPr lang="en-US" sz="1100" dirty="0">
                <a:solidFill>
                  <a:srgbClr val="1A3040"/>
                </a:solidFill>
              </a:rPr>
              <a:t>Content must be compatible with current and future tools.</a:t>
            </a:r>
            <a:endParaRPr lang="en-US" sz="1100" dirty="0"/>
          </a:p>
        </p:txBody>
      </p:sp>
      <p:sp>
        <p:nvSpPr>
          <p:cNvPr id="23" name="Shape 21">
            <a:extLst>
              <a:ext uri="{C183D7F6-B498-43B3-948B-1728B52AA6E4}">
                <adec:decorative xmlns:adec="http://schemas.microsoft.com/office/drawing/2017/decorative" val="1"/>
              </a:ext>
            </a:extLst>
          </p:cNvPr>
          <p:cNvSpPr/>
          <p:nvPr/>
        </p:nvSpPr>
        <p:spPr>
          <a:xfrm>
            <a:off x="0" y="4846320"/>
            <a:ext cx="9144000" cy="297180"/>
          </a:xfrm>
          <a:prstGeom prst="rect">
            <a:avLst/>
          </a:prstGeom>
          <a:solidFill>
            <a:srgbClr val="0D2B3E"/>
          </a:solidFill>
          <a:ln w="12700">
            <a:solidFill>
              <a:srgbClr val="0D2B3E"/>
            </a:solidFill>
            <a:prstDash val="solid"/>
          </a:ln>
        </p:spPr>
        <p:txBody>
          <a:bodyPr/>
          <a:lstStyle/>
          <a:p>
            <a:endParaRPr lang="en-IN"/>
          </a:p>
        </p:txBody>
      </p:sp>
      <p:sp>
        <p:nvSpPr>
          <p:cNvPr id="24" name="Text 22"/>
          <p:cNvSpPr/>
          <p:nvPr/>
        </p:nvSpPr>
        <p:spPr>
          <a:xfrm>
            <a:off x="274320" y="4864608"/>
            <a:ext cx="4572000" cy="256032"/>
          </a:xfrm>
          <a:prstGeom prst="rect">
            <a:avLst/>
          </a:prstGeom>
          <a:noFill/>
          <a:ln/>
        </p:spPr>
        <p:txBody>
          <a:bodyPr wrap="square" lIns="0" tIns="0" rIns="0" bIns="0" rtlCol="0" anchor="ctr"/>
          <a:lstStyle/>
          <a:p>
            <a:pPr marL="0" indent="0">
              <a:buNone/>
            </a:pPr>
            <a:r>
              <a:rPr lang="en-US" sz="900" dirty="0">
                <a:solidFill>
                  <a:srgbClr val="C4DDE4"/>
                </a:solidFill>
              </a:rPr>
              <a:t>Digital Accessibility Awareness</a:t>
            </a:r>
            <a:endParaRPr lang="en-US" sz="900" dirty="0"/>
          </a:p>
        </p:txBody>
      </p:sp>
      <p:sp>
        <p:nvSpPr>
          <p:cNvPr id="25" name="Text 23"/>
          <p:cNvSpPr/>
          <p:nvPr/>
        </p:nvSpPr>
        <p:spPr>
          <a:xfrm>
            <a:off x="8229600" y="4864608"/>
            <a:ext cx="640080" cy="256032"/>
          </a:xfrm>
          <a:prstGeom prst="rect">
            <a:avLst/>
          </a:prstGeom>
          <a:noFill/>
          <a:ln/>
        </p:spPr>
        <p:txBody>
          <a:bodyPr wrap="square" lIns="0" tIns="0" rIns="0" bIns="0" rtlCol="0" anchor="ctr"/>
          <a:lstStyle/>
          <a:p>
            <a:pPr marL="0" indent="0" algn="r">
              <a:buNone/>
            </a:pPr>
            <a:r>
              <a:rPr lang="en-US" sz="900" dirty="0">
                <a:solidFill>
                  <a:srgbClr val="C4DDE4"/>
                </a:solidFill>
              </a:rPr>
              <a:t>Slide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9144000" cy="914400"/>
          </a:xfrm>
          <a:prstGeom prst="rect">
            <a:avLst/>
          </a:prstGeom>
          <a:solidFill>
            <a:srgbClr val="0D2B3E"/>
          </a:solidFill>
          <a:ln w="12700">
            <a:solidFill>
              <a:srgbClr val="0D2B3E"/>
            </a:solidFill>
            <a:prstDash val="solid"/>
          </a:ln>
        </p:spPr>
        <p:txBody>
          <a:bodyPr/>
          <a:lstStyle/>
          <a:p>
            <a:endParaRPr lang="en-IN"/>
          </a:p>
        </p:txBody>
      </p:sp>
      <p:sp>
        <p:nvSpPr>
          <p:cNvPr id="3" name="Text 1"/>
          <p:cNvSpPr/>
          <p:nvPr/>
        </p:nvSpPr>
        <p:spPr>
          <a:xfrm>
            <a:off x="365760" y="137160"/>
            <a:ext cx="8229600" cy="640080"/>
          </a:xfrm>
          <a:prstGeom prst="rect">
            <a:avLst/>
          </a:prstGeom>
          <a:noFill/>
          <a:ln/>
        </p:spPr>
        <p:txBody>
          <a:bodyPr wrap="square" lIns="0" tIns="0" rIns="0" bIns="0" rtlCol="0" anchor="ctr"/>
          <a:lstStyle/>
          <a:p>
            <a:pPr marL="0" indent="0">
              <a:buNone/>
            </a:pPr>
            <a:r>
              <a:rPr lang="en-US" sz="2400" b="1" dirty="0">
                <a:solidFill>
                  <a:srgbClr val="FFFFFF"/>
                </a:solidFill>
              </a:rPr>
              <a:t>02 |  Why Accessibility is a Need, Not a Retrofit</a:t>
            </a:r>
            <a:endParaRPr lang="en-US" sz="2400" dirty="0"/>
          </a:p>
        </p:txBody>
      </p:sp>
      <p:sp>
        <p:nvSpPr>
          <p:cNvPr id="4" name="Shape 2">
            <a:extLst>
              <a:ext uri="{C183D7F6-B498-43B3-948B-1728B52AA6E4}">
                <adec:decorative xmlns:adec="http://schemas.microsoft.com/office/drawing/2017/decorative" val="1"/>
              </a:ext>
            </a:extLst>
          </p:cNvPr>
          <p:cNvSpPr/>
          <p:nvPr/>
        </p:nvSpPr>
        <p:spPr>
          <a:xfrm>
            <a:off x="320040" y="1005840"/>
            <a:ext cx="5029200" cy="114300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5" name="Shape 3">
            <a:extLst>
              <a:ext uri="{C183D7F6-B498-43B3-948B-1728B52AA6E4}">
                <adec:decorative xmlns:adec="http://schemas.microsoft.com/office/drawing/2017/decorative" val="1"/>
              </a:ext>
            </a:extLst>
          </p:cNvPr>
          <p:cNvSpPr/>
          <p:nvPr/>
        </p:nvSpPr>
        <p:spPr>
          <a:xfrm>
            <a:off x="320040" y="1005840"/>
            <a:ext cx="109728" cy="1143000"/>
          </a:xfrm>
          <a:prstGeom prst="rect">
            <a:avLst/>
          </a:prstGeom>
          <a:solidFill>
            <a:srgbClr val="F4A261"/>
          </a:solidFill>
          <a:ln w="12700">
            <a:solidFill>
              <a:srgbClr val="F4A261"/>
            </a:solidFill>
            <a:prstDash val="solid"/>
          </a:ln>
        </p:spPr>
        <p:txBody>
          <a:bodyPr/>
          <a:lstStyle/>
          <a:p>
            <a:endParaRPr lang="en-IN"/>
          </a:p>
        </p:txBody>
      </p:sp>
      <p:sp>
        <p:nvSpPr>
          <p:cNvPr id="6" name="Text 4"/>
          <p:cNvSpPr/>
          <p:nvPr/>
        </p:nvSpPr>
        <p:spPr>
          <a:xfrm>
            <a:off x="530352" y="1078992"/>
            <a:ext cx="4663440" cy="320040"/>
          </a:xfrm>
          <a:prstGeom prst="rect">
            <a:avLst/>
          </a:prstGeom>
          <a:noFill/>
          <a:ln/>
        </p:spPr>
        <p:txBody>
          <a:bodyPr wrap="square" lIns="0" tIns="0" rIns="0" bIns="0" rtlCol="0" anchor="ctr"/>
          <a:lstStyle/>
          <a:p>
            <a:pPr marL="0" indent="0">
              <a:buNone/>
            </a:pPr>
            <a:r>
              <a:rPr lang="en-US" sz="1300" b="1" dirty="0">
                <a:solidFill>
                  <a:srgbClr val="028090"/>
                </a:solidFill>
              </a:rPr>
              <a:t>Human Right</a:t>
            </a:r>
            <a:endParaRPr lang="en-US" sz="1300" dirty="0"/>
          </a:p>
        </p:txBody>
      </p:sp>
      <p:sp>
        <p:nvSpPr>
          <p:cNvPr id="7" name="Text 5"/>
          <p:cNvSpPr/>
          <p:nvPr/>
        </p:nvSpPr>
        <p:spPr>
          <a:xfrm>
            <a:off x="530352" y="1389888"/>
            <a:ext cx="4663440" cy="685800"/>
          </a:xfrm>
          <a:prstGeom prst="rect">
            <a:avLst/>
          </a:prstGeom>
          <a:noFill/>
          <a:ln/>
        </p:spPr>
        <p:txBody>
          <a:bodyPr wrap="square" lIns="0" tIns="0" rIns="0" bIns="0" rtlCol="0" anchor="ctr"/>
          <a:lstStyle/>
          <a:p>
            <a:pPr marL="0" indent="0">
              <a:buNone/>
            </a:pPr>
            <a:r>
              <a:rPr lang="en-US" sz="1100" dirty="0">
                <a:solidFill>
                  <a:srgbClr val="1A3040"/>
                </a:solidFill>
              </a:rPr>
              <a:t>Access to information and communication is recognised as a fundamental right under the UN Convention on the Rights of Persons with Disabilities.</a:t>
            </a:r>
            <a:endParaRPr lang="en-US" sz="1100" dirty="0"/>
          </a:p>
        </p:txBody>
      </p:sp>
      <p:sp>
        <p:nvSpPr>
          <p:cNvPr id="8" name="Shape 6">
            <a:extLst>
              <a:ext uri="{C183D7F6-B498-43B3-948B-1728B52AA6E4}">
                <adec:decorative xmlns:adec="http://schemas.microsoft.com/office/drawing/2017/decorative" val="1"/>
              </a:ext>
            </a:extLst>
          </p:cNvPr>
          <p:cNvSpPr/>
          <p:nvPr/>
        </p:nvSpPr>
        <p:spPr>
          <a:xfrm>
            <a:off x="320040" y="2286000"/>
            <a:ext cx="5029200" cy="114300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9" name="Shape 7">
            <a:extLst>
              <a:ext uri="{C183D7F6-B498-43B3-948B-1728B52AA6E4}">
                <adec:decorative xmlns:adec="http://schemas.microsoft.com/office/drawing/2017/decorative" val="1"/>
              </a:ext>
            </a:extLst>
          </p:cNvPr>
          <p:cNvSpPr/>
          <p:nvPr/>
        </p:nvSpPr>
        <p:spPr>
          <a:xfrm>
            <a:off x="320040" y="2286000"/>
            <a:ext cx="109728" cy="1143000"/>
          </a:xfrm>
          <a:prstGeom prst="rect">
            <a:avLst/>
          </a:prstGeom>
          <a:solidFill>
            <a:srgbClr val="F4A261"/>
          </a:solidFill>
          <a:ln w="12700">
            <a:solidFill>
              <a:srgbClr val="F4A261"/>
            </a:solidFill>
            <a:prstDash val="solid"/>
          </a:ln>
        </p:spPr>
        <p:txBody>
          <a:bodyPr/>
          <a:lstStyle/>
          <a:p>
            <a:endParaRPr lang="en-IN"/>
          </a:p>
        </p:txBody>
      </p:sp>
      <p:sp>
        <p:nvSpPr>
          <p:cNvPr id="10" name="Text 8"/>
          <p:cNvSpPr/>
          <p:nvPr/>
        </p:nvSpPr>
        <p:spPr>
          <a:xfrm>
            <a:off x="530352" y="2359152"/>
            <a:ext cx="4663440" cy="320040"/>
          </a:xfrm>
          <a:prstGeom prst="rect">
            <a:avLst/>
          </a:prstGeom>
          <a:noFill/>
          <a:ln/>
        </p:spPr>
        <p:txBody>
          <a:bodyPr wrap="square" lIns="0" tIns="0" rIns="0" bIns="0" rtlCol="0" anchor="ctr"/>
          <a:lstStyle/>
          <a:p>
            <a:pPr marL="0" indent="0">
              <a:buNone/>
            </a:pPr>
            <a:r>
              <a:rPr lang="en-US" sz="1300" b="1" dirty="0">
                <a:solidFill>
                  <a:srgbClr val="028090"/>
                </a:solidFill>
              </a:rPr>
              <a:t>Legal Mandate</a:t>
            </a:r>
            <a:endParaRPr lang="en-US" sz="1300" dirty="0"/>
          </a:p>
        </p:txBody>
      </p:sp>
      <p:sp>
        <p:nvSpPr>
          <p:cNvPr id="11" name="Text 9"/>
          <p:cNvSpPr/>
          <p:nvPr/>
        </p:nvSpPr>
        <p:spPr>
          <a:xfrm>
            <a:off x="530352" y="2670048"/>
            <a:ext cx="4663440" cy="685800"/>
          </a:xfrm>
          <a:prstGeom prst="rect">
            <a:avLst/>
          </a:prstGeom>
          <a:noFill/>
          <a:ln/>
        </p:spPr>
        <p:txBody>
          <a:bodyPr wrap="square" lIns="0" tIns="0" rIns="0" bIns="0" rtlCol="0" anchor="ctr"/>
          <a:lstStyle/>
          <a:p>
            <a:pPr marL="0" indent="0">
              <a:buNone/>
            </a:pPr>
            <a:r>
              <a:rPr lang="en-US" sz="1100" dirty="0">
                <a:solidFill>
                  <a:srgbClr val="1A3040"/>
                </a:solidFill>
              </a:rPr>
              <a:t>Laws like the ADA, Section 508, EN 301 549, and India's RPWD Act 2016 create binding obligations for accessible digital services.</a:t>
            </a:r>
            <a:endParaRPr lang="en-US" sz="1100" dirty="0"/>
          </a:p>
        </p:txBody>
      </p:sp>
      <p:sp>
        <p:nvSpPr>
          <p:cNvPr id="12" name="Shape 10">
            <a:extLst>
              <a:ext uri="{C183D7F6-B498-43B3-948B-1728B52AA6E4}">
                <adec:decorative xmlns:adec="http://schemas.microsoft.com/office/drawing/2017/decorative" val="1"/>
              </a:ext>
            </a:extLst>
          </p:cNvPr>
          <p:cNvSpPr/>
          <p:nvPr/>
        </p:nvSpPr>
        <p:spPr>
          <a:xfrm>
            <a:off x="320040" y="3566160"/>
            <a:ext cx="5029200" cy="114300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13" name="Shape 11">
            <a:extLst>
              <a:ext uri="{C183D7F6-B498-43B3-948B-1728B52AA6E4}">
                <adec:decorative xmlns:adec="http://schemas.microsoft.com/office/drawing/2017/decorative" val="1"/>
              </a:ext>
            </a:extLst>
          </p:cNvPr>
          <p:cNvSpPr/>
          <p:nvPr/>
        </p:nvSpPr>
        <p:spPr>
          <a:xfrm>
            <a:off x="320040" y="3566160"/>
            <a:ext cx="109728" cy="1143000"/>
          </a:xfrm>
          <a:prstGeom prst="rect">
            <a:avLst/>
          </a:prstGeom>
          <a:solidFill>
            <a:srgbClr val="F4A261"/>
          </a:solidFill>
          <a:ln w="12700">
            <a:solidFill>
              <a:srgbClr val="F4A261"/>
            </a:solidFill>
            <a:prstDash val="solid"/>
          </a:ln>
        </p:spPr>
        <p:txBody>
          <a:bodyPr/>
          <a:lstStyle/>
          <a:p>
            <a:endParaRPr lang="en-IN"/>
          </a:p>
        </p:txBody>
      </p:sp>
      <p:sp>
        <p:nvSpPr>
          <p:cNvPr id="14" name="Text 12"/>
          <p:cNvSpPr/>
          <p:nvPr/>
        </p:nvSpPr>
        <p:spPr>
          <a:xfrm>
            <a:off x="530352" y="3639312"/>
            <a:ext cx="4663440" cy="320040"/>
          </a:xfrm>
          <a:prstGeom prst="rect">
            <a:avLst/>
          </a:prstGeom>
          <a:noFill/>
          <a:ln/>
        </p:spPr>
        <p:txBody>
          <a:bodyPr wrap="square" lIns="0" tIns="0" rIns="0" bIns="0" rtlCol="0" anchor="ctr"/>
          <a:lstStyle/>
          <a:p>
            <a:pPr marL="0" indent="0">
              <a:buNone/>
            </a:pPr>
            <a:r>
              <a:rPr lang="en-US" sz="1300" b="1" dirty="0">
                <a:solidFill>
                  <a:srgbClr val="028090"/>
                </a:solidFill>
              </a:rPr>
              <a:t>Business Logic</a:t>
            </a:r>
            <a:endParaRPr lang="en-US" sz="1300" dirty="0"/>
          </a:p>
        </p:txBody>
      </p:sp>
      <p:sp>
        <p:nvSpPr>
          <p:cNvPr id="15" name="Text 13"/>
          <p:cNvSpPr/>
          <p:nvPr/>
        </p:nvSpPr>
        <p:spPr>
          <a:xfrm>
            <a:off x="530352" y="3950208"/>
            <a:ext cx="4663440" cy="685800"/>
          </a:xfrm>
          <a:prstGeom prst="rect">
            <a:avLst/>
          </a:prstGeom>
          <a:noFill/>
          <a:ln/>
        </p:spPr>
        <p:txBody>
          <a:bodyPr wrap="square" lIns="0" tIns="0" rIns="0" bIns="0" rtlCol="0" anchor="ctr"/>
          <a:lstStyle/>
          <a:p>
            <a:pPr marL="0" indent="0">
              <a:buNone/>
            </a:pPr>
            <a:r>
              <a:rPr lang="en-US" sz="1100" dirty="0">
                <a:solidFill>
                  <a:srgbClr val="1A3040"/>
                </a:solidFill>
              </a:rPr>
              <a:t>Over 1.3 billion people worldwide have a disability. Inaccessible products exclude paying customers and expose organisations to litigation.</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5577840" y="1005840"/>
            <a:ext cx="3246120" cy="3749040"/>
          </a:xfrm>
          <a:prstGeom prst="rect">
            <a:avLst/>
          </a:prstGeom>
          <a:solidFill>
            <a:srgbClr val="FFFFFF"/>
          </a:solidFill>
          <a:ln w="12700">
            <a:solidFill>
              <a:srgbClr val="C4DDE4"/>
            </a:solidFill>
            <a:prstDash val="solid"/>
          </a:ln>
          <a:effectLst>
            <a:outerShdw blurRad="50800" dist="25400" dir="8100000" algn="bl" rotWithShape="0">
              <a:srgbClr val="000000">
                <a:alpha val="8000"/>
              </a:srgbClr>
            </a:outerShdw>
          </a:effectLst>
        </p:spPr>
        <p:txBody>
          <a:bodyPr/>
          <a:lstStyle/>
          <a:p>
            <a:endParaRPr lang="en-IN"/>
          </a:p>
        </p:txBody>
      </p:sp>
      <p:sp>
        <p:nvSpPr>
          <p:cNvPr id="17" name="Shape 15">
            <a:extLst>
              <a:ext uri="{C183D7F6-B498-43B3-948B-1728B52AA6E4}">
                <adec:decorative xmlns:adec="http://schemas.microsoft.com/office/drawing/2017/decorative" val="1"/>
              </a:ext>
            </a:extLst>
          </p:cNvPr>
          <p:cNvSpPr/>
          <p:nvPr/>
        </p:nvSpPr>
        <p:spPr>
          <a:xfrm>
            <a:off x="5577840" y="1005840"/>
            <a:ext cx="3246120" cy="457200"/>
          </a:xfrm>
          <a:prstGeom prst="rect">
            <a:avLst/>
          </a:prstGeom>
          <a:solidFill>
            <a:srgbClr val="028090"/>
          </a:solidFill>
          <a:ln w="12700">
            <a:solidFill>
              <a:srgbClr val="028090"/>
            </a:solidFill>
            <a:prstDash val="solid"/>
          </a:ln>
        </p:spPr>
        <p:txBody>
          <a:bodyPr/>
          <a:lstStyle/>
          <a:p>
            <a:endParaRPr lang="en-IN"/>
          </a:p>
        </p:txBody>
      </p:sp>
      <p:sp>
        <p:nvSpPr>
          <p:cNvPr id="18" name="Text 16"/>
          <p:cNvSpPr/>
          <p:nvPr/>
        </p:nvSpPr>
        <p:spPr>
          <a:xfrm>
            <a:off x="5669280" y="1042416"/>
            <a:ext cx="3017520" cy="347472"/>
          </a:xfrm>
          <a:prstGeom prst="rect">
            <a:avLst/>
          </a:prstGeom>
          <a:noFill/>
          <a:ln/>
        </p:spPr>
        <p:txBody>
          <a:bodyPr wrap="square" lIns="0" tIns="0" rIns="0" bIns="0" rtlCol="0" anchor="ctr"/>
          <a:lstStyle/>
          <a:p>
            <a:pPr marL="0" indent="0" algn="ctr">
              <a:buNone/>
            </a:pPr>
            <a:r>
              <a:rPr lang="en-US" sz="1300" b="1" dirty="0">
                <a:solidFill>
                  <a:srgbClr val="FFFFFF"/>
                </a:solidFill>
              </a:rPr>
              <a:t>Retrofit vs Built-in</a:t>
            </a:r>
            <a:endParaRPr lang="en-US" sz="1300" dirty="0"/>
          </a:p>
        </p:txBody>
      </p:sp>
      <p:sp>
        <p:nvSpPr>
          <p:cNvPr id="19" name="Shape 17">
            <a:extLst>
              <a:ext uri="{C183D7F6-B498-43B3-948B-1728B52AA6E4}">
                <adec:decorative xmlns:adec="http://schemas.microsoft.com/office/drawing/2017/decorative" val="1"/>
              </a:ext>
            </a:extLst>
          </p:cNvPr>
          <p:cNvSpPr/>
          <p:nvPr/>
        </p:nvSpPr>
        <p:spPr>
          <a:xfrm>
            <a:off x="5577840" y="1536192"/>
            <a:ext cx="1600200" cy="493776"/>
          </a:xfrm>
          <a:prstGeom prst="rect">
            <a:avLst/>
          </a:prstGeom>
          <a:solidFill>
            <a:srgbClr val="0D2B3E"/>
          </a:solidFill>
          <a:ln w="6350">
            <a:solidFill>
              <a:srgbClr val="C4DDE4"/>
            </a:solidFill>
            <a:prstDash val="solid"/>
          </a:ln>
        </p:spPr>
        <p:txBody>
          <a:bodyPr/>
          <a:lstStyle/>
          <a:p>
            <a:endParaRPr lang="en-IN"/>
          </a:p>
        </p:txBody>
      </p:sp>
      <p:sp>
        <p:nvSpPr>
          <p:cNvPr id="20" name="Shape 18">
            <a:extLst>
              <a:ext uri="{C183D7F6-B498-43B3-948B-1728B52AA6E4}">
                <adec:decorative xmlns:adec="http://schemas.microsoft.com/office/drawing/2017/decorative" val="1"/>
              </a:ext>
            </a:extLst>
          </p:cNvPr>
          <p:cNvSpPr/>
          <p:nvPr/>
        </p:nvSpPr>
        <p:spPr>
          <a:xfrm>
            <a:off x="7178040" y="1536192"/>
            <a:ext cx="1645920" cy="493776"/>
          </a:xfrm>
          <a:prstGeom prst="rect">
            <a:avLst/>
          </a:prstGeom>
          <a:solidFill>
            <a:srgbClr val="0D2B3E"/>
          </a:solidFill>
          <a:ln w="6350">
            <a:solidFill>
              <a:srgbClr val="C4DDE4"/>
            </a:solidFill>
            <a:prstDash val="solid"/>
          </a:ln>
        </p:spPr>
        <p:txBody>
          <a:bodyPr/>
          <a:lstStyle/>
          <a:p>
            <a:endParaRPr lang="en-IN"/>
          </a:p>
        </p:txBody>
      </p:sp>
      <p:sp>
        <p:nvSpPr>
          <p:cNvPr id="21" name="Text 19"/>
          <p:cNvSpPr/>
          <p:nvPr/>
        </p:nvSpPr>
        <p:spPr>
          <a:xfrm>
            <a:off x="5623560" y="1627632"/>
            <a:ext cx="1508760" cy="310896"/>
          </a:xfrm>
          <a:prstGeom prst="rect">
            <a:avLst/>
          </a:prstGeom>
          <a:noFill/>
          <a:ln/>
        </p:spPr>
        <p:txBody>
          <a:bodyPr wrap="square" lIns="0" tIns="0" rIns="0" bIns="0" rtlCol="0" anchor="ctr"/>
          <a:lstStyle/>
          <a:p>
            <a:pPr marL="0" indent="0" algn="ctr">
              <a:buNone/>
            </a:pPr>
            <a:r>
              <a:rPr lang="en-US" sz="1000" b="1" dirty="0">
                <a:solidFill>
                  <a:srgbClr val="F4A261"/>
                </a:solidFill>
              </a:rPr>
              <a:t>Retrofit</a:t>
            </a:r>
            <a:endParaRPr lang="en-US" sz="1000" dirty="0"/>
          </a:p>
        </p:txBody>
      </p:sp>
      <p:sp>
        <p:nvSpPr>
          <p:cNvPr id="22" name="Text 20"/>
          <p:cNvSpPr/>
          <p:nvPr/>
        </p:nvSpPr>
        <p:spPr>
          <a:xfrm>
            <a:off x="7223760" y="1627632"/>
            <a:ext cx="1554480" cy="310896"/>
          </a:xfrm>
          <a:prstGeom prst="rect">
            <a:avLst/>
          </a:prstGeom>
          <a:noFill/>
          <a:ln/>
        </p:spPr>
        <p:txBody>
          <a:bodyPr wrap="square" lIns="0" tIns="0" rIns="0" bIns="0" rtlCol="0" anchor="ctr"/>
          <a:lstStyle/>
          <a:p>
            <a:pPr marL="0" indent="0" algn="ctr">
              <a:buNone/>
            </a:pPr>
            <a:r>
              <a:rPr lang="en-US" sz="1000" b="1" dirty="0">
                <a:solidFill>
                  <a:srgbClr val="00A896"/>
                </a:solidFill>
              </a:rPr>
              <a:t>Built-in</a:t>
            </a:r>
            <a:endParaRPr lang="en-US" sz="1000" dirty="0"/>
          </a:p>
        </p:txBody>
      </p:sp>
      <p:sp>
        <p:nvSpPr>
          <p:cNvPr id="23" name="Shape 21">
            <a:extLst>
              <a:ext uri="{C183D7F6-B498-43B3-948B-1728B52AA6E4}">
                <adec:decorative xmlns:adec="http://schemas.microsoft.com/office/drawing/2017/decorative" val="1"/>
              </a:ext>
            </a:extLst>
          </p:cNvPr>
          <p:cNvSpPr/>
          <p:nvPr/>
        </p:nvSpPr>
        <p:spPr>
          <a:xfrm>
            <a:off x="5577840" y="2057400"/>
            <a:ext cx="1600200" cy="493776"/>
          </a:xfrm>
          <a:prstGeom prst="rect">
            <a:avLst/>
          </a:prstGeom>
          <a:solidFill>
            <a:srgbClr val="FFFFFF"/>
          </a:solidFill>
          <a:ln w="6350">
            <a:solidFill>
              <a:srgbClr val="C4DDE4"/>
            </a:solidFill>
            <a:prstDash val="solid"/>
          </a:ln>
        </p:spPr>
        <p:txBody>
          <a:bodyPr/>
          <a:lstStyle/>
          <a:p>
            <a:endParaRPr lang="en-IN"/>
          </a:p>
        </p:txBody>
      </p:sp>
      <p:sp>
        <p:nvSpPr>
          <p:cNvPr id="24" name="Shape 22">
            <a:extLst>
              <a:ext uri="{C183D7F6-B498-43B3-948B-1728B52AA6E4}">
                <adec:decorative xmlns:adec="http://schemas.microsoft.com/office/drawing/2017/decorative" val="1"/>
              </a:ext>
            </a:extLst>
          </p:cNvPr>
          <p:cNvSpPr/>
          <p:nvPr/>
        </p:nvSpPr>
        <p:spPr>
          <a:xfrm>
            <a:off x="7178040" y="2057400"/>
            <a:ext cx="1645920" cy="493776"/>
          </a:xfrm>
          <a:prstGeom prst="rect">
            <a:avLst/>
          </a:prstGeom>
          <a:solidFill>
            <a:srgbClr val="D0EDEF"/>
          </a:solidFill>
          <a:ln w="6350">
            <a:solidFill>
              <a:srgbClr val="C4DDE4"/>
            </a:solidFill>
            <a:prstDash val="solid"/>
          </a:ln>
        </p:spPr>
        <p:txBody>
          <a:bodyPr/>
          <a:lstStyle/>
          <a:p>
            <a:endParaRPr lang="en-IN"/>
          </a:p>
        </p:txBody>
      </p:sp>
      <p:sp>
        <p:nvSpPr>
          <p:cNvPr id="25" name="Text 23"/>
          <p:cNvSpPr/>
          <p:nvPr/>
        </p:nvSpPr>
        <p:spPr>
          <a:xfrm>
            <a:off x="5623560" y="2148840"/>
            <a:ext cx="1508760" cy="310896"/>
          </a:xfrm>
          <a:prstGeom prst="rect">
            <a:avLst/>
          </a:prstGeom>
          <a:noFill/>
          <a:ln/>
        </p:spPr>
        <p:txBody>
          <a:bodyPr wrap="square" lIns="0" tIns="0" rIns="0" bIns="0" rtlCol="0" anchor="ctr"/>
          <a:lstStyle/>
          <a:p>
            <a:pPr marL="0" indent="0" algn="ctr">
              <a:buNone/>
            </a:pPr>
            <a:r>
              <a:rPr lang="en-US" sz="1000" dirty="0">
                <a:solidFill>
                  <a:srgbClr val="1A3040"/>
                </a:solidFill>
              </a:rPr>
              <a:t>High rework cost</a:t>
            </a:r>
            <a:endParaRPr lang="en-US" sz="1000" dirty="0"/>
          </a:p>
        </p:txBody>
      </p:sp>
      <p:sp>
        <p:nvSpPr>
          <p:cNvPr id="26" name="Text 24"/>
          <p:cNvSpPr/>
          <p:nvPr/>
        </p:nvSpPr>
        <p:spPr>
          <a:xfrm>
            <a:off x="7223760" y="2148840"/>
            <a:ext cx="1554480" cy="310896"/>
          </a:xfrm>
          <a:prstGeom prst="rect">
            <a:avLst/>
          </a:prstGeom>
          <a:noFill/>
          <a:ln/>
        </p:spPr>
        <p:txBody>
          <a:bodyPr wrap="square" lIns="0" tIns="0" rIns="0" bIns="0" rtlCol="0" anchor="ctr"/>
          <a:lstStyle/>
          <a:p>
            <a:pPr marL="0" indent="0" algn="ctr">
              <a:buNone/>
            </a:pPr>
            <a:r>
              <a:rPr lang="en-US" sz="1000" dirty="0">
                <a:solidFill>
                  <a:srgbClr val="028090"/>
                </a:solidFill>
              </a:rPr>
              <a:t>Low integration cost</a:t>
            </a:r>
            <a:endParaRPr lang="en-US" sz="1000" dirty="0"/>
          </a:p>
        </p:txBody>
      </p:sp>
      <p:sp>
        <p:nvSpPr>
          <p:cNvPr id="27" name="Shape 25">
            <a:extLst>
              <a:ext uri="{C183D7F6-B498-43B3-948B-1728B52AA6E4}">
                <adec:decorative xmlns:adec="http://schemas.microsoft.com/office/drawing/2017/decorative" val="1"/>
              </a:ext>
            </a:extLst>
          </p:cNvPr>
          <p:cNvSpPr/>
          <p:nvPr/>
        </p:nvSpPr>
        <p:spPr>
          <a:xfrm>
            <a:off x="5577840" y="2578608"/>
            <a:ext cx="1600200" cy="493776"/>
          </a:xfrm>
          <a:prstGeom prst="rect">
            <a:avLst/>
          </a:prstGeom>
          <a:solidFill>
            <a:srgbClr val="F2F7F8"/>
          </a:solidFill>
          <a:ln w="6350">
            <a:solidFill>
              <a:srgbClr val="C4DDE4"/>
            </a:solidFill>
            <a:prstDash val="solid"/>
          </a:ln>
        </p:spPr>
        <p:txBody>
          <a:bodyPr/>
          <a:lstStyle/>
          <a:p>
            <a:endParaRPr lang="en-IN"/>
          </a:p>
        </p:txBody>
      </p:sp>
      <p:sp>
        <p:nvSpPr>
          <p:cNvPr id="28" name="Shape 26">
            <a:extLst>
              <a:ext uri="{C183D7F6-B498-43B3-948B-1728B52AA6E4}">
                <adec:decorative xmlns:adec="http://schemas.microsoft.com/office/drawing/2017/decorative" val="1"/>
              </a:ext>
            </a:extLst>
          </p:cNvPr>
          <p:cNvSpPr/>
          <p:nvPr/>
        </p:nvSpPr>
        <p:spPr>
          <a:xfrm>
            <a:off x="7178040" y="2578608"/>
            <a:ext cx="1645920" cy="493776"/>
          </a:xfrm>
          <a:prstGeom prst="rect">
            <a:avLst/>
          </a:prstGeom>
          <a:solidFill>
            <a:srgbClr val="E8F5F7"/>
          </a:solidFill>
          <a:ln w="6350">
            <a:solidFill>
              <a:srgbClr val="C4DDE4"/>
            </a:solidFill>
            <a:prstDash val="solid"/>
          </a:ln>
        </p:spPr>
        <p:txBody>
          <a:bodyPr/>
          <a:lstStyle/>
          <a:p>
            <a:endParaRPr lang="en-IN"/>
          </a:p>
        </p:txBody>
      </p:sp>
      <p:sp>
        <p:nvSpPr>
          <p:cNvPr id="29" name="Text 27"/>
          <p:cNvSpPr/>
          <p:nvPr/>
        </p:nvSpPr>
        <p:spPr>
          <a:xfrm>
            <a:off x="5623560" y="2670048"/>
            <a:ext cx="1508760" cy="310896"/>
          </a:xfrm>
          <a:prstGeom prst="rect">
            <a:avLst/>
          </a:prstGeom>
          <a:noFill/>
          <a:ln/>
        </p:spPr>
        <p:txBody>
          <a:bodyPr wrap="square" lIns="0" tIns="0" rIns="0" bIns="0" rtlCol="0" anchor="ctr"/>
          <a:lstStyle/>
          <a:p>
            <a:pPr marL="0" indent="0" algn="ctr">
              <a:buNone/>
            </a:pPr>
            <a:r>
              <a:rPr lang="en-US" sz="1000" dirty="0">
                <a:solidFill>
                  <a:srgbClr val="1A3040"/>
                </a:solidFill>
              </a:rPr>
              <a:t>Poor user experience</a:t>
            </a:r>
            <a:endParaRPr lang="en-US" sz="1000" dirty="0"/>
          </a:p>
        </p:txBody>
      </p:sp>
      <p:sp>
        <p:nvSpPr>
          <p:cNvPr id="30" name="Text 28"/>
          <p:cNvSpPr/>
          <p:nvPr/>
        </p:nvSpPr>
        <p:spPr>
          <a:xfrm>
            <a:off x="7223760" y="2670048"/>
            <a:ext cx="1554480" cy="310896"/>
          </a:xfrm>
          <a:prstGeom prst="rect">
            <a:avLst/>
          </a:prstGeom>
          <a:noFill/>
          <a:ln/>
        </p:spPr>
        <p:txBody>
          <a:bodyPr wrap="square" lIns="0" tIns="0" rIns="0" bIns="0" rtlCol="0" anchor="ctr"/>
          <a:lstStyle/>
          <a:p>
            <a:pPr marL="0" indent="0" algn="ctr">
              <a:buNone/>
            </a:pPr>
            <a:r>
              <a:rPr lang="en-US" sz="1000" dirty="0">
                <a:solidFill>
                  <a:srgbClr val="028090"/>
                </a:solidFill>
              </a:rPr>
              <a:t>Seamless experience</a:t>
            </a:r>
            <a:endParaRPr lang="en-US" sz="1000" dirty="0"/>
          </a:p>
        </p:txBody>
      </p:sp>
      <p:sp>
        <p:nvSpPr>
          <p:cNvPr id="31" name="Shape 29">
            <a:extLst>
              <a:ext uri="{C183D7F6-B498-43B3-948B-1728B52AA6E4}">
                <adec:decorative xmlns:adec="http://schemas.microsoft.com/office/drawing/2017/decorative" val="1"/>
              </a:ext>
            </a:extLst>
          </p:cNvPr>
          <p:cNvSpPr/>
          <p:nvPr/>
        </p:nvSpPr>
        <p:spPr>
          <a:xfrm>
            <a:off x="5577840" y="3099816"/>
            <a:ext cx="1600200" cy="493776"/>
          </a:xfrm>
          <a:prstGeom prst="rect">
            <a:avLst/>
          </a:prstGeom>
          <a:solidFill>
            <a:srgbClr val="FFFFFF"/>
          </a:solidFill>
          <a:ln w="6350">
            <a:solidFill>
              <a:srgbClr val="C4DDE4"/>
            </a:solidFill>
            <a:prstDash val="solid"/>
          </a:ln>
        </p:spPr>
        <p:txBody>
          <a:bodyPr/>
          <a:lstStyle/>
          <a:p>
            <a:endParaRPr lang="en-IN"/>
          </a:p>
        </p:txBody>
      </p:sp>
      <p:sp>
        <p:nvSpPr>
          <p:cNvPr id="32" name="Shape 30">
            <a:extLst>
              <a:ext uri="{C183D7F6-B498-43B3-948B-1728B52AA6E4}">
                <adec:decorative xmlns:adec="http://schemas.microsoft.com/office/drawing/2017/decorative" val="1"/>
              </a:ext>
            </a:extLst>
          </p:cNvPr>
          <p:cNvSpPr/>
          <p:nvPr/>
        </p:nvSpPr>
        <p:spPr>
          <a:xfrm>
            <a:off x="7178040" y="3099816"/>
            <a:ext cx="1645920" cy="493776"/>
          </a:xfrm>
          <a:prstGeom prst="rect">
            <a:avLst/>
          </a:prstGeom>
          <a:solidFill>
            <a:srgbClr val="D0EDEF"/>
          </a:solidFill>
          <a:ln w="6350">
            <a:solidFill>
              <a:srgbClr val="C4DDE4"/>
            </a:solidFill>
            <a:prstDash val="solid"/>
          </a:ln>
        </p:spPr>
        <p:txBody>
          <a:bodyPr/>
          <a:lstStyle/>
          <a:p>
            <a:endParaRPr lang="en-IN"/>
          </a:p>
        </p:txBody>
      </p:sp>
      <p:sp>
        <p:nvSpPr>
          <p:cNvPr id="33" name="Text 31"/>
          <p:cNvSpPr/>
          <p:nvPr/>
        </p:nvSpPr>
        <p:spPr>
          <a:xfrm>
            <a:off x="5623560" y="3191256"/>
            <a:ext cx="1508760" cy="310896"/>
          </a:xfrm>
          <a:prstGeom prst="rect">
            <a:avLst/>
          </a:prstGeom>
          <a:noFill/>
          <a:ln/>
        </p:spPr>
        <p:txBody>
          <a:bodyPr wrap="square" lIns="0" tIns="0" rIns="0" bIns="0" rtlCol="0" anchor="ctr"/>
          <a:lstStyle/>
          <a:p>
            <a:pPr marL="0" indent="0" algn="ctr">
              <a:buNone/>
            </a:pPr>
            <a:r>
              <a:rPr lang="en-US" sz="1000" dirty="0">
                <a:solidFill>
                  <a:srgbClr val="1A3040"/>
                </a:solidFill>
              </a:rPr>
              <a:t>Risk of litigation</a:t>
            </a:r>
            <a:endParaRPr lang="en-US" sz="1000" dirty="0"/>
          </a:p>
        </p:txBody>
      </p:sp>
      <p:sp>
        <p:nvSpPr>
          <p:cNvPr id="34" name="Text 32"/>
          <p:cNvSpPr/>
          <p:nvPr/>
        </p:nvSpPr>
        <p:spPr>
          <a:xfrm>
            <a:off x="7223760" y="3191256"/>
            <a:ext cx="1554480" cy="310896"/>
          </a:xfrm>
          <a:prstGeom prst="rect">
            <a:avLst/>
          </a:prstGeom>
          <a:noFill/>
          <a:ln/>
        </p:spPr>
        <p:txBody>
          <a:bodyPr wrap="square" lIns="0" tIns="0" rIns="0" bIns="0" rtlCol="0" anchor="ctr"/>
          <a:lstStyle/>
          <a:p>
            <a:pPr marL="0" indent="0" algn="ctr">
              <a:buNone/>
            </a:pPr>
            <a:r>
              <a:rPr lang="en-US" sz="1000" dirty="0">
                <a:solidFill>
                  <a:srgbClr val="028090"/>
                </a:solidFill>
              </a:rPr>
              <a:t>Legal compliance</a:t>
            </a:r>
            <a:endParaRPr lang="en-US" sz="1000" dirty="0"/>
          </a:p>
        </p:txBody>
      </p:sp>
      <p:sp>
        <p:nvSpPr>
          <p:cNvPr id="35" name="Shape 33">
            <a:extLst>
              <a:ext uri="{C183D7F6-B498-43B3-948B-1728B52AA6E4}">
                <adec:decorative xmlns:adec="http://schemas.microsoft.com/office/drawing/2017/decorative" val="1"/>
              </a:ext>
            </a:extLst>
          </p:cNvPr>
          <p:cNvSpPr/>
          <p:nvPr/>
        </p:nvSpPr>
        <p:spPr>
          <a:xfrm>
            <a:off x="5577840" y="3621024"/>
            <a:ext cx="1600200" cy="493776"/>
          </a:xfrm>
          <a:prstGeom prst="rect">
            <a:avLst/>
          </a:prstGeom>
          <a:solidFill>
            <a:srgbClr val="F2F7F8"/>
          </a:solidFill>
          <a:ln w="6350">
            <a:solidFill>
              <a:srgbClr val="C4DDE4"/>
            </a:solidFill>
            <a:prstDash val="solid"/>
          </a:ln>
        </p:spPr>
        <p:txBody>
          <a:bodyPr/>
          <a:lstStyle/>
          <a:p>
            <a:endParaRPr lang="en-IN"/>
          </a:p>
        </p:txBody>
      </p:sp>
      <p:sp>
        <p:nvSpPr>
          <p:cNvPr id="36" name="Shape 34">
            <a:extLst>
              <a:ext uri="{C183D7F6-B498-43B3-948B-1728B52AA6E4}">
                <adec:decorative xmlns:adec="http://schemas.microsoft.com/office/drawing/2017/decorative" val="1"/>
              </a:ext>
            </a:extLst>
          </p:cNvPr>
          <p:cNvSpPr/>
          <p:nvPr/>
        </p:nvSpPr>
        <p:spPr>
          <a:xfrm>
            <a:off x="7178040" y="3621024"/>
            <a:ext cx="1645920" cy="493776"/>
          </a:xfrm>
          <a:prstGeom prst="rect">
            <a:avLst/>
          </a:prstGeom>
          <a:solidFill>
            <a:srgbClr val="E8F5F7"/>
          </a:solidFill>
          <a:ln w="6350">
            <a:solidFill>
              <a:srgbClr val="C4DDE4"/>
            </a:solidFill>
            <a:prstDash val="solid"/>
          </a:ln>
        </p:spPr>
        <p:txBody>
          <a:bodyPr/>
          <a:lstStyle/>
          <a:p>
            <a:endParaRPr lang="en-IN"/>
          </a:p>
        </p:txBody>
      </p:sp>
      <p:sp>
        <p:nvSpPr>
          <p:cNvPr id="37" name="Text 35"/>
          <p:cNvSpPr/>
          <p:nvPr/>
        </p:nvSpPr>
        <p:spPr>
          <a:xfrm>
            <a:off x="5623560" y="3712464"/>
            <a:ext cx="1508760" cy="310896"/>
          </a:xfrm>
          <a:prstGeom prst="rect">
            <a:avLst/>
          </a:prstGeom>
          <a:noFill/>
          <a:ln/>
        </p:spPr>
        <p:txBody>
          <a:bodyPr wrap="square" lIns="0" tIns="0" rIns="0" bIns="0" rtlCol="0" anchor="ctr"/>
          <a:lstStyle/>
          <a:p>
            <a:pPr marL="0" indent="0" algn="ctr">
              <a:buNone/>
            </a:pPr>
            <a:r>
              <a:rPr lang="en-US" sz="1000" dirty="0">
                <a:solidFill>
                  <a:srgbClr val="1A3040"/>
                </a:solidFill>
              </a:rPr>
              <a:t>Missed market</a:t>
            </a:r>
            <a:endParaRPr lang="en-US" sz="1000" dirty="0"/>
          </a:p>
        </p:txBody>
      </p:sp>
      <p:sp>
        <p:nvSpPr>
          <p:cNvPr id="38" name="Text 36"/>
          <p:cNvSpPr/>
          <p:nvPr/>
        </p:nvSpPr>
        <p:spPr>
          <a:xfrm>
            <a:off x="7223760" y="3712464"/>
            <a:ext cx="1554480" cy="310896"/>
          </a:xfrm>
          <a:prstGeom prst="rect">
            <a:avLst/>
          </a:prstGeom>
          <a:noFill/>
          <a:ln/>
        </p:spPr>
        <p:txBody>
          <a:bodyPr wrap="square" lIns="0" tIns="0" rIns="0" bIns="0" rtlCol="0" anchor="ctr"/>
          <a:lstStyle/>
          <a:p>
            <a:pPr marL="0" indent="0" algn="ctr">
              <a:buNone/>
            </a:pPr>
            <a:r>
              <a:rPr lang="en-US" sz="1000" dirty="0">
                <a:solidFill>
                  <a:srgbClr val="028090"/>
                </a:solidFill>
              </a:rPr>
              <a:t>Wider audience</a:t>
            </a:r>
            <a:endParaRPr lang="en-US" sz="1000" dirty="0"/>
          </a:p>
        </p:txBody>
      </p:sp>
      <p:sp>
        <p:nvSpPr>
          <p:cNvPr id="39" name="Shape 37">
            <a:extLst>
              <a:ext uri="{C183D7F6-B498-43B3-948B-1728B52AA6E4}">
                <adec:decorative xmlns:adec="http://schemas.microsoft.com/office/drawing/2017/decorative" val="1"/>
              </a:ext>
            </a:extLst>
          </p:cNvPr>
          <p:cNvSpPr/>
          <p:nvPr/>
        </p:nvSpPr>
        <p:spPr>
          <a:xfrm>
            <a:off x="5577840" y="4142232"/>
            <a:ext cx="1600200" cy="493776"/>
          </a:xfrm>
          <a:prstGeom prst="rect">
            <a:avLst/>
          </a:prstGeom>
          <a:solidFill>
            <a:srgbClr val="FFFFFF"/>
          </a:solidFill>
          <a:ln w="6350">
            <a:solidFill>
              <a:srgbClr val="C4DDE4"/>
            </a:solidFill>
            <a:prstDash val="solid"/>
          </a:ln>
        </p:spPr>
        <p:txBody>
          <a:bodyPr/>
          <a:lstStyle/>
          <a:p>
            <a:endParaRPr lang="en-IN"/>
          </a:p>
        </p:txBody>
      </p:sp>
      <p:sp>
        <p:nvSpPr>
          <p:cNvPr id="40" name="Shape 38">
            <a:extLst>
              <a:ext uri="{C183D7F6-B498-43B3-948B-1728B52AA6E4}">
                <adec:decorative xmlns:adec="http://schemas.microsoft.com/office/drawing/2017/decorative" val="1"/>
              </a:ext>
            </a:extLst>
          </p:cNvPr>
          <p:cNvSpPr/>
          <p:nvPr/>
        </p:nvSpPr>
        <p:spPr>
          <a:xfrm>
            <a:off x="7178040" y="4142232"/>
            <a:ext cx="1645920" cy="493776"/>
          </a:xfrm>
          <a:prstGeom prst="rect">
            <a:avLst/>
          </a:prstGeom>
          <a:solidFill>
            <a:srgbClr val="D0EDEF"/>
          </a:solidFill>
          <a:ln w="6350">
            <a:solidFill>
              <a:srgbClr val="C4DDE4"/>
            </a:solidFill>
            <a:prstDash val="solid"/>
          </a:ln>
        </p:spPr>
        <p:txBody>
          <a:bodyPr/>
          <a:lstStyle/>
          <a:p>
            <a:endParaRPr lang="en-IN"/>
          </a:p>
        </p:txBody>
      </p:sp>
      <p:sp>
        <p:nvSpPr>
          <p:cNvPr id="41" name="Text 39"/>
          <p:cNvSpPr/>
          <p:nvPr/>
        </p:nvSpPr>
        <p:spPr>
          <a:xfrm>
            <a:off x="5623560" y="4233672"/>
            <a:ext cx="1508760" cy="310896"/>
          </a:xfrm>
          <a:prstGeom prst="rect">
            <a:avLst/>
          </a:prstGeom>
          <a:noFill/>
          <a:ln/>
        </p:spPr>
        <p:txBody>
          <a:bodyPr wrap="square" lIns="0" tIns="0" rIns="0" bIns="0" rtlCol="0" anchor="ctr"/>
          <a:lstStyle/>
          <a:p>
            <a:pPr marL="0" indent="0" algn="ctr">
              <a:buNone/>
            </a:pPr>
            <a:r>
              <a:rPr lang="en-US" sz="1000" dirty="0">
                <a:solidFill>
                  <a:srgbClr val="1A3040"/>
                </a:solidFill>
              </a:rPr>
              <a:t>Technical debt</a:t>
            </a:r>
            <a:endParaRPr lang="en-US" sz="1000" dirty="0"/>
          </a:p>
        </p:txBody>
      </p:sp>
      <p:sp>
        <p:nvSpPr>
          <p:cNvPr id="42" name="Text 40"/>
          <p:cNvSpPr/>
          <p:nvPr/>
        </p:nvSpPr>
        <p:spPr>
          <a:xfrm>
            <a:off x="7223760" y="4233672"/>
            <a:ext cx="1554480" cy="310896"/>
          </a:xfrm>
          <a:prstGeom prst="rect">
            <a:avLst/>
          </a:prstGeom>
          <a:noFill/>
          <a:ln/>
        </p:spPr>
        <p:txBody>
          <a:bodyPr wrap="square" lIns="0" tIns="0" rIns="0" bIns="0" rtlCol="0" anchor="ctr"/>
          <a:lstStyle/>
          <a:p>
            <a:pPr marL="0" indent="0" algn="ctr">
              <a:buNone/>
            </a:pPr>
            <a:r>
              <a:rPr lang="en-US" sz="1000" dirty="0">
                <a:solidFill>
                  <a:srgbClr val="028090"/>
                </a:solidFill>
              </a:rPr>
              <a:t>Sustainable quality</a:t>
            </a:r>
            <a:endParaRPr lang="en-US" sz="1000" dirty="0"/>
          </a:p>
        </p:txBody>
      </p:sp>
      <p:sp>
        <p:nvSpPr>
          <p:cNvPr id="43" name="Shape 41">
            <a:extLst>
              <a:ext uri="{C183D7F6-B498-43B3-948B-1728B52AA6E4}">
                <adec:decorative xmlns:adec="http://schemas.microsoft.com/office/drawing/2017/decorative" val="1"/>
              </a:ext>
            </a:extLst>
          </p:cNvPr>
          <p:cNvSpPr/>
          <p:nvPr/>
        </p:nvSpPr>
        <p:spPr>
          <a:xfrm>
            <a:off x="0" y="4846320"/>
            <a:ext cx="9144000" cy="297180"/>
          </a:xfrm>
          <a:prstGeom prst="rect">
            <a:avLst/>
          </a:prstGeom>
          <a:solidFill>
            <a:srgbClr val="0D2B3E"/>
          </a:solidFill>
          <a:ln w="12700">
            <a:solidFill>
              <a:srgbClr val="0D2B3E"/>
            </a:solidFill>
            <a:prstDash val="solid"/>
          </a:ln>
        </p:spPr>
        <p:txBody>
          <a:bodyPr/>
          <a:lstStyle/>
          <a:p>
            <a:endParaRPr lang="en-IN"/>
          </a:p>
        </p:txBody>
      </p:sp>
      <p:sp>
        <p:nvSpPr>
          <p:cNvPr id="44" name="Text 42"/>
          <p:cNvSpPr/>
          <p:nvPr/>
        </p:nvSpPr>
        <p:spPr>
          <a:xfrm>
            <a:off x="274320" y="4864608"/>
            <a:ext cx="4572000" cy="256032"/>
          </a:xfrm>
          <a:prstGeom prst="rect">
            <a:avLst/>
          </a:prstGeom>
          <a:noFill/>
          <a:ln/>
        </p:spPr>
        <p:txBody>
          <a:bodyPr wrap="square" lIns="0" tIns="0" rIns="0" bIns="0" rtlCol="0" anchor="ctr"/>
          <a:lstStyle/>
          <a:p>
            <a:pPr marL="0" indent="0">
              <a:buNone/>
            </a:pPr>
            <a:r>
              <a:rPr lang="en-US" sz="900" dirty="0">
                <a:solidFill>
                  <a:srgbClr val="C4DDE4"/>
                </a:solidFill>
              </a:rPr>
              <a:t>Digital Accessibility Awareness</a:t>
            </a:r>
            <a:endParaRPr lang="en-US" sz="900" dirty="0"/>
          </a:p>
        </p:txBody>
      </p:sp>
      <p:sp>
        <p:nvSpPr>
          <p:cNvPr id="45" name="Text 43"/>
          <p:cNvSpPr/>
          <p:nvPr/>
        </p:nvSpPr>
        <p:spPr>
          <a:xfrm>
            <a:off x="8229600" y="4864608"/>
            <a:ext cx="640080" cy="256032"/>
          </a:xfrm>
          <a:prstGeom prst="rect">
            <a:avLst/>
          </a:prstGeom>
          <a:noFill/>
          <a:ln/>
        </p:spPr>
        <p:txBody>
          <a:bodyPr wrap="square" lIns="0" tIns="0" rIns="0" bIns="0" rtlCol="0" anchor="ctr"/>
          <a:lstStyle/>
          <a:p>
            <a:pPr marL="0" indent="0" algn="r">
              <a:buNone/>
            </a:pPr>
            <a:r>
              <a:rPr lang="en-US" sz="900" dirty="0">
                <a:solidFill>
                  <a:srgbClr val="C4DDE4"/>
                </a:solidFill>
              </a:rPr>
              <a:t>Slide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9144000" cy="914400"/>
          </a:xfrm>
          <a:prstGeom prst="rect">
            <a:avLst/>
          </a:prstGeom>
          <a:solidFill>
            <a:srgbClr val="00A896"/>
          </a:solidFill>
          <a:ln w="12700">
            <a:solidFill>
              <a:srgbClr val="00A896"/>
            </a:solidFill>
            <a:prstDash val="solid"/>
          </a:ln>
        </p:spPr>
        <p:txBody>
          <a:bodyPr/>
          <a:lstStyle/>
          <a:p>
            <a:endParaRPr lang="en-IN"/>
          </a:p>
        </p:txBody>
      </p:sp>
      <p:sp>
        <p:nvSpPr>
          <p:cNvPr id="3" name="Text 1"/>
          <p:cNvSpPr/>
          <p:nvPr/>
        </p:nvSpPr>
        <p:spPr>
          <a:xfrm>
            <a:off x="365760" y="137160"/>
            <a:ext cx="8229600" cy="640080"/>
          </a:xfrm>
          <a:prstGeom prst="rect">
            <a:avLst/>
          </a:prstGeom>
          <a:noFill/>
          <a:ln/>
        </p:spPr>
        <p:txBody>
          <a:bodyPr wrap="square" lIns="0" tIns="0" rIns="0" bIns="0" rtlCol="0" anchor="ctr"/>
          <a:lstStyle/>
          <a:p>
            <a:pPr marL="0" indent="0">
              <a:buNone/>
            </a:pPr>
            <a:r>
              <a:rPr lang="en-US" sz="2400" b="1" dirty="0">
                <a:solidFill>
                  <a:srgbClr val="FFFFFF"/>
                </a:solidFill>
              </a:rPr>
              <a:t>03 |  The Impact of Accessible Digital Products</a:t>
            </a:r>
            <a:endParaRPr lang="en-US" sz="2400" dirty="0"/>
          </a:p>
        </p:txBody>
      </p:sp>
      <p:sp>
        <p:nvSpPr>
          <p:cNvPr id="4" name="Shape 2">
            <a:extLst>
              <a:ext uri="{C183D7F6-B498-43B3-948B-1728B52AA6E4}">
                <adec:decorative xmlns:adec="http://schemas.microsoft.com/office/drawing/2017/decorative" val="1"/>
              </a:ext>
            </a:extLst>
          </p:cNvPr>
          <p:cNvSpPr/>
          <p:nvPr/>
        </p:nvSpPr>
        <p:spPr>
          <a:xfrm>
            <a:off x="274320" y="960120"/>
            <a:ext cx="2743200" cy="1554480"/>
          </a:xfrm>
          <a:prstGeom prst="rect">
            <a:avLst/>
          </a:prstGeom>
          <a:solidFill>
            <a:srgbClr val="0D2B3E"/>
          </a:solidFill>
          <a:ln w="12700">
            <a:solidFill>
              <a:srgbClr val="0D2B3E"/>
            </a:solidFill>
            <a:prstDash val="solid"/>
          </a:ln>
          <a:effectLst>
            <a:outerShdw blurRad="76200" dist="25400" dir="8100000" algn="bl" rotWithShape="0">
              <a:srgbClr val="000000">
                <a:alpha val="18000"/>
              </a:srgbClr>
            </a:outerShdw>
          </a:effectLst>
        </p:spPr>
        <p:txBody>
          <a:bodyPr/>
          <a:lstStyle/>
          <a:p>
            <a:endParaRPr lang="en-IN"/>
          </a:p>
        </p:txBody>
      </p:sp>
      <p:sp>
        <p:nvSpPr>
          <p:cNvPr id="5" name="Text 3"/>
          <p:cNvSpPr/>
          <p:nvPr/>
        </p:nvSpPr>
        <p:spPr>
          <a:xfrm>
            <a:off x="365760" y="1024128"/>
            <a:ext cx="2560320" cy="640080"/>
          </a:xfrm>
          <a:prstGeom prst="rect">
            <a:avLst/>
          </a:prstGeom>
          <a:noFill/>
          <a:ln/>
        </p:spPr>
        <p:txBody>
          <a:bodyPr wrap="square" lIns="0" tIns="0" rIns="0" bIns="0" rtlCol="0" anchor="ctr"/>
          <a:lstStyle/>
          <a:p>
            <a:pPr marL="0" indent="0" algn="ctr">
              <a:buNone/>
            </a:pPr>
            <a:r>
              <a:rPr lang="en-US" sz="2600" b="1" dirty="0">
                <a:solidFill>
                  <a:srgbClr val="F4A261"/>
                </a:solidFill>
              </a:rPr>
              <a:t>1.3 Billion</a:t>
            </a:r>
            <a:endParaRPr lang="en-US" sz="2600" dirty="0"/>
          </a:p>
        </p:txBody>
      </p:sp>
      <p:sp>
        <p:nvSpPr>
          <p:cNvPr id="6" name="Text 4"/>
          <p:cNvSpPr/>
          <p:nvPr/>
        </p:nvSpPr>
        <p:spPr>
          <a:xfrm>
            <a:off x="365760" y="1664208"/>
            <a:ext cx="2560320" cy="777240"/>
          </a:xfrm>
          <a:prstGeom prst="rect">
            <a:avLst/>
          </a:prstGeom>
          <a:noFill/>
          <a:ln/>
        </p:spPr>
        <p:txBody>
          <a:bodyPr wrap="square" lIns="0" tIns="0" rIns="0" bIns="0" rtlCol="0" anchor="ctr"/>
          <a:lstStyle/>
          <a:p>
            <a:pPr marL="0" indent="0" algn="ctr">
              <a:buNone/>
            </a:pPr>
            <a:r>
              <a:rPr lang="en-US" sz="1000" dirty="0">
                <a:solidFill>
                  <a:srgbClr val="C4DDE4"/>
                </a:solidFill>
              </a:rPr>
              <a:t>People worldwide live with some form of disability (WHO)</a:t>
            </a:r>
            <a:endParaRPr lang="en-US" sz="1000" dirty="0"/>
          </a:p>
        </p:txBody>
      </p:sp>
      <p:sp>
        <p:nvSpPr>
          <p:cNvPr id="7" name="Shape 5">
            <a:extLst>
              <a:ext uri="{C183D7F6-B498-43B3-948B-1728B52AA6E4}">
                <adec:decorative xmlns:adec="http://schemas.microsoft.com/office/drawing/2017/decorative" val="1"/>
              </a:ext>
            </a:extLst>
          </p:cNvPr>
          <p:cNvSpPr/>
          <p:nvPr/>
        </p:nvSpPr>
        <p:spPr>
          <a:xfrm>
            <a:off x="3200400" y="960120"/>
            <a:ext cx="2743200" cy="1554480"/>
          </a:xfrm>
          <a:prstGeom prst="rect">
            <a:avLst/>
          </a:prstGeom>
          <a:solidFill>
            <a:srgbClr val="0D2B3E"/>
          </a:solidFill>
          <a:ln w="12700">
            <a:solidFill>
              <a:srgbClr val="0D2B3E"/>
            </a:solidFill>
            <a:prstDash val="solid"/>
          </a:ln>
          <a:effectLst>
            <a:outerShdw blurRad="76200" dist="25400" dir="8100000" algn="bl" rotWithShape="0">
              <a:srgbClr val="000000">
                <a:alpha val="18000"/>
              </a:srgbClr>
            </a:outerShdw>
          </a:effectLst>
        </p:spPr>
        <p:txBody>
          <a:bodyPr/>
          <a:lstStyle/>
          <a:p>
            <a:endParaRPr lang="en-IN"/>
          </a:p>
        </p:txBody>
      </p:sp>
      <p:sp>
        <p:nvSpPr>
          <p:cNvPr id="8" name="Text 6"/>
          <p:cNvSpPr/>
          <p:nvPr/>
        </p:nvSpPr>
        <p:spPr>
          <a:xfrm>
            <a:off x="3291840" y="1024128"/>
            <a:ext cx="2560320" cy="640080"/>
          </a:xfrm>
          <a:prstGeom prst="rect">
            <a:avLst/>
          </a:prstGeom>
          <a:noFill/>
          <a:ln/>
        </p:spPr>
        <p:txBody>
          <a:bodyPr wrap="square" lIns="0" tIns="0" rIns="0" bIns="0" rtlCol="0" anchor="ctr"/>
          <a:lstStyle/>
          <a:p>
            <a:pPr marL="0" indent="0" algn="ctr">
              <a:buNone/>
            </a:pPr>
            <a:r>
              <a:rPr lang="en-US" sz="2600" b="1" dirty="0">
                <a:solidFill>
                  <a:srgbClr val="F4A261"/>
                </a:solidFill>
              </a:rPr>
              <a:t>INR 18 Lakh Cr</a:t>
            </a:r>
            <a:endParaRPr lang="en-US" sz="2600" dirty="0"/>
          </a:p>
        </p:txBody>
      </p:sp>
      <p:sp>
        <p:nvSpPr>
          <p:cNvPr id="9" name="Text 7"/>
          <p:cNvSpPr/>
          <p:nvPr/>
        </p:nvSpPr>
        <p:spPr>
          <a:xfrm>
            <a:off x="3291840" y="1664208"/>
            <a:ext cx="2560320" cy="777240"/>
          </a:xfrm>
          <a:prstGeom prst="rect">
            <a:avLst/>
          </a:prstGeom>
          <a:noFill/>
          <a:ln/>
        </p:spPr>
        <p:txBody>
          <a:bodyPr wrap="square" lIns="0" tIns="0" rIns="0" bIns="0" rtlCol="0" anchor="ctr"/>
          <a:lstStyle/>
          <a:p>
            <a:pPr marL="0" indent="0" algn="ctr">
              <a:buNone/>
            </a:pPr>
            <a:r>
              <a:rPr lang="en-US" sz="1000" dirty="0">
                <a:solidFill>
                  <a:srgbClr val="C4DDE4"/>
                </a:solidFill>
              </a:rPr>
              <a:t>Estimated annual spending power of persons with disabilities in India</a:t>
            </a:r>
            <a:endParaRPr lang="en-US" sz="1000" dirty="0"/>
          </a:p>
        </p:txBody>
      </p:sp>
      <p:sp>
        <p:nvSpPr>
          <p:cNvPr id="10" name="Shape 8">
            <a:extLst>
              <a:ext uri="{C183D7F6-B498-43B3-948B-1728B52AA6E4}">
                <adec:decorative xmlns:adec="http://schemas.microsoft.com/office/drawing/2017/decorative" val="1"/>
              </a:ext>
            </a:extLst>
          </p:cNvPr>
          <p:cNvSpPr/>
          <p:nvPr/>
        </p:nvSpPr>
        <p:spPr>
          <a:xfrm>
            <a:off x="6126480" y="960120"/>
            <a:ext cx="2743200" cy="1554480"/>
          </a:xfrm>
          <a:prstGeom prst="rect">
            <a:avLst/>
          </a:prstGeom>
          <a:solidFill>
            <a:srgbClr val="0D2B3E"/>
          </a:solidFill>
          <a:ln w="12700">
            <a:solidFill>
              <a:srgbClr val="0D2B3E"/>
            </a:solidFill>
            <a:prstDash val="solid"/>
          </a:ln>
          <a:effectLst>
            <a:outerShdw blurRad="76200" dist="25400" dir="8100000" algn="bl" rotWithShape="0">
              <a:srgbClr val="000000">
                <a:alpha val="18000"/>
              </a:srgbClr>
            </a:outerShdw>
          </a:effectLst>
        </p:spPr>
        <p:txBody>
          <a:bodyPr/>
          <a:lstStyle/>
          <a:p>
            <a:endParaRPr lang="en-IN"/>
          </a:p>
        </p:txBody>
      </p:sp>
      <p:sp>
        <p:nvSpPr>
          <p:cNvPr id="11" name="Text 9"/>
          <p:cNvSpPr/>
          <p:nvPr/>
        </p:nvSpPr>
        <p:spPr>
          <a:xfrm>
            <a:off x="6217920" y="1024128"/>
            <a:ext cx="2560320" cy="640080"/>
          </a:xfrm>
          <a:prstGeom prst="rect">
            <a:avLst/>
          </a:prstGeom>
          <a:noFill/>
          <a:ln/>
        </p:spPr>
        <p:txBody>
          <a:bodyPr wrap="square" lIns="0" tIns="0" rIns="0" bIns="0" rtlCol="0" anchor="ctr"/>
          <a:lstStyle/>
          <a:p>
            <a:pPr marL="0" indent="0" algn="ctr">
              <a:buNone/>
            </a:pPr>
            <a:r>
              <a:rPr lang="en-US" sz="2600" b="1" dirty="0">
                <a:solidFill>
                  <a:srgbClr val="F4A261"/>
                </a:solidFill>
              </a:rPr>
              <a:t>71%</a:t>
            </a:r>
            <a:endParaRPr lang="en-US" sz="2600" dirty="0"/>
          </a:p>
        </p:txBody>
      </p:sp>
      <p:sp>
        <p:nvSpPr>
          <p:cNvPr id="12" name="Text 10"/>
          <p:cNvSpPr/>
          <p:nvPr/>
        </p:nvSpPr>
        <p:spPr>
          <a:xfrm>
            <a:off x="6217920" y="1664208"/>
            <a:ext cx="2560320" cy="777240"/>
          </a:xfrm>
          <a:prstGeom prst="rect">
            <a:avLst/>
          </a:prstGeom>
          <a:noFill/>
          <a:ln/>
        </p:spPr>
        <p:txBody>
          <a:bodyPr wrap="square" lIns="0" tIns="0" rIns="0" bIns="0" rtlCol="0" anchor="ctr"/>
          <a:lstStyle/>
          <a:p>
            <a:pPr marL="0" indent="0" algn="ctr">
              <a:buNone/>
            </a:pPr>
            <a:r>
              <a:rPr lang="en-US" sz="1000" dirty="0">
                <a:solidFill>
                  <a:srgbClr val="C4DDE4"/>
                </a:solidFill>
              </a:rPr>
              <a:t>Disabled users leave websites immediately when they encounter barriers</a:t>
            </a:r>
            <a:endParaRPr lang="en-US" sz="1000" dirty="0"/>
          </a:p>
        </p:txBody>
      </p:sp>
      <p:sp>
        <p:nvSpPr>
          <p:cNvPr id="13" name="Shape 11">
            <a:extLst>
              <a:ext uri="{C183D7F6-B498-43B3-948B-1728B52AA6E4}">
                <adec:decorative xmlns:adec="http://schemas.microsoft.com/office/drawing/2017/decorative" val="1"/>
              </a:ext>
            </a:extLst>
          </p:cNvPr>
          <p:cNvSpPr/>
          <p:nvPr/>
        </p:nvSpPr>
        <p:spPr>
          <a:xfrm>
            <a:off x="274320" y="2697480"/>
            <a:ext cx="4160520" cy="109728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14" name="Shape 12">
            <a:extLst>
              <a:ext uri="{C183D7F6-B498-43B3-948B-1728B52AA6E4}">
                <adec:decorative xmlns:adec="http://schemas.microsoft.com/office/drawing/2017/decorative" val="1"/>
              </a:ext>
            </a:extLst>
          </p:cNvPr>
          <p:cNvSpPr/>
          <p:nvPr/>
        </p:nvSpPr>
        <p:spPr>
          <a:xfrm>
            <a:off x="274320" y="2697480"/>
            <a:ext cx="109728" cy="1097280"/>
          </a:xfrm>
          <a:prstGeom prst="rect">
            <a:avLst/>
          </a:prstGeom>
          <a:solidFill>
            <a:srgbClr val="00A896"/>
          </a:solidFill>
          <a:ln w="12700">
            <a:solidFill>
              <a:srgbClr val="00A896"/>
            </a:solidFill>
            <a:prstDash val="solid"/>
          </a:ln>
        </p:spPr>
        <p:txBody>
          <a:bodyPr/>
          <a:lstStyle/>
          <a:p>
            <a:endParaRPr lang="en-IN"/>
          </a:p>
        </p:txBody>
      </p:sp>
      <p:sp>
        <p:nvSpPr>
          <p:cNvPr id="15" name="Text 13"/>
          <p:cNvSpPr/>
          <p:nvPr/>
        </p:nvSpPr>
        <p:spPr>
          <a:xfrm>
            <a:off x="475488" y="2788920"/>
            <a:ext cx="3840480" cy="274320"/>
          </a:xfrm>
          <a:prstGeom prst="rect">
            <a:avLst/>
          </a:prstGeom>
          <a:noFill/>
          <a:ln/>
        </p:spPr>
        <p:txBody>
          <a:bodyPr wrap="square" lIns="0" tIns="0" rIns="0" bIns="0" rtlCol="0" anchor="ctr"/>
          <a:lstStyle/>
          <a:p>
            <a:pPr marL="0" indent="0">
              <a:buNone/>
            </a:pPr>
            <a:r>
              <a:rPr lang="en-US" sz="1200" b="1" dirty="0">
                <a:solidFill>
                  <a:srgbClr val="028090"/>
                </a:solidFill>
              </a:rPr>
              <a:t>User Reach</a:t>
            </a:r>
            <a:endParaRPr lang="en-US" sz="1200" dirty="0"/>
          </a:p>
        </p:txBody>
      </p:sp>
      <p:sp>
        <p:nvSpPr>
          <p:cNvPr id="16" name="Text 14"/>
          <p:cNvSpPr/>
          <p:nvPr/>
        </p:nvSpPr>
        <p:spPr>
          <a:xfrm>
            <a:off x="475488" y="3081528"/>
            <a:ext cx="3840480" cy="621792"/>
          </a:xfrm>
          <a:prstGeom prst="rect">
            <a:avLst/>
          </a:prstGeom>
          <a:noFill/>
          <a:ln/>
        </p:spPr>
        <p:txBody>
          <a:bodyPr wrap="square" lIns="0" tIns="0" rIns="0" bIns="0" rtlCol="0" anchor="ctr"/>
          <a:lstStyle/>
          <a:p>
            <a:pPr marL="0" indent="0">
              <a:buNone/>
            </a:pPr>
            <a:r>
              <a:rPr lang="en-US" sz="1000" dirty="0">
                <a:solidFill>
                  <a:srgbClr val="1A3040"/>
                </a:solidFill>
              </a:rPr>
              <a:t>Accessible products reach users with permanent, situational, and temporary disabilities, multiplying the potential audience significantly.</a:t>
            </a:r>
            <a:endParaRPr lang="en-US" sz="1000" dirty="0"/>
          </a:p>
        </p:txBody>
      </p:sp>
      <p:sp>
        <p:nvSpPr>
          <p:cNvPr id="17" name="Shape 15">
            <a:extLst>
              <a:ext uri="{C183D7F6-B498-43B3-948B-1728B52AA6E4}">
                <adec:decorative xmlns:adec="http://schemas.microsoft.com/office/drawing/2017/decorative" val="1"/>
              </a:ext>
            </a:extLst>
          </p:cNvPr>
          <p:cNvSpPr/>
          <p:nvPr/>
        </p:nvSpPr>
        <p:spPr>
          <a:xfrm>
            <a:off x="4709160" y="2697480"/>
            <a:ext cx="4160520" cy="109728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18" name="Shape 16">
            <a:extLst>
              <a:ext uri="{C183D7F6-B498-43B3-948B-1728B52AA6E4}">
                <adec:decorative xmlns:adec="http://schemas.microsoft.com/office/drawing/2017/decorative" val="1"/>
              </a:ext>
            </a:extLst>
          </p:cNvPr>
          <p:cNvSpPr/>
          <p:nvPr/>
        </p:nvSpPr>
        <p:spPr>
          <a:xfrm>
            <a:off x="4709160" y="2697480"/>
            <a:ext cx="109728" cy="1097280"/>
          </a:xfrm>
          <a:prstGeom prst="rect">
            <a:avLst/>
          </a:prstGeom>
          <a:solidFill>
            <a:srgbClr val="00A896"/>
          </a:solidFill>
          <a:ln w="12700">
            <a:solidFill>
              <a:srgbClr val="00A896"/>
            </a:solidFill>
            <a:prstDash val="solid"/>
          </a:ln>
        </p:spPr>
        <p:txBody>
          <a:bodyPr/>
          <a:lstStyle/>
          <a:p>
            <a:endParaRPr lang="en-IN"/>
          </a:p>
        </p:txBody>
      </p:sp>
      <p:sp>
        <p:nvSpPr>
          <p:cNvPr id="19" name="Text 17"/>
          <p:cNvSpPr/>
          <p:nvPr/>
        </p:nvSpPr>
        <p:spPr>
          <a:xfrm>
            <a:off x="4910328" y="2788920"/>
            <a:ext cx="3840480" cy="274320"/>
          </a:xfrm>
          <a:prstGeom prst="rect">
            <a:avLst/>
          </a:prstGeom>
          <a:noFill/>
          <a:ln/>
        </p:spPr>
        <p:txBody>
          <a:bodyPr wrap="square" lIns="0" tIns="0" rIns="0" bIns="0" rtlCol="0" anchor="ctr"/>
          <a:lstStyle/>
          <a:p>
            <a:pPr marL="0" indent="0">
              <a:buNone/>
            </a:pPr>
            <a:r>
              <a:rPr lang="en-US" sz="1200" b="1" dirty="0">
                <a:solidFill>
                  <a:srgbClr val="028090"/>
                </a:solidFill>
              </a:rPr>
              <a:t>Brand Reputation</a:t>
            </a:r>
            <a:endParaRPr lang="en-US" sz="1200" dirty="0"/>
          </a:p>
        </p:txBody>
      </p:sp>
      <p:sp>
        <p:nvSpPr>
          <p:cNvPr id="20" name="Text 18"/>
          <p:cNvSpPr/>
          <p:nvPr/>
        </p:nvSpPr>
        <p:spPr>
          <a:xfrm>
            <a:off x="4910328" y="3081528"/>
            <a:ext cx="3840480" cy="621792"/>
          </a:xfrm>
          <a:prstGeom prst="rect">
            <a:avLst/>
          </a:prstGeom>
          <a:noFill/>
          <a:ln/>
        </p:spPr>
        <p:txBody>
          <a:bodyPr wrap="square" lIns="0" tIns="0" rIns="0" bIns="0" rtlCol="0" anchor="ctr"/>
          <a:lstStyle/>
          <a:p>
            <a:pPr marL="0" indent="0">
              <a:buNone/>
            </a:pPr>
            <a:r>
              <a:rPr lang="en-US" sz="1000" dirty="0">
                <a:solidFill>
                  <a:srgbClr val="1A3040"/>
                </a:solidFill>
              </a:rPr>
              <a:t>Inclusive brands are viewed as ethical and trustworthy, improving loyalty, press coverage, and partnership opportunities.</a:t>
            </a:r>
            <a:endParaRPr lang="en-US" sz="1000" dirty="0"/>
          </a:p>
        </p:txBody>
      </p:sp>
      <p:sp>
        <p:nvSpPr>
          <p:cNvPr id="21" name="Shape 19">
            <a:extLst>
              <a:ext uri="{C183D7F6-B498-43B3-948B-1728B52AA6E4}">
                <adec:decorative xmlns:adec="http://schemas.microsoft.com/office/drawing/2017/decorative" val="1"/>
              </a:ext>
            </a:extLst>
          </p:cNvPr>
          <p:cNvSpPr/>
          <p:nvPr/>
        </p:nvSpPr>
        <p:spPr>
          <a:xfrm>
            <a:off x="274320" y="3886200"/>
            <a:ext cx="4160520" cy="109728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22" name="Shape 20">
            <a:extLst>
              <a:ext uri="{C183D7F6-B498-43B3-948B-1728B52AA6E4}">
                <adec:decorative xmlns:adec="http://schemas.microsoft.com/office/drawing/2017/decorative" val="1"/>
              </a:ext>
            </a:extLst>
          </p:cNvPr>
          <p:cNvSpPr/>
          <p:nvPr/>
        </p:nvSpPr>
        <p:spPr>
          <a:xfrm>
            <a:off x="274320" y="3886200"/>
            <a:ext cx="109728" cy="1097280"/>
          </a:xfrm>
          <a:prstGeom prst="rect">
            <a:avLst/>
          </a:prstGeom>
          <a:solidFill>
            <a:srgbClr val="00A896"/>
          </a:solidFill>
          <a:ln w="12700">
            <a:solidFill>
              <a:srgbClr val="00A896"/>
            </a:solidFill>
            <a:prstDash val="solid"/>
          </a:ln>
        </p:spPr>
        <p:txBody>
          <a:bodyPr/>
          <a:lstStyle/>
          <a:p>
            <a:endParaRPr lang="en-IN"/>
          </a:p>
        </p:txBody>
      </p:sp>
      <p:sp>
        <p:nvSpPr>
          <p:cNvPr id="23" name="Text 21"/>
          <p:cNvSpPr/>
          <p:nvPr/>
        </p:nvSpPr>
        <p:spPr>
          <a:xfrm>
            <a:off x="475488" y="3977640"/>
            <a:ext cx="3840480" cy="274320"/>
          </a:xfrm>
          <a:prstGeom prst="rect">
            <a:avLst/>
          </a:prstGeom>
          <a:noFill/>
          <a:ln/>
        </p:spPr>
        <p:txBody>
          <a:bodyPr wrap="square" lIns="0" tIns="0" rIns="0" bIns="0" rtlCol="0" anchor="ctr"/>
          <a:lstStyle/>
          <a:p>
            <a:pPr marL="0" indent="0">
              <a:buNone/>
            </a:pPr>
            <a:r>
              <a:rPr lang="en-US" sz="1200" b="1" dirty="0">
                <a:solidFill>
                  <a:srgbClr val="028090"/>
                </a:solidFill>
              </a:rPr>
              <a:t>SEO Benefits</a:t>
            </a:r>
            <a:endParaRPr lang="en-US" sz="1200" dirty="0"/>
          </a:p>
        </p:txBody>
      </p:sp>
      <p:sp>
        <p:nvSpPr>
          <p:cNvPr id="24" name="Text 22"/>
          <p:cNvSpPr/>
          <p:nvPr/>
        </p:nvSpPr>
        <p:spPr>
          <a:xfrm>
            <a:off x="475488" y="4270248"/>
            <a:ext cx="3840480" cy="621792"/>
          </a:xfrm>
          <a:prstGeom prst="rect">
            <a:avLst/>
          </a:prstGeom>
          <a:noFill/>
          <a:ln/>
        </p:spPr>
        <p:txBody>
          <a:bodyPr wrap="square" lIns="0" tIns="0" rIns="0" bIns="0" rtlCol="0" anchor="ctr"/>
          <a:lstStyle/>
          <a:p>
            <a:pPr marL="0" indent="0">
              <a:buNone/>
            </a:pPr>
            <a:r>
              <a:rPr lang="en-US" sz="1000" dirty="0">
                <a:solidFill>
                  <a:srgbClr val="1A3040"/>
                </a:solidFill>
              </a:rPr>
              <a:t>Accessibility practices such as descriptive alt text, logical headings, and keyboard navigation overlap directly with search engine optimisation signals.</a:t>
            </a:r>
            <a:endParaRPr lang="en-US" sz="1000" dirty="0"/>
          </a:p>
        </p:txBody>
      </p:sp>
      <p:sp>
        <p:nvSpPr>
          <p:cNvPr id="25" name="Shape 23">
            <a:extLst>
              <a:ext uri="{C183D7F6-B498-43B3-948B-1728B52AA6E4}">
                <adec:decorative xmlns:adec="http://schemas.microsoft.com/office/drawing/2017/decorative" val="1"/>
              </a:ext>
            </a:extLst>
          </p:cNvPr>
          <p:cNvSpPr/>
          <p:nvPr/>
        </p:nvSpPr>
        <p:spPr>
          <a:xfrm>
            <a:off x="4709160" y="3886200"/>
            <a:ext cx="4160520" cy="109728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26" name="Shape 24">
            <a:extLst>
              <a:ext uri="{C183D7F6-B498-43B3-948B-1728B52AA6E4}">
                <adec:decorative xmlns:adec="http://schemas.microsoft.com/office/drawing/2017/decorative" val="1"/>
              </a:ext>
            </a:extLst>
          </p:cNvPr>
          <p:cNvSpPr/>
          <p:nvPr/>
        </p:nvSpPr>
        <p:spPr>
          <a:xfrm>
            <a:off x="4709160" y="3886200"/>
            <a:ext cx="109728" cy="1097280"/>
          </a:xfrm>
          <a:prstGeom prst="rect">
            <a:avLst/>
          </a:prstGeom>
          <a:solidFill>
            <a:srgbClr val="00A896"/>
          </a:solidFill>
          <a:ln w="12700">
            <a:solidFill>
              <a:srgbClr val="00A896"/>
            </a:solidFill>
            <a:prstDash val="solid"/>
          </a:ln>
        </p:spPr>
        <p:txBody>
          <a:bodyPr/>
          <a:lstStyle/>
          <a:p>
            <a:endParaRPr lang="en-IN"/>
          </a:p>
        </p:txBody>
      </p:sp>
      <p:sp>
        <p:nvSpPr>
          <p:cNvPr id="27" name="Text 25"/>
          <p:cNvSpPr/>
          <p:nvPr/>
        </p:nvSpPr>
        <p:spPr>
          <a:xfrm>
            <a:off x="4910328" y="3977640"/>
            <a:ext cx="3840480" cy="274320"/>
          </a:xfrm>
          <a:prstGeom prst="rect">
            <a:avLst/>
          </a:prstGeom>
          <a:noFill/>
          <a:ln/>
        </p:spPr>
        <p:txBody>
          <a:bodyPr wrap="square" lIns="0" tIns="0" rIns="0" bIns="0" rtlCol="0" anchor="ctr"/>
          <a:lstStyle/>
          <a:p>
            <a:pPr marL="0" indent="0">
              <a:buNone/>
            </a:pPr>
            <a:r>
              <a:rPr lang="en-US" sz="1200" b="1" dirty="0">
                <a:solidFill>
                  <a:srgbClr val="028090"/>
                </a:solidFill>
              </a:rPr>
              <a:t>Reduced Legal Risk</a:t>
            </a:r>
            <a:endParaRPr lang="en-US" sz="1200" dirty="0"/>
          </a:p>
        </p:txBody>
      </p:sp>
      <p:sp>
        <p:nvSpPr>
          <p:cNvPr id="28" name="Text 26"/>
          <p:cNvSpPr/>
          <p:nvPr/>
        </p:nvSpPr>
        <p:spPr>
          <a:xfrm>
            <a:off x="4910328" y="4270248"/>
            <a:ext cx="3840480" cy="621792"/>
          </a:xfrm>
          <a:prstGeom prst="rect">
            <a:avLst/>
          </a:prstGeom>
          <a:noFill/>
          <a:ln/>
        </p:spPr>
        <p:txBody>
          <a:bodyPr wrap="square" lIns="0" tIns="0" rIns="0" bIns="0" rtlCol="0" anchor="ctr"/>
          <a:lstStyle/>
          <a:p>
            <a:pPr marL="0" indent="0">
              <a:buNone/>
            </a:pPr>
            <a:r>
              <a:rPr lang="en-US" sz="1000" dirty="0">
                <a:solidFill>
                  <a:srgbClr val="1A3040"/>
                </a:solidFill>
              </a:rPr>
              <a:t>Proactive accessibility compliance protects organisations from costly litigation, regulatory penalties, and reputational damage.</a:t>
            </a:r>
            <a:endParaRPr lang="en-US" sz="1000" dirty="0"/>
          </a:p>
        </p:txBody>
      </p:sp>
      <p:sp>
        <p:nvSpPr>
          <p:cNvPr id="29" name="Shape 27">
            <a:extLst>
              <a:ext uri="{C183D7F6-B498-43B3-948B-1728B52AA6E4}">
                <adec:decorative xmlns:adec="http://schemas.microsoft.com/office/drawing/2017/decorative" val="1"/>
              </a:ext>
            </a:extLst>
          </p:cNvPr>
          <p:cNvSpPr/>
          <p:nvPr/>
        </p:nvSpPr>
        <p:spPr>
          <a:xfrm>
            <a:off x="0" y="4846320"/>
            <a:ext cx="9144000" cy="297180"/>
          </a:xfrm>
          <a:prstGeom prst="rect">
            <a:avLst/>
          </a:prstGeom>
          <a:solidFill>
            <a:srgbClr val="0D2B3E"/>
          </a:solidFill>
          <a:ln w="12700">
            <a:solidFill>
              <a:srgbClr val="0D2B3E"/>
            </a:solidFill>
            <a:prstDash val="solid"/>
          </a:ln>
        </p:spPr>
        <p:txBody>
          <a:bodyPr/>
          <a:lstStyle/>
          <a:p>
            <a:endParaRPr lang="en-IN"/>
          </a:p>
        </p:txBody>
      </p:sp>
      <p:sp>
        <p:nvSpPr>
          <p:cNvPr id="30" name="Text 28"/>
          <p:cNvSpPr/>
          <p:nvPr/>
        </p:nvSpPr>
        <p:spPr>
          <a:xfrm>
            <a:off x="274320" y="4864608"/>
            <a:ext cx="4572000" cy="256032"/>
          </a:xfrm>
          <a:prstGeom prst="rect">
            <a:avLst/>
          </a:prstGeom>
          <a:noFill/>
          <a:ln/>
        </p:spPr>
        <p:txBody>
          <a:bodyPr wrap="square" lIns="0" tIns="0" rIns="0" bIns="0" rtlCol="0" anchor="ctr"/>
          <a:lstStyle/>
          <a:p>
            <a:pPr marL="0" indent="0">
              <a:buNone/>
            </a:pPr>
            <a:r>
              <a:rPr lang="en-US" sz="900" dirty="0">
                <a:solidFill>
                  <a:srgbClr val="C4DDE4"/>
                </a:solidFill>
              </a:rPr>
              <a:t>Digital Accessibility Awareness</a:t>
            </a:r>
            <a:endParaRPr lang="en-US" sz="900" dirty="0"/>
          </a:p>
        </p:txBody>
      </p:sp>
      <p:sp>
        <p:nvSpPr>
          <p:cNvPr id="31" name="Text 29"/>
          <p:cNvSpPr/>
          <p:nvPr/>
        </p:nvSpPr>
        <p:spPr>
          <a:xfrm>
            <a:off x="8229600" y="4864608"/>
            <a:ext cx="640080" cy="256032"/>
          </a:xfrm>
          <a:prstGeom prst="rect">
            <a:avLst/>
          </a:prstGeom>
          <a:noFill/>
          <a:ln/>
        </p:spPr>
        <p:txBody>
          <a:bodyPr wrap="square" lIns="0" tIns="0" rIns="0" bIns="0" rtlCol="0" anchor="ctr"/>
          <a:lstStyle/>
          <a:p>
            <a:pPr marL="0" indent="0" algn="r">
              <a:buNone/>
            </a:pPr>
            <a:r>
              <a:rPr lang="en-US" sz="900" dirty="0">
                <a:solidFill>
                  <a:srgbClr val="C4DDE4"/>
                </a:solidFill>
              </a:rPr>
              <a:t>Slide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9144000" cy="914400"/>
          </a:xfrm>
          <a:prstGeom prst="rect">
            <a:avLst/>
          </a:prstGeom>
          <a:solidFill>
            <a:srgbClr val="0D2B3E"/>
          </a:solidFill>
          <a:ln w="12700">
            <a:solidFill>
              <a:srgbClr val="0D2B3E"/>
            </a:solidFill>
            <a:prstDash val="solid"/>
          </a:ln>
        </p:spPr>
        <p:txBody>
          <a:bodyPr/>
          <a:lstStyle/>
          <a:p>
            <a:endParaRPr lang="en-IN"/>
          </a:p>
        </p:txBody>
      </p:sp>
      <p:sp>
        <p:nvSpPr>
          <p:cNvPr id="3" name="Text 1"/>
          <p:cNvSpPr/>
          <p:nvPr/>
        </p:nvSpPr>
        <p:spPr>
          <a:xfrm>
            <a:off x="365760" y="137160"/>
            <a:ext cx="8229600" cy="640080"/>
          </a:xfrm>
          <a:prstGeom prst="rect">
            <a:avLst/>
          </a:prstGeom>
          <a:noFill/>
          <a:ln/>
        </p:spPr>
        <p:txBody>
          <a:bodyPr wrap="square" lIns="0" tIns="0" rIns="0" bIns="0" rtlCol="0" anchor="ctr"/>
          <a:lstStyle/>
          <a:p>
            <a:pPr marL="0" indent="0">
              <a:buNone/>
            </a:pPr>
            <a:r>
              <a:rPr lang="en-US" sz="2800" b="1" dirty="0">
                <a:solidFill>
                  <a:srgbClr val="FFFFFF"/>
                </a:solidFill>
              </a:rPr>
              <a:t>04 |  Who Are the End Users?</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320040" y="987552"/>
            <a:ext cx="8503920" cy="731520"/>
          </a:xfrm>
          <a:prstGeom prst="rect">
            <a:avLst/>
          </a:prstGeom>
          <a:solidFill>
            <a:srgbClr val="028090">
              <a:alpha val="85000"/>
            </a:srgbClr>
          </a:solidFill>
          <a:ln w="12700">
            <a:solidFill>
              <a:srgbClr val="028090"/>
            </a:solidFill>
            <a:prstDash val="solid"/>
          </a:ln>
        </p:spPr>
        <p:txBody>
          <a:bodyPr/>
          <a:lstStyle/>
          <a:p>
            <a:endParaRPr lang="en-IN"/>
          </a:p>
        </p:txBody>
      </p:sp>
      <p:sp>
        <p:nvSpPr>
          <p:cNvPr id="5" name="Text 3"/>
          <p:cNvSpPr/>
          <p:nvPr/>
        </p:nvSpPr>
        <p:spPr>
          <a:xfrm>
            <a:off x="457200" y="1024128"/>
            <a:ext cx="8229600" cy="594360"/>
          </a:xfrm>
          <a:prstGeom prst="rect">
            <a:avLst/>
          </a:prstGeom>
          <a:noFill/>
          <a:ln/>
        </p:spPr>
        <p:txBody>
          <a:bodyPr wrap="square" lIns="0" tIns="0" rIns="0" bIns="0" rtlCol="0" anchor="ctr"/>
          <a:lstStyle/>
          <a:p>
            <a:pPr marL="0" indent="0">
              <a:buNone/>
            </a:pPr>
            <a:r>
              <a:rPr lang="en-US" sz="1200" b="1" i="1" dirty="0">
                <a:solidFill>
                  <a:srgbClr val="FFFFFF"/>
                </a:solidFill>
              </a:rPr>
              <a:t>The Curb-Cut Effect: Accessibility features designed for people with disabilities end up benefiting everyone.</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274320" y="1874520"/>
            <a:ext cx="2743200" cy="123444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7" name="Shape 5">
            <a:extLst>
              <a:ext uri="{C183D7F6-B498-43B3-948B-1728B52AA6E4}">
                <adec:decorative xmlns:adec="http://schemas.microsoft.com/office/drawing/2017/decorative" val="1"/>
              </a:ext>
            </a:extLst>
          </p:cNvPr>
          <p:cNvSpPr/>
          <p:nvPr/>
        </p:nvSpPr>
        <p:spPr>
          <a:xfrm>
            <a:off x="274320" y="1874520"/>
            <a:ext cx="2743200" cy="365760"/>
          </a:xfrm>
          <a:prstGeom prst="rect">
            <a:avLst/>
          </a:prstGeom>
          <a:solidFill>
            <a:srgbClr val="028090"/>
          </a:solidFill>
          <a:ln w="12700">
            <a:solidFill>
              <a:srgbClr val="028090"/>
            </a:solidFill>
            <a:prstDash val="solid"/>
          </a:ln>
        </p:spPr>
        <p:txBody>
          <a:bodyPr/>
          <a:lstStyle/>
          <a:p>
            <a:endParaRPr lang="en-IN"/>
          </a:p>
        </p:txBody>
      </p:sp>
      <p:sp>
        <p:nvSpPr>
          <p:cNvPr id="8" name="Text 6"/>
          <p:cNvSpPr/>
          <p:nvPr/>
        </p:nvSpPr>
        <p:spPr>
          <a:xfrm>
            <a:off x="365760" y="1911096"/>
            <a:ext cx="2560320" cy="292608"/>
          </a:xfrm>
          <a:prstGeom prst="rect">
            <a:avLst/>
          </a:prstGeom>
          <a:noFill/>
          <a:ln/>
        </p:spPr>
        <p:txBody>
          <a:bodyPr wrap="square" lIns="0" tIns="0" rIns="0" bIns="0" rtlCol="0" anchor="ctr"/>
          <a:lstStyle/>
          <a:p>
            <a:pPr marL="0" indent="0">
              <a:buNone/>
            </a:pPr>
            <a:r>
              <a:rPr lang="en-US" sz="1100" b="1" dirty="0">
                <a:solidFill>
                  <a:srgbClr val="FFFFFF"/>
                </a:solidFill>
              </a:rPr>
              <a:t>Permanent Disability</a:t>
            </a:r>
            <a:endParaRPr lang="en-US" sz="1100" dirty="0"/>
          </a:p>
        </p:txBody>
      </p:sp>
      <p:sp>
        <p:nvSpPr>
          <p:cNvPr id="9" name="Text 7"/>
          <p:cNvSpPr/>
          <p:nvPr/>
        </p:nvSpPr>
        <p:spPr>
          <a:xfrm>
            <a:off x="365760" y="2295144"/>
            <a:ext cx="2560320" cy="749808"/>
          </a:xfrm>
          <a:prstGeom prst="rect">
            <a:avLst/>
          </a:prstGeom>
          <a:noFill/>
          <a:ln/>
        </p:spPr>
        <p:txBody>
          <a:bodyPr wrap="square" lIns="0" tIns="0" rIns="0" bIns="0" rtlCol="0" anchor="ctr"/>
          <a:lstStyle/>
          <a:p>
            <a:pPr marL="0" indent="0">
              <a:buNone/>
            </a:pPr>
            <a:r>
              <a:rPr lang="en-US" sz="1000" dirty="0">
                <a:solidFill>
                  <a:srgbClr val="1A3040"/>
                </a:solidFill>
              </a:rPr>
              <a:t>Blindness, deafness, motor impairment, or cognitive disability present from birth or acquired.</a:t>
            </a:r>
            <a:endParaRPr lang="en-US" sz="1000" dirty="0"/>
          </a:p>
        </p:txBody>
      </p:sp>
      <p:sp>
        <p:nvSpPr>
          <p:cNvPr id="10" name="Shape 8">
            <a:extLst>
              <a:ext uri="{C183D7F6-B498-43B3-948B-1728B52AA6E4}">
                <adec:decorative xmlns:adec="http://schemas.microsoft.com/office/drawing/2017/decorative" val="1"/>
              </a:ext>
            </a:extLst>
          </p:cNvPr>
          <p:cNvSpPr/>
          <p:nvPr/>
        </p:nvSpPr>
        <p:spPr>
          <a:xfrm>
            <a:off x="3200400" y="1874520"/>
            <a:ext cx="2743200" cy="123444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11" name="Shape 9">
            <a:extLst>
              <a:ext uri="{C183D7F6-B498-43B3-948B-1728B52AA6E4}">
                <adec:decorative xmlns:adec="http://schemas.microsoft.com/office/drawing/2017/decorative" val="1"/>
              </a:ext>
            </a:extLst>
          </p:cNvPr>
          <p:cNvSpPr/>
          <p:nvPr/>
        </p:nvSpPr>
        <p:spPr>
          <a:xfrm>
            <a:off x="3200400" y="1874520"/>
            <a:ext cx="2743200" cy="365760"/>
          </a:xfrm>
          <a:prstGeom prst="rect">
            <a:avLst/>
          </a:prstGeom>
          <a:solidFill>
            <a:srgbClr val="028090"/>
          </a:solidFill>
          <a:ln w="12700">
            <a:solidFill>
              <a:srgbClr val="028090"/>
            </a:solidFill>
            <a:prstDash val="solid"/>
          </a:ln>
        </p:spPr>
        <p:txBody>
          <a:bodyPr/>
          <a:lstStyle/>
          <a:p>
            <a:endParaRPr lang="en-IN"/>
          </a:p>
        </p:txBody>
      </p:sp>
      <p:sp>
        <p:nvSpPr>
          <p:cNvPr id="12" name="Text 10"/>
          <p:cNvSpPr/>
          <p:nvPr/>
        </p:nvSpPr>
        <p:spPr>
          <a:xfrm>
            <a:off x="3291840" y="1911096"/>
            <a:ext cx="2560320" cy="292608"/>
          </a:xfrm>
          <a:prstGeom prst="rect">
            <a:avLst/>
          </a:prstGeom>
          <a:noFill/>
          <a:ln/>
        </p:spPr>
        <p:txBody>
          <a:bodyPr wrap="square" lIns="0" tIns="0" rIns="0" bIns="0" rtlCol="0" anchor="ctr"/>
          <a:lstStyle/>
          <a:p>
            <a:pPr marL="0" indent="0">
              <a:buNone/>
            </a:pPr>
            <a:r>
              <a:rPr lang="en-US" sz="1100" b="1" dirty="0">
                <a:solidFill>
                  <a:srgbClr val="FFFFFF"/>
                </a:solidFill>
              </a:rPr>
              <a:t>Temporary Disability</a:t>
            </a:r>
            <a:endParaRPr lang="en-US" sz="1100" dirty="0"/>
          </a:p>
        </p:txBody>
      </p:sp>
      <p:sp>
        <p:nvSpPr>
          <p:cNvPr id="13" name="Text 11"/>
          <p:cNvSpPr/>
          <p:nvPr/>
        </p:nvSpPr>
        <p:spPr>
          <a:xfrm>
            <a:off x="3291840" y="2295144"/>
            <a:ext cx="2560320" cy="749808"/>
          </a:xfrm>
          <a:prstGeom prst="rect">
            <a:avLst/>
          </a:prstGeom>
          <a:noFill/>
          <a:ln/>
        </p:spPr>
        <p:txBody>
          <a:bodyPr wrap="square" lIns="0" tIns="0" rIns="0" bIns="0" rtlCol="0" anchor="ctr"/>
          <a:lstStyle/>
          <a:p>
            <a:pPr marL="0" indent="0">
              <a:buNone/>
            </a:pPr>
            <a:r>
              <a:rPr lang="en-US" sz="1000" dirty="0">
                <a:solidFill>
                  <a:srgbClr val="1A3040"/>
                </a:solidFill>
              </a:rPr>
              <a:t>A broken arm, eye surgery, or ear infection that temporarily limits ability to use standard interfaces.</a:t>
            </a:r>
            <a:endParaRPr lang="en-US" sz="1000" dirty="0"/>
          </a:p>
        </p:txBody>
      </p:sp>
      <p:sp>
        <p:nvSpPr>
          <p:cNvPr id="14" name="Shape 12">
            <a:extLst>
              <a:ext uri="{C183D7F6-B498-43B3-948B-1728B52AA6E4}">
                <adec:decorative xmlns:adec="http://schemas.microsoft.com/office/drawing/2017/decorative" val="1"/>
              </a:ext>
            </a:extLst>
          </p:cNvPr>
          <p:cNvSpPr/>
          <p:nvPr/>
        </p:nvSpPr>
        <p:spPr>
          <a:xfrm>
            <a:off x="6126480" y="1874520"/>
            <a:ext cx="2743200" cy="123444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15" name="Shape 13">
            <a:extLst>
              <a:ext uri="{C183D7F6-B498-43B3-948B-1728B52AA6E4}">
                <adec:decorative xmlns:adec="http://schemas.microsoft.com/office/drawing/2017/decorative" val="1"/>
              </a:ext>
            </a:extLst>
          </p:cNvPr>
          <p:cNvSpPr/>
          <p:nvPr/>
        </p:nvSpPr>
        <p:spPr>
          <a:xfrm>
            <a:off x="6126480" y="1874520"/>
            <a:ext cx="2743200" cy="365760"/>
          </a:xfrm>
          <a:prstGeom prst="rect">
            <a:avLst/>
          </a:prstGeom>
          <a:solidFill>
            <a:srgbClr val="028090"/>
          </a:solidFill>
          <a:ln w="12700">
            <a:solidFill>
              <a:srgbClr val="028090"/>
            </a:solidFill>
            <a:prstDash val="solid"/>
          </a:ln>
        </p:spPr>
        <p:txBody>
          <a:bodyPr/>
          <a:lstStyle/>
          <a:p>
            <a:endParaRPr lang="en-IN"/>
          </a:p>
        </p:txBody>
      </p:sp>
      <p:sp>
        <p:nvSpPr>
          <p:cNvPr id="16" name="Text 14"/>
          <p:cNvSpPr/>
          <p:nvPr/>
        </p:nvSpPr>
        <p:spPr>
          <a:xfrm>
            <a:off x="6217920" y="1911096"/>
            <a:ext cx="2560320" cy="292608"/>
          </a:xfrm>
          <a:prstGeom prst="rect">
            <a:avLst/>
          </a:prstGeom>
          <a:noFill/>
          <a:ln/>
        </p:spPr>
        <p:txBody>
          <a:bodyPr wrap="square" lIns="0" tIns="0" rIns="0" bIns="0" rtlCol="0" anchor="ctr"/>
          <a:lstStyle/>
          <a:p>
            <a:pPr marL="0" indent="0">
              <a:buNone/>
            </a:pPr>
            <a:r>
              <a:rPr lang="en-US" sz="1100" b="1" dirty="0">
                <a:solidFill>
                  <a:srgbClr val="FFFFFF"/>
                </a:solidFill>
              </a:rPr>
              <a:t>Situational Limitation</a:t>
            </a:r>
            <a:endParaRPr lang="en-US" sz="1100" dirty="0"/>
          </a:p>
        </p:txBody>
      </p:sp>
      <p:sp>
        <p:nvSpPr>
          <p:cNvPr id="17" name="Text 15"/>
          <p:cNvSpPr/>
          <p:nvPr/>
        </p:nvSpPr>
        <p:spPr>
          <a:xfrm>
            <a:off x="6217920" y="2295144"/>
            <a:ext cx="2560320" cy="749808"/>
          </a:xfrm>
          <a:prstGeom prst="rect">
            <a:avLst/>
          </a:prstGeom>
          <a:noFill/>
          <a:ln/>
        </p:spPr>
        <p:txBody>
          <a:bodyPr wrap="square" lIns="0" tIns="0" rIns="0" bIns="0" rtlCol="0" anchor="ctr"/>
          <a:lstStyle/>
          <a:p>
            <a:pPr marL="0" indent="0">
              <a:buNone/>
            </a:pPr>
            <a:r>
              <a:rPr lang="en-US" sz="1000" dirty="0">
                <a:solidFill>
                  <a:srgbClr val="1A3040"/>
                </a:solidFill>
              </a:rPr>
              <a:t>Bright sunlight making a screen unreadable, or one hand occupied while commuting.</a:t>
            </a:r>
            <a:endParaRPr lang="en-US" sz="1000" dirty="0"/>
          </a:p>
        </p:txBody>
      </p:sp>
      <p:sp>
        <p:nvSpPr>
          <p:cNvPr id="18" name="Shape 16">
            <a:extLst>
              <a:ext uri="{C183D7F6-B498-43B3-948B-1728B52AA6E4}">
                <adec:decorative xmlns:adec="http://schemas.microsoft.com/office/drawing/2017/decorative" val="1"/>
              </a:ext>
            </a:extLst>
          </p:cNvPr>
          <p:cNvSpPr/>
          <p:nvPr/>
        </p:nvSpPr>
        <p:spPr>
          <a:xfrm>
            <a:off x="274320" y="3246120"/>
            <a:ext cx="2743200" cy="123444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19" name="Shape 17">
            <a:extLst>
              <a:ext uri="{C183D7F6-B498-43B3-948B-1728B52AA6E4}">
                <adec:decorative xmlns:adec="http://schemas.microsoft.com/office/drawing/2017/decorative" val="1"/>
              </a:ext>
            </a:extLst>
          </p:cNvPr>
          <p:cNvSpPr/>
          <p:nvPr/>
        </p:nvSpPr>
        <p:spPr>
          <a:xfrm>
            <a:off x="274320" y="3246120"/>
            <a:ext cx="2743200" cy="365760"/>
          </a:xfrm>
          <a:prstGeom prst="rect">
            <a:avLst/>
          </a:prstGeom>
          <a:solidFill>
            <a:srgbClr val="00A896"/>
          </a:solidFill>
          <a:ln w="12700">
            <a:solidFill>
              <a:srgbClr val="00A896"/>
            </a:solidFill>
            <a:prstDash val="solid"/>
          </a:ln>
        </p:spPr>
        <p:txBody>
          <a:bodyPr/>
          <a:lstStyle/>
          <a:p>
            <a:endParaRPr lang="en-IN"/>
          </a:p>
        </p:txBody>
      </p:sp>
      <p:sp>
        <p:nvSpPr>
          <p:cNvPr id="20" name="Text 18"/>
          <p:cNvSpPr/>
          <p:nvPr/>
        </p:nvSpPr>
        <p:spPr>
          <a:xfrm>
            <a:off x="365760" y="3282696"/>
            <a:ext cx="2560320" cy="292608"/>
          </a:xfrm>
          <a:prstGeom prst="rect">
            <a:avLst/>
          </a:prstGeom>
          <a:noFill/>
          <a:ln/>
        </p:spPr>
        <p:txBody>
          <a:bodyPr wrap="square" lIns="0" tIns="0" rIns="0" bIns="0" rtlCol="0" anchor="ctr"/>
          <a:lstStyle/>
          <a:p>
            <a:pPr marL="0" indent="0">
              <a:buNone/>
            </a:pPr>
            <a:r>
              <a:rPr lang="en-US" sz="1100" b="1" dirty="0">
                <a:solidFill>
                  <a:srgbClr val="FFFFFF"/>
                </a:solidFill>
              </a:rPr>
              <a:t>Ageing Population</a:t>
            </a:r>
            <a:endParaRPr lang="en-US" sz="1100" dirty="0"/>
          </a:p>
        </p:txBody>
      </p:sp>
      <p:sp>
        <p:nvSpPr>
          <p:cNvPr id="21" name="Text 19"/>
          <p:cNvSpPr/>
          <p:nvPr/>
        </p:nvSpPr>
        <p:spPr>
          <a:xfrm>
            <a:off x="365760" y="3666744"/>
            <a:ext cx="2560320" cy="749808"/>
          </a:xfrm>
          <a:prstGeom prst="rect">
            <a:avLst/>
          </a:prstGeom>
          <a:noFill/>
          <a:ln/>
        </p:spPr>
        <p:txBody>
          <a:bodyPr wrap="square" lIns="0" tIns="0" rIns="0" bIns="0" rtlCol="0" anchor="ctr"/>
          <a:lstStyle/>
          <a:p>
            <a:pPr marL="0" indent="0">
              <a:buNone/>
            </a:pPr>
            <a:r>
              <a:rPr lang="en-US" sz="1000" dirty="0">
                <a:solidFill>
                  <a:srgbClr val="1A3040"/>
                </a:solidFill>
              </a:rPr>
              <a:t>Older adults experiencing reduced vision, hearing, dexterity, or cognitive processing over time.</a:t>
            </a:r>
            <a:endParaRPr lang="en-US" sz="1000" dirty="0"/>
          </a:p>
        </p:txBody>
      </p:sp>
      <p:sp>
        <p:nvSpPr>
          <p:cNvPr id="22" name="Shape 20">
            <a:extLst>
              <a:ext uri="{C183D7F6-B498-43B3-948B-1728B52AA6E4}">
                <adec:decorative xmlns:adec="http://schemas.microsoft.com/office/drawing/2017/decorative" val="1"/>
              </a:ext>
            </a:extLst>
          </p:cNvPr>
          <p:cNvSpPr/>
          <p:nvPr/>
        </p:nvSpPr>
        <p:spPr>
          <a:xfrm>
            <a:off x="3200400" y="3246120"/>
            <a:ext cx="2743200" cy="123444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23" name="Shape 21">
            <a:extLst>
              <a:ext uri="{C183D7F6-B498-43B3-948B-1728B52AA6E4}">
                <adec:decorative xmlns:adec="http://schemas.microsoft.com/office/drawing/2017/decorative" val="1"/>
              </a:ext>
            </a:extLst>
          </p:cNvPr>
          <p:cNvSpPr/>
          <p:nvPr/>
        </p:nvSpPr>
        <p:spPr>
          <a:xfrm>
            <a:off x="3200400" y="3246120"/>
            <a:ext cx="2743200" cy="365760"/>
          </a:xfrm>
          <a:prstGeom prst="rect">
            <a:avLst/>
          </a:prstGeom>
          <a:solidFill>
            <a:srgbClr val="00A896"/>
          </a:solidFill>
          <a:ln w="12700">
            <a:solidFill>
              <a:srgbClr val="00A896"/>
            </a:solidFill>
            <a:prstDash val="solid"/>
          </a:ln>
        </p:spPr>
        <p:txBody>
          <a:bodyPr/>
          <a:lstStyle/>
          <a:p>
            <a:endParaRPr lang="en-IN"/>
          </a:p>
        </p:txBody>
      </p:sp>
      <p:sp>
        <p:nvSpPr>
          <p:cNvPr id="24" name="Text 22"/>
          <p:cNvSpPr/>
          <p:nvPr/>
        </p:nvSpPr>
        <p:spPr>
          <a:xfrm>
            <a:off x="3291840" y="3282696"/>
            <a:ext cx="2560320" cy="292608"/>
          </a:xfrm>
          <a:prstGeom prst="rect">
            <a:avLst/>
          </a:prstGeom>
          <a:noFill/>
          <a:ln/>
        </p:spPr>
        <p:txBody>
          <a:bodyPr wrap="square" lIns="0" tIns="0" rIns="0" bIns="0" rtlCol="0" anchor="ctr"/>
          <a:lstStyle/>
          <a:p>
            <a:pPr marL="0" indent="0">
              <a:buNone/>
            </a:pPr>
            <a:r>
              <a:rPr lang="en-US" sz="1100" b="1" dirty="0">
                <a:solidFill>
                  <a:srgbClr val="FFFFFF"/>
                </a:solidFill>
              </a:rPr>
              <a:t>Low Literacy Users</a:t>
            </a:r>
            <a:endParaRPr lang="en-US" sz="1100" dirty="0"/>
          </a:p>
        </p:txBody>
      </p:sp>
      <p:sp>
        <p:nvSpPr>
          <p:cNvPr id="25" name="Text 23"/>
          <p:cNvSpPr/>
          <p:nvPr/>
        </p:nvSpPr>
        <p:spPr>
          <a:xfrm>
            <a:off x="3291840" y="3666744"/>
            <a:ext cx="2560320" cy="749808"/>
          </a:xfrm>
          <a:prstGeom prst="rect">
            <a:avLst/>
          </a:prstGeom>
          <a:noFill/>
          <a:ln/>
        </p:spPr>
        <p:txBody>
          <a:bodyPr wrap="square" lIns="0" tIns="0" rIns="0" bIns="0" rtlCol="0" anchor="ctr"/>
          <a:lstStyle/>
          <a:p>
            <a:pPr marL="0" indent="0">
              <a:buNone/>
            </a:pPr>
            <a:r>
              <a:rPr lang="en-US" sz="1000" dirty="0">
                <a:solidFill>
                  <a:srgbClr val="1A3040"/>
                </a:solidFill>
              </a:rPr>
              <a:t>People who benefit from plain language, icons, and structured content regardless of disability status.</a:t>
            </a:r>
            <a:endParaRPr lang="en-US" sz="1000" dirty="0"/>
          </a:p>
        </p:txBody>
      </p:sp>
      <p:sp>
        <p:nvSpPr>
          <p:cNvPr id="26" name="Shape 24">
            <a:extLst>
              <a:ext uri="{C183D7F6-B498-43B3-948B-1728B52AA6E4}">
                <adec:decorative xmlns:adec="http://schemas.microsoft.com/office/drawing/2017/decorative" val="1"/>
              </a:ext>
            </a:extLst>
          </p:cNvPr>
          <p:cNvSpPr/>
          <p:nvPr/>
        </p:nvSpPr>
        <p:spPr>
          <a:xfrm>
            <a:off x="6126480" y="3246120"/>
            <a:ext cx="2743200" cy="123444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27" name="Shape 25">
            <a:extLst>
              <a:ext uri="{C183D7F6-B498-43B3-948B-1728B52AA6E4}">
                <adec:decorative xmlns:adec="http://schemas.microsoft.com/office/drawing/2017/decorative" val="1"/>
              </a:ext>
            </a:extLst>
          </p:cNvPr>
          <p:cNvSpPr/>
          <p:nvPr/>
        </p:nvSpPr>
        <p:spPr>
          <a:xfrm>
            <a:off x="6126480" y="3246120"/>
            <a:ext cx="2743200" cy="365760"/>
          </a:xfrm>
          <a:prstGeom prst="rect">
            <a:avLst/>
          </a:prstGeom>
          <a:solidFill>
            <a:srgbClr val="00A896"/>
          </a:solidFill>
          <a:ln w="12700">
            <a:solidFill>
              <a:srgbClr val="00A896"/>
            </a:solidFill>
            <a:prstDash val="solid"/>
          </a:ln>
        </p:spPr>
        <p:txBody>
          <a:bodyPr/>
          <a:lstStyle/>
          <a:p>
            <a:endParaRPr lang="en-IN"/>
          </a:p>
        </p:txBody>
      </p:sp>
      <p:sp>
        <p:nvSpPr>
          <p:cNvPr id="28" name="Text 26"/>
          <p:cNvSpPr/>
          <p:nvPr/>
        </p:nvSpPr>
        <p:spPr>
          <a:xfrm>
            <a:off x="6217920" y="3282696"/>
            <a:ext cx="2560320" cy="292608"/>
          </a:xfrm>
          <a:prstGeom prst="rect">
            <a:avLst/>
          </a:prstGeom>
          <a:noFill/>
          <a:ln/>
        </p:spPr>
        <p:txBody>
          <a:bodyPr wrap="square" lIns="0" tIns="0" rIns="0" bIns="0" rtlCol="0" anchor="ctr"/>
          <a:lstStyle/>
          <a:p>
            <a:pPr marL="0" indent="0">
              <a:buNone/>
            </a:pPr>
            <a:r>
              <a:rPr lang="en-US" sz="1100" b="1" dirty="0">
                <a:solidFill>
                  <a:srgbClr val="FFFFFF"/>
                </a:solidFill>
              </a:rPr>
              <a:t>Non-Native Speakers</a:t>
            </a:r>
            <a:endParaRPr lang="en-US" sz="1100" dirty="0"/>
          </a:p>
        </p:txBody>
      </p:sp>
      <p:sp>
        <p:nvSpPr>
          <p:cNvPr id="29" name="Text 27"/>
          <p:cNvSpPr/>
          <p:nvPr/>
        </p:nvSpPr>
        <p:spPr>
          <a:xfrm>
            <a:off x="6217920" y="3666744"/>
            <a:ext cx="2560320" cy="749808"/>
          </a:xfrm>
          <a:prstGeom prst="rect">
            <a:avLst/>
          </a:prstGeom>
          <a:noFill/>
          <a:ln/>
        </p:spPr>
        <p:txBody>
          <a:bodyPr wrap="square" lIns="0" tIns="0" rIns="0" bIns="0" rtlCol="0" anchor="ctr"/>
          <a:lstStyle/>
          <a:p>
            <a:pPr marL="0" indent="0">
              <a:buNone/>
            </a:pPr>
            <a:r>
              <a:rPr lang="en-US" sz="1000" dirty="0">
                <a:solidFill>
                  <a:srgbClr val="1A3040"/>
                </a:solidFill>
              </a:rPr>
              <a:t>Users who rely on clear, simple language and consistent navigation to use digital products confidently.</a:t>
            </a:r>
            <a:endParaRPr lang="en-US" sz="1000" dirty="0"/>
          </a:p>
        </p:txBody>
      </p:sp>
      <p:sp>
        <p:nvSpPr>
          <p:cNvPr id="30" name="Shape 28">
            <a:extLst>
              <a:ext uri="{C183D7F6-B498-43B3-948B-1728B52AA6E4}">
                <adec:decorative xmlns:adec="http://schemas.microsoft.com/office/drawing/2017/decorative" val="1"/>
              </a:ext>
            </a:extLst>
          </p:cNvPr>
          <p:cNvSpPr/>
          <p:nvPr/>
        </p:nvSpPr>
        <p:spPr>
          <a:xfrm>
            <a:off x="0" y="4846320"/>
            <a:ext cx="9144000" cy="297180"/>
          </a:xfrm>
          <a:prstGeom prst="rect">
            <a:avLst/>
          </a:prstGeom>
          <a:solidFill>
            <a:srgbClr val="0D2B3E"/>
          </a:solidFill>
          <a:ln w="12700">
            <a:solidFill>
              <a:srgbClr val="0D2B3E"/>
            </a:solidFill>
            <a:prstDash val="solid"/>
          </a:ln>
        </p:spPr>
        <p:txBody>
          <a:bodyPr/>
          <a:lstStyle/>
          <a:p>
            <a:endParaRPr lang="en-IN"/>
          </a:p>
        </p:txBody>
      </p:sp>
      <p:sp>
        <p:nvSpPr>
          <p:cNvPr id="31" name="Text 29"/>
          <p:cNvSpPr/>
          <p:nvPr/>
        </p:nvSpPr>
        <p:spPr>
          <a:xfrm>
            <a:off x="274320" y="4864608"/>
            <a:ext cx="4572000" cy="256032"/>
          </a:xfrm>
          <a:prstGeom prst="rect">
            <a:avLst/>
          </a:prstGeom>
          <a:noFill/>
          <a:ln/>
        </p:spPr>
        <p:txBody>
          <a:bodyPr wrap="square" lIns="0" tIns="0" rIns="0" bIns="0" rtlCol="0" anchor="ctr"/>
          <a:lstStyle/>
          <a:p>
            <a:pPr marL="0" indent="0">
              <a:buNone/>
            </a:pPr>
            <a:r>
              <a:rPr lang="en-US" sz="900" dirty="0">
                <a:solidFill>
                  <a:srgbClr val="C4DDE4"/>
                </a:solidFill>
              </a:rPr>
              <a:t>Digital Accessibility Awareness</a:t>
            </a:r>
            <a:endParaRPr lang="en-US" sz="900" dirty="0"/>
          </a:p>
        </p:txBody>
      </p:sp>
      <p:sp>
        <p:nvSpPr>
          <p:cNvPr id="32" name="Text 30"/>
          <p:cNvSpPr/>
          <p:nvPr/>
        </p:nvSpPr>
        <p:spPr>
          <a:xfrm>
            <a:off x="8229600" y="4864608"/>
            <a:ext cx="640080" cy="256032"/>
          </a:xfrm>
          <a:prstGeom prst="rect">
            <a:avLst/>
          </a:prstGeom>
          <a:noFill/>
          <a:ln/>
        </p:spPr>
        <p:txBody>
          <a:bodyPr wrap="square" lIns="0" tIns="0" rIns="0" bIns="0" rtlCol="0" anchor="ctr"/>
          <a:lstStyle/>
          <a:p>
            <a:pPr marL="0" indent="0" algn="r">
              <a:buNone/>
            </a:pPr>
            <a:r>
              <a:rPr lang="en-US" sz="900" dirty="0">
                <a:solidFill>
                  <a:srgbClr val="C4DDE4"/>
                </a:solidFill>
              </a:rPr>
              <a:t>Slide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9144000" cy="914400"/>
          </a:xfrm>
          <a:prstGeom prst="rect">
            <a:avLst/>
          </a:prstGeom>
          <a:solidFill>
            <a:srgbClr val="028090"/>
          </a:solidFill>
          <a:ln w="12700">
            <a:solidFill>
              <a:srgbClr val="028090"/>
            </a:solidFill>
            <a:prstDash val="solid"/>
          </a:ln>
        </p:spPr>
        <p:txBody>
          <a:bodyPr/>
          <a:lstStyle/>
          <a:p>
            <a:endParaRPr lang="en-IN"/>
          </a:p>
        </p:txBody>
      </p:sp>
      <p:sp>
        <p:nvSpPr>
          <p:cNvPr id="3" name="Text 1"/>
          <p:cNvSpPr/>
          <p:nvPr/>
        </p:nvSpPr>
        <p:spPr>
          <a:xfrm>
            <a:off x="365760" y="13716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05 |  Types of Disabilities as per WCAG  (Part 1 of 2)</a:t>
            </a:r>
            <a:endParaRPr lang="en-US" sz="2200" dirty="0"/>
          </a:p>
        </p:txBody>
      </p:sp>
      <p:sp>
        <p:nvSpPr>
          <p:cNvPr id="4" name="Shape 2">
            <a:extLst>
              <a:ext uri="{C183D7F6-B498-43B3-948B-1728B52AA6E4}">
                <adec:decorative xmlns:adec="http://schemas.microsoft.com/office/drawing/2017/decorative" val="1"/>
              </a:ext>
            </a:extLst>
          </p:cNvPr>
          <p:cNvSpPr/>
          <p:nvPr/>
        </p:nvSpPr>
        <p:spPr>
          <a:xfrm>
            <a:off x="320040" y="1005840"/>
            <a:ext cx="8503920" cy="91440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5" name="Shape 3">
            <a:extLst>
              <a:ext uri="{C183D7F6-B498-43B3-948B-1728B52AA6E4}">
                <adec:decorative xmlns:adec="http://schemas.microsoft.com/office/drawing/2017/decorative" val="1"/>
              </a:ext>
            </a:extLst>
          </p:cNvPr>
          <p:cNvSpPr/>
          <p:nvPr/>
        </p:nvSpPr>
        <p:spPr>
          <a:xfrm>
            <a:off x="320040" y="1005840"/>
            <a:ext cx="109728" cy="914400"/>
          </a:xfrm>
          <a:prstGeom prst="rect">
            <a:avLst/>
          </a:prstGeom>
          <a:solidFill>
            <a:srgbClr val="F4A261"/>
          </a:solidFill>
          <a:ln w="12700">
            <a:solidFill>
              <a:srgbClr val="F4A261"/>
            </a:solidFill>
            <a:prstDash val="solid"/>
          </a:ln>
        </p:spPr>
        <p:txBody>
          <a:bodyPr/>
          <a:lstStyle/>
          <a:p>
            <a:endParaRPr lang="en-IN"/>
          </a:p>
        </p:txBody>
      </p:sp>
      <p:sp>
        <p:nvSpPr>
          <p:cNvPr id="6" name="Text 4"/>
          <p:cNvSpPr/>
          <p:nvPr/>
        </p:nvSpPr>
        <p:spPr>
          <a:xfrm>
            <a:off x="530352" y="1078992"/>
            <a:ext cx="8229600" cy="320040"/>
          </a:xfrm>
          <a:prstGeom prst="rect">
            <a:avLst/>
          </a:prstGeom>
          <a:noFill/>
          <a:ln/>
        </p:spPr>
        <p:txBody>
          <a:bodyPr wrap="square" lIns="0" tIns="0" rIns="0" bIns="0" rtlCol="0" anchor="ctr"/>
          <a:lstStyle/>
          <a:p>
            <a:pPr marL="0" indent="0">
              <a:buNone/>
            </a:pPr>
            <a:r>
              <a:rPr lang="en-US" sz="1300" b="1" dirty="0">
                <a:solidFill>
                  <a:srgbClr val="028090"/>
                </a:solidFill>
              </a:rPr>
              <a:t>01  Visual</a:t>
            </a:r>
            <a:endParaRPr lang="en-US" sz="1300" dirty="0"/>
          </a:p>
        </p:txBody>
      </p:sp>
      <p:sp>
        <p:nvSpPr>
          <p:cNvPr id="7" name="Text 5"/>
          <p:cNvSpPr/>
          <p:nvPr/>
        </p:nvSpPr>
        <p:spPr>
          <a:xfrm>
            <a:off x="530352" y="1408176"/>
            <a:ext cx="8138160" cy="438912"/>
          </a:xfrm>
          <a:prstGeom prst="rect">
            <a:avLst/>
          </a:prstGeom>
          <a:noFill/>
          <a:ln/>
        </p:spPr>
        <p:txBody>
          <a:bodyPr wrap="square" lIns="0" tIns="0" rIns="0" bIns="0" rtlCol="0" anchor="ctr"/>
          <a:lstStyle/>
          <a:p>
            <a:pPr marL="0" indent="0">
              <a:buNone/>
            </a:pPr>
            <a:r>
              <a:rPr lang="en-US" sz="1100" dirty="0">
                <a:solidFill>
                  <a:srgbClr val="1A3040"/>
                </a:solidFill>
              </a:rPr>
              <a:t>Includes blindness, low vision, and colour blindness. Users rely on screen readers, magnifiers, and high-contrast displays to access digital content.</a:t>
            </a:r>
            <a:endParaRPr lang="en-US" sz="1100" dirty="0"/>
          </a:p>
        </p:txBody>
      </p:sp>
      <p:sp>
        <p:nvSpPr>
          <p:cNvPr id="8" name="Shape 6">
            <a:extLst>
              <a:ext uri="{C183D7F6-B498-43B3-948B-1728B52AA6E4}">
                <adec:decorative xmlns:adec="http://schemas.microsoft.com/office/drawing/2017/decorative" val="1"/>
              </a:ext>
            </a:extLst>
          </p:cNvPr>
          <p:cNvSpPr/>
          <p:nvPr/>
        </p:nvSpPr>
        <p:spPr>
          <a:xfrm>
            <a:off x="320040" y="2011680"/>
            <a:ext cx="8503920" cy="91440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9" name="Shape 7">
            <a:extLst>
              <a:ext uri="{C183D7F6-B498-43B3-948B-1728B52AA6E4}">
                <adec:decorative xmlns:adec="http://schemas.microsoft.com/office/drawing/2017/decorative" val="1"/>
              </a:ext>
            </a:extLst>
          </p:cNvPr>
          <p:cNvSpPr/>
          <p:nvPr/>
        </p:nvSpPr>
        <p:spPr>
          <a:xfrm>
            <a:off x="320040" y="2011680"/>
            <a:ext cx="109728" cy="914400"/>
          </a:xfrm>
          <a:prstGeom prst="rect">
            <a:avLst/>
          </a:prstGeom>
          <a:solidFill>
            <a:srgbClr val="F4A261"/>
          </a:solidFill>
          <a:ln w="12700">
            <a:solidFill>
              <a:srgbClr val="F4A261"/>
            </a:solidFill>
            <a:prstDash val="solid"/>
          </a:ln>
        </p:spPr>
        <p:txBody>
          <a:bodyPr/>
          <a:lstStyle/>
          <a:p>
            <a:endParaRPr lang="en-IN"/>
          </a:p>
        </p:txBody>
      </p:sp>
      <p:sp>
        <p:nvSpPr>
          <p:cNvPr id="10" name="Text 8"/>
          <p:cNvSpPr/>
          <p:nvPr/>
        </p:nvSpPr>
        <p:spPr>
          <a:xfrm>
            <a:off x="530352" y="2084832"/>
            <a:ext cx="8229600" cy="320040"/>
          </a:xfrm>
          <a:prstGeom prst="rect">
            <a:avLst/>
          </a:prstGeom>
          <a:noFill/>
          <a:ln/>
        </p:spPr>
        <p:txBody>
          <a:bodyPr wrap="square" lIns="0" tIns="0" rIns="0" bIns="0" rtlCol="0" anchor="ctr"/>
          <a:lstStyle/>
          <a:p>
            <a:pPr marL="0" indent="0">
              <a:buNone/>
            </a:pPr>
            <a:r>
              <a:rPr lang="en-US" sz="1300" b="1" dirty="0">
                <a:solidFill>
                  <a:srgbClr val="028090"/>
                </a:solidFill>
              </a:rPr>
              <a:t>02  Auditory</a:t>
            </a:r>
            <a:endParaRPr lang="en-US" sz="1300" dirty="0"/>
          </a:p>
        </p:txBody>
      </p:sp>
      <p:sp>
        <p:nvSpPr>
          <p:cNvPr id="11" name="Text 9"/>
          <p:cNvSpPr/>
          <p:nvPr/>
        </p:nvSpPr>
        <p:spPr>
          <a:xfrm>
            <a:off x="530352" y="2414016"/>
            <a:ext cx="8138160" cy="438912"/>
          </a:xfrm>
          <a:prstGeom prst="rect">
            <a:avLst/>
          </a:prstGeom>
          <a:noFill/>
          <a:ln/>
        </p:spPr>
        <p:txBody>
          <a:bodyPr wrap="square" lIns="0" tIns="0" rIns="0" bIns="0" rtlCol="0" anchor="ctr"/>
          <a:lstStyle/>
          <a:p>
            <a:pPr marL="0" indent="0">
              <a:buNone/>
            </a:pPr>
            <a:r>
              <a:rPr lang="en-US" sz="1100" dirty="0">
                <a:solidFill>
                  <a:srgbClr val="1A3040"/>
                </a:solidFill>
              </a:rPr>
              <a:t>Includes deafness and hard of hearing. Users rely on captions, transcripts, and visual alternatives to audio content.</a:t>
            </a:r>
            <a:endParaRPr lang="en-US" sz="1100" dirty="0"/>
          </a:p>
        </p:txBody>
      </p:sp>
      <p:sp>
        <p:nvSpPr>
          <p:cNvPr id="12" name="Shape 10">
            <a:extLst>
              <a:ext uri="{C183D7F6-B498-43B3-948B-1728B52AA6E4}">
                <adec:decorative xmlns:adec="http://schemas.microsoft.com/office/drawing/2017/decorative" val="1"/>
              </a:ext>
            </a:extLst>
          </p:cNvPr>
          <p:cNvSpPr/>
          <p:nvPr/>
        </p:nvSpPr>
        <p:spPr>
          <a:xfrm>
            <a:off x="320040" y="3017520"/>
            <a:ext cx="8503920" cy="91440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13" name="Shape 11">
            <a:extLst>
              <a:ext uri="{C183D7F6-B498-43B3-948B-1728B52AA6E4}">
                <adec:decorative xmlns:adec="http://schemas.microsoft.com/office/drawing/2017/decorative" val="1"/>
              </a:ext>
            </a:extLst>
          </p:cNvPr>
          <p:cNvSpPr/>
          <p:nvPr/>
        </p:nvSpPr>
        <p:spPr>
          <a:xfrm>
            <a:off x="320040" y="3017520"/>
            <a:ext cx="109728" cy="914400"/>
          </a:xfrm>
          <a:prstGeom prst="rect">
            <a:avLst/>
          </a:prstGeom>
          <a:solidFill>
            <a:srgbClr val="F4A261"/>
          </a:solidFill>
          <a:ln w="12700">
            <a:solidFill>
              <a:srgbClr val="F4A261"/>
            </a:solidFill>
            <a:prstDash val="solid"/>
          </a:ln>
        </p:spPr>
        <p:txBody>
          <a:bodyPr/>
          <a:lstStyle/>
          <a:p>
            <a:endParaRPr lang="en-IN"/>
          </a:p>
        </p:txBody>
      </p:sp>
      <p:sp>
        <p:nvSpPr>
          <p:cNvPr id="14" name="Text 12"/>
          <p:cNvSpPr/>
          <p:nvPr/>
        </p:nvSpPr>
        <p:spPr>
          <a:xfrm>
            <a:off x="530352" y="3090672"/>
            <a:ext cx="8229600" cy="320040"/>
          </a:xfrm>
          <a:prstGeom prst="rect">
            <a:avLst/>
          </a:prstGeom>
          <a:noFill/>
          <a:ln/>
        </p:spPr>
        <p:txBody>
          <a:bodyPr wrap="square" lIns="0" tIns="0" rIns="0" bIns="0" rtlCol="0" anchor="ctr"/>
          <a:lstStyle/>
          <a:p>
            <a:pPr marL="0" indent="0">
              <a:buNone/>
            </a:pPr>
            <a:r>
              <a:rPr lang="en-US" sz="1300" b="1" dirty="0">
                <a:solidFill>
                  <a:srgbClr val="028090"/>
                </a:solidFill>
              </a:rPr>
              <a:t>03  Motor / Physical</a:t>
            </a:r>
            <a:endParaRPr lang="en-US" sz="1300" dirty="0"/>
          </a:p>
        </p:txBody>
      </p:sp>
      <p:sp>
        <p:nvSpPr>
          <p:cNvPr id="15" name="Text 13"/>
          <p:cNvSpPr/>
          <p:nvPr/>
        </p:nvSpPr>
        <p:spPr>
          <a:xfrm>
            <a:off x="530352" y="3419856"/>
            <a:ext cx="8138160" cy="438912"/>
          </a:xfrm>
          <a:prstGeom prst="rect">
            <a:avLst/>
          </a:prstGeom>
          <a:noFill/>
          <a:ln/>
        </p:spPr>
        <p:txBody>
          <a:bodyPr wrap="square" lIns="0" tIns="0" rIns="0" bIns="0" rtlCol="0" anchor="ctr"/>
          <a:lstStyle/>
          <a:p>
            <a:pPr marL="0" indent="0">
              <a:buNone/>
            </a:pPr>
            <a:r>
              <a:rPr lang="en-US" sz="1100" dirty="0">
                <a:solidFill>
                  <a:srgbClr val="1A3040"/>
                </a:solidFill>
              </a:rPr>
              <a:t>Includes limited or no use of hands or limbs. Users rely on keyboard navigation, switch controls, eye tracking, and voice input.</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320040" y="4023360"/>
            <a:ext cx="8503920" cy="91440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17" name="Shape 15">
            <a:extLst>
              <a:ext uri="{C183D7F6-B498-43B3-948B-1728B52AA6E4}">
                <adec:decorative xmlns:adec="http://schemas.microsoft.com/office/drawing/2017/decorative" val="1"/>
              </a:ext>
            </a:extLst>
          </p:cNvPr>
          <p:cNvSpPr/>
          <p:nvPr/>
        </p:nvSpPr>
        <p:spPr>
          <a:xfrm>
            <a:off x="320040" y="4023360"/>
            <a:ext cx="109728" cy="914400"/>
          </a:xfrm>
          <a:prstGeom prst="rect">
            <a:avLst/>
          </a:prstGeom>
          <a:solidFill>
            <a:srgbClr val="F4A261"/>
          </a:solidFill>
          <a:ln w="12700">
            <a:solidFill>
              <a:srgbClr val="F4A261"/>
            </a:solidFill>
            <a:prstDash val="solid"/>
          </a:ln>
        </p:spPr>
        <p:txBody>
          <a:bodyPr/>
          <a:lstStyle/>
          <a:p>
            <a:endParaRPr lang="en-IN"/>
          </a:p>
        </p:txBody>
      </p:sp>
      <p:sp>
        <p:nvSpPr>
          <p:cNvPr id="18" name="Text 16"/>
          <p:cNvSpPr/>
          <p:nvPr/>
        </p:nvSpPr>
        <p:spPr>
          <a:xfrm>
            <a:off x="530352" y="4096512"/>
            <a:ext cx="8229600" cy="320040"/>
          </a:xfrm>
          <a:prstGeom prst="rect">
            <a:avLst/>
          </a:prstGeom>
          <a:noFill/>
          <a:ln/>
        </p:spPr>
        <p:txBody>
          <a:bodyPr wrap="square" lIns="0" tIns="0" rIns="0" bIns="0" rtlCol="0" anchor="ctr"/>
          <a:lstStyle/>
          <a:p>
            <a:pPr marL="0" indent="0">
              <a:buNone/>
            </a:pPr>
            <a:r>
              <a:rPr lang="en-US" sz="1300" b="1" dirty="0">
                <a:solidFill>
                  <a:srgbClr val="028090"/>
                </a:solidFill>
              </a:rPr>
              <a:t>04  Cognitive</a:t>
            </a:r>
            <a:endParaRPr lang="en-US" sz="1300" dirty="0"/>
          </a:p>
        </p:txBody>
      </p:sp>
      <p:sp>
        <p:nvSpPr>
          <p:cNvPr id="19" name="Text 17"/>
          <p:cNvSpPr/>
          <p:nvPr/>
        </p:nvSpPr>
        <p:spPr>
          <a:xfrm>
            <a:off x="530352" y="4425696"/>
            <a:ext cx="8138160" cy="438912"/>
          </a:xfrm>
          <a:prstGeom prst="rect">
            <a:avLst/>
          </a:prstGeom>
          <a:noFill/>
          <a:ln/>
        </p:spPr>
        <p:txBody>
          <a:bodyPr wrap="square" lIns="0" tIns="0" rIns="0" bIns="0" rtlCol="0" anchor="ctr"/>
          <a:lstStyle/>
          <a:p>
            <a:pPr marL="0" indent="0">
              <a:buNone/>
            </a:pPr>
            <a:r>
              <a:rPr lang="en-US" sz="1100" dirty="0">
                <a:solidFill>
                  <a:srgbClr val="1A3040"/>
                </a:solidFill>
              </a:rPr>
              <a:t>Includes dyslexia, ADHD, and memory difficulties. Users benefit from plain language, consistent layouts, and reduced cognitive load.</a:t>
            </a:r>
            <a:endParaRPr lang="en-US" sz="1100" dirty="0"/>
          </a:p>
        </p:txBody>
      </p:sp>
      <p:sp>
        <p:nvSpPr>
          <p:cNvPr id="20" name="Shape 18">
            <a:extLst>
              <a:ext uri="{C183D7F6-B498-43B3-948B-1728B52AA6E4}">
                <adec:decorative xmlns:adec="http://schemas.microsoft.com/office/drawing/2017/decorative" val="1"/>
              </a:ext>
            </a:extLst>
          </p:cNvPr>
          <p:cNvSpPr/>
          <p:nvPr/>
        </p:nvSpPr>
        <p:spPr>
          <a:xfrm>
            <a:off x="0" y="4846320"/>
            <a:ext cx="9144000" cy="297180"/>
          </a:xfrm>
          <a:prstGeom prst="rect">
            <a:avLst/>
          </a:prstGeom>
          <a:solidFill>
            <a:srgbClr val="0D2B3E"/>
          </a:solidFill>
          <a:ln w="12700">
            <a:solidFill>
              <a:srgbClr val="0D2B3E"/>
            </a:solidFill>
            <a:prstDash val="solid"/>
          </a:ln>
        </p:spPr>
        <p:txBody>
          <a:bodyPr/>
          <a:lstStyle/>
          <a:p>
            <a:endParaRPr lang="en-IN"/>
          </a:p>
        </p:txBody>
      </p:sp>
      <p:sp>
        <p:nvSpPr>
          <p:cNvPr id="21" name="Text 19"/>
          <p:cNvSpPr/>
          <p:nvPr/>
        </p:nvSpPr>
        <p:spPr>
          <a:xfrm>
            <a:off x="274320" y="4864608"/>
            <a:ext cx="4572000" cy="256032"/>
          </a:xfrm>
          <a:prstGeom prst="rect">
            <a:avLst/>
          </a:prstGeom>
          <a:noFill/>
          <a:ln/>
        </p:spPr>
        <p:txBody>
          <a:bodyPr wrap="square" lIns="0" tIns="0" rIns="0" bIns="0" rtlCol="0" anchor="ctr"/>
          <a:lstStyle/>
          <a:p>
            <a:pPr marL="0" indent="0">
              <a:buNone/>
            </a:pPr>
            <a:r>
              <a:rPr lang="en-US" sz="900" dirty="0">
                <a:solidFill>
                  <a:srgbClr val="C4DDE4"/>
                </a:solidFill>
              </a:rPr>
              <a:t>Digital Accessibility Awareness</a:t>
            </a:r>
            <a:endParaRPr lang="en-US" sz="900" dirty="0"/>
          </a:p>
        </p:txBody>
      </p:sp>
      <p:sp>
        <p:nvSpPr>
          <p:cNvPr id="22" name="Text 20"/>
          <p:cNvSpPr/>
          <p:nvPr/>
        </p:nvSpPr>
        <p:spPr>
          <a:xfrm>
            <a:off x="8229600" y="4864608"/>
            <a:ext cx="640080" cy="256032"/>
          </a:xfrm>
          <a:prstGeom prst="rect">
            <a:avLst/>
          </a:prstGeom>
          <a:noFill/>
          <a:ln/>
        </p:spPr>
        <p:txBody>
          <a:bodyPr wrap="square" lIns="0" tIns="0" rIns="0" bIns="0" rtlCol="0" anchor="ctr"/>
          <a:lstStyle/>
          <a:p>
            <a:pPr marL="0" indent="0" algn="r">
              <a:buNone/>
            </a:pPr>
            <a:r>
              <a:rPr lang="en-US" sz="900" dirty="0">
                <a:solidFill>
                  <a:srgbClr val="C4DDE4"/>
                </a:solidFill>
              </a:rPr>
              <a:t>Slide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F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9144000" cy="914400"/>
          </a:xfrm>
          <a:prstGeom prst="rect">
            <a:avLst/>
          </a:prstGeom>
          <a:solidFill>
            <a:srgbClr val="028090"/>
          </a:solidFill>
          <a:ln w="12700">
            <a:solidFill>
              <a:srgbClr val="028090"/>
            </a:solidFill>
            <a:prstDash val="solid"/>
          </a:ln>
        </p:spPr>
        <p:txBody>
          <a:bodyPr/>
          <a:lstStyle/>
          <a:p>
            <a:endParaRPr lang="en-IN"/>
          </a:p>
        </p:txBody>
      </p:sp>
      <p:sp>
        <p:nvSpPr>
          <p:cNvPr id="3" name="Text 1"/>
          <p:cNvSpPr/>
          <p:nvPr/>
        </p:nvSpPr>
        <p:spPr>
          <a:xfrm>
            <a:off x="365760" y="13716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05 |  Types of Disabilities as per WCAG  (Part 2 of 2)</a:t>
            </a:r>
            <a:endParaRPr lang="en-US" sz="2200" dirty="0"/>
          </a:p>
        </p:txBody>
      </p:sp>
      <p:sp>
        <p:nvSpPr>
          <p:cNvPr id="4" name="Shape 2">
            <a:extLst>
              <a:ext uri="{C183D7F6-B498-43B3-948B-1728B52AA6E4}">
                <adec:decorative xmlns:adec="http://schemas.microsoft.com/office/drawing/2017/decorative" val="1"/>
              </a:ext>
            </a:extLst>
          </p:cNvPr>
          <p:cNvSpPr/>
          <p:nvPr/>
        </p:nvSpPr>
        <p:spPr>
          <a:xfrm>
            <a:off x="320040" y="1005840"/>
            <a:ext cx="8503920" cy="91440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5" name="Shape 3">
            <a:extLst>
              <a:ext uri="{C183D7F6-B498-43B3-948B-1728B52AA6E4}">
                <adec:decorative xmlns:adec="http://schemas.microsoft.com/office/drawing/2017/decorative" val="1"/>
              </a:ext>
            </a:extLst>
          </p:cNvPr>
          <p:cNvSpPr/>
          <p:nvPr/>
        </p:nvSpPr>
        <p:spPr>
          <a:xfrm>
            <a:off x="320040" y="1005840"/>
            <a:ext cx="109728" cy="914400"/>
          </a:xfrm>
          <a:prstGeom prst="rect">
            <a:avLst/>
          </a:prstGeom>
          <a:solidFill>
            <a:srgbClr val="00A896"/>
          </a:solidFill>
          <a:ln w="12700">
            <a:solidFill>
              <a:srgbClr val="00A896"/>
            </a:solidFill>
            <a:prstDash val="solid"/>
          </a:ln>
        </p:spPr>
        <p:txBody>
          <a:bodyPr/>
          <a:lstStyle/>
          <a:p>
            <a:endParaRPr lang="en-IN"/>
          </a:p>
        </p:txBody>
      </p:sp>
      <p:sp>
        <p:nvSpPr>
          <p:cNvPr id="6" name="Text 4"/>
          <p:cNvSpPr/>
          <p:nvPr/>
        </p:nvSpPr>
        <p:spPr>
          <a:xfrm>
            <a:off x="530352" y="1078992"/>
            <a:ext cx="8229600" cy="320040"/>
          </a:xfrm>
          <a:prstGeom prst="rect">
            <a:avLst/>
          </a:prstGeom>
          <a:noFill/>
          <a:ln/>
        </p:spPr>
        <p:txBody>
          <a:bodyPr wrap="square" lIns="0" tIns="0" rIns="0" bIns="0" rtlCol="0" anchor="ctr"/>
          <a:lstStyle/>
          <a:p>
            <a:pPr marL="0" indent="0">
              <a:buNone/>
            </a:pPr>
            <a:r>
              <a:rPr lang="en-US" sz="1300" b="1" dirty="0">
                <a:solidFill>
                  <a:srgbClr val="028090"/>
                </a:solidFill>
              </a:rPr>
              <a:t>05  Speech</a:t>
            </a:r>
            <a:endParaRPr lang="en-US" sz="1300" dirty="0"/>
          </a:p>
        </p:txBody>
      </p:sp>
      <p:sp>
        <p:nvSpPr>
          <p:cNvPr id="7" name="Text 5"/>
          <p:cNvSpPr/>
          <p:nvPr/>
        </p:nvSpPr>
        <p:spPr>
          <a:xfrm>
            <a:off x="530352" y="1408176"/>
            <a:ext cx="8138160" cy="438912"/>
          </a:xfrm>
          <a:prstGeom prst="rect">
            <a:avLst/>
          </a:prstGeom>
          <a:noFill/>
          <a:ln/>
        </p:spPr>
        <p:txBody>
          <a:bodyPr wrap="square" lIns="0" tIns="0" rIns="0" bIns="0" rtlCol="0" anchor="ctr"/>
          <a:lstStyle/>
          <a:p>
            <a:pPr marL="0" indent="0">
              <a:buNone/>
            </a:pPr>
            <a:r>
              <a:rPr lang="en-US" sz="1100" dirty="0">
                <a:solidFill>
                  <a:srgbClr val="1A3040"/>
                </a:solidFill>
              </a:rPr>
              <a:t>Includes conditions affecting the ability to speak clearly. Users rely on text-based communication and AAC devices rather than voice-only interfaces.</a:t>
            </a:r>
            <a:endParaRPr lang="en-US" sz="1100" dirty="0"/>
          </a:p>
        </p:txBody>
      </p:sp>
      <p:sp>
        <p:nvSpPr>
          <p:cNvPr id="8" name="Shape 6">
            <a:extLst>
              <a:ext uri="{C183D7F6-B498-43B3-948B-1728B52AA6E4}">
                <adec:decorative xmlns:adec="http://schemas.microsoft.com/office/drawing/2017/decorative" val="1"/>
              </a:ext>
            </a:extLst>
          </p:cNvPr>
          <p:cNvSpPr/>
          <p:nvPr/>
        </p:nvSpPr>
        <p:spPr>
          <a:xfrm>
            <a:off x="320040" y="2011680"/>
            <a:ext cx="8503920" cy="91440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9" name="Shape 7">
            <a:extLst>
              <a:ext uri="{C183D7F6-B498-43B3-948B-1728B52AA6E4}">
                <adec:decorative xmlns:adec="http://schemas.microsoft.com/office/drawing/2017/decorative" val="1"/>
              </a:ext>
            </a:extLst>
          </p:cNvPr>
          <p:cNvSpPr/>
          <p:nvPr/>
        </p:nvSpPr>
        <p:spPr>
          <a:xfrm>
            <a:off x="320040" y="2011680"/>
            <a:ext cx="109728" cy="914400"/>
          </a:xfrm>
          <a:prstGeom prst="rect">
            <a:avLst/>
          </a:prstGeom>
          <a:solidFill>
            <a:srgbClr val="00A896"/>
          </a:solidFill>
          <a:ln w="12700">
            <a:solidFill>
              <a:srgbClr val="00A896"/>
            </a:solidFill>
            <a:prstDash val="solid"/>
          </a:ln>
        </p:spPr>
        <p:txBody>
          <a:bodyPr/>
          <a:lstStyle/>
          <a:p>
            <a:endParaRPr lang="en-IN"/>
          </a:p>
        </p:txBody>
      </p:sp>
      <p:sp>
        <p:nvSpPr>
          <p:cNvPr id="10" name="Text 8"/>
          <p:cNvSpPr/>
          <p:nvPr/>
        </p:nvSpPr>
        <p:spPr>
          <a:xfrm>
            <a:off x="530352" y="2084832"/>
            <a:ext cx="8229600" cy="320040"/>
          </a:xfrm>
          <a:prstGeom prst="rect">
            <a:avLst/>
          </a:prstGeom>
          <a:noFill/>
          <a:ln/>
        </p:spPr>
        <p:txBody>
          <a:bodyPr wrap="square" lIns="0" tIns="0" rIns="0" bIns="0" rtlCol="0" anchor="ctr"/>
          <a:lstStyle/>
          <a:p>
            <a:pPr marL="0" indent="0">
              <a:buNone/>
            </a:pPr>
            <a:r>
              <a:rPr lang="en-US" sz="1300" b="1" dirty="0">
                <a:solidFill>
                  <a:srgbClr val="028090"/>
                </a:solidFill>
              </a:rPr>
              <a:t>06  Neurological</a:t>
            </a:r>
            <a:endParaRPr lang="en-US" sz="1300" dirty="0"/>
          </a:p>
        </p:txBody>
      </p:sp>
      <p:sp>
        <p:nvSpPr>
          <p:cNvPr id="11" name="Text 9"/>
          <p:cNvSpPr/>
          <p:nvPr/>
        </p:nvSpPr>
        <p:spPr>
          <a:xfrm>
            <a:off x="530352" y="2414016"/>
            <a:ext cx="8138160" cy="438912"/>
          </a:xfrm>
          <a:prstGeom prst="rect">
            <a:avLst/>
          </a:prstGeom>
          <a:noFill/>
          <a:ln/>
        </p:spPr>
        <p:txBody>
          <a:bodyPr wrap="square" lIns="0" tIns="0" rIns="0" bIns="0" rtlCol="0" anchor="ctr"/>
          <a:lstStyle/>
          <a:p>
            <a:pPr marL="0" indent="0">
              <a:buNone/>
            </a:pPr>
            <a:r>
              <a:rPr lang="en-US" sz="1100" dirty="0">
                <a:solidFill>
                  <a:srgbClr val="1A3040"/>
                </a:solidFill>
              </a:rPr>
              <a:t>Includes epilepsy, multiple sclerosis, and Parkinson's disease. Users may need seizure-safe animations and fine-motor-friendly controls.</a:t>
            </a:r>
            <a:endParaRPr lang="en-US" sz="1100" dirty="0"/>
          </a:p>
        </p:txBody>
      </p:sp>
      <p:sp>
        <p:nvSpPr>
          <p:cNvPr id="12" name="Shape 10">
            <a:extLst>
              <a:ext uri="{C183D7F6-B498-43B3-948B-1728B52AA6E4}">
                <adec:decorative xmlns:adec="http://schemas.microsoft.com/office/drawing/2017/decorative" val="1"/>
              </a:ext>
            </a:extLst>
          </p:cNvPr>
          <p:cNvSpPr/>
          <p:nvPr/>
        </p:nvSpPr>
        <p:spPr>
          <a:xfrm>
            <a:off x="320040" y="3017520"/>
            <a:ext cx="8503920" cy="91440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13" name="Shape 11">
            <a:extLst>
              <a:ext uri="{C183D7F6-B498-43B3-948B-1728B52AA6E4}">
                <adec:decorative xmlns:adec="http://schemas.microsoft.com/office/drawing/2017/decorative" val="1"/>
              </a:ext>
            </a:extLst>
          </p:cNvPr>
          <p:cNvSpPr/>
          <p:nvPr/>
        </p:nvSpPr>
        <p:spPr>
          <a:xfrm>
            <a:off x="320040" y="3017520"/>
            <a:ext cx="109728" cy="914400"/>
          </a:xfrm>
          <a:prstGeom prst="rect">
            <a:avLst/>
          </a:prstGeom>
          <a:solidFill>
            <a:srgbClr val="00A896"/>
          </a:solidFill>
          <a:ln w="12700">
            <a:solidFill>
              <a:srgbClr val="00A896"/>
            </a:solidFill>
            <a:prstDash val="solid"/>
          </a:ln>
        </p:spPr>
        <p:txBody>
          <a:bodyPr/>
          <a:lstStyle/>
          <a:p>
            <a:endParaRPr lang="en-IN"/>
          </a:p>
        </p:txBody>
      </p:sp>
      <p:sp>
        <p:nvSpPr>
          <p:cNvPr id="14" name="Text 12"/>
          <p:cNvSpPr/>
          <p:nvPr/>
        </p:nvSpPr>
        <p:spPr>
          <a:xfrm>
            <a:off x="530352" y="3090672"/>
            <a:ext cx="8229600" cy="320040"/>
          </a:xfrm>
          <a:prstGeom prst="rect">
            <a:avLst/>
          </a:prstGeom>
          <a:noFill/>
          <a:ln/>
        </p:spPr>
        <p:txBody>
          <a:bodyPr wrap="square" lIns="0" tIns="0" rIns="0" bIns="0" rtlCol="0" anchor="ctr"/>
          <a:lstStyle/>
          <a:p>
            <a:pPr marL="0" indent="0">
              <a:buNone/>
            </a:pPr>
            <a:r>
              <a:rPr lang="en-US" sz="1300" b="1" dirty="0">
                <a:solidFill>
                  <a:srgbClr val="028090"/>
                </a:solidFill>
              </a:rPr>
              <a:t>07  Learning</a:t>
            </a:r>
            <a:endParaRPr lang="en-US" sz="1300" dirty="0"/>
          </a:p>
        </p:txBody>
      </p:sp>
      <p:sp>
        <p:nvSpPr>
          <p:cNvPr id="15" name="Text 13"/>
          <p:cNvSpPr/>
          <p:nvPr/>
        </p:nvSpPr>
        <p:spPr>
          <a:xfrm>
            <a:off x="530352" y="3419856"/>
            <a:ext cx="8138160" cy="438912"/>
          </a:xfrm>
          <a:prstGeom prst="rect">
            <a:avLst/>
          </a:prstGeom>
          <a:noFill/>
          <a:ln/>
        </p:spPr>
        <p:txBody>
          <a:bodyPr wrap="square" lIns="0" tIns="0" rIns="0" bIns="0" rtlCol="0" anchor="ctr"/>
          <a:lstStyle/>
          <a:p>
            <a:pPr marL="0" indent="0">
              <a:buNone/>
            </a:pPr>
            <a:r>
              <a:rPr lang="en-US" sz="1100" dirty="0">
                <a:solidFill>
                  <a:srgbClr val="1A3040"/>
                </a:solidFill>
              </a:rPr>
              <a:t>Includes conditions such as dyscalculia and processing disorders. Clear structure, visual cues, and scaffolded content reduce barriers significantly.</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320040" y="4023360"/>
            <a:ext cx="8503920" cy="914400"/>
          </a:xfrm>
          <a:prstGeom prst="rect">
            <a:avLst/>
          </a:prstGeom>
          <a:solidFill>
            <a:srgbClr val="FFFFFF"/>
          </a:solidFill>
          <a:ln w="12700">
            <a:solidFill>
              <a:srgbClr val="C4DDE4"/>
            </a:solidFill>
            <a:prstDash val="solid"/>
          </a:ln>
          <a:effectLst>
            <a:outerShdw blurRad="38100" dist="12700" dir="8100000" algn="bl" rotWithShape="0">
              <a:srgbClr val="000000">
                <a:alpha val="7000"/>
              </a:srgbClr>
            </a:outerShdw>
          </a:effectLst>
        </p:spPr>
        <p:txBody>
          <a:bodyPr/>
          <a:lstStyle/>
          <a:p>
            <a:endParaRPr lang="en-IN"/>
          </a:p>
        </p:txBody>
      </p:sp>
      <p:sp>
        <p:nvSpPr>
          <p:cNvPr id="17" name="Shape 15">
            <a:extLst>
              <a:ext uri="{C183D7F6-B498-43B3-948B-1728B52AA6E4}">
                <adec:decorative xmlns:adec="http://schemas.microsoft.com/office/drawing/2017/decorative" val="1"/>
              </a:ext>
            </a:extLst>
          </p:cNvPr>
          <p:cNvSpPr/>
          <p:nvPr/>
        </p:nvSpPr>
        <p:spPr>
          <a:xfrm>
            <a:off x="320040" y="4023360"/>
            <a:ext cx="109728" cy="914400"/>
          </a:xfrm>
          <a:prstGeom prst="rect">
            <a:avLst/>
          </a:prstGeom>
          <a:solidFill>
            <a:srgbClr val="00A896"/>
          </a:solidFill>
          <a:ln w="12700">
            <a:solidFill>
              <a:srgbClr val="00A896"/>
            </a:solidFill>
            <a:prstDash val="solid"/>
          </a:ln>
        </p:spPr>
        <p:txBody>
          <a:bodyPr/>
          <a:lstStyle/>
          <a:p>
            <a:endParaRPr lang="en-IN"/>
          </a:p>
        </p:txBody>
      </p:sp>
      <p:sp>
        <p:nvSpPr>
          <p:cNvPr id="18" name="Text 16"/>
          <p:cNvSpPr/>
          <p:nvPr/>
        </p:nvSpPr>
        <p:spPr>
          <a:xfrm>
            <a:off x="530352" y="4096512"/>
            <a:ext cx="8229600" cy="320040"/>
          </a:xfrm>
          <a:prstGeom prst="rect">
            <a:avLst/>
          </a:prstGeom>
          <a:noFill/>
          <a:ln/>
        </p:spPr>
        <p:txBody>
          <a:bodyPr wrap="square" lIns="0" tIns="0" rIns="0" bIns="0" rtlCol="0" anchor="ctr"/>
          <a:lstStyle/>
          <a:p>
            <a:pPr marL="0" indent="0">
              <a:buNone/>
            </a:pPr>
            <a:r>
              <a:rPr lang="en-US" sz="1300" b="1" dirty="0">
                <a:solidFill>
                  <a:srgbClr val="028090"/>
                </a:solidFill>
              </a:rPr>
              <a:t>08  Multiple / Complex</a:t>
            </a:r>
            <a:endParaRPr lang="en-US" sz="1300" dirty="0"/>
          </a:p>
        </p:txBody>
      </p:sp>
      <p:sp>
        <p:nvSpPr>
          <p:cNvPr id="19" name="Text 17"/>
          <p:cNvSpPr/>
          <p:nvPr/>
        </p:nvSpPr>
        <p:spPr>
          <a:xfrm>
            <a:off x="530352" y="4425696"/>
            <a:ext cx="8138160" cy="438912"/>
          </a:xfrm>
          <a:prstGeom prst="rect">
            <a:avLst/>
          </a:prstGeom>
          <a:noFill/>
          <a:ln/>
        </p:spPr>
        <p:txBody>
          <a:bodyPr wrap="square" lIns="0" tIns="0" rIns="0" bIns="0" rtlCol="0" anchor="ctr"/>
          <a:lstStyle/>
          <a:p>
            <a:pPr marL="0" indent="0">
              <a:buNone/>
            </a:pPr>
            <a:r>
              <a:rPr lang="en-US" sz="1100" dirty="0">
                <a:solidFill>
                  <a:srgbClr val="1A3040"/>
                </a:solidFill>
              </a:rPr>
              <a:t>Many users present with two or more overlapping disabilities. Robust, flexible interfaces that respect all WCAG success criteria serve this group best.</a:t>
            </a:r>
            <a:endParaRPr lang="en-US" sz="1100" dirty="0"/>
          </a:p>
        </p:txBody>
      </p:sp>
      <p:sp>
        <p:nvSpPr>
          <p:cNvPr id="20" name="Shape 18">
            <a:extLst>
              <a:ext uri="{C183D7F6-B498-43B3-948B-1728B52AA6E4}">
                <adec:decorative xmlns:adec="http://schemas.microsoft.com/office/drawing/2017/decorative" val="1"/>
              </a:ext>
            </a:extLst>
          </p:cNvPr>
          <p:cNvSpPr/>
          <p:nvPr/>
        </p:nvSpPr>
        <p:spPr>
          <a:xfrm>
            <a:off x="0" y="4846320"/>
            <a:ext cx="9144000" cy="297180"/>
          </a:xfrm>
          <a:prstGeom prst="rect">
            <a:avLst/>
          </a:prstGeom>
          <a:solidFill>
            <a:srgbClr val="0D2B3E"/>
          </a:solidFill>
          <a:ln w="12700">
            <a:solidFill>
              <a:srgbClr val="0D2B3E"/>
            </a:solidFill>
            <a:prstDash val="solid"/>
          </a:ln>
        </p:spPr>
        <p:txBody>
          <a:bodyPr/>
          <a:lstStyle/>
          <a:p>
            <a:endParaRPr lang="en-IN"/>
          </a:p>
        </p:txBody>
      </p:sp>
      <p:sp>
        <p:nvSpPr>
          <p:cNvPr id="21" name="Text 19"/>
          <p:cNvSpPr/>
          <p:nvPr/>
        </p:nvSpPr>
        <p:spPr>
          <a:xfrm>
            <a:off x="274320" y="4864608"/>
            <a:ext cx="4572000" cy="256032"/>
          </a:xfrm>
          <a:prstGeom prst="rect">
            <a:avLst/>
          </a:prstGeom>
          <a:noFill/>
          <a:ln/>
        </p:spPr>
        <p:txBody>
          <a:bodyPr wrap="square" lIns="0" tIns="0" rIns="0" bIns="0" rtlCol="0" anchor="ctr"/>
          <a:lstStyle/>
          <a:p>
            <a:pPr marL="0" indent="0">
              <a:buNone/>
            </a:pPr>
            <a:r>
              <a:rPr lang="en-US" sz="900" dirty="0">
                <a:solidFill>
                  <a:srgbClr val="C4DDE4"/>
                </a:solidFill>
              </a:rPr>
              <a:t>Digital Accessibility Awareness</a:t>
            </a:r>
            <a:endParaRPr lang="en-US" sz="900" dirty="0"/>
          </a:p>
        </p:txBody>
      </p:sp>
      <p:sp>
        <p:nvSpPr>
          <p:cNvPr id="22" name="Text 20"/>
          <p:cNvSpPr/>
          <p:nvPr/>
        </p:nvSpPr>
        <p:spPr>
          <a:xfrm>
            <a:off x="8229600" y="4864608"/>
            <a:ext cx="640080" cy="256032"/>
          </a:xfrm>
          <a:prstGeom prst="rect">
            <a:avLst/>
          </a:prstGeom>
          <a:noFill/>
          <a:ln/>
        </p:spPr>
        <p:txBody>
          <a:bodyPr wrap="square" lIns="0" tIns="0" rIns="0" bIns="0" rtlCol="0" anchor="ctr"/>
          <a:lstStyle/>
          <a:p>
            <a:pPr marL="0" indent="0" algn="r">
              <a:buNone/>
            </a:pPr>
            <a:r>
              <a:rPr lang="en-US" sz="900" dirty="0">
                <a:solidFill>
                  <a:srgbClr val="C4DDE4"/>
                </a:solidFill>
              </a:rPr>
              <a:t>Slide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7F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9144000" cy="914400"/>
          </a:xfrm>
          <a:prstGeom prst="rect">
            <a:avLst/>
          </a:prstGeom>
          <a:solidFill>
            <a:srgbClr val="0D2B3E"/>
          </a:solidFill>
          <a:ln w="12700">
            <a:solidFill>
              <a:srgbClr val="0D2B3E"/>
            </a:solidFill>
            <a:prstDash val="solid"/>
          </a:ln>
        </p:spPr>
        <p:txBody>
          <a:bodyPr/>
          <a:lstStyle/>
          <a:p>
            <a:endParaRPr lang="en-IN"/>
          </a:p>
        </p:txBody>
      </p:sp>
      <p:sp>
        <p:nvSpPr>
          <p:cNvPr id="3" name="Text 1"/>
          <p:cNvSpPr/>
          <p:nvPr/>
        </p:nvSpPr>
        <p:spPr>
          <a:xfrm>
            <a:off x="365760" y="137160"/>
            <a:ext cx="8229600" cy="640080"/>
          </a:xfrm>
          <a:prstGeom prst="rect">
            <a:avLst/>
          </a:prstGeom>
          <a:noFill/>
          <a:ln/>
        </p:spPr>
        <p:txBody>
          <a:bodyPr wrap="square" lIns="0" tIns="0" rIns="0" bIns="0" rtlCol="0" anchor="ctr"/>
          <a:lstStyle/>
          <a:p>
            <a:pPr marL="0" indent="0">
              <a:buNone/>
            </a:pPr>
            <a:r>
              <a:rPr lang="en-US" sz="2600" b="1" dirty="0">
                <a:solidFill>
                  <a:srgbClr val="FFFFFF"/>
                </a:solidFill>
              </a:rPr>
              <a:t>06 |  What is WCAG?  A Brief History</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320040" y="987552"/>
            <a:ext cx="8503920" cy="685800"/>
          </a:xfrm>
          <a:prstGeom prst="rect">
            <a:avLst/>
          </a:prstGeom>
          <a:solidFill>
            <a:srgbClr val="028090">
              <a:alpha val="90000"/>
            </a:srgbClr>
          </a:solidFill>
          <a:ln w="12700">
            <a:solidFill>
              <a:srgbClr val="028090"/>
            </a:solidFill>
            <a:prstDash val="solid"/>
          </a:ln>
        </p:spPr>
        <p:txBody>
          <a:bodyPr/>
          <a:lstStyle/>
          <a:p>
            <a:endParaRPr lang="en-IN"/>
          </a:p>
        </p:txBody>
      </p:sp>
      <p:sp>
        <p:nvSpPr>
          <p:cNvPr id="5" name="Text 3"/>
          <p:cNvSpPr/>
          <p:nvPr/>
        </p:nvSpPr>
        <p:spPr>
          <a:xfrm>
            <a:off x="457200" y="1014984"/>
            <a:ext cx="8229600" cy="594360"/>
          </a:xfrm>
          <a:prstGeom prst="rect">
            <a:avLst/>
          </a:prstGeom>
          <a:noFill/>
          <a:ln/>
        </p:spPr>
        <p:txBody>
          <a:bodyPr wrap="square" lIns="0" tIns="0" rIns="0" bIns="0" rtlCol="0" anchor="ctr"/>
          <a:lstStyle/>
          <a:p>
            <a:pPr marL="0" indent="0">
              <a:buNone/>
            </a:pPr>
            <a:r>
              <a:rPr lang="en-US" sz="1100" i="1" dirty="0">
                <a:solidFill>
                  <a:srgbClr val="FFFFFF"/>
                </a:solidFill>
              </a:rPr>
              <a:t>WCAG stands for Web Content Accessibility Guidelines. It is a set of internationally recognised technical standards published by the World Wide Web Consortium (W3C) through its Web Accessibility Initiative (WAI).</a:t>
            </a:r>
            <a:endParaRPr lang="en-US" sz="1100" dirty="0"/>
          </a:p>
        </p:txBody>
      </p:sp>
      <p:sp>
        <p:nvSpPr>
          <p:cNvPr id="6" name="Shape 4">
            <a:extLst>
              <a:ext uri="{C183D7F6-B498-43B3-948B-1728B52AA6E4}">
                <adec:decorative xmlns:adec="http://schemas.microsoft.com/office/drawing/2017/decorative" val="1"/>
              </a:ext>
            </a:extLst>
          </p:cNvPr>
          <p:cNvSpPr/>
          <p:nvPr/>
        </p:nvSpPr>
        <p:spPr>
          <a:xfrm>
            <a:off x="457200" y="3127248"/>
            <a:ext cx="8229600" cy="73152"/>
          </a:xfrm>
          <a:prstGeom prst="rect">
            <a:avLst/>
          </a:prstGeom>
          <a:solidFill>
            <a:srgbClr val="028090"/>
          </a:solidFill>
          <a:ln w="12700">
            <a:solidFill>
              <a:srgbClr val="028090"/>
            </a:solidFill>
            <a:prstDash val="solid"/>
          </a:ln>
        </p:spPr>
        <p:txBody>
          <a:bodyPr/>
          <a:lstStyle/>
          <a:p>
            <a:endParaRPr lang="en-IN"/>
          </a:p>
        </p:txBody>
      </p:sp>
      <p:sp>
        <p:nvSpPr>
          <p:cNvPr id="7" name="Shape 5">
            <a:extLst>
              <a:ext uri="{C183D7F6-B498-43B3-948B-1728B52AA6E4}">
                <adec:decorative xmlns:adec="http://schemas.microsoft.com/office/drawing/2017/decorative" val="1"/>
              </a:ext>
            </a:extLst>
          </p:cNvPr>
          <p:cNvSpPr/>
          <p:nvPr/>
        </p:nvSpPr>
        <p:spPr>
          <a:xfrm>
            <a:off x="612648" y="3017520"/>
            <a:ext cx="201168" cy="201168"/>
          </a:xfrm>
          <a:prstGeom prst="ellipse">
            <a:avLst/>
          </a:prstGeom>
          <a:solidFill>
            <a:srgbClr val="0D2B3E"/>
          </a:solidFill>
          <a:ln w="25400">
            <a:solidFill>
              <a:srgbClr val="028090"/>
            </a:solidFill>
            <a:prstDash val="solid"/>
          </a:ln>
        </p:spPr>
        <p:txBody>
          <a:bodyPr/>
          <a:lstStyle/>
          <a:p>
            <a:endParaRPr lang="en-IN"/>
          </a:p>
        </p:txBody>
      </p:sp>
      <p:sp>
        <p:nvSpPr>
          <p:cNvPr id="8" name="Shape 6">
            <a:extLst>
              <a:ext uri="{C183D7F6-B498-43B3-948B-1728B52AA6E4}">
                <adec:decorative xmlns:adec="http://schemas.microsoft.com/office/drawing/2017/decorative" val="1"/>
              </a:ext>
            </a:extLst>
          </p:cNvPr>
          <p:cNvSpPr/>
          <p:nvPr/>
        </p:nvSpPr>
        <p:spPr>
          <a:xfrm>
            <a:off x="365760" y="1737360"/>
            <a:ext cx="1417320" cy="1234440"/>
          </a:xfrm>
          <a:prstGeom prst="rect">
            <a:avLst/>
          </a:prstGeom>
          <a:solidFill>
            <a:srgbClr val="FFFFFF"/>
          </a:solidFill>
          <a:ln w="12700">
            <a:solidFill>
              <a:srgbClr val="C4DDE4"/>
            </a:solidFill>
            <a:prstDash val="solid"/>
          </a:ln>
          <a:effectLst>
            <a:outerShdw blurRad="38100" dist="12700" dir="8100000" algn="bl" rotWithShape="0">
              <a:srgbClr val="000000">
                <a:alpha val="8000"/>
              </a:srgbClr>
            </a:outerShdw>
          </a:effectLst>
        </p:spPr>
        <p:txBody>
          <a:bodyPr/>
          <a:lstStyle/>
          <a:p>
            <a:endParaRPr lang="en-IN"/>
          </a:p>
        </p:txBody>
      </p:sp>
      <p:sp>
        <p:nvSpPr>
          <p:cNvPr id="9" name="Text 7"/>
          <p:cNvSpPr/>
          <p:nvPr/>
        </p:nvSpPr>
        <p:spPr>
          <a:xfrm>
            <a:off x="411480" y="1792224"/>
            <a:ext cx="1325880" cy="292608"/>
          </a:xfrm>
          <a:prstGeom prst="rect">
            <a:avLst/>
          </a:prstGeom>
          <a:noFill/>
          <a:ln/>
        </p:spPr>
        <p:txBody>
          <a:bodyPr wrap="square" lIns="0" tIns="0" rIns="0" bIns="0" rtlCol="0" anchor="ctr"/>
          <a:lstStyle/>
          <a:p>
            <a:pPr marL="0" indent="0" algn="ctr">
              <a:buNone/>
            </a:pPr>
            <a:r>
              <a:rPr lang="en-US" sz="1300" b="1" dirty="0">
                <a:solidFill>
                  <a:srgbClr val="028090"/>
                </a:solidFill>
              </a:rPr>
              <a:t>1997</a:t>
            </a:r>
            <a:endParaRPr lang="en-US" sz="1300" dirty="0"/>
          </a:p>
        </p:txBody>
      </p:sp>
      <p:sp>
        <p:nvSpPr>
          <p:cNvPr id="10" name="Text 8"/>
          <p:cNvSpPr/>
          <p:nvPr/>
        </p:nvSpPr>
        <p:spPr>
          <a:xfrm>
            <a:off x="411480" y="2066544"/>
            <a:ext cx="1325880" cy="256032"/>
          </a:xfrm>
          <a:prstGeom prst="rect">
            <a:avLst/>
          </a:prstGeom>
          <a:noFill/>
          <a:ln/>
        </p:spPr>
        <p:txBody>
          <a:bodyPr wrap="square" lIns="0" tIns="0" rIns="0" bIns="0" rtlCol="0" anchor="ctr"/>
          <a:lstStyle/>
          <a:p>
            <a:pPr marL="0" indent="0" algn="ctr">
              <a:buNone/>
            </a:pPr>
            <a:r>
              <a:rPr lang="en-US" sz="1000" b="1" dirty="0">
                <a:solidFill>
                  <a:srgbClr val="1A3040"/>
                </a:solidFill>
              </a:rPr>
              <a:t>WAI Founded</a:t>
            </a:r>
            <a:endParaRPr lang="en-US" sz="1000" dirty="0"/>
          </a:p>
        </p:txBody>
      </p:sp>
      <p:sp>
        <p:nvSpPr>
          <p:cNvPr id="11" name="Text 9"/>
          <p:cNvSpPr/>
          <p:nvPr/>
        </p:nvSpPr>
        <p:spPr>
          <a:xfrm>
            <a:off x="411480" y="2331720"/>
            <a:ext cx="1325880" cy="566928"/>
          </a:xfrm>
          <a:prstGeom prst="rect">
            <a:avLst/>
          </a:prstGeom>
          <a:noFill/>
          <a:ln/>
        </p:spPr>
        <p:txBody>
          <a:bodyPr wrap="square" lIns="0" tIns="0" rIns="0" bIns="0" rtlCol="0" anchor="ctr"/>
          <a:lstStyle/>
          <a:p>
            <a:pPr marL="0" indent="0" algn="ctr">
              <a:buNone/>
            </a:pPr>
            <a:r>
              <a:rPr lang="en-US" sz="850" dirty="0">
                <a:solidFill>
                  <a:srgbClr val="4A6E7E"/>
                </a:solidFill>
              </a:rPr>
              <a:t>W3C launches the Web Accessibility Initiative to address the growing need for accessible web content standards.</a:t>
            </a:r>
            <a:endParaRPr lang="en-US" sz="850" dirty="0"/>
          </a:p>
        </p:txBody>
      </p:sp>
      <p:sp>
        <p:nvSpPr>
          <p:cNvPr id="12" name="Shape 10">
            <a:extLst>
              <a:ext uri="{C183D7F6-B498-43B3-948B-1728B52AA6E4}">
                <adec:decorative xmlns:adec="http://schemas.microsoft.com/office/drawing/2017/decorative" val="1"/>
              </a:ext>
            </a:extLst>
          </p:cNvPr>
          <p:cNvSpPr/>
          <p:nvPr/>
        </p:nvSpPr>
        <p:spPr>
          <a:xfrm>
            <a:off x="1984248" y="3017520"/>
            <a:ext cx="201168" cy="201168"/>
          </a:xfrm>
          <a:prstGeom prst="ellipse">
            <a:avLst/>
          </a:prstGeom>
          <a:solidFill>
            <a:srgbClr val="0D2B3E"/>
          </a:solidFill>
          <a:ln w="25400">
            <a:solidFill>
              <a:srgbClr val="028090"/>
            </a:solidFill>
            <a:prstDash val="solid"/>
          </a:ln>
        </p:spPr>
        <p:txBody>
          <a:bodyPr/>
          <a:lstStyle/>
          <a:p>
            <a:endParaRPr lang="en-IN"/>
          </a:p>
        </p:txBody>
      </p:sp>
      <p:sp>
        <p:nvSpPr>
          <p:cNvPr id="13" name="Shape 11">
            <a:extLst>
              <a:ext uri="{C183D7F6-B498-43B3-948B-1728B52AA6E4}">
                <adec:decorative xmlns:adec="http://schemas.microsoft.com/office/drawing/2017/decorative" val="1"/>
              </a:ext>
            </a:extLst>
          </p:cNvPr>
          <p:cNvSpPr/>
          <p:nvPr/>
        </p:nvSpPr>
        <p:spPr>
          <a:xfrm>
            <a:off x="1737360" y="3401568"/>
            <a:ext cx="1417320" cy="1280160"/>
          </a:xfrm>
          <a:prstGeom prst="rect">
            <a:avLst/>
          </a:prstGeom>
          <a:solidFill>
            <a:srgbClr val="FFFFFF"/>
          </a:solidFill>
          <a:ln w="12700">
            <a:solidFill>
              <a:srgbClr val="C4DDE4"/>
            </a:solidFill>
            <a:prstDash val="solid"/>
          </a:ln>
          <a:effectLst>
            <a:outerShdw blurRad="38100" dist="12700" dir="8100000" algn="bl" rotWithShape="0">
              <a:srgbClr val="000000">
                <a:alpha val="8000"/>
              </a:srgbClr>
            </a:outerShdw>
          </a:effectLst>
        </p:spPr>
        <p:txBody>
          <a:bodyPr/>
          <a:lstStyle/>
          <a:p>
            <a:endParaRPr lang="en-IN"/>
          </a:p>
        </p:txBody>
      </p:sp>
      <p:sp>
        <p:nvSpPr>
          <p:cNvPr id="14" name="Text 12"/>
          <p:cNvSpPr/>
          <p:nvPr/>
        </p:nvSpPr>
        <p:spPr>
          <a:xfrm>
            <a:off x="1783080" y="3456432"/>
            <a:ext cx="1325880" cy="292608"/>
          </a:xfrm>
          <a:prstGeom prst="rect">
            <a:avLst/>
          </a:prstGeom>
          <a:noFill/>
          <a:ln/>
        </p:spPr>
        <p:txBody>
          <a:bodyPr wrap="square" lIns="0" tIns="0" rIns="0" bIns="0" rtlCol="0" anchor="ctr"/>
          <a:lstStyle/>
          <a:p>
            <a:pPr marL="0" indent="0" algn="ctr">
              <a:buNone/>
            </a:pPr>
            <a:r>
              <a:rPr lang="en-US" sz="1300" b="1" dirty="0">
                <a:solidFill>
                  <a:srgbClr val="028090"/>
                </a:solidFill>
              </a:rPr>
              <a:t>1999</a:t>
            </a:r>
            <a:endParaRPr lang="en-US" sz="1300" dirty="0"/>
          </a:p>
        </p:txBody>
      </p:sp>
      <p:sp>
        <p:nvSpPr>
          <p:cNvPr id="15" name="Text 13"/>
          <p:cNvSpPr/>
          <p:nvPr/>
        </p:nvSpPr>
        <p:spPr>
          <a:xfrm>
            <a:off x="1783080" y="3730752"/>
            <a:ext cx="1325880" cy="256032"/>
          </a:xfrm>
          <a:prstGeom prst="rect">
            <a:avLst/>
          </a:prstGeom>
          <a:noFill/>
          <a:ln/>
        </p:spPr>
        <p:txBody>
          <a:bodyPr wrap="square" lIns="0" tIns="0" rIns="0" bIns="0" rtlCol="0" anchor="ctr"/>
          <a:lstStyle/>
          <a:p>
            <a:pPr marL="0" indent="0" algn="ctr">
              <a:buNone/>
            </a:pPr>
            <a:r>
              <a:rPr lang="en-US" sz="1000" b="1" dirty="0">
                <a:solidFill>
                  <a:srgbClr val="1A3040"/>
                </a:solidFill>
              </a:rPr>
              <a:t>WCAG 1.0</a:t>
            </a:r>
            <a:endParaRPr lang="en-US" sz="1000" dirty="0"/>
          </a:p>
        </p:txBody>
      </p:sp>
      <p:sp>
        <p:nvSpPr>
          <p:cNvPr id="16" name="Text 14"/>
          <p:cNvSpPr/>
          <p:nvPr/>
        </p:nvSpPr>
        <p:spPr>
          <a:xfrm>
            <a:off x="1783080" y="3995928"/>
            <a:ext cx="1325880" cy="621792"/>
          </a:xfrm>
          <a:prstGeom prst="rect">
            <a:avLst/>
          </a:prstGeom>
          <a:noFill/>
          <a:ln/>
        </p:spPr>
        <p:txBody>
          <a:bodyPr wrap="square" lIns="0" tIns="0" rIns="0" bIns="0" rtlCol="0" anchor="ctr"/>
          <a:lstStyle/>
          <a:p>
            <a:pPr marL="0" indent="0" algn="ctr">
              <a:buNone/>
            </a:pPr>
            <a:r>
              <a:rPr lang="en-US" sz="850" dirty="0">
                <a:solidFill>
                  <a:srgbClr val="4A6E7E"/>
                </a:solidFill>
              </a:rPr>
              <a:t>First formal guidelines published with 14 guidelines and 65 checkpoints at 3 priority levels.</a:t>
            </a:r>
            <a:endParaRPr lang="en-US" sz="850" dirty="0"/>
          </a:p>
        </p:txBody>
      </p:sp>
      <p:sp>
        <p:nvSpPr>
          <p:cNvPr id="17" name="Shape 15">
            <a:extLst>
              <a:ext uri="{C183D7F6-B498-43B3-948B-1728B52AA6E4}">
                <adec:decorative xmlns:adec="http://schemas.microsoft.com/office/drawing/2017/decorative" val="1"/>
              </a:ext>
            </a:extLst>
          </p:cNvPr>
          <p:cNvSpPr/>
          <p:nvPr/>
        </p:nvSpPr>
        <p:spPr>
          <a:xfrm>
            <a:off x="3355848" y="3017520"/>
            <a:ext cx="201168" cy="201168"/>
          </a:xfrm>
          <a:prstGeom prst="ellipse">
            <a:avLst/>
          </a:prstGeom>
          <a:solidFill>
            <a:srgbClr val="0D2B3E"/>
          </a:solidFill>
          <a:ln w="25400">
            <a:solidFill>
              <a:srgbClr val="028090"/>
            </a:solidFill>
            <a:prstDash val="solid"/>
          </a:ln>
        </p:spPr>
        <p:txBody>
          <a:bodyPr/>
          <a:lstStyle/>
          <a:p>
            <a:endParaRPr lang="en-IN"/>
          </a:p>
        </p:txBody>
      </p:sp>
      <p:sp>
        <p:nvSpPr>
          <p:cNvPr id="18" name="Shape 16">
            <a:extLst>
              <a:ext uri="{C183D7F6-B498-43B3-948B-1728B52AA6E4}">
                <adec:decorative xmlns:adec="http://schemas.microsoft.com/office/drawing/2017/decorative" val="1"/>
              </a:ext>
            </a:extLst>
          </p:cNvPr>
          <p:cNvSpPr/>
          <p:nvPr/>
        </p:nvSpPr>
        <p:spPr>
          <a:xfrm>
            <a:off x="3108960" y="1737360"/>
            <a:ext cx="1417320" cy="1234440"/>
          </a:xfrm>
          <a:prstGeom prst="rect">
            <a:avLst/>
          </a:prstGeom>
          <a:solidFill>
            <a:srgbClr val="FFFFFF"/>
          </a:solidFill>
          <a:ln w="12700">
            <a:solidFill>
              <a:srgbClr val="C4DDE4"/>
            </a:solidFill>
            <a:prstDash val="solid"/>
          </a:ln>
          <a:effectLst>
            <a:outerShdw blurRad="38100" dist="12700" dir="8100000" algn="bl" rotWithShape="0">
              <a:srgbClr val="000000">
                <a:alpha val="8000"/>
              </a:srgbClr>
            </a:outerShdw>
          </a:effectLst>
        </p:spPr>
        <p:txBody>
          <a:bodyPr/>
          <a:lstStyle/>
          <a:p>
            <a:endParaRPr lang="en-IN"/>
          </a:p>
        </p:txBody>
      </p:sp>
      <p:sp>
        <p:nvSpPr>
          <p:cNvPr id="19" name="Text 17"/>
          <p:cNvSpPr/>
          <p:nvPr/>
        </p:nvSpPr>
        <p:spPr>
          <a:xfrm>
            <a:off x="3154680" y="1792224"/>
            <a:ext cx="1325880" cy="292608"/>
          </a:xfrm>
          <a:prstGeom prst="rect">
            <a:avLst/>
          </a:prstGeom>
          <a:noFill/>
          <a:ln/>
        </p:spPr>
        <p:txBody>
          <a:bodyPr wrap="square" lIns="0" tIns="0" rIns="0" bIns="0" rtlCol="0" anchor="ctr"/>
          <a:lstStyle/>
          <a:p>
            <a:pPr marL="0" indent="0" algn="ctr">
              <a:buNone/>
            </a:pPr>
            <a:r>
              <a:rPr lang="en-US" sz="1300" b="1" dirty="0">
                <a:solidFill>
                  <a:srgbClr val="028090"/>
                </a:solidFill>
              </a:rPr>
              <a:t>2008</a:t>
            </a:r>
            <a:endParaRPr lang="en-US" sz="1300" dirty="0"/>
          </a:p>
        </p:txBody>
      </p:sp>
      <p:sp>
        <p:nvSpPr>
          <p:cNvPr id="20" name="Text 18"/>
          <p:cNvSpPr/>
          <p:nvPr/>
        </p:nvSpPr>
        <p:spPr>
          <a:xfrm>
            <a:off x="3154680" y="2066544"/>
            <a:ext cx="1325880" cy="256032"/>
          </a:xfrm>
          <a:prstGeom prst="rect">
            <a:avLst/>
          </a:prstGeom>
          <a:noFill/>
          <a:ln/>
        </p:spPr>
        <p:txBody>
          <a:bodyPr wrap="square" lIns="0" tIns="0" rIns="0" bIns="0" rtlCol="0" anchor="ctr"/>
          <a:lstStyle/>
          <a:p>
            <a:pPr marL="0" indent="0" algn="ctr">
              <a:buNone/>
            </a:pPr>
            <a:r>
              <a:rPr lang="en-US" sz="1000" b="1" dirty="0">
                <a:solidFill>
                  <a:srgbClr val="1A3040"/>
                </a:solidFill>
              </a:rPr>
              <a:t>WCAG 2.0</a:t>
            </a:r>
            <a:endParaRPr lang="en-US" sz="1000" dirty="0"/>
          </a:p>
        </p:txBody>
      </p:sp>
      <p:sp>
        <p:nvSpPr>
          <p:cNvPr id="21" name="Text 19"/>
          <p:cNvSpPr/>
          <p:nvPr/>
        </p:nvSpPr>
        <p:spPr>
          <a:xfrm>
            <a:off x="3154680" y="2331720"/>
            <a:ext cx="1325880" cy="566928"/>
          </a:xfrm>
          <a:prstGeom prst="rect">
            <a:avLst/>
          </a:prstGeom>
          <a:noFill/>
          <a:ln/>
        </p:spPr>
        <p:txBody>
          <a:bodyPr wrap="square" lIns="0" tIns="0" rIns="0" bIns="0" rtlCol="0" anchor="ctr"/>
          <a:lstStyle/>
          <a:p>
            <a:pPr marL="0" indent="0" algn="ctr">
              <a:buNone/>
            </a:pPr>
            <a:r>
              <a:rPr lang="en-US" sz="850" dirty="0">
                <a:solidFill>
                  <a:srgbClr val="4A6E7E"/>
                </a:solidFill>
              </a:rPr>
              <a:t>Technology-neutral guidelines built on 4 POUR principles: Perceivable, Operable, Understandable, Robust.</a:t>
            </a:r>
            <a:endParaRPr lang="en-US" sz="850" dirty="0"/>
          </a:p>
        </p:txBody>
      </p:sp>
      <p:sp>
        <p:nvSpPr>
          <p:cNvPr id="22" name="Shape 20">
            <a:extLst>
              <a:ext uri="{C183D7F6-B498-43B3-948B-1728B52AA6E4}">
                <adec:decorative xmlns:adec="http://schemas.microsoft.com/office/drawing/2017/decorative" val="1"/>
              </a:ext>
            </a:extLst>
          </p:cNvPr>
          <p:cNvSpPr/>
          <p:nvPr/>
        </p:nvSpPr>
        <p:spPr>
          <a:xfrm>
            <a:off x="4727448" y="3017520"/>
            <a:ext cx="201168" cy="201168"/>
          </a:xfrm>
          <a:prstGeom prst="ellipse">
            <a:avLst/>
          </a:prstGeom>
          <a:solidFill>
            <a:srgbClr val="0D2B3E"/>
          </a:solidFill>
          <a:ln w="25400">
            <a:solidFill>
              <a:srgbClr val="028090"/>
            </a:solidFill>
            <a:prstDash val="solid"/>
          </a:ln>
        </p:spPr>
        <p:txBody>
          <a:bodyPr/>
          <a:lstStyle/>
          <a:p>
            <a:endParaRPr lang="en-IN"/>
          </a:p>
        </p:txBody>
      </p:sp>
      <p:sp>
        <p:nvSpPr>
          <p:cNvPr id="23" name="Shape 21">
            <a:extLst>
              <a:ext uri="{C183D7F6-B498-43B3-948B-1728B52AA6E4}">
                <adec:decorative xmlns:adec="http://schemas.microsoft.com/office/drawing/2017/decorative" val="1"/>
              </a:ext>
            </a:extLst>
          </p:cNvPr>
          <p:cNvSpPr/>
          <p:nvPr/>
        </p:nvSpPr>
        <p:spPr>
          <a:xfrm>
            <a:off x="4480560" y="3401568"/>
            <a:ext cx="1417320" cy="1280160"/>
          </a:xfrm>
          <a:prstGeom prst="rect">
            <a:avLst/>
          </a:prstGeom>
          <a:solidFill>
            <a:srgbClr val="FFFFFF"/>
          </a:solidFill>
          <a:ln w="12700">
            <a:solidFill>
              <a:srgbClr val="C4DDE4"/>
            </a:solidFill>
            <a:prstDash val="solid"/>
          </a:ln>
          <a:effectLst>
            <a:outerShdw blurRad="38100" dist="12700" dir="8100000" algn="bl" rotWithShape="0">
              <a:srgbClr val="000000">
                <a:alpha val="8000"/>
              </a:srgbClr>
            </a:outerShdw>
          </a:effectLst>
        </p:spPr>
        <p:txBody>
          <a:bodyPr/>
          <a:lstStyle/>
          <a:p>
            <a:endParaRPr lang="en-IN"/>
          </a:p>
        </p:txBody>
      </p:sp>
      <p:sp>
        <p:nvSpPr>
          <p:cNvPr id="24" name="Text 22"/>
          <p:cNvSpPr/>
          <p:nvPr/>
        </p:nvSpPr>
        <p:spPr>
          <a:xfrm>
            <a:off x="4526280" y="3456432"/>
            <a:ext cx="1325880" cy="292608"/>
          </a:xfrm>
          <a:prstGeom prst="rect">
            <a:avLst/>
          </a:prstGeom>
          <a:noFill/>
          <a:ln/>
        </p:spPr>
        <p:txBody>
          <a:bodyPr wrap="square" lIns="0" tIns="0" rIns="0" bIns="0" rtlCol="0" anchor="ctr"/>
          <a:lstStyle/>
          <a:p>
            <a:pPr marL="0" indent="0" algn="ctr">
              <a:buNone/>
            </a:pPr>
            <a:r>
              <a:rPr lang="en-US" sz="1300" b="1" dirty="0">
                <a:solidFill>
                  <a:srgbClr val="028090"/>
                </a:solidFill>
              </a:rPr>
              <a:t>2018</a:t>
            </a:r>
            <a:endParaRPr lang="en-US" sz="1300" dirty="0"/>
          </a:p>
        </p:txBody>
      </p:sp>
      <p:sp>
        <p:nvSpPr>
          <p:cNvPr id="25" name="Text 23"/>
          <p:cNvSpPr/>
          <p:nvPr/>
        </p:nvSpPr>
        <p:spPr>
          <a:xfrm>
            <a:off x="4526280" y="3730752"/>
            <a:ext cx="1325880" cy="256032"/>
          </a:xfrm>
          <a:prstGeom prst="rect">
            <a:avLst/>
          </a:prstGeom>
          <a:noFill/>
          <a:ln/>
        </p:spPr>
        <p:txBody>
          <a:bodyPr wrap="square" lIns="0" tIns="0" rIns="0" bIns="0" rtlCol="0" anchor="ctr"/>
          <a:lstStyle/>
          <a:p>
            <a:pPr marL="0" indent="0" algn="ctr">
              <a:buNone/>
            </a:pPr>
            <a:r>
              <a:rPr lang="en-US" sz="1000" b="1" dirty="0">
                <a:solidFill>
                  <a:srgbClr val="1A3040"/>
                </a:solidFill>
              </a:rPr>
              <a:t>WCAG 2.1</a:t>
            </a:r>
            <a:endParaRPr lang="en-US" sz="1000" dirty="0"/>
          </a:p>
        </p:txBody>
      </p:sp>
      <p:sp>
        <p:nvSpPr>
          <p:cNvPr id="26" name="Text 24"/>
          <p:cNvSpPr/>
          <p:nvPr/>
        </p:nvSpPr>
        <p:spPr>
          <a:xfrm>
            <a:off x="4526280" y="3995928"/>
            <a:ext cx="1325880" cy="621792"/>
          </a:xfrm>
          <a:prstGeom prst="rect">
            <a:avLst/>
          </a:prstGeom>
          <a:noFill/>
          <a:ln/>
        </p:spPr>
        <p:txBody>
          <a:bodyPr wrap="square" lIns="0" tIns="0" rIns="0" bIns="0" rtlCol="0" anchor="ctr"/>
          <a:lstStyle/>
          <a:p>
            <a:pPr marL="0" indent="0" algn="ctr">
              <a:buNone/>
            </a:pPr>
            <a:r>
              <a:rPr lang="en-US" sz="850" dirty="0">
                <a:solidFill>
                  <a:srgbClr val="4A6E7E"/>
                </a:solidFill>
              </a:rPr>
              <a:t>Added 17 new success criteria covering mobile, low vision, and cognitive disabilities.</a:t>
            </a:r>
            <a:endParaRPr lang="en-US" sz="850" dirty="0"/>
          </a:p>
        </p:txBody>
      </p:sp>
      <p:sp>
        <p:nvSpPr>
          <p:cNvPr id="27" name="Shape 25">
            <a:extLst>
              <a:ext uri="{C183D7F6-B498-43B3-948B-1728B52AA6E4}">
                <adec:decorative xmlns:adec="http://schemas.microsoft.com/office/drawing/2017/decorative" val="1"/>
              </a:ext>
            </a:extLst>
          </p:cNvPr>
          <p:cNvSpPr/>
          <p:nvPr/>
        </p:nvSpPr>
        <p:spPr>
          <a:xfrm>
            <a:off x="6099048" y="3017520"/>
            <a:ext cx="201168" cy="201168"/>
          </a:xfrm>
          <a:prstGeom prst="ellipse">
            <a:avLst/>
          </a:prstGeom>
          <a:solidFill>
            <a:srgbClr val="F4A261"/>
          </a:solidFill>
          <a:ln w="25400">
            <a:solidFill>
              <a:srgbClr val="028090"/>
            </a:solidFill>
            <a:prstDash val="solid"/>
          </a:ln>
        </p:spPr>
        <p:txBody>
          <a:bodyPr/>
          <a:lstStyle/>
          <a:p>
            <a:endParaRPr lang="en-IN"/>
          </a:p>
        </p:txBody>
      </p:sp>
      <p:sp>
        <p:nvSpPr>
          <p:cNvPr id="28" name="Shape 26">
            <a:extLst>
              <a:ext uri="{C183D7F6-B498-43B3-948B-1728B52AA6E4}">
                <adec:decorative xmlns:adec="http://schemas.microsoft.com/office/drawing/2017/decorative" val="1"/>
              </a:ext>
            </a:extLst>
          </p:cNvPr>
          <p:cNvSpPr/>
          <p:nvPr/>
        </p:nvSpPr>
        <p:spPr>
          <a:xfrm>
            <a:off x="5852160" y="1737360"/>
            <a:ext cx="1417320" cy="1234440"/>
          </a:xfrm>
          <a:prstGeom prst="rect">
            <a:avLst/>
          </a:prstGeom>
          <a:solidFill>
            <a:srgbClr val="F4A261"/>
          </a:solidFill>
          <a:ln w="12700">
            <a:solidFill>
              <a:srgbClr val="F4A261"/>
            </a:solidFill>
            <a:prstDash val="solid"/>
          </a:ln>
          <a:effectLst>
            <a:outerShdw blurRad="38100" dist="12700" dir="8100000" algn="bl" rotWithShape="0">
              <a:srgbClr val="000000">
                <a:alpha val="8000"/>
              </a:srgbClr>
            </a:outerShdw>
          </a:effectLst>
        </p:spPr>
        <p:txBody>
          <a:bodyPr/>
          <a:lstStyle/>
          <a:p>
            <a:endParaRPr lang="en-IN"/>
          </a:p>
        </p:txBody>
      </p:sp>
      <p:sp>
        <p:nvSpPr>
          <p:cNvPr id="29" name="Text 27"/>
          <p:cNvSpPr/>
          <p:nvPr/>
        </p:nvSpPr>
        <p:spPr>
          <a:xfrm>
            <a:off x="5897880" y="1792224"/>
            <a:ext cx="1325880" cy="292608"/>
          </a:xfrm>
          <a:prstGeom prst="rect">
            <a:avLst/>
          </a:prstGeom>
          <a:noFill/>
          <a:ln/>
        </p:spPr>
        <p:txBody>
          <a:bodyPr wrap="square" lIns="0" tIns="0" rIns="0" bIns="0" rtlCol="0" anchor="ctr"/>
          <a:lstStyle/>
          <a:p>
            <a:pPr marL="0" indent="0" algn="ctr">
              <a:buNone/>
            </a:pPr>
            <a:r>
              <a:rPr lang="en-US" sz="1300" b="1" dirty="0">
                <a:solidFill>
                  <a:srgbClr val="0D2B3E"/>
                </a:solidFill>
              </a:rPr>
              <a:t>2023</a:t>
            </a:r>
            <a:endParaRPr lang="en-US" sz="1300" dirty="0"/>
          </a:p>
        </p:txBody>
      </p:sp>
      <p:sp>
        <p:nvSpPr>
          <p:cNvPr id="30" name="Text 28"/>
          <p:cNvSpPr/>
          <p:nvPr/>
        </p:nvSpPr>
        <p:spPr>
          <a:xfrm>
            <a:off x="5897880" y="2066544"/>
            <a:ext cx="1325880" cy="256032"/>
          </a:xfrm>
          <a:prstGeom prst="rect">
            <a:avLst/>
          </a:prstGeom>
          <a:noFill/>
          <a:ln/>
        </p:spPr>
        <p:txBody>
          <a:bodyPr wrap="square" lIns="0" tIns="0" rIns="0" bIns="0" rtlCol="0" anchor="ctr"/>
          <a:lstStyle/>
          <a:p>
            <a:pPr marL="0" indent="0" algn="ctr">
              <a:buNone/>
            </a:pPr>
            <a:r>
              <a:rPr lang="en-US" sz="1000" b="1" dirty="0">
                <a:solidFill>
                  <a:srgbClr val="0D2B3E"/>
                </a:solidFill>
              </a:rPr>
              <a:t>WCAG 2.2</a:t>
            </a:r>
            <a:endParaRPr lang="en-US" sz="1000" dirty="0"/>
          </a:p>
        </p:txBody>
      </p:sp>
      <p:sp>
        <p:nvSpPr>
          <p:cNvPr id="31" name="Text 29"/>
          <p:cNvSpPr/>
          <p:nvPr/>
        </p:nvSpPr>
        <p:spPr>
          <a:xfrm>
            <a:off x="5897880" y="2331720"/>
            <a:ext cx="1325880" cy="566928"/>
          </a:xfrm>
          <a:prstGeom prst="rect">
            <a:avLst/>
          </a:prstGeom>
          <a:noFill/>
          <a:ln/>
        </p:spPr>
        <p:txBody>
          <a:bodyPr wrap="square" lIns="0" tIns="0" rIns="0" bIns="0" rtlCol="0" anchor="ctr"/>
          <a:lstStyle/>
          <a:p>
            <a:pPr marL="0" indent="0" algn="ctr">
              <a:buNone/>
            </a:pPr>
            <a:r>
              <a:rPr lang="en-US" sz="850" dirty="0">
                <a:solidFill>
                  <a:srgbClr val="0D2B3E"/>
                </a:solidFill>
              </a:rPr>
              <a:t>Added 9 new criteria including focus appearance and accessible authentication. Most widely adopted today.</a:t>
            </a:r>
            <a:endParaRPr lang="en-US" sz="850" dirty="0"/>
          </a:p>
        </p:txBody>
      </p:sp>
      <p:sp>
        <p:nvSpPr>
          <p:cNvPr id="32" name="Shape 30">
            <a:extLst>
              <a:ext uri="{C183D7F6-B498-43B3-948B-1728B52AA6E4}">
                <adec:decorative xmlns:adec="http://schemas.microsoft.com/office/drawing/2017/decorative" val="1"/>
              </a:ext>
            </a:extLst>
          </p:cNvPr>
          <p:cNvSpPr/>
          <p:nvPr/>
        </p:nvSpPr>
        <p:spPr>
          <a:xfrm>
            <a:off x="7470648" y="3017520"/>
            <a:ext cx="201168" cy="201168"/>
          </a:xfrm>
          <a:prstGeom prst="ellipse">
            <a:avLst/>
          </a:prstGeom>
          <a:solidFill>
            <a:srgbClr val="0D2B3E"/>
          </a:solidFill>
          <a:ln w="25400">
            <a:solidFill>
              <a:srgbClr val="028090"/>
            </a:solidFill>
            <a:prstDash val="solid"/>
          </a:ln>
        </p:spPr>
        <p:txBody>
          <a:bodyPr/>
          <a:lstStyle/>
          <a:p>
            <a:endParaRPr lang="en-IN"/>
          </a:p>
        </p:txBody>
      </p:sp>
      <p:sp>
        <p:nvSpPr>
          <p:cNvPr id="33" name="Shape 31">
            <a:extLst>
              <a:ext uri="{C183D7F6-B498-43B3-948B-1728B52AA6E4}">
                <adec:decorative xmlns:adec="http://schemas.microsoft.com/office/drawing/2017/decorative" val="1"/>
              </a:ext>
            </a:extLst>
          </p:cNvPr>
          <p:cNvSpPr/>
          <p:nvPr/>
        </p:nvSpPr>
        <p:spPr>
          <a:xfrm>
            <a:off x="7223760" y="3401568"/>
            <a:ext cx="1417320" cy="1280160"/>
          </a:xfrm>
          <a:prstGeom prst="rect">
            <a:avLst/>
          </a:prstGeom>
          <a:solidFill>
            <a:srgbClr val="FFFFFF"/>
          </a:solidFill>
          <a:ln w="12700">
            <a:solidFill>
              <a:srgbClr val="C4DDE4"/>
            </a:solidFill>
            <a:prstDash val="solid"/>
          </a:ln>
          <a:effectLst>
            <a:outerShdw blurRad="38100" dist="12700" dir="8100000" algn="bl" rotWithShape="0">
              <a:srgbClr val="000000">
                <a:alpha val="8000"/>
              </a:srgbClr>
            </a:outerShdw>
          </a:effectLst>
        </p:spPr>
        <p:txBody>
          <a:bodyPr/>
          <a:lstStyle/>
          <a:p>
            <a:endParaRPr lang="en-IN"/>
          </a:p>
        </p:txBody>
      </p:sp>
      <p:sp>
        <p:nvSpPr>
          <p:cNvPr id="34" name="Text 32"/>
          <p:cNvSpPr/>
          <p:nvPr/>
        </p:nvSpPr>
        <p:spPr>
          <a:xfrm>
            <a:off x="7269480" y="3456432"/>
            <a:ext cx="1325880" cy="292608"/>
          </a:xfrm>
          <a:prstGeom prst="rect">
            <a:avLst/>
          </a:prstGeom>
          <a:noFill/>
          <a:ln/>
        </p:spPr>
        <p:txBody>
          <a:bodyPr wrap="square" lIns="0" tIns="0" rIns="0" bIns="0" rtlCol="0" anchor="ctr"/>
          <a:lstStyle/>
          <a:p>
            <a:pPr marL="0" indent="0" algn="ctr">
              <a:buNone/>
            </a:pPr>
            <a:r>
              <a:rPr lang="en-US" sz="1300" b="1" dirty="0">
                <a:solidFill>
                  <a:srgbClr val="028090"/>
                </a:solidFill>
              </a:rPr>
              <a:t>2025+</a:t>
            </a:r>
            <a:endParaRPr lang="en-US" sz="1300" dirty="0"/>
          </a:p>
        </p:txBody>
      </p:sp>
      <p:sp>
        <p:nvSpPr>
          <p:cNvPr id="35" name="Text 33"/>
          <p:cNvSpPr/>
          <p:nvPr/>
        </p:nvSpPr>
        <p:spPr>
          <a:xfrm>
            <a:off x="7269480" y="3730752"/>
            <a:ext cx="1325880" cy="256032"/>
          </a:xfrm>
          <a:prstGeom prst="rect">
            <a:avLst/>
          </a:prstGeom>
          <a:noFill/>
          <a:ln/>
        </p:spPr>
        <p:txBody>
          <a:bodyPr wrap="square" lIns="0" tIns="0" rIns="0" bIns="0" rtlCol="0" anchor="ctr"/>
          <a:lstStyle/>
          <a:p>
            <a:pPr marL="0" indent="0" algn="ctr">
              <a:buNone/>
            </a:pPr>
            <a:r>
              <a:rPr lang="en-US" sz="1000" b="1" dirty="0">
                <a:solidFill>
                  <a:srgbClr val="1A3040"/>
                </a:solidFill>
              </a:rPr>
              <a:t>WCAG 3.0</a:t>
            </a:r>
            <a:endParaRPr lang="en-US" sz="1000" dirty="0"/>
          </a:p>
        </p:txBody>
      </p:sp>
      <p:sp>
        <p:nvSpPr>
          <p:cNvPr id="36" name="Text 34"/>
          <p:cNvSpPr/>
          <p:nvPr/>
        </p:nvSpPr>
        <p:spPr>
          <a:xfrm>
            <a:off x="7269480" y="3995928"/>
            <a:ext cx="1325880" cy="621792"/>
          </a:xfrm>
          <a:prstGeom prst="rect">
            <a:avLst/>
          </a:prstGeom>
          <a:noFill/>
          <a:ln/>
        </p:spPr>
        <p:txBody>
          <a:bodyPr wrap="square" lIns="0" tIns="0" rIns="0" bIns="0" rtlCol="0" anchor="ctr"/>
          <a:lstStyle/>
          <a:p>
            <a:pPr marL="0" indent="0" algn="ctr">
              <a:buNone/>
            </a:pPr>
            <a:r>
              <a:rPr lang="en-US" sz="850" dirty="0">
                <a:solidFill>
                  <a:srgbClr val="4A6E7E"/>
                </a:solidFill>
              </a:rPr>
              <a:t>In development. Moves from binary pass-or-fail to a scoring model with broader disability coverage.</a:t>
            </a:r>
            <a:endParaRPr lang="en-US" sz="850" dirty="0"/>
          </a:p>
        </p:txBody>
      </p:sp>
      <p:sp>
        <p:nvSpPr>
          <p:cNvPr id="37" name="Shape 35">
            <a:extLst>
              <a:ext uri="{C183D7F6-B498-43B3-948B-1728B52AA6E4}">
                <adec:decorative xmlns:adec="http://schemas.microsoft.com/office/drawing/2017/decorative" val="1"/>
              </a:ext>
            </a:extLst>
          </p:cNvPr>
          <p:cNvSpPr/>
          <p:nvPr/>
        </p:nvSpPr>
        <p:spPr>
          <a:xfrm>
            <a:off x="0" y="4846320"/>
            <a:ext cx="9144000" cy="297180"/>
          </a:xfrm>
          <a:prstGeom prst="rect">
            <a:avLst/>
          </a:prstGeom>
          <a:solidFill>
            <a:srgbClr val="0D2B3E"/>
          </a:solidFill>
          <a:ln w="12700">
            <a:solidFill>
              <a:srgbClr val="0D2B3E"/>
            </a:solidFill>
            <a:prstDash val="solid"/>
          </a:ln>
        </p:spPr>
        <p:txBody>
          <a:bodyPr/>
          <a:lstStyle/>
          <a:p>
            <a:endParaRPr lang="en-IN"/>
          </a:p>
        </p:txBody>
      </p:sp>
      <p:sp>
        <p:nvSpPr>
          <p:cNvPr id="38" name="Text 36"/>
          <p:cNvSpPr/>
          <p:nvPr/>
        </p:nvSpPr>
        <p:spPr>
          <a:xfrm>
            <a:off x="274320" y="4864608"/>
            <a:ext cx="4572000" cy="256032"/>
          </a:xfrm>
          <a:prstGeom prst="rect">
            <a:avLst/>
          </a:prstGeom>
          <a:noFill/>
          <a:ln/>
        </p:spPr>
        <p:txBody>
          <a:bodyPr wrap="square" lIns="0" tIns="0" rIns="0" bIns="0" rtlCol="0" anchor="ctr"/>
          <a:lstStyle/>
          <a:p>
            <a:pPr marL="0" indent="0">
              <a:buNone/>
            </a:pPr>
            <a:r>
              <a:rPr lang="en-US" sz="900" dirty="0">
                <a:solidFill>
                  <a:srgbClr val="C4DDE4"/>
                </a:solidFill>
              </a:rPr>
              <a:t>Digital Accessibility Awareness</a:t>
            </a:r>
            <a:endParaRPr lang="en-US" sz="900" dirty="0"/>
          </a:p>
        </p:txBody>
      </p:sp>
      <p:sp>
        <p:nvSpPr>
          <p:cNvPr id="39" name="Text 37"/>
          <p:cNvSpPr/>
          <p:nvPr/>
        </p:nvSpPr>
        <p:spPr>
          <a:xfrm>
            <a:off x="8229600" y="4864608"/>
            <a:ext cx="640080" cy="256032"/>
          </a:xfrm>
          <a:prstGeom prst="rect">
            <a:avLst/>
          </a:prstGeom>
          <a:noFill/>
          <a:ln/>
        </p:spPr>
        <p:txBody>
          <a:bodyPr wrap="square" lIns="0" tIns="0" rIns="0" bIns="0" rtlCol="0" anchor="ctr"/>
          <a:lstStyle/>
          <a:p>
            <a:pPr marL="0" indent="0" algn="r">
              <a:buNone/>
            </a:pPr>
            <a:r>
              <a:rPr lang="en-US" sz="900" dirty="0">
                <a:solidFill>
                  <a:srgbClr val="C4DDE4"/>
                </a:solidFill>
              </a:rPr>
              <a:t>Slide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B3E"/>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6217920" y="0"/>
            <a:ext cx="2926080" cy="5143500"/>
          </a:xfrm>
          <a:prstGeom prst="rect">
            <a:avLst/>
          </a:prstGeom>
          <a:solidFill>
            <a:srgbClr val="028090">
              <a:alpha val="30000"/>
            </a:srgbClr>
          </a:solidFill>
          <a:ln w="12700">
            <a:solidFill>
              <a:srgbClr val="028090">
                <a:alpha val="30000"/>
              </a:srgbClr>
            </a:solidFill>
            <a:prstDash val="solid"/>
          </a:ln>
        </p:spPr>
        <p:txBody>
          <a:bodyPr/>
          <a:lstStyle/>
          <a:p>
            <a:endParaRPr lang="en-IN"/>
          </a:p>
        </p:txBody>
      </p:sp>
      <p:sp>
        <p:nvSpPr>
          <p:cNvPr id="3" name="Shape 1">
            <a:extLst>
              <a:ext uri="{C183D7F6-B498-43B3-948B-1728B52AA6E4}">
                <adec:decorative xmlns:adec="http://schemas.microsoft.com/office/drawing/2017/decorative" val="1"/>
              </a:ext>
            </a:extLst>
          </p:cNvPr>
          <p:cNvSpPr/>
          <p:nvPr/>
        </p:nvSpPr>
        <p:spPr>
          <a:xfrm>
            <a:off x="6766560" y="1097280"/>
            <a:ext cx="2011680" cy="2011680"/>
          </a:xfrm>
          <a:prstGeom prst="ellipse">
            <a:avLst/>
          </a:prstGeom>
          <a:solidFill>
            <a:srgbClr val="F4A261">
              <a:alpha val="75000"/>
            </a:srgbClr>
          </a:solidFill>
          <a:ln w="12700">
            <a:solidFill>
              <a:srgbClr val="F4A261">
                <a:alpha val="60000"/>
              </a:srgbClr>
            </a:solidFill>
            <a:prstDash val="solid"/>
          </a:ln>
        </p:spPr>
        <p:txBody>
          <a:bodyPr/>
          <a:lstStyle/>
          <a:p>
            <a:endParaRPr lang="en-IN"/>
          </a:p>
        </p:txBody>
      </p:sp>
      <p:sp>
        <p:nvSpPr>
          <p:cNvPr id="4" name="Text 2"/>
          <p:cNvSpPr/>
          <p:nvPr/>
        </p:nvSpPr>
        <p:spPr>
          <a:xfrm>
            <a:off x="457200" y="320040"/>
            <a:ext cx="5486400" cy="548640"/>
          </a:xfrm>
          <a:prstGeom prst="rect">
            <a:avLst/>
          </a:prstGeom>
          <a:noFill/>
          <a:ln/>
        </p:spPr>
        <p:txBody>
          <a:bodyPr wrap="square" lIns="0" tIns="0" rIns="0" bIns="0" rtlCol="0" anchor="ctr"/>
          <a:lstStyle/>
          <a:p>
            <a:pPr marL="0" indent="0">
              <a:buNone/>
            </a:pPr>
            <a:r>
              <a:rPr lang="en-US" sz="3000" b="1" dirty="0">
                <a:solidFill>
                  <a:srgbClr val="F4A261"/>
                </a:solidFill>
              </a:rPr>
              <a:t>Key Takeaways</a:t>
            </a:r>
            <a:endParaRPr lang="en-US" sz="3000" dirty="0"/>
          </a:p>
        </p:txBody>
      </p:sp>
      <p:sp>
        <p:nvSpPr>
          <p:cNvPr id="5" name="Shape 3">
            <a:extLst>
              <a:ext uri="{C183D7F6-B498-43B3-948B-1728B52AA6E4}">
                <adec:decorative xmlns:adec="http://schemas.microsoft.com/office/drawing/2017/decorative" val="1"/>
              </a:ext>
            </a:extLst>
          </p:cNvPr>
          <p:cNvSpPr/>
          <p:nvPr/>
        </p:nvSpPr>
        <p:spPr>
          <a:xfrm>
            <a:off x="457200" y="987552"/>
            <a:ext cx="5486400" cy="658368"/>
          </a:xfrm>
          <a:prstGeom prst="rect">
            <a:avLst/>
          </a:prstGeom>
          <a:solidFill>
            <a:srgbClr val="FFFFFF">
              <a:alpha val="8000"/>
            </a:srgbClr>
          </a:solidFill>
          <a:ln w="12700">
            <a:solidFill>
              <a:srgbClr val="028090"/>
            </a:solidFill>
            <a:prstDash val="solid"/>
          </a:ln>
        </p:spPr>
        <p:txBody>
          <a:bodyPr/>
          <a:lstStyle/>
          <a:p>
            <a:endParaRPr lang="en-IN"/>
          </a:p>
        </p:txBody>
      </p:sp>
      <p:sp>
        <p:nvSpPr>
          <p:cNvPr id="6" name="Shape 4">
            <a:extLst>
              <a:ext uri="{C183D7F6-B498-43B3-948B-1728B52AA6E4}">
                <adec:decorative xmlns:adec="http://schemas.microsoft.com/office/drawing/2017/decorative" val="1"/>
              </a:ext>
            </a:extLst>
          </p:cNvPr>
          <p:cNvSpPr/>
          <p:nvPr/>
        </p:nvSpPr>
        <p:spPr>
          <a:xfrm>
            <a:off x="457200" y="987552"/>
            <a:ext cx="91440" cy="658368"/>
          </a:xfrm>
          <a:prstGeom prst="rect">
            <a:avLst/>
          </a:prstGeom>
          <a:solidFill>
            <a:srgbClr val="00A896"/>
          </a:solidFill>
          <a:ln w="12700">
            <a:solidFill>
              <a:srgbClr val="00A896"/>
            </a:solidFill>
            <a:prstDash val="solid"/>
          </a:ln>
        </p:spPr>
        <p:txBody>
          <a:bodyPr/>
          <a:lstStyle/>
          <a:p>
            <a:endParaRPr lang="en-IN"/>
          </a:p>
        </p:txBody>
      </p:sp>
      <p:sp>
        <p:nvSpPr>
          <p:cNvPr id="7" name="Text 5"/>
          <p:cNvSpPr/>
          <p:nvPr/>
        </p:nvSpPr>
        <p:spPr>
          <a:xfrm>
            <a:off x="658368" y="1042416"/>
            <a:ext cx="5166360" cy="502920"/>
          </a:xfrm>
          <a:prstGeom prst="rect">
            <a:avLst/>
          </a:prstGeom>
          <a:noFill/>
          <a:ln/>
        </p:spPr>
        <p:txBody>
          <a:bodyPr wrap="square" lIns="0" tIns="0" rIns="0" bIns="0" rtlCol="0" anchor="ctr"/>
          <a:lstStyle/>
          <a:p>
            <a:pPr marL="0" indent="0">
              <a:buNone/>
            </a:pPr>
            <a:r>
              <a:rPr lang="en-US" sz="1100" dirty="0">
                <a:solidFill>
                  <a:srgbClr val="FFFFFF"/>
                </a:solidFill>
              </a:rPr>
              <a:t>Accessibility is not an optional extra; it is a baseline requirement.</a:t>
            </a:r>
            <a:endParaRPr lang="en-US" sz="1100" dirty="0"/>
          </a:p>
        </p:txBody>
      </p:sp>
      <p:sp>
        <p:nvSpPr>
          <p:cNvPr id="8" name="Shape 6">
            <a:extLst>
              <a:ext uri="{C183D7F6-B498-43B3-948B-1728B52AA6E4}">
                <adec:decorative xmlns:adec="http://schemas.microsoft.com/office/drawing/2017/decorative" val="1"/>
              </a:ext>
            </a:extLst>
          </p:cNvPr>
          <p:cNvSpPr/>
          <p:nvPr/>
        </p:nvSpPr>
        <p:spPr>
          <a:xfrm>
            <a:off x="457200" y="1746504"/>
            <a:ext cx="5486400" cy="658368"/>
          </a:xfrm>
          <a:prstGeom prst="rect">
            <a:avLst/>
          </a:prstGeom>
          <a:solidFill>
            <a:srgbClr val="FFFFFF">
              <a:alpha val="8000"/>
            </a:srgbClr>
          </a:solidFill>
          <a:ln w="12700">
            <a:solidFill>
              <a:srgbClr val="028090"/>
            </a:solidFill>
            <a:prstDash val="solid"/>
          </a:ln>
        </p:spPr>
        <p:txBody>
          <a:bodyPr/>
          <a:lstStyle/>
          <a:p>
            <a:endParaRPr lang="en-IN"/>
          </a:p>
        </p:txBody>
      </p:sp>
      <p:sp>
        <p:nvSpPr>
          <p:cNvPr id="9" name="Shape 7">
            <a:extLst>
              <a:ext uri="{C183D7F6-B498-43B3-948B-1728B52AA6E4}">
                <adec:decorative xmlns:adec="http://schemas.microsoft.com/office/drawing/2017/decorative" val="1"/>
              </a:ext>
            </a:extLst>
          </p:cNvPr>
          <p:cNvSpPr/>
          <p:nvPr/>
        </p:nvSpPr>
        <p:spPr>
          <a:xfrm>
            <a:off x="457200" y="1746504"/>
            <a:ext cx="91440" cy="658368"/>
          </a:xfrm>
          <a:prstGeom prst="rect">
            <a:avLst/>
          </a:prstGeom>
          <a:solidFill>
            <a:srgbClr val="00A896"/>
          </a:solidFill>
          <a:ln w="12700">
            <a:solidFill>
              <a:srgbClr val="00A896"/>
            </a:solidFill>
            <a:prstDash val="solid"/>
          </a:ln>
        </p:spPr>
        <p:txBody>
          <a:bodyPr/>
          <a:lstStyle/>
          <a:p>
            <a:endParaRPr lang="en-IN"/>
          </a:p>
        </p:txBody>
      </p:sp>
      <p:sp>
        <p:nvSpPr>
          <p:cNvPr id="10" name="Text 8"/>
          <p:cNvSpPr/>
          <p:nvPr/>
        </p:nvSpPr>
        <p:spPr>
          <a:xfrm>
            <a:off x="658368" y="1801368"/>
            <a:ext cx="5166360" cy="502920"/>
          </a:xfrm>
          <a:prstGeom prst="rect">
            <a:avLst/>
          </a:prstGeom>
          <a:noFill/>
          <a:ln/>
        </p:spPr>
        <p:txBody>
          <a:bodyPr wrap="square" lIns="0" tIns="0" rIns="0" bIns="0" rtlCol="0" anchor="ctr"/>
          <a:lstStyle/>
          <a:p>
            <a:pPr marL="0" indent="0">
              <a:buNone/>
            </a:pPr>
            <a:r>
              <a:rPr lang="en-US" sz="1100" dirty="0">
                <a:solidFill>
                  <a:srgbClr val="FFFFFF"/>
                </a:solidFill>
              </a:rPr>
              <a:t>The POUR principles underpin every WCAG success criterion.</a:t>
            </a:r>
            <a:endParaRPr lang="en-US" sz="1100" dirty="0"/>
          </a:p>
        </p:txBody>
      </p:sp>
      <p:sp>
        <p:nvSpPr>
          <p:cNvPr id="11" name="Shape 9">
            <a:extLst>
              <a:ext uri="{C183D7F6-B498-43B3-948B-1728B52AA6E4}">
                <adec:decorative xmlns:adec="http://schemas.microsoft.com/office/drawing/2017/decorative" val="1"/>
              </a:ext>
            </a:extLst>
          </p:cNvPr>
          <p:cNvSpPr/>
          <p:nvPr/>
        </p:nvSpPr>
        <p:spPr>
          <a:xfrm>
            <a:off x="457200" y="2505456"/>
            <a:ext cx="5486400" cy="658368"/>
          </a:xfrm>
          <a:prstGeom prst="rect">
            <a:avLst/>
          </a:prstGeom>
          <a:solidFill>
            <a:srgbClr val="FFFFFF">
              <a:alpha val="8000"/>
            </a:srgbClr>
          </a:solidFill>
          <a:ln w="12700">
            <a:solidFill>
              <a:srgbClr val="028090"/>
            </a:solidFill>
            <a:prstDash val="solid"/>
          </a:ln>
        </p:spPr>
        <p:txBody>
          <a:bodyPr/>
          <a:lstStyle/>
          <a:p>
            <a:endParaRPr lang="en-IN"/>
          </a:p>
        </p:txBody>
      </p:sp>
      <p:sp>
        <p:nvSpPr>
          <p:cNvPr id="12" name="Shape 10">
            <a:extLst>
              <a:ext uri="{C183D7F6-B498-43B3-948B-1728B52AA6E4}">
                <adec:decorative xmlns:adec="http://schemas.microsoft.com/office/drawing/2017/decorative" val="1"/>
              </a:ext>
            </a:extLst>
          </p:cNvPr>
          <p:cNvSpPr/>
          <p:nvPr/>
        </p:nvSpPr>
        <p:spPr>
          <a:xfrm>
            <a:off x="457200" y="2505456"/>
            <a:ext cx="91440" cy="658368"/>
          </a:xfrm>
          <a:prstGeom prst="rect">
            <a:avLst/>
          </a:prstGeom>
          <a:solidFill>
            <a:srgbClr val="00A896"/>
          </a:solidFill>
          <a:ln w="12700">
            <a:solidFill>
              <a:srgbClr val="00A896"/>
            </a:solidFill>
            <a:prstDash val="solid"/>
          </a:ln>
        </p:spPr>
        <p:txBody>
          <a:bodyPr/>
          <a:lstStyle/>
          <a:p>
            <a:endParaRPr lang="en-IN"/>
          </a:p>
        </p:txBody>
      </p:sp>
      <p:sp>
        <p:nvSpPr>
          <p:cNvPr id="13" name="Text 11"/>
          <p:cNvSpPr/>
          <p:nvPr/>
        </p:nvSpPr>
        <p:spPr>
          <a:xfrm>
            <a:off x="658368" y="2560320"/>
            <a:ext cx="5166360" cy="502920"/>
          </a:xfrm>
          <a:prstGeom prst="rect">
            <a:avLst/>
          </a:prstGeom>
          <a:noFill/>
          <a:ln/>
        </p:spPr>
        <p:txBody>
          <a:bodyPr wrap="square" lIns="0" tIns="0" rIns="0" bIns="0" rtlCol="0" anchor="ctr"/>
          <a:lstStyle/>
          <a:p>
            <a:pPr marL="0" indent="0">
              <a:buNone/>
            </a:pPr>
            <a:r>
              <a:rPr lang="en-US" sz="1100" dirty="0">
                <a:solidFill>
                  <a:srgbClr val="FFFFFF"/>
                </a:solidFill>
              </a:rPr>
              <a:t>1.3 billion people need accessible design; everyone else benefits from it too.</a:t>
            </a:r>
            <a:endParaRPr lang="en-US" sz="1100" dirty="0"/>
          </a:p>
        </p:txBody>
      </p:sp>
      <p:sp>
        <p:nvSpPr>
          <p:cNvPr id="14" name="Shape 12">
            <a:extLst>
              <a:ext uri="{C183D7F6-B498-43B3-948B-1728B52AA6E4}">
                <adec:decorative xmlns:adec="http://schemas.microsoft.com/office/drawing/2017/decorative" val="1"/>
              </a:ext>
            </a:extLst>
          </p:cNvPr>
          <p:cNvSpPr/>
          <p:nvPr/>
        </p:nvSpPr>
        <p:spPr>
          <a:xfrm>
            <a:off x="457200" y="3264408"/>
            <a:ext cx="5486400" cy="658368"/>
          </a:xfrm>
          <a:prstGeom prst="rect">
            <a:avLst/>
          </a:prstGeom>
          <a:solidFill>
            <a:srgbClr val="FFFFFF">
              <a:alpha val="8000"/>
            </a:srgbClr>
          </a:solidFill>
          <a:ln w="12700">
            <a:solidFill>
              <a:srgbClr val="028090"/>
            </a:solidFill>
            <a:prstDash val="solid"/>
          </a:ln>
        </p:spPr>
        <p:txBody>
          <a:bodyPr/>
          <a:lstStyle/>
          <a:p>
            <a:endParaRPr lang="en-IN"/>
          </a:p>
        </p:txBody>
      </p:sp>
      <p:sp>
        <p:nvSpPr>
          <p:cNvPr id="15" name="Shape 13">
            <a:extLst>
              <a:ext uri="{C183D7F6-B498-43B3-948B-1728B52AA6E4}">
                <adec:decorative xmlns:adec="http://schemas.microsoft.com/office/drawing/2017/decorative" val="1"/>
              </a:ext>
            </a:extLst>
          </p:cNvPr>
          <p:cNvSpPr/>
          <p:nvPr/>
        </p:nvSpPr>
        <p:spPr>
          <a:xfrm>
            <a:off x="457200" y="3264408"/>
            <a:ext cx="91440" cy="658368"/>
          </a:xfrm>
          <a:prstGeom prst="rect">
            <a:avLst/>
          </a:prstGeom>
          <a:solidFill>
            <a:srgbClr val="00A896"/>
          </a:solidFill>
          <a:ln w="12700">
            <a:solidFill>
              <a:srgbClr val="00A896"/>
            </a:solidFill>
            <a:prstDash val="solid"/>
          </a:ln>
        </p:spPr>
        <p:txBody>
          <a:bodyPr/>
          <a:lstStyle/>
          <a:p>
            <a:endParaRPr lang="en-IN"/>
          </a:p>
        </p:txBody>
      </p:sp>
      <p:sp>
        <p:nvSpPr>
          <p:cNvPr id="16" name="Text 14"/>
          <p:cNvSpPr/>
          <p:nvPr/>
        </p:nvSpPr>
        <p:spPr>
          <a:xfrm>
            <a:off x="658368" y="3319272"/>
            <a:ext cx="5166360" cy="502920"/>
          </a:xfrm>
          <a:prstGeom prst="rect">
            <a:avLst/>
          </a:prstGeom>
          <a:noFill/>
          <a:ln/>
        </p:spPr>
        <p:txBody>
          <a:bodyPr wrap="square" lIns="0" tIns="0" rIns="0" bIns="0" rtlCol="0" anchor="ctr"/>
          <a:lstStyle/>
          <a:p>
            <a:pPr marL="0" indent="0">
              <a:buNone/>
            </a:pPr>
            <a:r>
              <a:rPr lang="en-US" sz="1100" dirty="0">
                <a:solidFill>
                  <a:srgbClr val="FFFFFF"/>
                </a:solidFill>
              </a:rPr>
              <a:t>Integrate accessibility at the start of every project: Shift Left.</a:t>
            </a:r>
            <a:endParaRPr lang="en-US" sz="1100" dirty="0"/>
          </a:p>
        </p:txBody>
      </p:sp>
      <p:sp>
        <p:nvSpPr>
          <p:cNvPr id="17" name="Shape 15">
            <a:extLst>
              <a:ext uri="{C183D7F6-B498-43B3-948B-1728B52AA6E4}">
                <adec:decorative xmlns:adec="http://schemas.microsoft.com/office/drawing/2017/decorative" val="1"/>
              </a:ext>
            </a:extLst>
          </p:cNvPr>
          <p:cNvSpPr/>
          <p:nvPr/>
        </p:nvSpPr>
        <p:spPr>
          <a:xfrm>
            <a:off x="457200" y="4023360"/>
            <a:ext cx="5486400" cy="658368"/>
          </a:xfrm>
          <a:prstGeom prst="rect">
            <a:avLst/>
          </a:prstGeom>
          <a:solidFill>
            <a:srgbClr val="FFFFFF">
              <a:alpha val="8000"/>
            </a:srgbClr>
          </a:solidFill>
          <a:ln w="12700">
            <a:solidFill>
              <a:srgbClr val="028090"/>
            </a:solidFill>
            <a:prstDash val="solid"/>
          </a:ln>
        </p:spPr>
        <p:txBody>
          <a:bodyPr/>
          <a:lstStyle/>
          <a:p>
            <a:endParaRPr lang="en-IN"/>
          </a:p>
        </p:txBody>
      </p:sp>
      <p:sp>
        <p:nvSpPr>
          <p:cNvPr id="18" name="Shape 16">
            <a:extLst>
              <a:ext uri="{C183D7F6-B498-43B3-948B-1728B52AA6E4}">
                <adec:decorative xmlns:adec="http://schemas.microsoft.com/office/drawing/2017/decorative" val="1"/>
              </a:ext>
            </a:extLst>
          </p:cNvPr>
          <p:cNvSpPr/>
          <p:nvPr/>
        </p:nvSpPr>
        <p:spPr>
          <a:xfrm>
            <a:off x="457200" y="4023360"/>
            <a:ext cx="91440" cy="658368"/>
          </a:xfrm>
          <a:prstGeom prst="rect">
            <a:avLst/>
          </a:prstGeom>
          <a:solidFill>
            <a:srgbClr val="00A896"/>
          </a:solidFill>
          <a:ln w="12700">
            <a:solidFill>
              <a:srgbClr val="00A896"/>
            </a:solidFill>
            <a:prstDash val="solid"/>
          </a:ln>
        </p:spPr>
        <p:txBody>
          <a:bodyPr/>
          <a:lstStyle/>
          <a:p>
            <a:endParaRPr lang="en-IN"/>
          </a:p>
        </p:txBody>
      </p:sp>
      <p:sp>
        <p:nvSpPr>
          <p:cNvPr id="19" name="Text 17"/>
          <p:cNvSpPr/>
          <p:nvPr/>
        </p:nvSpPr>
        <p:spPr>
          <a:xfrm>
            <a:off x="658368" y="4078224"/>
            <a:ext cx="5166360" cy="502920"/>
          </a:xfrm>
          <a:prstGeom prst="rect">
            <a:avLst/>
          </a:prstGeom>
          <a:noFill/>
          <a:ln/>
        </p:spPr>
        <p:txBody>
          <a:bodyPr wrap="square" lIns="0" tIns="0" rIns="0" bIns="0" rtlCol="0" anchor="ctr"/>
          <a:lstStyle/>
          <a:p>
            <a:pPr marL="0" indent="0">
              <a:buNone/>
            </a:pPr>
            <a:r>
              <a:rPr lang="en-US" sz="1100" dirty="0">
                <a:solidFill>
                  <a:srgbClr val="FFFFFF"/>
                </a:solidFill>
              </a:rPr>
              <a:t>WCAG 2.2 is the current standard; plan for WCAG 3.0 ahead.</a:t>
            </a:r>
            <a:endParaRPr lang="en-US" sz="1100" dirty="0"/>
          </a:p>
        </p:txBody>
      </p:sp>
      <p:sp>
        <p:nvSpPr>
          <p:cNvPr id="20" name="Text 18"/>
          <p:cNvSpPr/>
          <p:nvPr/>
        </p:nvSpPr>
        <p:spPr>
          <a:xfrm>
            <a:off x="457200" y="4663440"/>
            <a:ext cx="5486400" cy="365760"/>
          </a:xfrm>
          <a:prstGeom prst="rect">
            <a:avLst/>
          </a:prstGeom>
          <a:noFill/>
          <a:ln/>
        </p:spPr>
        <p:txBody>
          <a:bodyPr wrap="square" lIns="0" tIns="0" rIns="0" bIns="0" rtlCol="0" anchor="ctr"/>
          <a:lstStyle/>
          <a:p>
            <a:pPr marL="0" indent="0">
              <a:buNone/>
            </a:pPr>
            <a:r>
              <a:rPr lang="en-US" sz="1300" b="1" dirty="0">
                <a:solidFill>
                  <a:srgbClr val="F4A261"/>
                </a:solidFill>
              </a:rPr>
              <a:t>Thank You  |  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1713</Words>
  <Application>Microsoft Office PowerPoint</Application>
  <PresentationFormat>On-screen Show (16:9)</PresentationFormat>
  <Paragraphs>158</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Awareness on Digital Accessibility</dc:title>
  <dc:subject>Digital Accessibility Awareness Presentation</dc:subject>
  <dc:creator>Akhil</dc:creator>
  <cp:lastModifiedBy>Akhilesh Malani</cp:lastModifiedBy>
  <cp:revision>2</cp:revision>
  <dcterms:created xsi:type="dcterms:W3CDTF">2026-03-18T13:16:13Z</dcterms:created>
  <dcterms:modified xsi:type="dcterms:W3CDTF">2026-03-18T14:07:35Z</dcterms:modified>
</cp:coreProperties>
</file>