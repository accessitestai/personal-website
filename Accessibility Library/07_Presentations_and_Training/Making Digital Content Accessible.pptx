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274"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BFB7F1-596A-4E0E-B5D1-488E9CC9CD2D}" type="datetimeFigureOut">
              <a:rPr lang="en-IN" smtClean="0"/>
              <a:t>19-06-2025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54978F-B8CC-47C7-9C69-92E45B848EC5}" type="slidenum">
              <a:rPr lang="en-IN" smtClean="0"/>
              <a:t>‹#›</a:t>
            </a:fld>
            <a:endParaRPr lang="en-IN"/>
          </a:p>
        </p:txBody>
      </p:sp>
    </p:spTree>
    <p:extLst>
      <p:ext uri="{BB962C8B-B14F-4D97-AF65-F5344CB8AC3E}">
        <p14:creationId xmlns:p14="http://schemas.microsoft.com/office/powerpoint/2010/main" val="30565994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This presentation was automatically generated by PowerPoint Copilot based on content found in this document:
https://1drv.ms/w/c/f76ae15bbc4cfc1d/ESxHvQNJp0JIoW7SBt1edI4BVdb90pCE0Q72wZDAeZHuIg?e=lf0b8e
AI-generated content may be incorrect.</a:t>
            </a:r>
          </a:p>
        </p:txBody>
      </p:sp>
      <p:sp>
        <p:nvSpPr>
          <p:cNvPr id="4" name="Slide Number Placeholder 3"/>
          <p:cNvSpPr>
            <a:spLocks noGrp="1"/>
          </p:cNvSpPr>
          <p:nvPr>
            <p:ph type="sldNum" sz="quarter" idx="5"/>
          </p:nvPr>
        </p:nvSpPr>
        <p:spPr/>
        <p:txBody>
          <a:bodyPr/>
          <a:lstStyle/>
          <a:p>
            <a:fld id="{C99CC69F-FC8F-4C8D-8E89-A7D2C0A54924}" type="slidenum">
              <a:rPr lang="en-IN" smtClean="0"/>
              <a:t>1</a:t>
            </a:fld>
            <a:endParaRPr lang="en-IN"/>
          </a:p>
        </p:txBody>
      </p:sp>
    </p:spTree>
    <p:extLst>
      <p:ext uri="{BB962C8B-B14F-4D97-AF65-F5344CB8AC3E}">
        <p14:creationId xmlns:p14="http://schemas.microsoft.com/office/powerpoint/2010/main" val="14715215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Agenda
* Introduction
* Title Slide
* What is Web Accessibility?
    * Why it Matters
    * Definition
* Introducing WCAG 2.2
* Understanding WCAG Principles (POUR)
* WCAG Conformance Levels
* Diving into WCAG 2.2 Level A - The Basics
    * 1.1.1 Non-text Content (Alt Text)
    * 2.1.1 Keyboard (Keyboard Navigation)
    * 2.4.1 Bypass Blocks (Skip Navigation)
    * Key Concept
* More Level A Examples
    * 3.3.1 Error Identification (Form Errors)
    * 4.1.1 Parsing (Valid HTML)
    * Image
* Diving into WCAG 2.2 Level AA - The Standard Goal
    * 1.4.3 Contrast (Minimum)
    * 2.4.7 Focus Visible (Keyboard Focus)
    * Key Concept
* More Level AA Examples
    * 2.2.2 Pause, Stop, Hide (Animations/Moving Content)
    * 2.4.4 Link Purpose (In Context)
    * 3.1.2 Language of Parts (Language Changes)
    * Image
* New in WCAG 2.2: Focus on Usability &amp; Cognitive Needs
    * 2.5.7 Dragging Movements (Level AA)
    * 2.5.8 Target Size (Minimum) (Level AA)
    * 3.2.6 Findable Help (Level A)
    * Image
* Why Aim for AA?
    * Inclusive User Experience
    * Legal Compliance
* How to Get Started &amp; Tools
* Key Takeaways
* Questions &amp; Discussion
* Thank You &amp; Resources
    * Useful Resources
    * Contact Information
</a:t>
            </a:r>
          </a:p>
        </p:txBody>
      </p:sp>
      <p:sp>
        <p:nvSpPr>
          <p:cNvPr id="4" name="Slide Number Placeholder 3"/>
          <p:cNvSpPr>
            <a:spLocks noGrp="1"/>
          </p:cNvSpPr>
          <p:nvPr>
            <p:ph type="sldNum" sz="quarter" idx="5"/>
          </p:nvPr>
        </p:nvSpPr>
        <p:spPr/>
        <p:txBody>
          <a:bodyPr/>
          <a:lstStyle/>
          <a:p>
            <a:fld id="{C99CC69F-FC8F-4C8D-8E89-A7D2C0A54924}" type="slidenum">
              <a:rPr lang="en-IN" smtClean="0"/>
              <a:t>2</a:t>
            </a:fld>
            <a:endParaRPr lang="en-IN"/>
          </a:p>
        </p:txBody>
      </p:sp>
    </p:spTree>
    <p:extLst>
      <p:ext uri="{BB962C8B-B14F-4D97-AF65-F5344CB8AC3E}">
        <p14:creationId xmlns:p14="http://schemas.microsoft.com/office/powerpoint/2010/main" val="3301534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This presentation is about making digital content accessible by understanding WCAG 2.2 Level A &amp; AA. It is aimed at web developers, designers, content creators, project managers, and anyone involved in creating digital content.
Original Content:
Presentation Title: Making Digital Content Accessible: Understanding WCAG 2.2 Level A &amp; AA
Target Audience: Web Developers, Designers, Content Creators, Project Managers, anyone involved in creating digital content.
</a:t>
            </a:r>
          </a:p>
        </p:txBody>
      </p:sp>
      <p:sp>
        <p:nvSpPr>
          <p:cNvPr id="4" name="Slide Number Placeholder 3"/>
          <p:cNvSpPr>
            <a:spLocks noGrp="1"/>
          </p:cNvSpPr>
          <p:nvPr>
            <p:ph type="sldNum" sz="quarter" idx="5"/>
          </p:nvPr>
        </p:nvSpPr>
        <p:spPr/>
        <p:txBody>
          <a:bodyPr/>
          <a:lstStyle/>
          <a:p>
            <a:fld id="{C99CC69F-FC8F-4C8D-8E89-A7D2C0A54924}" type="slidenum">
              <a:rPr lang="en-IN" smtClean="0"/>
              <a:t>3</a:t>
            </a:fld>
            <a:endParaRPr lang="en-IN"/>
          </a:p>
        </p:txBody>
      </p:sp>
    </p:spTree>
    <p:extLst>
      <p:ext uri="{BB962C8B-B14F-4D97-AF65-F5344CB8AC3E}">
        <p14:creationId xmlns:p14="http://schemas.microsoft.com/office/powerpoint/2010/main" val="3918557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Today, we'll discuss the importance of making digital content accessible by understanding WCAG 2.2 Level A &amp; AA guidelines. We'll explore how these guidelines help build a more inclusive web, ensuring that digital content is usable by everyone.
Original Content:
Title: Making Digital Content Accessible: Understanding WCAG 2.2 Level A &amp; AA
Subtitle: Building a More Inclusive Web
Presenter: Your Name/Organization (Optional)
Image: A diverse group of people interacting with digital devices, or a puzzle piece fitting perfectly into a larger whole.
</a:t>
            </a:r>
          </a:p>
        </p:txBody>
      </p:sp>
      <p:sp>
        <p:nvSpPr>
          <p:cNvPr id="4" name="Slide Number Placeholder 3"/>
          <p:cNvSpPr>
            <a:spLocks noGrp="1"/>
          </p:cNvSpPr>
          <p:nvPr>
            <p:ph type="sldNum" sz="quarter" idx="5"/>
          </p:nvPr>
        </p:nvSpPr>
        <p:spPr/>
        <p:txBody>
          <a:bodyPr/>
          <a:lstStyle/>
          <a:p>
            <a:fld id="{C99CC69F-FC8F-4C8D-8E89-A7D2C0A54924}" type="slidenum">
              <a:rPr lang="en-IN" smtClean="0"/>
              <a:t>4</a:t>
            </a:fld>
            <a:endParaRPr lang="en-IN"/>
          </a:p>
        </p:txBody>
      </p:sp>
    </p:spTree>
    <p:extLst>
      <p:ext uri="{BB962C8B-B14F-4D97-AF65-F5344CB8AC3E}">
        <p14:creationId xmlns:p14="http://schemas.microsoft.com/office/powerpoint/2010/main" val="33437849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Web accessibility means making websites and digital tools usable by everyone, including people with disabilities. It's important for inclusion, legal compliance, improved user experience, and reaching a wider audience.
Original Content:
Title: What is Web Accessibility?
Content:
Definition: Making websites and digital tools usable by everyone, including people with disabilities.
Why it Matters:
Inclusion: Ensures everyone can access information and services.
Legal Compliance: Many laws require accessible digital content.
Improved User Experience: Benefits all users, not just those with disabilities.
Wider Audience: Reaching more people means more potential users/customers.
Image: Icon representing a person with a disability using a computer, or a diverse group of users.
Slide 2: What is Web Accessibility?
</a:t>
            </a:r>
          </a:p>
        </p:txBody>
      </p:sp>
      <p:sp>
        <p:nvSpPr>
          <p:cNvPr id="4" name="Slide Number Placeholder 3"/>
          <p:cNvSpPr>
            <a:spLocks noGrp="1"/>
          </p:cNvSpPr>
          <p:nvPr>
            <p:ph type="sldNum" sz="quarter" idx="5"/>
          </p:nvPr>
        </p:nvSpPr>
        <p:spPr/>
        <p:txBody>
          <a:bodyPr/>
          <a:lstStyle/>
          <a:p>
            <a:fld id="{C99CC69F-FC8F-4C8D-8E89-A7D2C0A54924}" type="slidenum">
              <a:rPr lang="en-IN" smtClean="0"/>
              <a:t>5</a:t>
            </a:fld>
            <a:endParaRPr lang="en-IN"/>
          </a:p>
        </p:txBody>
      </p:sp>
    </p:spTree>
    <p:extLst>
      <p:ext uri="{BB962C8B-B14F-4D97-AF65-F5344CB8AC3E}">
        <p14:creationId xmlns:p14="http://schemas.microsoft.com/office/powerpoint/2010/main" val="887305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Digital accessibility is crucial for inclusion, legal compliance, improved user experience, and reaching a wider audience. Ensuring everyone can access information and services benefits all users and meets legal requirements.
Original Content:
Why it Matters:
Inclusion: Ensures everyone can access information and services.
Legal Compliance: Many laws require accessible digital content.
Improved User Experience: Benefits all users, not just those with disabilities.
Wider Audience: Reaching more people means more potential users/customers.
</a:t>
            </a:r>
          </a:p>
        </p:txBody>
      </p:sp>
      <p:sp>
        <p:nvSpPr>
          <p:cNvPr id="4" name="Slide Number Placeholder 3"/>
          <p:cNvSpPr>
            <a:spLocks noGrp="1"/>
          </p:cNvSpPr>
          <p:nvPr>
            <p:ph type="sldNum" sz="quarter" idx="5"/>
          </p:nvPr>
        </p:nvSpPr>
        <p:spPr/>
        <p:txBody>
          <a:bodyPr/>
          <a:lstStyle/>
          <a:p>
            <a:fld id="{C99CC69F-FC8F-4C8D-8E89-A7D2C0A54924}" type="slidenum">
              <a:rPr lang="en-IN" smtClean="0"/>
              <a:t>6</a:t>
            </a:fld>
            <a:endParaRPr lang="en-IN"/>
          </a:p>
        </p:txBody>
      </p:sp>
    </p:spTree>
    <p:extLst>
      <p:ext uri="{BB962C8B-B14F-4D97-AF65-F5344CB8AC3E}">
        <p14:creationId xmlns:p14="http://schemas.microsoft.com/office/powerpoint/2010/main" val="37480134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Web accessibility ensures that websites and digital tools are usable by everyone, including people with disabilities.
Original Content:
Definition: Making websites and digital tools usable by everyone, including people with disabilities.
Image: Icon representing a person with a disability using a computer, or a diverse group of users.
</a:t>
            </a:r>
          </a:p>
        </p:txBody>
      </p:sp>
      <p:sp>
        <p:nvSpPr>
          <p:cNvPr id="4" name="Slide Number Placeholder 3"/>
          <p:cNvSpPr>
            <a:spLocks noGrp="1"/>
          </p:cNvSpPr>
          <p:nvPr>
            <p:ph type="sldNum" sz="quarter" idx="5"/>
          </p:nvPr>
        </p:nvSpPr>
        <p:spPr/>
        <p:txBody>
          <a:bodyPr/>
          <a:lstStyle/>
          <a:p>
            <a:fld id="{C99CC69F-FC8F-4C8D-8E89-A7D2C0A54924}" type="slidenum">
              <a:rPr lang="en-IN" smtClean="0"/>
              <a:t>7</a:t>
            </a:fld>
            <a:endParaRPr lang="en-IN"/>
          </a:p>
        </p:txBody>
      </p:sp>
    </p:spTree>
    <p:extLst>
      <p:ext uri="{BB962C8B-B14F-4D97-AF65-F5344CB8AC3E}">
        <p14:creationId xmlns:p14="http://schemas.microsoft.com/office/powerpoint/2010/main" val="6145873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WCAG stands for Web Content Accessibility Guidelines, created by the World Wide Web Consortium (W3C). Its purpose is to provide guidelines for making web content accessible. The latest version is WCAG 2.2, which includes new success criteria.
Original Content:
What is WCAG? Web Content Accessibility Guidelines.
Who created it? The World Wide Web Consortium (W3C).
Purpose: Provides a set of internationally recognized guidelines for making web content accessible.
WCAG 2.2: The latest version, building on previous versions with a few new success criteria.
Image: W3C logo or a "standard" icon.
</a:t>
            </a:r>
          </a:p>
        </p:txBody>
      </p:sp>
      <p:sp>
        <p:nvSpPr>
          <p:cNvPr id="4" name="Slide Number Placeholder 3"/>
          <p:cNvSpPr>
            <a:spLocks noGrp="1"/>
          </p:cNvSpPr>
          <p:nvPr>
            <p:ph type="sldNum" sz="quarter" idx="5"/>
          </p:nvPr>
        </p:nvSpPr>
        <p:spPr/>
        <p:txBody>
          <a:bodyPr/>
          <a:lstStyle/>
          <a:p>
            <a:fld id="{C99CC69F-FC8F-4C8D-8E89-A7D2C0A54924}" type="slidenum">
              <a:rPr lang="en-IN" smtClean="0"/>
              <a:t>8</a:t>
            </a:fld>
            <a:endParaRPr lang="en-IN"/>
          </a:p>
        </p:txBody>
      </p:sp>
    </p:spTree>
    <p:extLst>
      <p:ext uri="{BB962C8B-B14F-4D97-AF65-F5344CB8AC3E}">
        <p14:creationId xmlns:p14="http://schemas.microsoft.com/office/powerpoint/2010/main" val="40768510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 principles of accessible design include perceivable, operable, understandable, and robust. Each principle ensures that information and UI components are accessible to all users, including those using assistive technologies.
Original Content:
Perceivable: Information and UI components must be presentable to users in ways they can perceive. (e.g., provide text alternatives for non-text content).
Operable: UI components and navigation must be operable. (e.g., keyboard navigation).
Understandable: Information and the operation of user interface must be understandable. (e.g., predictable navigation).
Robust: Content must be robust enough that it can be interpreted reliably by a wide variety of user agents, including assistive technologies. (e.g., valid HTML).
Image: Four distinct icons representing each principle (e.g., eye for Perceivable, keyboard for Operable, brain for Understandable, gear for Robust).
</a:t>
            </a:r>
          </a:p>
        </p:txBody>
      </p:sp>
      <p:sp>
        <p:nvSpPr>
          <p:cNvPr id="4" name="Slide Number Placeholder 3"/>
          <p:cNvSpPr>
            <a:spLocks noGrp="1"/>
          </p:cNvSpPr>
          <p:nvPr>
            <p:ph type="sldNum" sz="quarter" idx="5"/>
          </p:nvPr>
        </p:nvSpPr>
        <p:spPr/>
        <p:txBody>
          <a:bodyPr/>
          <a:lstStyle/>
          <a:p>
            <a:fld id="{C99CC69F-FC8F-4C8D-8E89-A7D2C0A54924}" type="slidenum">
              <a:rPr lang="en-IN" smtClean="0"/>
              <a:t>9</a:t>
            </a:fld>
            <a:endParaRPr lang="en-IN"/>
          </a:p>
        </p:txBody>
      </p:sp>
    </p:spTree>
    <p:extLst>
      <p:ext uri="{BB962C8B-B14F-4D97-AF65-F5344CB8AC3E}">
        <p14:creationId xmlns:p14="http://schemas.microsoft.com/office/powerpoint/2010/main" val="3315085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Accessibility levels are categorized into three: Level A, Level AA, and Level AAA. Level A addresses the most common barriers, Level AA targets significant barriers and is often legally required, while Level AAA represents the highest level of accessibility, which may not be achievable for all content. Think of these levels like safety ratings in vehicles.
Original Content:
Level A (Minimum): The lowest level of accessibility. Addresses most common and severe barriers. Often a good starting point.
Level AA (Target): The most commonly aimed-for level. Addresses most significant barriers for people with disabilities. Often a legal requirement.
Level AAA (Highest): The highest level of accessibility. May not be achievable for all types of content.
Analogy: Think of them like safety ratings:
A = Basic Safety Features
AA = Good Safety Features (most cars aim for this)
AAA = Advanced Safety Features (specialized vehicles)
Image: A visual representation of three ascending levels (e.g., a pyramid or steps).
</a:t>
            </a:r>
          </a:p>
        </p:txBody>
      </p:sp>
      <p:sp>
        <p:nvSpPr>
          <p:cNvPr id="4" name="Slide Number Placeholder 3"/>
          <p:cNvSpPr>
            <a:spLocks noGrp="1"/>
          </p:cNvSpPr>
          <p:nvPr>
            <p:ph type="sldNum" sz="quarter" idx="5"/>
          </p:nvPr>
        </p:nvSpPr>
        <p:spPr/>
        <p:txBody>
          <a:bodyPr/>
          <a:lstStyle/>
          <a:p>
            <a:fld id="{C99CC69F-FC8F-4C8D-8E89-A7D2C0A54924}" type="slidenum">
              <a:rPr lang="en-IN" smtClean="0"/>
              <a:t>10</a:t>
            </a:fld>
            <a:endParaRPr lang="en-IN"/>
          </a:p>
        </p:txBody>
      </p:sp>
    </p:spTree>
    <p:extLst>
      <p:ext uri="{BB962C8B-B14F-4D97-AF65-F5344CB8AC3E}">
        <p14:creationId xmlns:p14="http://schemas.microsoft.com/office/powerpoint/2010/main" val="22642755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WCAG 2.2 Level A criteria address fundamental accessibility issues. Meeting Level A is crucial as failing it means significant barriers for many users. Examples include providing alt text for images, ensuring keyboard navigation, and offering a 'Skip to Main Content' link.
Original Content:
Slide 6: Diving into WCAG 2.2 Level A - The Basics
Title: WCAG 2.2 Level A: The Essential Foundation
Content: Level A criteria address the most fundamental accessibility issues. Failing these often means significant barriers for many users.
Key Concept: If you don't meet Level A, your content is likely unusable for a significant portion of the disabled community.
Examples (with easy explanations):
1.1.1 Non-text Content (Alt Text):
Explanation: Provide text alternatives for all non-text content (images, charts, videos). Screen readers describe these.
Example: An image of a cat: &lt;img src="cat.jpg" alt="A fluffy orange cat sleeping on a blue couch"&gt;
2.1.1 Keyboard (Keyboard Navigation):
Explanation: All functionality must be operable via a keyboard, not just a mouse. Many users can't use a mouse.
Example: A navigation menu: Users can tab through links and press Enter to select.
2.4.1 Bypass Blocks (Skip Navigation):
Explanation: Provide a mechanism to skip repetitive content (like navigation menus) to the main content. Helps keyboard and screen reader users.
Example: A "Skip to Main Content" link at the top of the page.
Image: Icons representing an eye (alt text), a keyboard, and a "skip" arrow.
</a:t>
            </a:r>
          </a:p>
        </p:txBody>
      </p:sp>
      <p:sp>
        <p:nvSpPr>
          <p:cNvPr id="4" name="Slide Number Placeholder 3"/>
          <p:cNvSpPr>
            <a:spLocks noGrp="1"/>
          </p:cNvSpPr>
          <p:nvPr>
            <p:ph type="sldNum" sz="quarter" idx="5"/>
          </p:nvPr>
        </p:nvSpPr>
        <p:spPr/>
        <p:txBody>
          <a:bodyPr/>
          <a:lstStyle/>
          <a:p>
            <a:fld id="{C99CC69F-FC8F-4C8D-8E89-A7D2C0A54924}" type="slidenum">
              <a:rPr lang="en-IN" smtClean="0"/>
              <a:t>11</a:t>
            </a:fld>
            <a:endParaRPr lang="en-IN"/>
          </a:p>
        </p:txBody>
      </p:sp>
    </p:spTree>
    <p:extLst>
      <p:ext uri="{BB962C8B-B14F-4D97-AF65-F5344CB8AC3E}">
        <p14:creationId xmlns:p14="http://schemas.microsoft.com/office/powerpoint/2010/main" val="14220601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Alt text provides text alternatives for non-text content like images, charts, and videos, aiding screen readers in describing them. For example, an image of a cat can be described as 'A fluffy orange cat sleeping on a blue couch'.
Original Content:
1.1.1 Non-text Content (Alt Text):
Explanation: Provide text alternatives for all non-text content (images, charts, videos). Screen readers describe these.
Example: An image of a cat: &lt;img src="cat.jpg" alt="A fluffy orange cat sleeping on a blue couch"&gt;
</a:t>
            </a:r>
          </a:p>
        </p:txBody>
      </p:sp>
      <p:sp>
        <p:nvSpPr>
          <p:cNvPr id="4" name="Slide Number Placeholder 3"/>
          <p:cNvSpPr>
            <a:spLocks noGrp="1"/>
          </p:cNvSpPr>
          <p:nvPr>
            <p:ph type="sldNum" sz="quarter" idx="5"/>
          </p:nvPr>
        </p:nvSpPr>
        <p:spPr/>
        <p:txBody>
          <a:bodyPr/>
          <a:lstStyle/>
          <a:p>
            <a:fld id="{C99CC69F-FC8F-4C8D-8E89-A7D2C0A54924}" type="slidenum">
              <a:rPr lang="en-IN" smtClean="0"/>
              <a:t>12</a:t>
            </a:fld>
            <a:endParaRPr lang="en-IN"/>
          </a:p>
        </p:txBody>
      </p:sp>
    </p:spTree>
    <p:extLst>
      <p:ext uri="{BB962C8B-B14F-4D97-AF65-F5344CB8AC3E}">
        <p14:creationId xmlns:p14="http://schemas.microsoft.com/office/powerpoint/2010/main" val="28066487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Keyboard navigation ensures that all functionalities are accessible via keyboard, not just a mouse. This is crucial for users who cannot use a mouse. For example, in a navigation menu, users can tab through links and press Enter to select.
Original Content:
2.1.1 Keyboard (Keyboard Navigation):
Explanation: All functionality must be operable via a keyboard, not just a mouse. Many users can't use a mouse.
Example: A navigation menu: Users can tab through links and press Enter to select.
</a:t>
            </a:r>
          </a:p>
        </p:txBody>
      </p:sp>
      <p:sp>
        <p:nvSpPr>
          <p:cNvPr id="4" name="Slide Number Placeholder 3"/>
          <p:cNvSpPr>
            <a:spLocks noGrp="1"/>
          </p:cNvSpPr>
          <p:nvPr>
            <p:ph type="sldNum" sz="quarter" idx="5"/>
          </p:nvPr>
        </p:nvSpPr>
        <p:spPr/>
        <p:txBody>
          <a:bodyPr/>
          <a:lstStyle/>
          <a:p>
            <a:fld id="{C99CC69F-FC8F-4C8D-8E89-A7D2C0A54924}" type="slidenum">
              <a:rPr lang="en-IN" smtClean="0"/>
              <a:t>13</a:t>
            </a:fld>
            <a:endParaRPr lang="en-IN"/>
          </a:p>
        </p:txBody>
      </p:sp>
    </p:spTree>
    <p:extLst>
      <p:ext uri="{BB962C8B-B14F-4D97-AF65-F5344CB8AC3E}">
        <p14:creationId xmlns:p14="http://schemas.microsoft.com/office/powerpoint/2010/main" val="3893345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Bypass blocks help users skip repetitive content and access the main content directly. This is especially useful for keyboard and screen reader users. An example is placing a 'Skip to Main Content' link at the top of the page.
Original Content:
2.4.1 Bypass Blocks (Skip Navigation):
Explanation: Provide a mechanism to skip repetitive content (like navigation menus) to the main content. Helps keyboard and screen reader users.
Example: A "Skip to Main Content" link at the top of the page.
</a:t>
            </a:r>
          </a:p>
        </p:txBody>
      </p:sp>
      <p:sp>
        <p:nvSpPr>
          <p:cNvPr id="4" name="Slide Number Placeholder 3"/>
          <p:cNvSpPr>
            <a:spLocks noGrp="1"/>
          </p:cNvSpPr>
          <p:nvPr>
            <p:ph type="sldNum" sz="quarter" idx="5"/>
          </p:nvPr>
        </p:nvSpPr>
        <p:spPr/>
        <p:txBody>
          <a:bodyPr/>
          <a:lstStyle/>
          <a:p>
            <a:fld id="{C99CC69F-FC8F-4C8D-8E89-A7D2C0A54924}" type="slidenum">
              <a:rPr lang="en-IN" smtClean="0"/>
              <a:t>14</a:t>
            </a:fld>
            <a:endParaRPr lang="en-IN"/>
          </a:p>
        </p:txBody>
      </p:sp>
    </p:spTree>
    <p:extLst>
      <p:ext uri="{BB962C8B-B14F-4D97-AF65-F5344CB8AC3E}">
        <p14:creationId xmlns:p14="http://schemas.microsoft.com/office/powerpoint/2010/main" val="2160577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Meeting Level A accessibility is crucial to ensure your content is usable for the disabled community. Key features include alt text for images, keyboard navigation, and skip links.
Original Content:
Key Concept: If you don't meet Level A, your content is likely unusable for a significant portion of the disabled community.
Image: Icons representing an eye (alt text), a keyboard, and a "skip" arrow.
</a:t>
            </a:r>
          </a:p>
        </p:txBody>
      </p:sp>
      <p:sp>
        <p:nvSpPr>
          <p:cNvPr id="4" name="Slide Number Placeholder 3"/>
          <p:cNvSpPr>
            <a:spLocks noGrp="1"/>
          </p:cNvSpPr>
          <p:nvPr>
            <p:ph type="sldNum" sz="quarter" idx="5"/>
          </p:nvPr>
        </p:nvSpPr>
        <p:spPr/>
        <p:txBody>
          <a:bodyPr/>
          <a:lstStyle/>
          <a:p>
            <a:fld id="{C99CC69F-FC8F-4C8D-8E89-A7D2C0A54924}" type="slidenum">
              <a:rPr lang="en-IN" smtClean="0"/>
              <a:t>15</a:t>
            </a:fld>
            <a:endParaRPr lang="en-IN"/>
          </a:p>
        </p:txBody>
      </p:sp>
    </p:spTree>
    <p:extLst>
      <p:ext uri="{BB962C8B-B14F-4D97-AF65-F5344CB8AC3E}">
        <p14:creationId xmlns:p14="http://schemas.microsoft.com/office/powerpoint/2010/main" val="54387419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Continuing with crucial Level A criteria, we have Error Identification for form errors and Parsing for valid HTML. Input errors must be clearly identified and described in text, like 'Please enter a valid email address.' Content should be coded cleanly and correctly to help assistive technologies.
Original Content:
Slide 7: More Level A Examples
Title: More Level A Essentials
Content: Continuing with crucial Level A criteria:
3.3.1 Error Identification (Form Errors):
Explanation: If a user makes an input error (e.g., in a form), the error must be clearly identified and described in text.
Example: "Please enter a valid email address." (next to the email field, also announced by screen reader).
4.1.1 Parsing (Valid HTML):
Explanation: Content should be coded cleanly and correctly (valid HTML). This helps assistive technologies understand and interpret the page.
Example: Ensuring all opening tags have closing tags, correct attribute usage.
Image: An error message icon and an HTML code snippet icon.
</a:t>
            </a:r>
          </a:p>
        </p:txBody>
      </p:sp>
      <p:sp>
        <p:nvSpPr>
          <p:cNvPr id="4" name="Slide Number Placeholder 3"/>
          <p:cNvSpPr>
            <a:spLocks noGrp="1"/>
          </p:cNvSpPr>
          <p:nvPr>
            <p:ph type="sldNum" sz="quarter" idx="5"/>
          </p:nvPr>
        </p:nvSpPr>
        <p:spPr/>
        <p:txBody>
          <a:bodyPr/>
          <a:lstStyle/>
          <a:p>
            <a:fld id="{C99CC69F-FC8F-4C8D-8E89-A7D2C0A54924}" type="slidenum">
              <a:rPr lang="en-IN" smtClean="0"/>
              <a:t>16</a:t>
            </a:fld>
            <a:endParaRPr lang="en-IN"/>
          </a:p>
        </p:txBody>
      </p:sp>
    </p:spTree>
    <p:extLst>
      <p:ext uri="{BB962C8B-B14F-4D97-AF65-F5344CB8AC3E}">
        <p14:creationId xmlns:p14="http://schemas.microsoft.com/office/powerpoint/2010/main" val="185915194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When a user makes an input error in a form, it must be clearly identified and described in text. For example, a prompt like 'Please enter a valid email address' should be displayed next to the email field and announced by a screen reader.
Original Content:
3.3.1 Error Identification (Form Errors):
Explanation: If a user makes an input error (e.g., in a form), the error must be clearly identified and described in text.
Example: "Please enter a valid email address." (next to the email field, also announced by screen reader).
</a:t>
            </a:r>
          </a:p>
        </p:txBody>
      </p:sp>
      <p:sp>
        <p:nvSpPr>
          <p:cNvPr id="4" name="Slide Number Placeholder 3"/>
          <p:cNvSpPr>
            <a:spLocks noGrp="1"/>
          </p:cNvSpPr>
          <p:nvPr>
            <p:ph type="sldNum" sz="quarter" idx="5"/>
          </p:nvPr>
        </p:nvSpPr>
        <p:spPr/>
        <p:txBody>
          <a:bodyPr/>
          <a:lstStyle/>
          <a:p>
            <a:fld id="{C99CC69F-FC8F-4C8D-8E89-A7D2C0A54924}" type="slidenum">
              <a:rPr lang="en-IN" smtClean="0"/>
              <a:t>17</a:t>
            </a:fld>
            <a:endParaRPr lang="en-IN"/>
          </a:p>
        </p:txBody>
      </p:sp>
    </p:spTree>
    <p:extLst>
      <p:ext uri="{BB962C8B-B14F-4D97-AF65-F5344CB8AC3E}">
        <p14:creationId xmlns:p14="http://schemas.microsoft.com/office/powerpoint/2010/main" val="20708899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Parsing valid HTML is crucial for clean coding and helps assistive technologies. Ensure all tags are properly closed and attributes are correctly used.
Original Content:
4.1.1 Parsing (Valid HTML):
Explanation: Content should be coded cleanly and correctly (valid HTML). This helps assistive technologies understand and interpret the page.
Example: Ensuring all opening tags have closing tags, correct attribute usage.
</a:t>
            </a:r>
          </a:p>
        </p:txBody>
      </p:sp>
      <p:sp>
        <p:nvSpPr>
          <p:cNvPr id="4" name="Slide Number Placeholder 3"/>
          <p:cNvSpPr>
            <a:spLocks noGrp="1"/>
          </p:cNvSpPr>
          <p:nvPr>
            <p:ph type="sldNum" sz="quarter" idx="5"/>
          </p:nvPr>
        </p:nvSpPr>
        <p:spPr/>
        <p:txBody>
          <a:bodyPr/>
          <a:lstStyle/>
          <a:p>
            <a:fld id="{C99CC69F-FC8F-4C8D-8E89-A7D2C0A54924}" type="slidenum">
              <a:rPr lang="en-IN" smtClean="0"/>
              <a:t>18</a:t>
            </a:fld>
            <a:endParaRPr lang="en-IN"/>
          </a:p>
        </p:txBody>
      </p:sp>
    </p:spTree>
    <p:extLst>
      <p:ext uri="{BB962C8B-B14F-4D97-AF65-F5344CB8AC3E}">
        <p14:creationId xmlns:p14="http://schemas.microsoft.com/office/powerpoint/2010/main" val="32222938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This slide features an error message icon and an HTML code snippet icon.
Original Content:
Image: An error message icon and an HTML code snippet icon.
</a:t>
            </a:r>
          </a:p>
        </p:txBody>
      </p:sp>
      <p:sp>
        <p:nvSpPr>
          <p:cNvPr id="4" name="Slide Number Placeholder 3"/>
          <p:cNvSpPr>
            <a:spLocks noGrp="1"/>
          </p:cNvSpPr>
          <p:nvPr>
            <p:ph type="sldNum" sz="quarter" idx="5"/>
          </p:nvPr>
        </p:nvSpPr>
        <p:spPr/>
        <p:txBody>
          <a:bodyPr/>
          <a:lstStyle/>
          <a:p>
            <a:fld id="{C99CC69F-FC8F-4C8D-8E89-A7D2C0A54924}" type="slidenum">
              <a:rPr lang="en-IN" smtClean="0"/>
              <a:t>19</a:t>
            </a:fld>
            <a:endParaRPr lang="en-IN"/>
          </a:p>
        </p:txBody>
      </p:sp>
    </p:spTree>
    <p:extLst>
      <p:ext uri="{BB962C8B-B14F-4D97-AF65-F5344CB8AC3E}">
        <p14:creationId xmlns:p14="http://schemas.microsoft.com/office/powerpoint/2010/main" val="27344387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Level AA enhances accessibility by addressing significant barriers and improving user experience for people with various disabilities. Meeting Level AA ensures content is accessible and usable. Examples include ensuring sufficient color contrast and providing clear visual indicators for keyboard navigation.
Original Content:
Slide 8: Diving into WCAG 2.2 Level AA - The Standard Goal
Title: WCAG 2.2 Level AA: Achieving Broader Accessibility
Content: Level AA builds upon Level A, addressing more significant barriers and providing a much better user experience for people with a wider range of disabilities.
Key Concept: Meeting Level AA means your content is generally considered accessible and usable by most people with disabilities.
Examples (with easy explanations):
1.4.3 Contrast (Minimum):
Explanation: Ensure sufficient color contrast between text and its background. Crucial for users with low vision or color blindness.
Example: Dark text on a light background, or vice versa, with a contrast ratio of at least 4.5:1. (e.g., black text on white).
2.4.7 Focus Visible (Keyboard Focus):
Explanation: When navigating with a keyboard, there must be a clear visual indicator (outline) of which element is currently in focus.
Example: A blue outline around a button when a user tabs to it.
Image: A high-contrast color palette and an outlined button.
</a:t>
            </a:r>
          </a:p>
        </p:txBody>
      </p:sp>
      <p:sp>
        <p:nvSpPr>
          <p:cNvPr id="4" name="Slide Number Placeholder 3"/>
          <p:cNvSpPr>
            <a:spLocks noGrp="1"/>
          </p:cNvSpPr>
          <p:nvPr>
            <p:ph type="sldNum" sz="quarter" idx="5"/>
          </p:nvPr>
        </p:nvSpPr>
        <p:spPr/>
        <p:txBody>
          <a:bodyPr/>
          <a:lstStyle/>
          <a:p>
            <a:fld id="{C99CC69F-FC8F-4C8D-8E89-A7D2C0A54924}" type="slidenum">
              <a:rPr lang="en-IN" smtClean="0"/>
              <a:t>20</a:t>
            </a:fld>
            <a:endParaRPr lang="en-IN"/>
          </a:p>
        </p:txBody>
      </p:sp>
    </p:spTree>
    <p:extLst>
      <p:ext uri="{BB962C8B-B14F-4D97-AF65-F5344CB8AC3E}">
        <p14:creationId xmlns:p14="http://schemas.microsoft.com/office/powerpoint/2010/main" val="29901362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Ensuring sufficient color contrast between text and its background is crucial for users with low vision or color blindness. The recommended contrast ratio is at least 4.5:1, such as dark text on a light background or vice versa.
Original Content:
1.4.3 Contrast (Minimum):
Explanation: Ensure sufficient color contrast between text and its background. Crucial for users with low vision or color blindness.
Example: Dark text on a light background, or vice versa, with a contrast ratio of at least 4.5:1. (e.g., black text on white).
</a:t>
            </a:r>
          </a:p>
        </p:txBody>
      </p:sp>
      <p:sp>
        <p:nvSpPr>
          <p:cNvPr id="4" name="Slide Number Placeholder 3"/>
          <p:cNvSpPr>
            <a:spLocks noGrp="1"/>
          </p:cNvSpPr>
          <p:nvPr>
            <p:ph type="sldNum" sz="quarter" idx="5"/>
          </p:nvPr>
        </p:nvSpPr>
        <p:spPr/>
        <p:txBody>
          <a:bodyPr/>
          <a:lstStyle/>
          <a:p>
            <a:fld id="{C99CC69F-FC8F-4C8D-8E89-A7D2C0A54924}" type="slidenum">
              <a:rPr lang="en-IN" smtClean="0"/>
              <a:t>21</a:t>
            </a:fld>
            <a:endParaRPr lang="en-IN"/>
          </a:p>
        </p:txBody>
      </p:sp>
    </p:spTree>
    <p:extLst>
      <p:ext uri="{BB962C8B-B14F-4D97-AF65-F5344CB8AC3E}">
        <p14:creationId xmlns:p14="http://schemas.microsoft.com/office/powerpoint/2010/main" val="34800907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When navigating with a keyboard, it's essential to have a clear visual indicator showing which element is in focus. For example, a blue outline around a button when a user tabs to it.
Original Content:
2.4.7 Focus Visible (Keyboard Focus):
Explanation: When navigating with a keyboard, there must be a clear visual indicator (outline) of which element is currently in focus.
Example: A blue outline around a button when a user tabs to it.
</a:t>
            </a:r>
          </a:p>
        </p:txBody>
      </p:sp>
      <p:sp>
        <p:nvSpPr>
          <p:cNvPr id="4" name="Slide Number Placeholder 3"/>
          <p:cNvSpPr>
            <a:spLocks noGrp="1"/>
          </p:cNvSpPr>
          <p:nvPr>
            <p:ph type="sldNum" sz="quarter" idx="5"/>
          </p:nvPr>
        </p:nvSpPr>
        <p:spPr/>
        <p:txBody>
          <a:bodyPr/>
          <a:lstStyle/>
          <a:p>
            <a:fld id="{C99CC69F-FC8F-4C8D-8E89-A7D2C0A54924}" type="slidenum">
              <a:rPr lang="en-IN" smtClean="0"/>
              <a:t>22</a:t>
            </a:fld>
            <a:endParaRPr lang="en-IN"/>
          </a:p>
        </p:txBody>
      </p:sp>
    </p:spTree>
    <p:extLst>
      <p:ext uri="{BB962C8B-B14F-4D97-AF65-F5344CB8AC3E}">
        <p14:creationId xmlns:p14="http://schemas.microsoft.com/office/powerpoint/2010/main" val="115236375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Meeting Level AA ensures your content is accessible and usable by most people with disabilities.
Original Content:
Key Concept: Meeting Level AA means your content is generally considered accessible and usable by most people with disabilities.
Image: A high-contrast color palette and an outlined button.
</a:t>
            </a:r>
          </a:p>
        </p:txBody>
      </p:sp>
      <p:sp>
        <p:nvSpPr>
          <p:cNvPr id="4" name="Slide Number Placeholder 3"/>
          <p:cNvSpPr>
            <a:spLocks noGrp="1"/>
          </p:cNvSpPr>
          <p:nvPr>
            <p:ph type="sldNum" sz="quarter" idx="5"/>
          </p:nvPr>
        </p:nvSpPr>
        <p:spPr/>
        <p:txBody>
          <a:bodyPr/>
          <a:lstStyle/>
          <a:p>
            <a:fld id="{C99CC69F-FC8F-4C8D-8E89-A7D2C0A54924}" type="slidenum">
              <a:rPr lang="en-IN" smtClean="0"/>
              <a:t>23</a:t>
            </a:fld>
            <a:endParaRPr lang="en-IN"/>
          </a:p>
        </p:txBody>
      </p:sp>
    </p:spTree>
    <p:extLst>
      <p:ext uri="{BB962C8B-B14F-4D97-AF65-F5344CB8AC3E}">
        <p14:creationId xmlns:p14="http://schemas.microsoft.com/office/powerpoint/2010/main" val="8471659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This slide covers more Level AA criteria. Ensure users can pause, stop, or hide moving content. Make link purposes clear from their text or context. Indicate language changes to help screen readers.
Original Content:
Slide 9: More Level AA Examples
Title: More Level AA Enhancements
Content: Further important Level AA criteria:
2.2.2 Pause, Stop, Hide (Animations/Moving Content):
Explanation: For any moving, blinking, or scrolling content, provide a mechanism for users to pause, stop, or hide it. Avoids distractions and seizure triggers.
Example: A "Pause" button for a rotating image carousel.
2.4.4 Link Purpose (In Context):
Explanation: The purpose of each link should be clear from its text or from its context. Avoid generic "click here."
Example: Instead of "Click Here," use "Download Annual Report (PDF)" or "Learn more about our services."
3.1.2 Language of Parts (Language Changes):
Explanation: If parts of the content are in a different language than the primary language of the page, indicate it. Helps screen readers pronounce words correctly.
Example: For a French phrase in an English document: &lt;span lang="fr"&gt;C'est la vie&lt;/span&gt;
Image: A pause button icon, a clear link icon, and a global language icon.
</a:t>
            </a:r>
          </a:p>
        </p:txBody>
      </p:sp>
      <p:sp>
        <p:nvSpPr>
          <p:cNvPr id="4" name="Slide Number Placeholder 3"/>
          <p:cNvSpPr>
            <a:spLocks noGrp="1"/>
          </p:cNvSpPr>
          <p:nvPr>
            <p:ph type="sldNum" sz="quarter" idx="5"/>
          </p:nvPr>
        </p:nvSpPr>
        <p:spPr/>
        <p:txBody>
          <a:bodyPr/>
          <a:lstStyle/>
          <a:p>
            <a:fld id="{C99CC69F-FC8F-4C8D-8E89-A7D2C0A54924}" type="slidenum">
              <a:rPr lang="en-IN" smtClean="0"/>
              <a:t>24</a:t>
            </a:fld>
            <a:endParaRPr lang="en-IN"/>
          </a:p>
        </p:txBody>
      </p:sp>
    </p:spTree>
    <p:extLst>
      <p:ext uri="{BB962C8B-B14F-4D97-AF65-F5344CB8AC3E}">
        <p14:creationId xmlns:p14="http://schemas.microsoft.com/office/powerpoint/2010/main" val="30019194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For any moving, blinking, or scrolling content, provide a mechanism for users to pause, stop, or hide it. This helps avoid distractions and seizure triggers. For example, include a 'Pause' button for rotating image carousels.
Original Content:
2.2.2 Pause, Stop, Hide (Animations/Moving Content):
Explanation: For any moving, blinking, or scrolling content, provide a mechanism for users to pause, stop, or hide it. Avoids distractions and seizure triggers.
Example: A "Pause" button for a rotating image carousel.
</a:t>
            </a:r>
          </a:p>
        </p:txBody>
      </p:sp>
      <p:sp>
        <p:nvSpPr>
          <p:cNvPr id="4" name="Slide Number Placeholder 3"/>
          <p:cNvSpPr>
            <a:spLocks noGrp="1"/>
          </p:cNvSpPr>
          <p:nvPr>
            <p:ph type="sldNum" sz="quarter" idx="5"/>
          </p:nvPr>
        </p:nvSpPr>
        <p:spPr/>
        <p:txBody>
          <a:bodyPr/>
          <a:lstStyle/>
          <a:p>
            <a:fld id="{C99CC69F-FC8F-4C8D-8E89-A7D2C0A54924}" type="slidenum">
              <a:rPr lang="en-IN" smtClean="0"/>
              <a:t>25</a:t>
            </a:fld>
            <a:endParaRPr lang="en-IN"/>
          </a:p>
        </p:txBody>
      </p:sp>
    </p:spTree>
    <p:extLst>
      <p:ext uri="{BB962C8B-B14F-4D97-AF65-F5344CB8AC3E}">
        <p14:creationId xmlns:p14="http://schemas.microsoft.com/office/powerpoint/2010/main" val="38320662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Ensure each link's purpose is clear from its text or context. Avoid generic phrases like 'click here.' Use descriptive text such as 'Download Annual Report (PDF)' or 'Learn more about our services.'
Original Content:
2.4.4 Link Purpose (In Context):
Explanation: The purpose of each link should be clear from its text or from its context. Avoid generic "click here."
Example: Instead of "Click Here," use "Download Annual Report (PDF)" or "Learn more about our services."
</a:t>
            </a:r>
          </a:p>
        </p:txBody>
      </p:sp>
      <p:sp>
        <p:nvSpPr>
          <p:cNvPr id="4" name="Slide Number Placeholder 3"/>
          <p:cNvSpPr>
            <a:spLocks noGrp="1"/>
          </p:cNvSpPr>
          <p:nvPr>
            <p:ph type="sldNum" sz="quarter" idx="5"/>
          </p:nvPr>
        </p:nvSpPr>
        <p:spPr/>
        <p:txBody>
          <a:bodyPr/>
          <a:lstStyle/>
          <a:p>
            <a:fld id="{C99CC69F-FC8F-4C8D-8E89-A7D2C0A54924}" type="slidenum">
              <a:rPr lang="en-IN" smtClean="0"/>
              <a:t>26</a:t>
            </a:fld>
            <a:endParaRPr lang="en-IN"/>
          </a:p>
        </p:txBody>
      </p:sp>
    </p:spTree>
    <p:extLst>
      <p:ext uri="{BB962C8B-B14F-4D97-AF65-F5344CB8AC3E}">
        <p14:creationId xmlns:p14="http://schemas.microsoft.com/office/powerpoint/2010/main" val="4692558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When parts of a document are in a different language, it's important to indicate this for screen readers. This helps in correct pronunciation and improves accessibility. For example, a French phrase in an English document can be marked using &lt;span lang="fr"&gt;C'est la vie&lt;/span&gt;.
Original Content:
3.1.2 Language of Parts (Language Changes):
Explanation: If parts of the content are in a different language than the primary language of the page, indicate it. Helps screen readers pronounce words correctly.
Example: For a French phrase in an English document: &lt;span lang="fr"&gt;C'est la vie&lt;/span&gt;
</a:t>
            </a:r>
          </a:p>
        </p:txBody>
      </p:sp>
      <p:sp>
        <p:nvSpPr>
          <p:cNvPr id="4" name="Slide Number Placeholder 3"/>
          <p:cNvSpPr>
            <a:spLocks noGrp="1"/>
          </p:cNvSpPr>
          <p:nvPr>
            <p:ph type="sldNum" sz="quarter" idx="5"/>
          </p:nvPr>
        </p:nvSpPr>
        <p:spPr/>
        <p:txBody>
          <a:bodyPr/>
          <a:lstStyle/>
          <a:p>
            <a:fld id="{C99CC69F-FC8F-4C8D-8E89-A7D2C0A54924}" type="slidenum">
              <a:rPr lang="en-IN" smtClean="0"/>
              <a:t>27</a:t>
            </a:fld>
            <a:endParaRPr lang="en-IN"/>
          </a:p>
        </p:txBody>
      </p:sp>
    </p:spTree>
    <p:extLst>
      <p:ext uri="{BB962C8B-B14F-4D97-AF65-F5344CB8AC3E}">
        <p14:creationId xmlns:p14="http://schemas.microsoft.com/office/powerpoint/2010/main" val="36549102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This slide showcases three different icons: a pause button, a clear link, and a global language icon.
Original Content:
Image: A pause button icon, a clear link icon, and a global language icon.
</a:t>
            </a:r>
          </a:p>
        </p:txBody>
      </p:sp>
      <p:sp>
        <p:nvSpPr>
          <p:cNvPr id="4" name="Slide Number Placeholder 3"/>
          <p:cNvSpPr>
            <a:spLocks noGrp="1"/>
          </p:cNvSpPr>
          <p:nvPr>
            <p:ph type="sldNum" sz="quarter" idx="5"/>
          </p:nvPr>
        </p:nvSpPr>
        <p:spPr/>
        <p:txBody>
          <a:bodyPr/>
          <a:lstStyle/>
          <a:p>
            <a:fld id="{C99CC69F-FC8F-4C8D-8E89-A7D2C0A54924}" type="slidenum">
              <a:rPr lang="en-IN" smtClean="0"/>
              <a:t>28</a:t>
            </a:fld>
            <a:endParaRPr lang="en-IN"/>
          </a:p>
        </p:txBody>
      </p:sp>
    </p:spTree>
    <p:extLst>
      <p:ext uri="{BB962C8B-B14F-4D97-AF65-F5344CB8AC3E}">
        <p14:creationId xmlns:p14="http://schemas.microsoft.com/office/powerpoint/2010/main" val="331002870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WCAG 2.2 introduces new criteria focusing on cognitive disabilities and usability. Dragging movements should have single-pointer alternatives. Interactive elements need a minimum target size for easy activation. Web pages must offer help options like 'Contact Us' links.
Original Content:
Explanation: Where an operation involves a dragging movement, provide an alternative single-pointer operation (e.g., click/tap).
Example: For a drag-and-drop file upload, allow users to also click a "Browse" button to select files.
2.5.8 Target Size (Minimum) (Level AA):
Explanation: Interactive elements (buttons, links) should be large enough and have enough spacing to be easily activated, especially on touch devices.
Example: A button should have a minimum target size of 24x24 CSS pixels.
3.2.6 Findable Help (Level A):
Explanation: For web pages that are part of a set of web pages, at least one of the following must be available: Human contact mechanism, self-help option, a link to a help page or a help pop-up window.
Example: A prominent "Contact Us" or "Help" link in the header/footer.
Image: A finger tapping a large button, a question mark icon.
Slide 10: New in WCAG 2.2: Focus on Usability &amp; Cognitive Needs
Title: What's New in WCAG 2.2? (Focus on Cognitive &amp; Usability)
Content: WCAG 2.2 introduces a few new Level A &amp; AA criteria, particularly addressing cognitive disabilities and improving usability:
2.5.7 Dragging Movements (Level AA):
</a:t>
            </a:r>
          </a:p>
        </p:txBody>
      </p:sp>
      <p:sp>
        <p:nvSpPr>
          <p:cNvPr id="4" name="Slide Number Placeholder 3"/>
          <p:cNvSpPr>
            <a:spLocks noGrp="1"/>
          </p:cNvSpPr>
          <p:nvPr>
            <p:ph type="sldNum" sz="quarter" idx="5"/>
          </p:nvPr>
        </p:nvSpPr>
        <p:spPr/>
        <p:txBody>
          <a:bodyPr/>
          <a:lstStyle/>
          <a:p>
            <a:fld id="{C99CC69F-FC8F-4C8D-8E89-A7D2C0A54924}" type="slidenum">
              <a:rPr lang="en-IN" smtClean="0"/>
              <a:t>29</a:t>
            </a:fld>
            <a:endParaRPr lang="en-IN"/>
          </a:p>
        </p:txBody>
      </p:sp>
    </p:spTree>
    <p:extLst>
      <p:ext uri="{BB962C8B-B14F-4D97-AF65-F5344CB8AC3E}">
        <p14:creationId xmlns:p14="http://schemas.microsoft.com/office/powerpoint/2010/main" val="29194579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When an operation involves dragging, offer an alternative single-pointer action like clicking or tapping. For instance, in a drag-and-drop file upload, provide a 'Browse' button for file selection.
Original Content:
Explanation: Where an operation involves a dragging movement, provide an alternative single-pointer operation (e.g., click/tap).
Example: For a drag-and-drop file upload, allow users to also click a "Browse" button to select files.
2.5.7 Dragging Movements (Level AA):
</a:t>
            </a:r>
          </a:p>
        </p:txBody>
      </p:sp>
      <p:sp>
        <p:nvSpPr>
          <p:cNvPr id="4" name="Slide Number Placeholder 3"/>
          <p:cNvSpPr>
            <a:spLocks noGrp="1"/>
          </p:cNvSpPr>
          <p:nvPr>
            <p:ph type="sldNum" sz="quarter" idx="5"/>
          </p:nvPr>
        </p:nvSpPr>
        <p:spPr/>
        <p:txBody>
          <a:bodyPr/>
          <a:lstStyle/>
          <a:p>
            <a:fld id="{C99CC69F-FC8F-4C8D-8E89-A7D2C0A54924}" type="slidenum">
              <a:rPr lang="en-IN" smtClean="0"/>
              <a:t>30</a:t>
            </a:fld>
            <a:endParaRPr lang="en-IN"/>
          </a:p>
        </p:txBody>
      </p:sp>
    </p:spTree>
    <p:extLst>
      <p:ext uri="{BB962C8B-B14F-4D97-AF65-F5344CB8AC3E}">
        <p14:creationId xmlns:p14="http://schemas.microsoft.com/office/powerpoint/2010/main" val="33495669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Interactive elements like buttons and links should be large enough to be easily activated, especially on touch devices. The recommended minimum target size is 24x24 CSS pixels.
Original Content:
2.5.8 Target Size (Minimum) (Level AA):
Explanation: Interactive elements (buttons, links) should be large enough and have enough spacing to be easily activated, especially on touch devices.
Example: A button should have a minimum target size of 24x24 CSS pixels.
</a:t>
            </a:r>
          </a:p>
        </p:txBody>
      </p:sp>
      <p:sp>
        <p:nvSpPr>
          <p:cNvPr id="4" name="Slide Number Placeholder 3"/>
          <p:cNvSpPr>
            <a:spLocks noGrp="1"/>
          </p:cNvSpPr>
          <p:nvPr>
            <p:ph type="sldNum" sz="quarter" idx="5"/>
          </p:nvPr>
        </p:nvSpPr>
        <p:spPr/>
        <p:txBody>
          <a:bodyPr/>
          <a:lstStyle/>
          <a:p>
            <a:fld id="{C99CC69F-FC8F-4C8D-8E89-A7D2C0A54924}" type="slidenum">
              <a:rPr lang="en-IN" smtClean="0"/>
              <a:t>31</a:t>
            </a:fld>
            <a:endParaRPr lang="en-IN"/>
          </a:p>
        </p:txBody>
      </p:sp>
    </p:spTree>
    <p:extLst>
      <p:ext uri="{BB962C8B-B14F-4D97-AF65-F5344CB8AC3E}">
        <p14:creationId xmlns:p14="http://schemas.microsoft.com/office/powerpoint/2010/main" val="28004169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Web pages in a set must have a help option like human contact, self-help, help page link, or help pop-up. An example is a prominent 'Contact Us' or 'Help' link in the header or footer.
Original Content:
3.2.6 Findable Help (Level A):
Explanation: For web pages that are part of a set of web pages, at least one of the following must be available: Human contact mechanism, self-help option, a link to a help page or a help pop-up window.
Example: A prominent "Contact Us" or "Help" link in the header/footer.
</a:t>
            </a:r>
          </a:p>
        </p:txBody>
      </p:sp>
      <p:sp>
        <p:nvSpPr>
          <p:cNvPr id="4" name="Slide Number Placeholder 3"/>
          <p:cNvSpPr>
            <a:spLocks noGrp="1"/>
          </p:cNvSpPr>
          <p:nvPr>
            <p:ph type="sldNum" sz="quarter" idx="5"/>
          </p:nvPr>
        </p:nvSpPr>
        <p:spPr/>
        <p:txBody>
          <a:bodyPr/>
          <a:lstStyle/>
          <a:p>
            <a:fld id="{C99CC69F-FC8F-4C8D-8E89-A7D2C0A54924}" type="slidenum">
              <a:rPr lang="en-IN" smtClean="0"/>
              <a:t>32</a:t>
            </a:fld>
            <a:endParaRPr lang="en-IN"/>
          </a:p>
        </p:txBody>
      </p:sp>
    </p:spTree>
    <p:extLst>
      <p:ext uri="{BB962C8B-B14F-4D97-AF65-F5344CB8AC3E}">
        <p14:creationId xmlns:p14="http://schemas.microsoft.com/office/powerpoint/2010/main" val="6192135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 image depicts a finger tapping a large button, accompanied by a question mark icon.
Original Content:
Image: A finger tapping a large button, a question mark icon.
</a:t>
            </a:r>
          </a:p>
        </p:txBody>
      </p:sp>
      <p:sp>
        <p:nvSpPr>
          <p:cNvPr id="4" name="Slide Number Placeholder 3"/>
          <p:cNvSpPr>
            <a:spLocks noGrp="1"/>
          </p:cNvSpPr>
          <p:nvPr>
            <p:ph type="sldNum" sz="quarter" idx="5"/>
          </p:nvPr>
        </p:nvSpPr>
        <p:spPr/>
        <p:txBody>
          <a:bodyPr/>
          <a:lstStyle/>
          <a:p>
            <a:fld id="{C99CC69F-FC8F-4C8D-8E89-A7D2C0A54924}" type="slidenum">
              <a:rPr lang="en-IN" smtClean="0"/>
              <a:t>33</a:t>
            </a:fld>
            <a:endParaRPr lang="en-IN"/>
          </a:p>
        </p:txBody>
      </p:sp>
    </p:spTree>
    <p:extLst>
      <p:ext uri="{BB962C8B-B14F-4D97-AF65-F5344CB8AC3E}">
        <p14:creationId xmlns:p14="http://schemas.microsoft.com/office/powerpoint/2010/main" val="27626744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Aiming for Level AA ensures legal compliance, enhances user experience for those with various impairments, boosts SEO, and improves brand reputation.
Original Content:
Slide 11: Why Aim for AA?
Title: Why Aim for Level AA?
Content:
Legal Compliance: Many laws and regulations worldwide mandate WCAG Level AA conformance (e.g., ADA, Section 508 in the US, EN 301 549 in Europe).
Inclusive User Experience: Significantly improves usability for a wide range of users, including those with:
Visual impairments (low vision, color blindness)
Motor impairments (difficulty with precise mouse movements)
Cognitive disabilities (difficulty processing information)
Auditory impairments (captioning for videos)
SEO Benefits: Many accessibility practices (like proper alt text, semantic HTML) also improve search engine optimization.
Brand Reputation: Demonstrates a commitment to inclusion and corporate social responsibility.
Image: Scales of justice, a diverse group of happy users.
</a:t>
            </a:r>
          </a:p>
        </p:txBody>
      </p:sp>
      <p:sp>
        <p:nvSpPr>
          <p:cNvPr id="4" name="Slide Number Placeholder 3"/>
          <p:cNvSpPr>
            <a:spLocks noGrp="1"/>
          </p:cNvSpPr>
          <p:nvPr>
            <p:ph type="sldNum" sz="quarter" idx="5"/>
          </p:nvPr>
        </p:nvSpPr>
        <p:spPr/>
        <p:txBody>
          <a:bodyPr/>
          <a:lstStyle/>
          <a:p>
            <a:fld id="{C99CC69F-FC8F-4C8D-8E89-A7D2C0A54924}" type="slidenum">
              <a:rPr lang="en-IN" smtClean="0"/>
              <a:t>34</a:t>
            </a:fld>
            <a:endParaRPr lang="en-IN"/>
          </a:p>
        </p:txBody>
      </p:sp>
    </p:spTree>
    <p:extLst>
      <p:ext uri="{BB962C8B-B14F-4D97-AF65-F5344CB8AC3E}">
        <p14:creationId xmlns:p14="http://schemas.microsoft.com/office/powerpoint/2010/main" val="22572722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Inclusive user experience significantly improves usability for users with visual, motor, cognitive, and auditory impairments.
Original Content:
Inclusive User Experience: Significantly improves usability for a wide range of users, including those with:
Visual impairments (low vision, color blindness)
Motor impairments (difficulty with precise mouse movements)
Cognitive disabilities (difficulty processing information)
Auditory impairments (captioning for videos)
</a:t>
            </a:r>
          </a:p>
        </p:txBody>
      </p:sp>
      <p:sp>
        <p:nvSpPr>
          <p:cNvPr id="4" name="Slide Number Placeholder 3"/>
          <p:cNvSpPr>
            <a:spLocks noGrp="1"/>
          </p:cNvSpPr>
          <p:nvPr>
            <p:ph type="sldNum" sz="quarter" idx="5"/>
          </p:nvPr>
        </p:nvSpPr>
        <p:spPr/>
        <p:txBody>
          <a:bodyPr/>
          <a:lstStyle/>
          <a:p>
            <a:fld id="{C99CC69F-FC8F-4C8D-8E89-A7D2C0A54924}" type="slidenum">
              <a:rPr lang="en-IN" smtClean="0"/>
              <a:t>35</a:t>
            </a:fld>
            <a:endParaRPr lang="en-IN"/>
          </a:p>
        </p:txBody>
      </p:sp>
    </p:spTree>
    <p:extLst>
      <p:ext uri="{BB962C8B-B14F-4D97-AF65-F5344CB8AC3E}">
        <p14:creationId xmlns:p14="http://schemas.microsoft.com/office/powerpoint/2010/main" val="21072380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WCAG Level AA conformance offers legal compliance, SEO benefits, and enhances brand reputation. It is mandated by laws like ADA and Section 508, improves search engine optimization, and shows commitment to inclusion and corporate social responsibility.
Original Content:
Legal Compliance: Many laws and regulations worldwide mandate WCAG Level AA conformance (e.g., ADA, Section 508 in the US, EN 301 549 in Europe).
SEO Benefits: Many accessibility practices (like proper alt text, semantic HTML) also improve search engine optimization.
Brand Reputation: Demonstrates a commitment to inclusion and corporate social responsibility.
Image: Scales of justice, a diverse group of happy users.
</a:t>
            </a:r>
          </a:p>
        </p:txBody>
      </p:sp>
      <p:sp>
        <p:nvSpPr>
          <p:cNvPr id="4" name="Slide Number Placeholder 3"/>
          <p:cNvSpPr>
            <a:spLocks noGrp="1"/>
          </p:cNvSpPr>
          <p:nvPr>
            <p:ph type="sldNum" sz="quarter" idx="5"/>
          </p:nvPr>
        </p:nvSpPr>
        <p:spPr/>
        <p:txBody>
          <a:bodyPr/>
          <a:lstStyle/>
          <a:p>
            <a:fld id="{C99CC69F-FC8F-4C8D-8E89-A7D2C0A54924}" type="slidenum">
              <a:rPr lang="en-IN" smtClean="0"/>
              <a:t>36</a:t>
            </a:fld>
            <a:endParaRPr lang="en-IN"/>
          </a:p>
        </p:txBody>
      </p:sp>
    </p:spTree>
    <p:extLst>
      <p:ext uri="{BB962C8B-B14F-4D97-AF65-F5344CB8AC3E}">
        <p14:creationId xmlns:p14="http://schemas.microsoft.com/office/powerpoint/2010/main" val="339305201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To ensure accessibility, educate yourself and your team on guidelines. Start early in the design process. Use automated tools like browser extensions and online checkers. Conduct manual testing, including keyboard navigation and screen reader tests. Involve users with disabilities in testing. Prioritize starting with Level A and then move to Level AA.
Original Content:
Educate Yourself &amp; Your Team: Understand the guidelines.
Start Early: Integrate accessibility into your design and development process, not as an afterthought.
Use Automated Tools:
Browser extensions (e.g., Lighthouse, axe DevTools, WAVE)
Online checkers (e.g., WAVE, Siteimprove)
Manual Testing: Crucial for catching issues automated tools miss.
Keyboard navigation test
Screen reader testing (e.g., NVDA, JAWS, VoiceOver)
User Testing: Involve people with disabilities in your testing process.
Prioritize: Start with Level A, then move to Level AA.
Image: Icons representing a magnifying glass, a wrench/gear, and people collaborating.
</a:t>
            </a:r>
          </a:p>
        </p:txBody>
      </p:sp>
      <p:sp>
        <p:nvSpPr>
          <p:cNvPr id="4" name="Slide Number Placeholder 3"/>
          <p:cNvSpPr>
            <a:spLocks noGrp="1"/>
          </p:cNvSpPr>
          <p:nvPr>
            <p:ph type="sldNum" sz="quarter" idx="5"/>
          </p:nvPr>
        </p:nvSpPr>
        <p:spPr/>
        <p:txBody>
          <a:bodyPr/>
          <a:lstStyle/>
          <a:p>
            <a:fld id="{C99CC69F-FC8F-4C8D-8E89-A7D2C0A54924}" type="slidenum">
              <a:rPr lang="en-IN" smtClean="0"/>
              <a:t>37</a:t>
            </a:fld>
            <a:endParaRPr lang="en-IN"/>
          </a:p>
        </p:txBody>
      </p:sp>
    </p:spTree>
    <p:extLst>
      <p:ext uri="{BB962C8B-B14F-4D97-AF65-F5344CB8AC3E}">
        <p14:creationId xmlns:p14="http://schemas.microsoft.com/office/powerpoint/2010/main" val="275118591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Web accessibility ensures inclusion for everyone. WCAG 2.2 provides clear guidelines, with Level A as the foundation and Level AA as the standard. Implementing these guidelines makes content usable, compliant, and beneficial. Start small, educate, test, and make accessibility a continuous process.
Original Content:
Web accessibility is about inclusion for everyone.
WCAG 2.2 provides clear guidelines for achieving accessibility.
Level A is the basic foundation; Level AA is the widely accepted standard.
Implementing WCAG 2.2 makes your digital content more usable, legally compliant, and beneficial for all users.
Start small, educate, test, and make accessibility a continuous process.
Image: A checkmark or a "thumbs up" icon.
</a:t>
            </a:r>
          </a:p>
        </p:txBody>
      </p:sp>
      <p:sp>
        <p:nvSpPr>
          <p:cNvPr id="4" name="Slide Number Placeholder 3"/>
          <p:cNvSpPr>
            <a:spLocks noGrp="1"/>
          </p:cNvSpPr>
          <p:nvPr>
            <p:ph type="sldNum" sz="quarter" idx="5"/>
          </p:nvPr>
        </p:nvSpPr>
        <p:spPr/>
        <p:txBody>
          <a:bodyPr/>
          <a:lstStyle/>
          <a:p>
            <a:fld id="{C99CC69F-FC8F-4C8D-8E89-A7D2C0A54924}" type="slidenum">
              <a:rPr lang="en-IN" smtClean="0"/>
              <a:t>38</a:t>
            </a:fld>
            <a:endParaRPr lang="en-IN"/>
          </a:p>
        </p:txBody>
      </p:sp>
    </p:spTree>
    <p:extLst>
      <p:ext uri="{BB962C8B-B14F-4D97-AF65-F5344CB8AC3E}">
        <p14:creationId xmlns:p14="http://schemas.microsoft.com/office/powerpoint/2010/main" val="396992999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Thank you for your time! If you have any questions, feel free to ask now.
Original Content:
"Thank you for your time!"
"Any questions?"
Image: A thought bubble or question mark.
</a:t>
            </a:r>
          </a:p>
        </p:txBody>
      </p:sp>
      <p:sp>
        <p:nvSpPr>
          <p:cNvPr id="4" name="Slide Number Placeholder 3"/>
          <p:cNvSpPr>
            <a:spLocks noGrp="1"/>
          </p:cNvSpPr>
          <p:nvPr>
            <p:ph type="sldNum" sz="quarter" idx="5"/>
          </p:nvPr>
        </p:nvSpPr>
        <p:spPr/>
        <p:txBody>
          <a:bodyPr/>
          <a:lstStyle/>
          <a:p>
            <a:fld id="{C99CC69F-FC8F-4C8D-8E89-A7D2C0A54924}" type="slidenum">
              <a:rPr lang="en-IN" smtClean="0"/>
              <a:t>39</a:t>
            </a:fld>
            <a:endParaRPr lang="en-IN"/>
          </a:p>
        </p:txBody>
      </p:sp>
    </p:spTree>
    <p:extLst>
      <p:ext uri="{BB962C8B-B14F-4D97-AF65-F5344CB8AC3E}">
        <p14:creationId xmlns:p14="http://schemas.microsoft.com/office/powerpoint/2010/main" val="359604945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Thank you for your attention. For further information, you can contact me via email or visit my website. Here are some useful resources: WCAG 2.2 Guidelines, WebAIM Checklist, WAVE Accessibility Tool, and axe DevTools.
Original Content:
Slide 15: Thank You &amp; Resources
Title: Thank You &amp; Resources
Content:
Contact Information: Your Name, Email, Website (Optional)
Useful Resources:
WCAG 2.2 Guidelines: https://www.w3.org/TR/WCAG22/
WebAIM Checklist: https://webaim.org/standards/wcag/checklist
WAVE Accessibility Tool: https://wave.webaim.org/
axe DevTools: https://www.deque.com/axe/devtools/
Image: A handshake or a "thank you" graphic.
</a:t>
            </a:r>
          </a:p>
        </p:txBody>
      </p:sp>
      <p:sp>
        <p:nvSpPr>
          <p:cNvPr id="4" name="Slide Number Placeholder 3"/>
          <p:cNvSpPr>
            <a:spLocks noGrp="1"/>
          </p:cNvSpPr>
          <p:nvPr>
            <p:ph type="sldNum" sz="quarter" idx="5"/>
          </p:nvPr>
        </p:nvSpPr>
        <p:spPr/>
        <p:txBody>
          <a:bodyPr/>
          <a:lstStyle/>
          <a:p>
            <a:fld id="{C99CC69F-FC8F-4C8D-8E89-A7D2C0A54924}" type="slidenum">
              <a:rPr lang="en-IN" smtClean="0"/>
              <a:t>40</a:t>
            </a:fld>
            <a:endParaRPr lang="en-IN"/>
          </a:p>
        </p:txBody>
      </p:sp>
    </p:spTree>
    <p:extLst>
      <p:ext uri="{BB962C8B-B14F-4D97-AF65-F5344CB8AC3E}">
        <p14:creationId xmlns:p14="http://schemas.microsoft.com/office/powerpoint/2010/main" val="344488569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Here are some useful resources for web accessibility: WCAG 2.2 Guidelines, WebAIM Checklist, WAVE Accessibility Tool, and axe DevTools. These resources provide guidelines, checklists, and tools for ensuring web accessibility.
Original Content:
Useful Resources:
WCAG 2.2 Guidelines: https://www.w3.org/TR/WCAG22/
WebAIM Checklist: https://webaim.org/standards/wcag/checklist
WAVE Accessibility Tool: https://wave.webaim.org/
axe DevTools: https://www.deque.com/axe/devtools/
</a:t>
            </a:r>
          </a:p>
        </p:txBody>
      </p:sp>
      <p:sp>
        <p:nvSpPr>
          <p:cNvPr id="4" name="Slide Number Placeholder 3"/>
          <p:cNvSpPr>
            <a:spLocks noGrp="1"/>
          </p:cNvSpPr>
          <p:nvPr>
            <p:ph type="sldNum" sz="quarter" idx="5"/>
          </p:nvPr>
        </p:nvSpPr>
        <p:spPr/>
        <p:txBody>
          <a:bodyPr/>
          <a:lstStyle/>
          <a:p>
            <a:fld id="{C99CC69F-FC8F-4C8D-8E89-A7D2C0A54924}" type="slidenum">
              <a:rPr lang="en-IN" smtClean="0"/>
              <a:t>41</a:t>
            </a:fld>
            <a:endParaRPr lang="en-IN"/>
          </a:p>
        </p:txBody>
      </p:sp>
    </p:spTree>
    <p:extLst>
      <p:ext uri="{BB962C8B-B14F-4D97-AF65-F5344CB8AC3E}">
        <p14:creationId xmlns:p14="http://schemas.microsoft.com/office/powerpoint/2010/main" val="252017135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Please find the contact information including name, email, and optional website. A handshake or thank you graphic can be used.
Original Content:
Contact Information: Your Name, Email, Website (Optional)
Image: A handshake or a "thank you" graphic.
</a:t>
            </a:r>
          </a:p>
        </p:txBody>
      </p:sp>
      <p:sp>
        <p:nvSpPr>
          <p:cNvPr id="4" name="Slide Number Placeholder 3"/>
          <p:cNvSpPr>
            <a:spLocks noGrp="1"/>
          </p:cNvSpPr>
          <p:nvPr>
            <p:ph type="sldNum" sz="quarter" idx="5"/>
          </p:nvPr>
        </p:nvSpPr>
        <p:spPr/>
        <p:txBody>
          <a:bodyPr/>
          <a:lstStyle/>
          <a:p>
            <a:fld id="{C99CC69F-FC8F-4C8D-8E89-A7D2C0A54924}" type="slidenum">
              <a:rPr lang="en-IN" smtClean="0"/>
              <a:t>42</a:t>
            </a:fld>
            <a:endParaRPr lang="en-IN"/>
          </a:p>
        </p:txBody>
      </p:sp>
    </p:spTree>
    <p:extLst>
      <p:ext uri="{BB962C8B-B14F-4D97-AF65-F5344CB8AC3E}">
        <p14:creationId xmlns:p14="http://schemas.microsoft.com/office/powerpoint/2010/main" val="41433908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6/19/2025</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817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6/19/2025</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00014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6/19/2025</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925292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6/19/2025</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257295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6/19/2025</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84817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6/19/2025</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67215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6/19/2025</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57344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6/19/2025</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29495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6/19/2025</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14950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6/19/2025</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57755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6/19/2025</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772335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6/19/2025</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dirty="0"/>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521015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38.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2CE148-C293-064A-2F30-FB065FB18FD7}"/>
              </a:ext>
            </a:extLst>
          </p:cNvPr>
          <p:cNvSpPr>
            <a:spLocks noGrp="1"/>
          </p:cNvSpPr>
          <p:nvPr>
            <p:ph type="ctrTitle"/>
          </p:nvPr>
        </p:nvSpPr>
        <p:spPr>
          <a:xfrm>
            <a:off x="800102" y="960594"/>
            <a:ext cx="5828114" cy="4936812"/>
          </a:xfrm>
        </p:spPr>
        <p:txBody>
          <a:bodyPr anchor="ctr">
            <a:normAutofit/>
          </a:bodyPr>
          <a:lstStyle/>
          <a:p>
            <a:pPr algn="r"/>
            <a:r>
              <a:rPr lang="en-IN" sz="6000"/>
              <a:t>Making Digital Content Accessible</a:t>
            </a:r>
          </a:p>
        </p:txBody>
      </p:sp>
      <p:sp>
        <p:nvSpPr>
          <p:cNvPr id="3" name="Subtitle 2">
            <a:extLst>
              <a:ext uri="{FF2B5EF4-FFF2-40B4-BE49-F238E27FC236}">
                <a16:creationId xmlns:a16="http://schemas.microsoft.com/office/drawing/2014/main" id="{E2879DC0-C4FD-658E-38FF-F6F2988B95B8}"/>
              </a:ext>
            </a:extLst>
          </p:cNvPr>
          <p:cNvSpPr>
            <a:spLocks noGrp="1"/>
          </p:cNvSpPr>
          <p:nvPr>
            <p:ph type="subTitle" idx="1"/>
          </p:nvPr>
        </p:nvSpPr>
        <p:spPr>
          <a:xfrm>
            <a:off x="8002185" y="1390650"/>
            <a:ext cx="3019423" cy="4076700"/>
          </a:xfrm>
        </p:spPr>
        <p:txBody>
          <a:bodyPr anchor="ctr">
            <a:normAutofit/>
          </a:bodyPr>
          <a:lstStyle/>
          <a:p>
            <a:r>
              <a:rPr lang="en-IN" sz="2200"/>
              <a:t>Understanding WCAG 2.2 Level A &amp; AA</a:t>
            </a:r>
          </a:p>
        </p:txBody>
      </p:sp>
      <p:cxnSp>
        <p:nvCxnSpPr>
          <p:cNvPr id="10" name="Straight Connector 9">
            <a:extLst>
              <a:ext uri="{FF2B5EF4-FFF2-40B4-BE49-F238E27FC236}">
                <a16:creationId xmlns:a16="http://schemas.microsoft.com/office/drawing/2014/main" id="{9CA98CE3-81A7-4FFE-A047-9AA65998D8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315200" y="1733549"/>
            <a:ext cx="0" cy="3390901"/>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8626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1BDC11-249F-A642-54F1-BBD92F9F69DD}"/>
              </a:ext>
            </a:extLst>
          </p:cNvPr>
          <p:cNvSpPr>
            <a:spLocks noGrp="1"/>
          </p:cNvSpPr>
          <p:nvPr>
            <p:ph type="title"/>
          </p:nvPr>
        </p:nvSpPr>
        <p:spPr>
          <a:xfrm>
            <a:off x="704087" y="559063"/>
            <a:ext cx="3306747" cy="5256025"/>
          </a:xfrm>
        </p:spPr>
        <p:txBody>
          <a:bodyPr>
            <a:normAutofit/>
          </a:bodyPr>
          <a:lstStyle/>
          <a:p>
            <a:r>
              <a:rPr lang="en-IN" sz="3600"/>
              <a:t>Agenda</a:t>
            </a:r>
          </a:p>
        </p:txBody>
      </p:sp>
      <p:sp>
        <p:nvSpPr>
          <p:cNvPr id="3" name="Content Placeholder 2">
            <a:extLst>
              <a:ext uri="{FF2B5EF4-FFF2-40B4-BE49-F238E27FC236}">
                <a16:creationId xmlns:a16="http://schemas.microsoft.com/office/drawing/2014/main" id="{74CDF17A-189D-F8F9-040C-9A894E08D132}"/>
              </a:ext>
            </a:extLst>
          </p:cNvPr>
          <p:cNvSpPr>
            <a:spLocks noGrp="1"/>
          </p:cNvSpPr>
          <p:nvPr>
            <p:ph idx="1"/>
          </p:nvPr>
        </p:nvSpPr>
        <p:spPr>
          <a:xfrm>
            <a:off x="4643022" y="622249"/>
            <a:ext cx="6844892" cy="5639712"/>
          </a:xfrm>
        </p:spPr>
        <p:txBody>
          <a:bodyPr>
            <a:normAutofit/>
          </a:bodyPr>
          <a:lstStyle/>
          <a:p>
            <a:r>
              <a:rPr lang="en-US"/>
              <a:t>Introduction</a:t>
            </a:r>
          </a:p>
          <a:p>
            <a:r>
              <a:rPr lang="en-US"/>
              <a:t>Title Slide</a:t>
            </a:r>
          </a:p>
          <a:p>
            <a:r>
              <a:rPr lang="en-US"/>
              <a:t>What is Web Accessibility?</a:t>
            </a:r>
          </a:p>
          <a:p>
            <a:r>
              <a:rPr lang="en-US"/>
              <a:t>Introducing WCAG 2.2</a:t>
            </a:r>
          </a:p>
          <a:p>
            <a:r>
              <a:rPr lang="en-US"/>
              <a:t>Understanding WCAG Principles (POUR)</a:t>
            </a:r>
          </a:p>
          <a:p>
            <a:r>
              <a:rPr lang="en-US"/>
              <a:t>WCAG Conformance Levels</a:t>
            </a:r>
          </a:p>
          <a:p>
            <a:r>
              <a:rPr lang="en-US"/>
              <a:t>Diving into WCAG 2.2 Level A - The Basics</a:t>
            </a:r>
          </a:p>
          <a:p>
            <a:r>
              <a:rPr lang="en-US"/>
              <a:t>More Level A Examples</a:t>
            </a:r>
          </a:p>
          <a:p>
            <a:r>
              <a:rPr lang="en-US"/>
              <a:t>Diving into WCAG 2.2 Level AA - The Standard Goal</a:t>
            </a:r>
          </a:p>
          <a:p>
            <a:r>
              <a:rPr lang="en-US"/>
              <a:t>More Level AA Examples</a:t>
            </a:r>
          </a:p>
          <a:p>
            <a:r>
              <a:rPr lang="en-US"/>
              <a:t>New in WCAG 2.2: Focus on Usability &amp; Cognitive Needs</a:t>
            </a:r>
          </a:p>
          <a:p>
            <a:r>
              <a:rPr lang="en-US"/>
              <a:t>Why Aim for AA?</a:t>
            </a:r>
            <a:endParaRPr lang="en-IN"/>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12871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8A2C2AF-A927-C14C-09D6-A03C318FA1A3}"/>
              </a:ext>
            </a:extLst>
          </p:cNvPr>
          <p:cNvSpPr>
            <a:spLocks noGrp="1"/>
          </p:cNvSpPr>
          <p:nvPr>
            <p:ph type="title"/>
          </p:nvPr>
        </p:nvSpPr>
        <p:spPr>
          <a:xfrm>
            <a:off x="704088" y="914400"/>
            <a:ext cx="3799763" cy="1473200"/>
          </a:xfrm>
        </p:spPr>
        <p:txBody>
          <a:bodyPr vert="horz" lIns="91440" tIns="45720" rIns="91440" bIns="45720" rtlCol="0" anchor="t">
            <a:normAutofit/>
          </a:bodyPr>
          <a:lstStyle/>
          <a:p>
            <a:r>
              <a:rPr lang="en-US" sz="3600"/>
              <a:t>Introduction</a:t>
            </a:r>
          </a:p>
        </p:txBody>
      </p:sp>
      <p:cxnSp>
        <p:nvCxnSpPr>
          <p:cNvPr id="16" name="Straight Connector 15">
            <a:extLst>
              <a:ext uri="{FF2B5EF4-FFF2-40B4-BE49-F238E27FC236}">
                <a16:creationId xmlns:a16="http://schemas.microsoft.com/office/drawing/2014/main" id="{D2E57F3D-33BE-4306-87E6-2457637195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BA83C0FA-5A5C-163F-4049-CC887A349443}"/>
              </a:ext>
            </a:extLst>
          </p:cNvPr>
          <p:cNvSpPr>
            <a:spLocks noGrp="1"/>
          </p:cNvSpPr>
          <p:nvPr>
            <p:ph sz="half" idx="2"/>
          </p:nvPr>
        </p:nvSpPr>
        <p:spPr>
          <a:xfrm>
            <a:off x="704088" y="2387600"/>
            <a:ext cx="3799763" cy="3767328"/>
          </a:xfrm>
        </p:spPr>
        <p:txBody>
          <a:bodyPr vert="horz" lIns="91440" tIns="45720" rIns="91440" bIns="45720" rtlCol="0">
            <a:normAutofit/>
          </a:bodyPr>
          <a:lstStyle/>
          <a:p>
            <a:r>
              <a:rPr lang="en-US"/>
              <a:t>Target Audience</a:t>
            </a:r>
          </a:p>
          <a:p>
            <a:pPr lvl="1"/>
            <a:r>
              <a:rPr lang="en-US"/>
              <a:t>Web Developers</a:t>
            </a:r>
          </a:p>
          <a:p>
            <a:pPr lvl="1"/>
            <a:r>
              <a:rPr lang="en-US"/>
              <a:t>Designers</a:t>
            </a:r>
          </a:p>
          <a:p>
            <a:pPr lvl="1"/>
            <a:r>
              <a:rPr lang="en-US"/>
              <a:t>Content Creators</a:t>
            </a:r>
          </a:p>
          <a:p>
            <a:pPr lvl="1"/>
            <a:r>
              <a:rPr lang="en-US"/>
              <a:t>Project Managers</a:t>
            </a:r>
          </a:p>
          <a:p>
            <a:pPr lvl="1"/>
            <a:r>
              <a:rPr lang="en-US"/>
              <a:t>Anyone involved in creating digital content</a:t>
            </a:r>
          </a:p>
        </p:txBody>
      </p:sp>
      <p:pic>
        <p:nvPicPr>
          <p:cNvPr id="5" name="Content Placeholder 4" descr="Media concept with TV screens 3d">
            <a:extLst>
              <a:ext uri="{FF2B5EF4-FFF2-40B4-BE49-F238E27FC236}">
                <a16:creationId xmlns:a16="http://schemas.microsoft.com/office/drawing/2014/main" id="{3DCEA61C-4C05-4BBB-8642-AB1E84946D38}"/>
              </a:ext>
            </a:extLst>
          </p:cNvPr>
          <p:cNvPicPr>
            <a:picLocks noGrp="1" noChangeAspect="1"/>
          </p:cNvPicPr>
          <p:nvPr>
            <p:ph sz="half" idx="1"/>
          </p:nvPr>
        </p:nvPicPr>
        <p:blipFill>
          <a:blip r:embed="rId3"/>
          <a:srcRect l="24500" r="15579" b="-1"/>
          <a:stretch>
            <a:fillRect/>
          </a:stretch>
        </p:blipFill>
        <p:spPr>
          <a:xfrm>
            <a:off x="4981575" y="735286"/>
            <a:ext cx="6495042" cy="5419642"/>
          </a:xfrm>
          <a:prstGeom prst="rect">
            <a:avLst/>
          </a:prstGeom>
        </p:spPr>
      </p:pic>
    </p:spTree>
    <p:extLst>
      <p:ext uri="{BB962C8B-B14F-4D97-AF65-F5344CB8AC3E}">
        <p14:creationId xmlns:p14="http://schemas.microsoft.com/office/powerpoint/2010/main" val="11394385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AE4777-5BA9-58CD-07E2-0C8CE72648CF}"/>
              </a:ext>
            </a:extLst>
          </p:cNvPr>
          <p:cNvSpPr>
            <a:spLocks noGrp="1"/>
          </p:cNvSpPr>
          <p:nvPr>
            <p:ph type="title"/>
          </p:nvPr>
        </p:nvSpPr>
        <p:spPr>
          <a:xfrm>
            <a:off x="704088" y="914399"/>
            <a:ext cx="5239272" cy="1621147"/>
          </a:xfrm>
        </p:spPr>
        <p:txBody>
          <a:bodyPr vert="horz" lIns="91440" tIns="45720" rIns="91440" bIns="45720" rtlCol="0" anchor="t">
            <a:normAutofit/>
          </a:bodyPr>
          <a:lstStyle/>
          <a:p>
            <a:r>
              <a:rPr lang="en-US"/>
              <a:t>Title Slide</a:t>
            </a:r>
          </a:p>
        </p:txBody>
      </p:sp>
      <p:cxnSp>
        <p:nvCxnSpPr>
          <p:cNvPr id="16" name="Straight Connector 1">
            <a:extLst>
              <a:ext uri="{FF2B5EF4-FFF2-40B4-BE49-F238E27FC236}">
                <a16:creationId xmlns:a16="http://schemas.microsoft.com/office/drawing/2014/main" id="{7D3DF08D-8EDA-0FB3-59D9-B692F2ADD1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4672" y="722376"/>
            <a:ext cx="16383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Content Placeholder 4" descr="Puzzle pieces">
            <a:extLst>
              <a:ext uri="{FF2B5EF4-FFF2-40B4-BE49-F238E27FC236}">
                <a16:creationId xmlns:a16="http://schemas.microsoft.com/office/drawing/2014/main" id="{550287E1-10E0-4F95-8669-25858458218E}"/>
              </a:ext>
            </a:extLst>
          </p:cNvPr>
          <p:cNvPicPr>
            <a:picLocks noGrp="1" noChangeAspect="1"/>
          </p:cNvPicPr>
          <p:nvPr>
            <p:ph sz="half" idx="1"/>
          </p:nvPr>
        </p:nvPicPr>
        <p:blipFill>
          <a:blip r:embed="rId3"/>
          <a:stretch>
            <a:fillRect/>
          </a:stretch>
        </p:blipFill>
        <p:spPr>
          <a:xfrm>
            <a:off x="804672" y="2745826"/>
            <a:ext cx="5138688" cy="3417227"/>
          </a:xfrm>
          <a:prstGeom prst="rect">
            <a:avLst/>
          </a:prstGeom>
        </p:spPr>
      </p:pic>
      <p:sp>
        <p:nvSpPr>
          <p:cNvPr id="4" name="Content Placeholder 3">
            <a:extLst>
              <a:ext uri="{FF2B5EF4-FFF2-40B4-BE49-F238E27FC236}">
                <a16:creationId xmlns:a16="http://schemas.microsoft.com/office/drawing/2014/main" id="{5102E264-3E38-20EB-47E3-80BE0BCDDAE4}"/>
              </a:ext>
            </a:extLst>
          </p:cNvPr>
          <p:cNvSpPr>
            <a:spLocks noGrp="1"/>
          </p:cNvSpPr>
          <p:nvPr>
            <p:ph sz="half" idx="2"/>
          </p:nvPr>
        </p:nvSpPr>
        <p:spPr>
          <a:xfrm>
            <a:off x="6346176" y="914399"/>
            <a:ext cx="5138688" cy="5248657"/>
          </a:xfrm>
        </p:spPr>
        <p:txBody>
          <a:bodyPr vert="horz" lIns="91440" tIns="45720" rIns="91440" bIns="45720" rtlCol="0">
            <a:normAutofit/>
          </a:bodyPr>
          <a:lstStyle/>
          <a:p>
            <a:r>
              <a:rPr lang="en-US"/>
              <a:t>Understanding WCAG 2.2 Level A &amp; AA</a:t>
            </a:r>
          </a:p>
          <a:p>
            <a:pPr lvl="1"/>
            <a:r>
              <a:rPr lang="en-US"/>
              <a:t>Guidelines for web accessibility</a:t>
            </a:r>
          </a:p>
          <a:p>
            <a:pPr lvl="1"/>
            <a:r>
              <a:rPr lang="en-US"/>
              <a:t>Ensuring digital content is usable by all</a:t>
            </a:r>
          </a:p>
          <a:p>
            <a:r>
              <a:rPr lang="en-US"/>
              <a:t>Building a More Inclusive Web</a:t>
            </a:r>
          </a:p>
          <a:p>
            <a:pPr lvl="1"/>
            <a:r>
              <a:rPr lang="en-US"/>
              <a:t>Creating content that is accessible to everyone</a:t>
            </a:r>
          </a:p>
          <a:p>
            <a:pPr lvl="1"/>
            <a:r>
              <a:rPr lang="en-US"/>
              <a:t>Importance of inclusivity in digital spaces</a:t>
            </a:r>
          </a:p>
        </p:txBody>
      </p:sp>
    </p:spTree>
    <p:extLst>
      <p:ext uri="{BB962C8B-B14F-4D97-AF65-F5344CB8AC3E}">
        <p14:creationId xmlns:p14="http://schemas.microsoft.com/office/powerpoint/2010/main" val="3174649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FEAD36-B151-67AA-958E-342157F0DD50}"/>
              </a:ext>
            </a:extLst>
          </p:cNvPr>
          <p:cNvSpPr>
            <a:spLocks noGrp="1"/>
          </p:cNvSpPr>
          <p:nvPr>
            <p:ph type="title"/>
          </p:nvPr>
        </p:nvSpPr>
        <p:spPr>
          <a:xfrm>
            <a:off x="4866968" y="914400"/>
            <a:ext cx="6627924" cy="1307592"/>
          </a:xfrm>
        </p:spPr>
        <p:txBody>
          <a:bodyPr vert="horz" lIns="91440" tIns="45720" rIns="91440" bIns="45720" rtlCol="0" anchor="t">
            <a:normAutofit/>
          </a:bodyPr>
          <a:lstStyle/>
          <a:p>
            <a:pPr>
              <a:lnSpc>
                <a:spcPct val="90000"/>
              </a:lnSpc>
            </a:pPr>
            <a:r>
              <a:rPr lang="en-US"/>
              <a:t>What is Web Accessibility?</a:t>
            </a:r>
          </a:p>
        </p:txBody>
      </p:sp>
      <p:pic>
        <p:nvPicPr>
          <p:cNvPr id="5" name="Content Placeholder 4" descr="Diverse Group of People">
            <a:extLst>
              <a:ext uri="{FF2B5EF4-FFF2-40B4-BE49-F238E27FC236}">
                <a16:creationId xmlns:a16="http://schemas.microsoft.com/office/drawing/2014/main" id="{81E3C787-3D1B-4AA4-82D7-0D34C845523B}"/>
              </a:ext>
            </a:extLst>
          </p:cNvPr>
          <p:cNvPicPr>
            <a:picLocks noGrp="1" noChangeAspect="1"/>
          </p:cNvPicPr>
          <p:nvPr>
            <p:ph sz="half" idx="1"/>
          </p:nvPr>
        </p:nvPicPr>
        <p:blipFill>
          <a:blip r:embed="rId3"/>
          <a:srcRect l="1568" r="6788" b="1"/>
          <a:stretch>
            <a:fillRect/>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22764171-0460-C9AA-DC43-295FC9034B56}"/>
              </a:ext>
            </a:extLst>
          </p:cNvPr>
          <p:cNvSpPr>
            <a:spLocks noGrp="1"/>
          </p:cNvSpPr>
          <p:nvPr>
            <p:ph sz="half" idx="2"/>
          </p:nvPr>
        </p:nvSpPr>
        <p:spPr>
          <a:xfrm>
            <a:off x="4866968" y="2221992"/>
            <a:ext cx="6627924" cy="3739896"/>
          </a:xfrm>
        </p:spPr>
        <p:txBody>
          <a:bodyPr vert="horz" lIns="91440" tIns="45720" rIns="91440" bIns="45720" rtlCol="0">
            <a:normAutofit/>
          </a:bodyPr>
          <a:lstStyle/>
          <a:p>
            <a:r>
              <a:rPr lang="en-US"/>
              <a:t>Definition of Web Accessibility</a:t>
            </a:r>
          </a:p>
          <a:p>
            <a:pPr lvl="1"/>
            <a:r>
              <a:rPr lang="en-US"/>
              <a:t>Ensuring websites and digital tools are usable by everyone</a:t>
            </a:r>
          </a:p>
          <a:p>
            <a:pPr lvl="1"/>
            <a:r>
              <a:rPr lang="en-US"/>
              <a:t>Includes people with disabilities</a:t>
            </a:r>
          </a:p>
          <a:p>
            <a:r>
              <a:rPr lang="en-US"/>
              <a:t>Importance of Web Accessibility</a:t>
            </a:r>
          </a:p>
          <a:p>
            <a:pPr lvl="1"/>
            <a:r>
              <a:rPr lang="en-US"/>
              <a:t>Promotes inclusion by providing access to information and services for all</a:t>
            </a:r>
          </a:p>
          <a:p>
            <a:pPr lvl="1"/>
            <a:r>
              <a:rPr lang="en-US"/>
              <a:t>Ensures legal compliance with accessibility laws</a:t>
            </a:r>
          </a:p>
          <a:p>
            <a:pPr lvl="1"/>
            <a:r>
              <a:rPr lang="en-US"/>
              <a:t>Improves user experience for all users</a:t>
            </a:r>
          </a:p>
          <a:p>
            <a:pPr lvl="1"/>
            <a:r>
              <a:rPr lang="en-US"/>
              <a:t>Expands reach to a wider audience, increasing potential users/customers</a:t>
            </a:r>
          </a:p>
        </p:txBody>
      </p: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37022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B40685-53B6-B55C-7413-09520CF883C1}"/>
              </a:ext>
            </a:extLst>
          </p:cNvPr>
          <p:cNvSpPr>
            <a:spLocks noGrp="1"/>
          </p:cNvSpPr>
          <p:nvPr>
            <p:ph type="title"/>
          </p:nvPr>
        </p:nvSpPr>
        <p:spPr>
          <a:xfrm>
            <a:off x="704087" y="559063"/>
            <a:ext cx="3306747" cy="5256025"/>
          </a:xfrm>
        </p:spPr>
        <p:txBody>
          <a:bodyPr>
            <a:normAutofit/>
          </a:bodyPr>
          <a:lstStyle/>
          <a:p>
            <a:r>
              <a:rPr lang="en-IN" sz="3600"/>
              <a:t>Why it Matters</a:t>
            </a:r>
          </a:p>
        </p:txBody>
      </p:sp>
      <p:sp>
        <p:nvSpPr>
          <p:cNvPr id="3" name="Content Placeholder 2">
            <a:extLst>
              <a:ext uri="{FF2B5EF4-FFF2-40B4-BE49-F238E27FC236}">
                <a16:creationId xmlns:a16="http://schemas.microsoft.com/office/drawing/2014/main" id="{1B802672-90DA-992F-2346-93E360DE3B90}"/>
              </a:ext>
            </a:extLst>
          </p:cNvPr>
          <p:cNvSpPr>
            <a:spLocks noGrp="1"/>
          </p:cNvSpPr>
          <p:nvPr>
            <p:ph idx="1"/>
          </p:nvPr>
        </p:nvSpPr>
        <p:spPr>
          <a:xfrm>
            <a:off x="4643022" y="622249"/>
            <a:ext cx="6844892" cy="5639712"/>
          </a:xfrm>
        </p:spPr>
        <p:txBody>
          <a:bodyPr>
            <a:normAutofit/>
          </a:bodyPr>
          <a:lstStyle/>
          <a:p>
            <a:r>
              <a:rPr lang="en-US"/>
              <a:t>Inclusion</a:t>
            </a:r>
          </a:p>
          <a:p>
            <a:pPr lvl="1"/>
            <a:r>
              <a:rPr lang="en-US"/>
              <a:t>Ensures everyone can access information and services</a:t>
            </a:r>
          </a:p>
          <a:p>
            <a:r>
              <a:rPr lang="en-US"/>
              <a:t>Legal Compliance</a:t>
            </a:r>
          </a:p>
          <a:p>
            <a:pPr lvl="1"/>
            <a:r>
              <a:rPr lang="en-US"/>
              <a:t>Many laws require accessible digital content</a:t>
            </a:r>
          </a:p>
          <a:p>
            <a:r>
              <a:rPr lang="en-US"/>
              <a:t>Improved User Experience</a:t>
            </a:r>
          </a:p>
          <a:p>
            <a:pPr lvl="1"/>
            <a:r>
              <a:rPr lang="en-US"/>
              <a:t>Benefits all users, not just those with disabilities</a:t>
            </a:r>
          </a:p>
          <a:p>
            <a:r>
              <a:rPr lang="en-US"/>
              <a:t>Wider Audience</a:t>
            </a:r>
          </a:p>
          <a:p>
            <a:pPr lvl="1"/>
            <a:r>
              <a:rPr lang="en-US"/>
              <a:t>Reaching more people means more potential users/customers</a:t>
            </a:r>
            <a:endParaRPr lang="en-IN"/>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4235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69E7AE-7A6F-B316-4448-FAF681193C9F}"/>
              </a:ext>
            </a:extLst>
          </p:cNvPr>
          <p:cNvSpPr>
            <a:spLocks noGrp="1"/>
          </p:cNvSpPr>
          <p:nvPr>
            <p:ph type="title"/>
          </p:nvPr>
        </p:nvSpPr>
        <p:spPr>
          <a:xfrm>
            <a:off x="704087" y="559063"/>
            <a:ext cx="3306747" cy="5256025"/>
          </a:xfrm>
        </p:spPr>
        <p:txBody>
          <a:bodyPr>
            <a:normAutofit/>
          </a:bodyPr>
          <a:lstStyle/>
          <a:p>
            <a:r>
              <a:rPr lang="en-IN" sz="3600"/>
              <a:t>Definition</a:t>
            </a:r>
          </a:p>
        </p:txBody>
      </p:sp>
      <p:sp>
        <p:nvSpPr>
          <p:cNvPr id="3" name="Content Placeholder 2">
            <a:extLst>
              <a:ext uri="{FF2B5EF4-FFF2-40B4-BE49-F238E27FC236}">
                <a16:creationId xmlns:a16="http://schemas.microsoft.com/office/drawing/2014/main" id="{2C9FBF5D-1155-C53C-982E-0D32F7234863}"/>
              </a:ext>
            </a:extLst>
          </p:cNvPr>
          <p:cNvSpPr>
            <a:spLocks noGrp="1"/>
          </p:cNvSpPr>
          <p:nvPr>
            <p:ph idx="1"/>
          </p:nvPr>
        </p:nvSpPr>
        <p:spPr>
          <a:xfrm>
            <a:off x="4643022" y="622249"/>
            <a:ext cx="6844892" cy="5639712"/>
          </a:xfrm>
        </p:spPr>
        <p:txBody>
          <a:bodyPr>
            <a:normAutofit/>
          </a:bodyPr>
          <a:lstStyle/>
          <a:p>
            <a:r>
              <a:rPr lang="en-US"/>
              <a:t>Definition: Making websites and digital tools usable by everyone, including people with disabilities.</a:t>
            </a:r>
          </a:p>
          <a:p>
            <a:r>
              <a:rPr lang="en-US"/>
              <a:t>Image: Icon representing a person with a disability using a computer, or a diverse group of users.</a:t>
            </a:r>
            <a:endParaRPr lang="en-IN"/>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00929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31BA34-49C8-31D0-8258-2FE39894D769}"/>
              </a:ext>
            </a:extLst>
          </p:cNvPr>
          <p:cNvSpPr>
            <a:spLocks noGrp="1"/>
          </p:cNvSpPr>
          <p:nvPr>
            <p:ph type="title"/>
          </p:nvPr>
        </p:nvSpPr>
        <p:spPr>
          <a:xfrm>
            <a:off x="704087" y="559063"/>
            <a:ext cx="3306747" cy="5256025"/>
          </a:xfrm>
        </p:spPr>
        <p:txBody>
          <a:bodyPr>
            <a:normAutofit/>
          </a:bodyPr>
          <a:lstStyle/>
          <a:p>
            <a:r>
              <a:rPr lang="en-IN" sz="3600"/>
              <a:t>Introducing WCAG 2.2</a:t>
            </a:r>
          </a:p>
        </p:txBody>
      </p:sp>
      <p:sp>
        <p:nvSpPr>
          <p:cNvPr id="3" name="Content Placeholder 2">
            <a:extLst>
              <a:ext uri="{FF2B5EF4-FFF2-40B4-BE49-F238E27FC236}">
                <a16:creationId xmlns:a16="http://schemas.microsoft.com/office/drawing/2014/main" id="{35A66998-93DB-2A4D-95A1-BB8B079554B4}"/>
              </a:ext>
            </a:extLst>
          </p:cNvPr>
          <p:cNvSpPr>
            <a:spLocks noGrp="1"/>
          </p:cNvSpPr>
          <p:nvPr>
            <p:ph idx="1"/>
          </p:nvPr>
        </p:nvSpPr>
        <p:spPr>
          <a:xfrm>
            <a:off x="4643022" y="622249"/>
            <a:ext cx="6844892" cy="5639712"/>
          </a:xfrm>
        </p:spPr>
        <p:txBody>
          <a:bodyPr>
            <a:normAutofit/>
          </a:bodyPr>
          <a:lstStyle/>
          <a:p>
            <a:r>
              <a:rPr lang="en-US"/>
              <a:t>What is WCAG?</a:t>
            </a:r>
          </a:p>
          <a:p>
            <a:pPr lvl="1"/>
            <a:r>
              <a:rPr lang="en-US"/>
              <a:t>Web Content Accessibility Guidelines</a:t>
            </a:r>
          </a:p>
          <a:p>
            <a:r>
              <a:rPr lang="en-US"/>
              <a:t>Who created it?</a:t>
            </a:r>
          </a:p>
          <a:p>
            <a:pPr lvl="1"/>
            <a:r>
              <a:rPr lang="en-US"/>
              <a:t>The World Wide Web Consortium (W3C)</a:t>
            </a:r>
          </a:p>
          <a:p>
            <a:r>
              <a:rPr lang="en-US"/>
              <a:t>Purpose</a:t>
            </a:r>
          </a:p>
          <a:p>
            <a:pPr lvl="1"/>
            <a:r>
              <a:rPr lang="en-US"/>
              <a:t>Provides internationally recognized guidelines</a:t>
            </a:r>
          </a:p>
          <a:p>
            <a:pPr lvl="1"/>
            <a:r>
              <a:rPr lang="en-US"/>
              <a:t>Aims to make web content accessible</a:t>
            </a:r>
          </a:p>
          <a:p>
            <a:r>
              <a:rPr lang="en-US"/>
              <a:t>WCAG 2.2</a:t>
            </a:r>
          </a:p>
          <a:p>
            <a:pPr lvl="1"/>
            <a:r>
              <a:rPr lang="en-US"/>
              <a:t>The latest version</a:t>
            </a:r>
          </a:p>
          <a:p>
            <a:pPr lvl="1"/>
            <a:r>
              <a:rPr lang="en-US"/>
              <a:t>Includes new success criteria</a:t>
            </a:r>
            <a:endParaRPr lang="en-IN"/>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5547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64023A-8674-51A8-82DF-81A5974F5F40}"/>
              </a:ext>
            </a:extLst>
          </p:cNvPr>
          <p:cNvSpPr>
            <a:spLocks noGrp="1"/>
          </p:cNvSpPr>
          <p:nvPr>
            <p:ph type="title"/>
          </p:nvPr>
        </p:nvSpPr>
        <p:spPr>
          <a:xfrm>
            <a:off x="704087" y="559063"/>
            <a:ext cx="3306747" cy="5256025"/>
          </a:xfrm>
        </p:spPr>
        <p:txBody>
          <a:bodyPr>
            <a:normAutofit/>
          </a:bodyPr>
          <a:lstStyle/>
          <a:p>
            <a:r>
              <a:rPr lang="en-IN" sz="3100"/>
              <a:t>Understanding WCAG Principles (POUR)</a:t>
            </a:r>
          </a:p>
        </p:txBody>
      </p:sp>
      <p:sp>
        <p:nvSpPr>
          <p:cNvPr id="3" name="Content Placeholder 2">
            <a:extLst>
              <a:ext uri="{FF2B5EF4-FFF2-40B4-BE49-F238E27FC236}">
                <a16:creationId xmlns:a16="http://schemas.microsoft.com/office/drawing/2014/main" id="{0A4CD5AB-539F-F24B-ADAA-0350F2F8142B}"/>
              </a:ext>
            </a:extLst>
          </p:cNvPr>
          <p:cNvSpPr>
            <a:spLocks noGrp="1"/>
          </p:cNvSpPr>
          <p:nvPr>
            <p:ph idx="1"/>
          </p:nvPr>
        </p:nvSpPr>
        <p:spPr>
          <a:xfrm>
            <a:off x="4643022" y="622249"/>
            <a:ext cx="6844892" cy="5639712"/>
          </a:xfrm>
        </p:spPr>
        <p:txBody>
          <a:bodyPr>
            <a:normAutofit/>
          </a:bodyPr>
          <a:lstStyle/>
          <a:p>
            <a:r>
              <a:rPr lang="en-US"/>
              <a:t>Perceivable</a:t>
            </a:r>
          </a:p>
          <a:p>
            <a:pPr lvl="1"/>
            <a:r>
              <a:rPr lang="en-US"/>
              <a:t>Information and UI components must be presentable to users in ways they can perceive</a:t>
            </a:r>
          </a:p>
          <a:p>
            <a:pPr lvl="1"/>
            <a:r>
              <a:rPr lang="en-US"/>
              <a:t>Provide text alternatives for non-text content</a:t>
            </a:r>
          </a:p>
          <a:p>
            <a:r>
              <a:rPr lang="en-US"/>
              <a:t>Operable</a:t>
            </a:r>
          </a:p>
          <a:p>
            <a:pPr lvl="1"/>
            <a:r>
              <a:rPr lang="en-US"/>
              <a:t>UI components and navigation must be operable</a:t>
            </a:r>
          </a:p>
          <a:p>
            <a:pPr lvl="1"/>
            <a:r>
              <a:rPr lang="en-US"/>
              <a:t>Keyboard navigation</a:t>
            </a:r>
          </a:p>
          <a:p>
            <a:r>
              <a:rPr lang="en-US"/>
              <a:t>Understandable</a:t>
            </a:r>
          </a:p>
          <a:p>
            <a:pPr lvl="1"/>
            <a:r>
              <a:rPr lang="en-US"/>
              <a:t>Information and the operation of user interface must be understandable</a:t>
            </a:r>
          </a:p>
          <a:p>
            <a:pPr lvl="1"/>
            <a:r>
              <a:rPr lang="en-US"/>
              <a:t>Predictable navigation</a:t>
            </a:r>
          </a:p>
          <a:p>
            <a:r>
              <a:rPr lang="en-US"/>
              <a:t>Robust</a:t>
            </a:r>
          </a:p>
          <a:p>
            <a:pPr lvl="1"/>
            <a:r>
              <a:rPr lang="en-US"/>
              <a:t>Content must be robust enough to be interpreted reliably by various user agents</a:t>
            </a:r>
          </a:p>
          <a:p>
            <a:pPr lvl="1"/>
            <a:r>
              <a:rPr lang="en-US"/>
              <a:t>Includes assistive technologies</a:t>
            </a:r>
            <a:endParaRPr lang="en-IN"/>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95615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FDA3A9-7ACE-4E90-981E-9F2E1C496397}"/>
              </a:ext>
            </a:extLst>
          </p:cNvPr>
          <p:cNvSpPr>
            <a:spLocks noGrp="1"/>
          </p:cNvSpPr>
          <p:nvPr>
            <p:ph type="title"/>
          </p:nvPr>
        </p:nvSpPr>
        <p:spPr>
          <a:xfrm>
            <a:off x="704087" y="559063"/>
            <a:ext cx="3306747" cy="5256025"/>
          </a:xfrm>
        </p:spPr>
        <p:txBody>
          <a:bodyPr>
            <a:normAutofit/>
          </a:bodyPr>
          <a:lstStyle/>
          <a:p>
            <a:r>
              <a:rPr lang="en-IN" sz="3600"/>
              <a:t>WCAG Conformance Levels</a:t>
            </a:r>
          </a:p>
        </p:txBody>
      </p:sp>
      <p:sp>
        <p:nvSpPr>
          <p:cNvPr id="3" name="Content Placeholder 2">
            <a:extLst>
              <a:ext uri="{FF2B5EF4-FFF2-40B4-BE49-F238E27FC236}">
                <a16:creationId xmlns:a16="http://schemas.microsoft.com/office/drawing/2014/main" id="{B3517A4D-B0AD-08E6-4781-434D17F1C749}"/>
              </a:ext>
            </a:extLst>
          </p:cNvPr>
          <p:cNvSpPr>
            <a:spLocks noGrp="1"/>
          </p:cNvSpPr>
          <p:nvPr>
            <p:ph idx="1"/>
          </p:nvPr>
        </p:nvSpPr>
        <p:spPr>
          <a:xfrm>
            <a:off x="4643022" y="622249"/>
            <a:ext cx="6844892" cy="5639712"/>
          </a:xfrm>
        </p:spPr>
        <p:txBody>
          <a:bodyPr>
            <a:normAutofit/>
          </a:bodyPr>
          <a:lstStyle/>
          <a:p>
            <a:r>
              <a:rPr lang="en-US"/>
              <a:t>Level A (Minimum)</a:t>
            </a:r>
          </a:p>
          <a:p>
            <a:pPr lvl="1"/>
            <a:r>
              <a:rPr lang="en-US"/>
              <a:t>Lowest level of accessibility</a:t>
            </a:r>
          </a:p>
          <a:p>
            <a:pPr lvl="1"/>
            <a:r>
              <a:rPr lang="en-US"/>
              <a:t>Addresses most common and severe barriers</a:t>
            </a:r>
          </a:p>
          <a:p>
            <a:pPr lvl="1"/>
            <a:r>
              <a:rPr lang="en-US"/>
              <a:t>Good starting point</a:t>
            </a:r>
          </a:p>
          <a:p>
            <a:r>
              <a:rPr lang="en-US"/>
              <a:t>Level AA (Target)</a:t>
            </a:r>
          </a:p>
          <a:p>
            <a:pPr lvl="1"/>
            <a:r>
              <a:rPr lang="en-US"/>
              <a:t>Most commonly aimed-for level</a:t>
            </a:r>
          </a:p>
          <a:p>
            <a:pPr lvl="1"/>
            <a:r>
              <a:rPr lang="en-US"/>
              <a:t>Addresses significant barriers for people with disabilities</a:t>
            </a:r>
          </a:p>
          <a:p>
            <a:pPr lvl="1"/>
            <a:r>
              <a:rPr lang="en-US"/>
              <a:t>Often a legal requirement</a:t>
            </a:r>
          </a:p>
          <a:p>
            <a:r>
              <a:rPr lang="en-US"/>
              <a:t>Level AAA (Highest)</a:t>
            </a:r>
          </a:p>
          <a:p>
            <a:pPr lvl="1"/>
            <a:r>
              <a:rPr lang="en-US"/>
              <a:t>Highest level of accessibility</a:t>
            </a:r>
          </a:p>
          <a:p>
            <a:pPr lvl="1"/>
            <a:r>
              <a:rPr lang="en-US"/>
              <a:t>May not be achievable for all types of content</a:t>
            </a:r>
          </a:p>
          <a:p>
            <a:r>
              <a:rPr lang="en-US"/>
              <a:t>Analogy: Safety Ratings</a:t>
            </a:r>
            <a:endParaRPr lang="en-IN"/>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717312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304433-4F3F-B31D-6B02-715754B1AE1D}"/>
              </a:ext>
            </a:extLst>
          </p:cNvPr>
          <p:cNvSpPr>
            <a:spLocks noGrp="1"/>
          </p:cNvSpPr>
          <p:nvPr>
            <p:ph type="title"/>
          </p:nvPr>
        </p:nvSpPr>
        <p:spPr>
          <a:xfrm>
            <a:off x="704087" y="559063"/>
            <a:ext cx="3306747" cy="5256025"/>
          </a:xfrm>
        </p:spPr>
        <p:txBody>
          <a:bodyPr>
            <a:normAutofit/>
          </a:bodyPr>
          <a:lstStyle/>
          <a:p>
            <a:r>
              <a:rPr lang="en-IN" sz="3600"/>
              <a:t>Diving into WCAG 2.2 Level A - The Basics</a:t>
            </a:r>
          </a:p>
        </p:txBody>
      </p:sp>
      <p:sp>
        <p:nvSpPr>
          <p:cNvPr id="3" name="Content Placeholder 2">
            <a:extLst>
              <a:ext uri="{FF2B5EF4-FFF2-40B4-BE49-F238E27FC236}">
                <a16:creationId xmlns:a16="http://schemas.microsoft.com/office/drawing/2014/main" id="{5B45109F-A253-C2FB-0397-E689176ADC6A}"/>
              </a:ext>
            </a:extLst>
          </p:cNvPr>
          <p:cNvSpPr>
            <a:spLocks noGrp="1"/>
          </p:cNvSpPr>
          <p:nvPr>
            <p:ph idx="1"/>
          </p:nvPr>
        </p:nvSpPr>
        <p:spPr>
          <a:xfrm>
            <a:off x="4643022" y="622249"/>
            <a:ext cx="6844892" cy="5639712"/>
          </a:xfrm>
        </p:spPr>
        <p:txBody>
          <a:bodyPr>
            <a:normAutofit/>
          </a:bodyPr>
          <a:lstStyle/>
          <a:p>
            <a:r>
              <a:rPr lang="en-US"/>
              <a:t>Fundamental Accessibility Issues</a:t>
            </a:r>
          </a:p>
          <a:p>
            <a:pPr lvl="1"/>
            <a:r>
              <a:rPr lang="en-US"/>
              <a:t>Level A criteria address the most basic accessibility concerns</a:t>
            </a:r>
          </a:p>
          <a:p>
            <a:pPr lvl="1"/>
            <a:r>
              <a:rPr lang="en-US"/>
              <a:t>Failing these criteria means significant barriers for many users</a:t>
            </a:r>
          </a:p>
          <a:p>
            <a:r>
              <a:rPr lang="en-US"/>
              <a:t>Importance of Meeting Level A</a:t>
            </a:r>
          </a:p>
          <a:p>
            <a:pPr lvl="1"/>
            <a:r>
              <a:rPr lang="en-US"/>
              <a:t>Content is likely unusable for a significant portion of the disabled community if Level A is not met</a:t>
            </a:r>
          </a:p>
          <a:p>
            <a:r>
              <a:rPr lang="en-US"/>
              <a:t>Non-text Content (Alt Text)</a:t>
            </a:r>
          </a:p>
          <a:p>
            <a:pPr lvl="1"/>
            <a:r>
              <a:rPr lang="en-US"/>
              <a:t>Provide text alternatives for all non-text content</a:t>
            </a:r>
          </a:p>
          <a:p>
            <a:pPr lvl="1"/>
            <a:r>
              <a:rPr lang="en-US"/>
              <a:t>Screen readers describe these alternatives</a:t>
            </a:r>
          </a:p>
          <a:p>
            <a:pPr lvl="1"/>
            <a:r>
              <a:rPr lang="en-US"/>
              <a:t>Example: An image of a cat with alt text</a:t>
            </a:r>
          </a:p>
          <a:p>
            <a:r>
              <a:rPr lang="en-US"/>
              <a:t>Keyboard Navigation</a:t>
            </a:r>
          </a:p>
          <a:p>
            <a:pPr lvl="1"/>
            <a:r>
              <a:rPr lang="en-US"/>
              <a:t>All functionality must be operable via a keyboard</a:t>
            </a:r>
          </a:p>
          <a:p>
            <a:r>
              <a:rPr lang="en-US"/>
              <a:t>Bypass Blocks (Skip Navigation)</a:t>
            </a:r>
            <a:endParaRPr lang="en-IN"/>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3755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A0E668-DC95-3D30-A629-977A021354B1}"/>
              </a:ext>
            </a:extLst>
          </p:cNvPr>
          <p:cNvSpPr>
            <a:spLocks noGrp="1"/>
          </p:cNvSpPr>
          <p:nvPr>
            <p:ph type="title"/>
          </p:nvPr>
        </p:nvSpPr>
        <p:spPr>
          <a:xfrm>
            <a:off x="4866968" y="914400"/>
            <a:ext cx="6627924" cy="1307592"/>
          </a:xfrm>
        </p:spPr>
        <p:txBody>
          <a:bodyPr vert="horz" lIns="91440" tIns="45720" rIns="91440" bIns="45720" rtlCol="0" anchor="t">
            <a:normAutofit/>
          </a:bodyPr>
          <a:lstStyle/>
          <a:p>
            <a:pPr>
              <a:lnSpc>
                <a:spcPct val="90000"/>
              </a:lnSpc>
            </a:pPr>
            <a:r>
              <a:rPr lang="en-US"/>
              <a:t>1.1.1 Non-text Content (Alt Text)</a:t>
            </a:r>
          </a:p>
        </p:txBody>
      </p:sp>
      <p:pic>
        <p:nvPicPr>
          <p:cNvPr id="5" name="Content Placeholder 4" descr="Cat sleeping on bed">
            <a:extLst>
              <a:ext uri="{FF2B5EF4-FFF2-40B4-BE49-F238E27FC236}">
                <a16:creationId xmlns:a16="http://schemas.microsoft.com/office/drawing/2014/main" id="{482124F2-90E6-4EED-BCD2-0CC0D0FEB916}"/>
              </a:ext>
            </a:extLst>
          </p:cNvPr>
          <p:cNvPicPr>
            <a:picLocks noGrp="1" noChangeAspect="1"/>
          </p:cNvPicPr>
          <p:nvPr>
            <p:ph sz="half" idx="1"/>
          </p:nvPr>
        </p:nvPicPr>
        <p:blipFill>
          <a:blip r:embed="rId3"/>
          <a:srcRect l="40580" r="18588" b="2"/>
          <a:stretch>
            <a:fillRect/>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71BF7984-73FE-FEAC-3A1D-085C3570702B}"/>
              </a:ext>
            </a:extLst>
          </p:cNvPr>
          <p:cNvSpPr>
            <a:spLocks noGrp="1"/>
          </p:cNvSpPr>
          <p:nvPr>
            <p:ph sz="half" idx="2"/>
          </p:nvPr>
        </p:nvSpPr>
        <p:spPr>
          <a:xfrm>
            <a:off x="4866968" y="2221992"/>
            <a:ext cx="6627924" cy="3739896"/>
          </a:xfrm>
        </p:spPr>
        <p:txBody>
          <a:bodyPr vert="horz" lIns="91440" tIns="45720" rIns="91440" bIns="45720" rtlCol="0">
            <a:normAutofit/>
          </a:bodyPr>
          <a:lstStyle/>
          <a:p>
            <a:r>
              <a:rPr lang="en-US"/>
              <a:t>Importance of Alt Text</a:t>
            </a:r>
          </a:p>
          <a:p>
            <a:pPr lvl="1"/>
            <a:r>
              <a:rPr lang="en-US"/>
              <a:t>Provides text alternatives for non-text content</a:t>
            </a:r>
          </a:p>
          <a:p>
            <a:pPr lvl="1"/>
            <a:r>
              <a:rPr lang="en-US"/>
              <a:t>Helps screen readers describe images, charts, videos</a:t>
            </a:r>
          </a:p>
          <a:p>
            <a:r>
              <a:rPr lang="en-US"/>
              <a:t>Example of Alt Text Usage</a:t>
            </a:r>
          </a:p>
          <a:p>
            <a:pPr lvl="1"/>
            <a:r>
              <a:rPr lang="en-US"/>
              <a:t>Image of a cat:</a:t>
            </a:r>
          </a:p>
        </p:txBody>
      </p: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2713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3D724A-2053-03AC-3978-699BF2E5E314}"/>
              </a:ext>
            </a:extLst>
          </p:cNvPr>
          <p:cNvSpPr>
            <a:spLocks noGrp="1"/>
          </p:cNvSpPr>
          <p:nvPr>
            <p:ph type="title"/>
          </p:nvPr>
        </p:nvSpPr>
        <p:spPr>
          <a:xfrm>
            <a:off x="704087" y="559063"/>
            <a:ext cx="3306747" cy="5256025"/>
          </a:xfrm>
        </p:spPr>
        <p:txBody>
          <a:bodyPr>
            <a:normAutofit/>
          </a:bodyPr>
          <a:lstStyle/>
          <a:p>
            <a:r>
              <a:rPr lang="en-IN" sz="3600"/>
              <a:t>2.1.1 Keyboard (Keyboard Navigation)</a:t>
            </a:r>
          </a:p>
        </p:txBody>
      </p:sp>
      <p:sp>
        <p:nvSpPr>
          <p:cNvPr id="3" name="Content Placeholder 2">
            <a:extLst>
              <a:ext uri="{FF2B5EF4-FFF2-40B4-BE49-F238E27FC236}">
                <a16:creationId xmlns:a16="http://schemas.microsoft.com/office/drawing/2014/main" id="{A0597041-2494-27D6-0131-3638AB8D7702}"/>
              </a:ext>
            </a:extLst>
          </p:cNvPr>
          <p:cNvSpPr>
            <a:spLocks noGrp="1"/>
          </p:cNvSpPr>
          <p:nvPr>
            <p:ph idx="1"/>
          </p:nvPr>
        </p:nvSpPr>
        <p:spPr>
          <a:xfrm>
            <a:off x="4643022" y="622249"/>
            <a:ext cx="6844892" cy="5639712"/>
          </a:xfrm>
        </p:spPr>
        <p:txBody>
          <a:bodyPr>
            <a:normAutofit/>
          </a:bodyPr>
          <a:lstStyle/>
          <a:p>
            <a:r>
              <a:rPr lang="en-US"/>
              <a:t>Keyboard Operability</a:t>
            </a:r>
          </a:p>
          <a:p>
            <a:pPr lvl="1"/>
            <a:r>
              <a:rPr lang="en-US"/>
              <a:t>All functionality must be accessible via keyboard</a:t>
            </a:r>
          </a:p>
          <a:p>
            <a:pPr lvl="1"/>
            <a:r>
              <a:rPr lang="en-US"/>
              <a:t>Mouse should not be the only option</a:t>
            </a:r>
          </a:p>
          <a:p>
            <a:r>
              <a:rPr lang="en-US"/>
              <a:t>User Inclusivity</a:t>
            </a:r>
          </a:p>
          <a:p>
            <a:pPr lvl="1"/>
            <a:r>
              <a:rPr lang="en-US"/>
              <a:t>Many users cannot use a mouse</a:t>
            </a:r>
          </a:p>
          <a:p>
            <a:pPr lvl="1"/>
            <a:r>
              <a:rPr lang="en-US"/>
              <a:t>Ensures accessibility for all</a:t>
            </a:r>
          </a:p>
          <a:p>
            <a:r>
              <a:rPr lang="en-US"/>
              <a:t>Navigation Menu Example</a:t>
            </a:r>
          </a:p>
          <a:p>
            <a:pPr lvl="1"/>
            <a:r>
              <a:rPr lang="en-US"/>
              <a:t>Users can tab through links</a:t>
            </a:r>
          </a:p>
          <a:p>
            <a:pPr lvl="1"/>
            <a:r>
              <a:rPr lang="en-US"/>
              <a:t>Press Enter to select</a:t>
            </a:r>
            <a:endParaRPr lang="en-IN"/>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3244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E4648A-5133-7D25-DEE3-F13BA7FBD41C}"/>
              </a:ext>
            </a:extLst>
          </p:cNvPr>
          <p:cNvSpPr>
            <a:spLocks noGrp="1"/>
          </p:cNvSpPr>
          <p:nvPr>
            <p:ph type="title"/>
          </p:nvPr>
        </p:nvSpPr>
        <p:spPr>
          <a:xfrm>
            <a:off x="4866968" y="914400"/>
            <a:ext cx="6627924" cy="1307592"/>
          </a:xfrm>
        </p:spPr>
        <p:txBody>
          <a:bodyPr vert="horz" lIns="91440" tIns="45720" rIns="91440" bIns="45720" rtlCol="0" anchor="t">
            <a:normAutofit/>
          </a:bodyPr>
          <a:lstStyle/>
          <a:p>
            <a:pPr>
              <a:lnSpc>
                <a:spcPct val="90000"/>
              </a:lnSpc>
            </a:pPr>
            <a:r>
              <a:rPr lang="en-US"/>
              <a:t>2.4.1 Bypass Blocks (Skip Navigation)</a:t>
            </a:r>
          </a:p>
        </p:txBody>
      </p:sp>
      <p:pic>
        <p:nvPicPr>
          <p:cNvPr id="5" name="Content Placeholder 4" descr="Keyboard with a shopping cart key">
            <a:extLst>
              <a:ext uri="{FF2B5EF4-FFF2-40B4-BE49-F238E27FC236}">
                <a16:creationId xmlns:a16="http://schemas.microsoft.com/office/drawing/2014/main" id="{38C040B0-EE5F-435B-9F74-24F30389CF97}"/>
              </a:ext>
            </a:extLst>
          </p:cNvPr>
          <p:cNvPicPr>
            <a:picLocks noGrp="1" noChangeAspect="1"/>
          </p:cNvPicPr>
          <p:nvPr>
            <p:ph sz="half" idx="1"/>
          </p:nvPr>
        </p:nvPicPr>
        <p:blipFill>
          <a:blip r:embed="rId3"/>
          <a:srcRect l="37071" r="22708" b="-1"/>
          <a:stretch>
            <a:fillRect/>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5A40D804-0C61-1738-5B70-FCEB1035BC98}"/>
              </a:ext>
            </a:extLst>
          </p:cNvPr>
          <p:cNvSpPr>
            <a:spLocks noGrp="1"/>
          </p:cNvSpPr>
          <p:nvPr>
            <p:ph sz="half" idx="2"/>
          </p:nvPr>
        </p:nvSpPr>
        <p:spPr>
          <a:xfrm>
            <a:off x="4866968" y="2221992"/>
            <a:ext cx="6627924" cy="3739896"/>
          </a:xfrm>
        </p:spPr>
        <p:txBody>
          <a:bodyPr vert="horz" lIns="91440" tIns="45720" rIns="91440" bIns="45720" rtlCol="0">
            <a:normAutofit/>
          </a:bodyPr>
          <a:lstStyle/>
          <a:p>
            <a:r>
              <a:rPr lang="en-US"/>
              <a:t>Purpose of Bypass Blocks</a:t>
            </a:r>
          </a:p>
          <a:p>
            <a:pPr lvl="1"/>
            <a:r>
              <a:rPr lang="en-US"/>
              <a:t>Allows users to skip repetitive content</a:t>
            </a:r>
          </a:p>
          <a:p>
            <a:pPr lvl="1"/>
            <a:r>
              <a:rPr lang="en-US"/>
              <a:t>Facilitates access to main content</a:t>
            </a:r>
          </a:p>
          <a:p>
            <a:pPr lvl="1"/>
            <a:r>
              <a:rPr lang="en-US"/>
              <a:t>Beneficial for keyboard and screen reader users</a:t>
            </a:r>
          </a:p>
          <a:p>
            <a:r>
              <a:rPr lang="en-US"/>
              <a:t>Implementation Example</a:t>
            </a:r>
          </a:p>
          <a:p>
            <a:pPr lvl="1"/>
            <a:r>
              <a:rPr lang="en-US"/>
              <a:t>Include a 'Skip to Main Content' link</a:t>
            </a:r>
          </a:p>
          <a:p>
            <a:pPr lvl="1"/>
            <a:r>
              <a:rPr lang="en-US"/>
              <a:t>Position the link at the top of the page</a:t>
            </a:r>
          </a:p>
        </p:txBody>
      </p: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46497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29AEF7-92EB-D807-C42C-46FAFA02B48F}"/>
              </a:ext>
            </a:extLst>
          </p:cNvPr>
          <p:cNvSpPr>
            <a:spLocks noGrp="1"/>
          </p:cNvSpPr>
          <p:nvPr>
            <p:ph type="title"/>
          </p:nvPr>
        </p:nvSpPr>
        <p:spPr>
          <a:xfrm>
            <a:off x="704087" y="559063"/>
            <a:ext cx="3306747" cy="5256025"/>
          </a:xfrm>
        </p:spPr>
        <p:txBody>
          <a:bodyPr>
            <a:normAutofit/>
          </a:bodyPr>
          <a:lstStyle/>
          <a:p>
            <a:r>
              <a:rPr lang="en-IN" sz="3600"/>
              <a:t>Key Concept</a:t>
            </a:r>
          </a:p>
        </p:txBody>
      </p:sp>
      <p:sp>
        <p:nvSpPr>
          <p:cNvPr id="3" name="Content Placeholder 2">
            <a:extLst>
              <a:ext uri="{FF2B5EF4-FFF2-40B4-BE49-F238E27FC236}">
                <a16:creationId xmlns:a16="http://schemas.microsoft.com/office/drawing/2014/main" id="{884EEA5B-4BB1-EAFC-B3AB-50EF252BB89F}"/>
              </a:ext>
            </a:extLst>
          </p:cNvPr>
          <p:cNvSpPr>
            <a:spLocks noGrp="1"/>
          </p:cNvSpPr>
          <p:nvPr>
            <p:ph idx="1"/>
          </p:nvPr>
        </p:nvSpPr>
        <p:spPr>
          <a:xfrm>
            <a:off x="4643022" y="622249"/>
            <a:ext cx="6844892" cy="5639712"/>
          </a:xfrm>
        </p:spPr>
        <p:txBody>
          <a:bodyPr>
            <a:normAutofit/>
          </a:bodyPr>
          <a:lstStyle/>
          <a:p>
            <a:r>
              <a:rPr lang="en-US"/>
              <a:t>Significance of Level A Accessibility</a:t>
            </a:r>
          </a:p>
          <a:p>
            <a:pPr lvl="1"/>
            <a:r>
              <a:rPr lang="en-US"/>
              <a:t>Ensures content usability for disabled community</a:t>
            </a:r>
          </a:p>
          <a:p>
            <a:pPr lvl="1"/>
            <a:r>
              <a:rPr lang="en-US"/>
              <a:t>Prevents exclusion of significant user base</a:t>
            </a:r>
          </a:p>
          <a:p>
            <a:r>
              <a:rPr lang="en-US"/>
              <a:t>Key Accessibility Features</a:t>
            </a:r>
          </a:p>
          <a:p>
            <a:pPr lvl="1"/>
            <a:r>
              <a:rPr lang="en-US"/>
              <a:t>Alt text for images</a:t>
            </a:r>
          </a:p>
          <a:p>
            <a:pPr lvl="1"/>
            <a:r>
              <a:rPr lang="en-US"/>
              <a:t>Keyboard navigation</a:t>
            </a:r>
          </a:p>
          <a:p>
            <a:pPr lvl="1"/>
            <a:r>
              <a:rPr lang="en-US"/>
              <a:t>Skip links for easier access</a:t>
            </a:r>
            <a:endParaRPr lang="en-IN"/>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73722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B77646-70F4-FDF4-1721-87B3B90534CF}"/>
              </a:ext>
            </a:extLst>
          </p:cNvPr>
          <p:cNvSpPr>
            <a:spLocks noGrp="1"/>
          </p:cNvSpPr>
          <p:nvPr>
            <p:ph type="title"/>
          </p:nvPr>
        </p:nvSpPr>
        <p:spPr>
          <a:xfrm>
            <a:off x="704087" y="559063"/>
            <a:ext cx="3306747" cy="5256025"/>
          </a:xfrm>
        </p:spPr>
        <p:txBody>
          <a:bodyPr>
            <a:normAutofit/>
          </a:bodyPr>
          <a:lstStyle/>
          <a:p>
            <a:r>
              <a:rPr lang="en-IN" sz="3600"/>
              <a:t>More Level A Examples</a:t>
            </a:r>
          </a:p>
        </p:txBody>
      </p:sp>
      <p:sp>
        <p:nvSpPr>
          <p:cNvPr id="3" name="Content Placeholder 2">
            <a:extLst>
              <a:ext uri="{FF2B5EF4-FFF2-40B4-BE49-F238E27FC236}">
                <a16:creationId xmlns:a16="http://schemas.microsoft.com/office/drawing/2014/main" id="{1E0394BE-9CE0-F649-67FD-D6099CED3FC6}"/>
              </a:ext>
            </a:extLst>
          </p:cNvPr>
          <p:cNvSpPr>
            <a:spLocks noGrp="1"/>
          </p:cNvSpPr>
          <p:nvPr>
            <p:ph idx="1"/>
          </p:nvPr>
        </p:nvSpPr>
        <p:spPr>
          <a:xfrm>
            <a:off x="4643022" y="622249"/>
            <a:ext cx="6844892" cy="5639712"/>
          </a:xfrm>
        </p:spPr>
        <p:txBody>
          <a:bodyPr>
            <a:normAutofit/>
          </a:bodyPr>
          <a:lstStyle/>
          <a:p>
            <a:r>
              <a:rPr lang="en-US"/>
              <a:t>Error Identification (Form Errors)</a:t>
            </a:r>
          </a:p>
          <a:p>
            <a:pPr lvl="1"/>
            <a:r>
              <a:rPr lang="en-US"/>
              <a:t>Input errors must be clearly identified and described in text</a:t>
            </a:r>
          </a:p>
          <a:p>
            <a:pPr lvl="1"/>
            <a:r>
              <a:rPr lang="en-US"/>
              <a:t>Example: 'Please enter a valid email address.' next to the email field, also announced by screen reader</a:t>
            </a:r>
          </a:p>
          <a:p>
            <a:r>
              <a:rPr lang="en-US"/>
              <a:t>Parsing (Valid HTML)</a:t>
            </a:r>
          </a:p>
          <a:p>
            <a:pPr lvl="1"/>
            <a:r>
              <a:rPr lang="en-US"/>
              <a:t>Content should be coded cleanly and correctly (valid HTML)</a:t>
            </a:r>
          </a:p>
          <a:p>
            <a:pPr lvl="1"/>
            <a:r>
              <a:rPr lang="en-US"/>
              <a:t>Helps assistive technologies understand and interpret the page</a:t>
            </a:r>
          </a:p>
          <a:p>
            <a:pPr lvl="1"/>
            <a:r>
              <a:rPr lang="en-US"/>
              <a:t>Example: Ensuring all opening tags have closing tags, correct attribute usage</a:t>
            </a:r>
            <a:endParaRPr lang="en-IN"/>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1363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6A2944-9E67-8A8A-6ECB-D2F046889EE6}"/>
              </a:ext>
            </a:extLst>
          </p:cNvPr>
          <p:cNvSpPr>
            <a:spLocks noGrp="1"/>
          </p:cNvSpPr>
          <p:nvPr>
            <p:ph type="title"/>
          </p:nvPr>
        </p:nvSpPr>
        <p:spPr>
          <a:xfrm>
            <a:off x="704087" y="559063"/>
            <a:ext cx="3306747" cy="5256025"/>
          </a:xfrm>
        </p:spPr>
        <p:txBody>
          <a:bodyPr>
            <a:normAutofit/>
          </a:bodyPr>
          <a:lstStyle/>
          <a:p>
            <a:r>
              <a:rPr lang="en-IN" sz="3300"/>
              <a:t>3.3.1 Error Identification (Form Errors)</a:t>
            </a:r>
          </a:p>
        </p:txBody>
      </p:sp>
      <p:sp>
        <p:nvSpPr>
          <p:cNvPr id="3" name="Content Placeholder 2">
            <a:extLst>
              <a:ext uri="{FF2B5EF4-FFF2-40B4-BE49-F238E27FC236}">
                <a16:creationId xmlns:a16="http://schemas.microsoft.com/office/drawing/2014/main" id="{FA0F3FD0-931F-B7B7-E4D0-EFFF03BD5769}"/>
              </a:ext>
            </a:extLst>
          </p:cNvPr>
          <p:cNvSpPr>
            <a:spLocks noGrp="1"/>
          </p:cNvSpPr>
          <p:nvPr>
            <p:ph idx="1"/>
          </p:nvPr>
        </p:nvSpPr>
        <p:spPr>
          <a:xfrm>
            <a:off x="4643022" y="622249"/>
            <a:ext cx="6844892" cy="5639712"/>
          </a:xfrm>
        </p:spPr>
        <p:txBody>
          <a:bodyPr>
            <a:normAutofit/>
          </a:bodyPr>
          <a:lstStyle/>
          <a:p>
            <a:r>
              <a:rPr lang="en-US"/>
              <a:t>Explanation of Error Identification</a:t>
            </a:r>
          </a:p>
          <a:p>
            <a:pPr lvl="1"/>
            <a:r>
              <a:rPr lang="en-US"/>
              <a:t>Errors must be clearly identified</a:t>
            </a:r>
          </a:p>
          <a:p>
            <a:pPr lvl="1"/>
            <a:r>
              <a:rPr lang="en-US"/>
              <a:t>Errors must be described in text</a:t>
            </a:r>
          </a:p>
          <a:p>
            <a:r>
              <a:rPr lang="en-US"/>
              <a:t>Example of Error Identification</a:t>
            </a:r>
          </a:p>
          <a:p>
            <a:pPr lvl="1"/>
            <a:r>
              <a:rPr lang="en-US"/>
              <a:t>Valid email address prompt</a:t>
            </a:r>
          </a:p>
          <a:p>
            <a:pPr lvl="1"/>
            <a:r>
              <a:rPr lang="en-US"/>
              <a:t>Displayed next to the email field</a:t>
            </a:r>
          </a:p>
          <a:p>
            <a:pPr lvl="1"/>
            <a:r>
              <a:rPr lang="en-US"/>
              <a:t>Announced by screen reader</a:t>
            </a:r>
            <a:endParaRPr lang="en-IN"/>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9833052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92C388-9ED0-E95B-ADFF-15E33369DAE0}"/>
              </a:ext>
            </a:extLst>
          </p:cNvPr>
          <p:cNvSpPr>
            <a:spLocks noGrp="1"/>
          </p:cNvSpPr>
          <p:nvPr>
            <p:ph type="title"/>
          </p:nvPr>
        </p:nvSpPr>
        <p:spPr>
          <a:xfrm>
            <a:off x="6696186" y="909637"/>
            <a:ext cx="4800600" cy="1307592"/>
          </a:xfrm>
        </p:spPr>
        <p:txBody>
          <a:bodyPr vert="horz" lIns="91440" tIns="45720" rIns="91440" bIns="45720" rtlCol="0" anchor="t">
            <a:normAutofit/>
          </a:bodyPr>
          <a:lstStyle/>
          <a:p>
            <a:pPr>
              <a:lnSpc>
                <a:spcPct val="90000"/>
              </a:lnSpc>
            </a:pPr>
            <a:r>
              <a:rPr lang="en-US"/>
              <a:t>4.1.1 Parsing (Valid HTML)</a:t>
            </a:r>
          </a:p>
        </p:txBody>
      </p:sp>
      <p:pic>
        <p:nvPicPr>
          <p:cNvPr id="5" name="Content Placeholder 4" descr="Computer script on a screen">
            <a:extLst>
              <a:ext uri="{FF2B5EF4-FFF2-40B4-BE49-F238E27FC236}">
                <a16:creationId xmlns:a16="http://schemas.microsoft.com/office/drawing/2014/main" id="{B4289E35-C299-46DC-B10C-2C7FE243B8F7}"/>
              </a:ext>
            </a:extLst>
          </p:cNvPr>
          <p:cNvPicPr>
            <a:picLocks noGrp="1" noChangeAspect="1"/>
          </p:cNvPicPr>
          <p:nvPr>
            <p:ph sz="half" idx="1"/>
          </p:nvPr>
        </p:nvPicPr>
        <p:blipFill>
          <a:blip r:embed="rId3"/>
          <a:srcRect l="279" r="40892" b="-1"/>
          <a:stretch>
            <a:fillRect/>
          </a:stretch>
        </p:blipFill>
        <p:spPr>
          <a:xfrm>
            <a:off x="20" y="10"/>
            <a:ext cx="6044164" cy="6857990"/>
          </a:xfrm>
          <a:prstGeom prst="rect">
            <a:avLst/>
          </a:prstGeom>
        </p:spPr>
      </p:pic>
      <p:cxnSp>
        <p:nvCxnSpPr>
          <p:cNvPr id="16" name="Straight Connector 15">
            <a:extLst>
              <a:ext uri="{FF2B5EF4-FFF2-40B4-BE49-F238E27FC236}">
                <a16:creationId xmlns:a16="http://schemas.microsoft.com/office/drawing/2014/main" id="{511FC409-B3C2-4F68-865C-C5333D6F2710}"/>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723900"/>
            <a:ext cx="4610075"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0A17D415-8194-D316-3FB9-ACA55D263934}"/>
              </a:ext>
            </a:extLst>
          </p:cNvPr>
          <p:cNvSpPr>
            <a:spLocks noGrp="1"/>
          </p:cNvSpPr>
          <p:nvPr>
            <p:ph sz="half" idx="2"/>
          </p:nvPr>
        </p:nvSpPr>
        <p:spPr>
          <a:xfrm>
            <a:off x="6696186" y="2221992"/>
            <a:ext cx="4800600" cy="3739896"/>
          </a:xfrm>
        </p:spPr>
        <p:txBody>
          <a:bodyPr vert="horz" lIns="91440" tIns="45720" rIns="91440" bIns="45720" rtlCol="0">
            <a:normAutofit/>
          </a:bodyPr>
          <a:lstStyle/>
          <a:p>
            <a:r>
              <a:rPr lang="en-US"/>
              <a:t>Importance of Valid HTML</a:t>
            </a:r>
          </a:p>
          <a:p>
            <a:pPr lvl="1"/>
            <a:r>
              <a:rPr lang="en-US"/>
              <a:t>Ensures clean and correct coding</a:t>
            </a:r>
          </a:p>
          <a:p>
            <a:pPr lvl="1"/>
            <a:r>
              <a:rPr lang="en-US"/>
              <a:t>Helps assistive technologies understand the page</a:t>
            </a:r>
          </a:p>
          <a:p>
            <a:r>
              <a:rPr lang="en-US"/>
              <a:t>Key Practices</a:t>
            </a:r>
          </a:p>
          <a:p>
            <a:pPr lvl="1"/>
            <a:r>
              <a:rPr lang="en-US"/>
              <a:t>Ensure all opening tags have closing tags</a:t>
            </a:r>
          </a:p>
          <a:p>
            <a:pPr lvl="1"/>
            <a:r>
              <a:rPr lang="en-US"/>
              <a:t>Use correct attribute usage</a:t>
            </a:r>
          </a:p>
        </p:txBody>
      </p:sp>
      <p:cxnSp>
        <p:nvCxnSpPr>
          <p:cNvPr id="18" name="Straight Connector 17">
            <a:extLst>
              <a:ext uri="{FF2B5EF4-FFF2-40B4-BE49-F238E27FC236}">
                <a16:creationId xmlns:a16="http://schemas.microsoft.com/office/drawing/2014/main" id="{B810270D-76A7-44B3-9746-7EDF5788602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81300" y="6142781"/>
            <a:ext cx="4610075"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56117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F20150-EEB2-70B2-34C1-D379C913815A}"/>
              </a:ext>
            </a:extLst>
          </p:cNvPr>
          <p:cNvSpPr>
            <a:spLocks noGrp="1"/>
          </p:cNvSpPr>
          <p:nvPr>
            <p:ph type="title"/>
          </p:nvPr>
        </p:nvSpPr>
        <p:spPr>
          <a:xfrm>
            <a:off x="1969770" y="5852162"/>
            <a:ext cx="5965190" cy="746854"/>
          </a:xfrm>
        </p:spPr>
        <p:txBody>
          <a:bodyPr vert="horz" lIns="91440" tIns="45720" rIns="91440" bIns="45720" rtlCol="0" anchor="t">
            <a:normAutofit/>
          </a:bodyPr>
          <a:lstStyle/>
          <a:p>
            <a:r>
              <a:rPr lang="en-US"/>
              <a:t>Image</a:t>
            </a:r>
          </a:p>
        </p:txBody>
      </p:sp>
      <p:pic>
        <p:nvPicPr>
          <p:cNvPr id="4" name="Content Placeholder 3" descr="Exclamation Mark speech bubble isolated on yellow background.">
            <a:extLst>
              <a:ext uri="{FF2B5EF4-FFF2-40B4-BE49-F238E27FC236}">
                <a16:creationId xmlns:a16="http://schemas.microsoft.com/office/drawing/2014/main" id="{5EC2DABB-E56D-459A-A91A-C257557B60DC}"/>
              </a:ext>
            </a:extLst>
          </p:cNvPr>
          <p:cNvPicPr>
            <a:picLocks noGrp="1" noChangeAspect="1"/>
          </p:cNvPicPr>
          <p:nvPr>
            <p:ph idx="1"/>
          </p:nvPr>
        </p:nvPicPr>
        <p:blipFill>
          <a:blip r:embed="rId3"/>
          <a:stretch>
            <a:fillRect/>
          </a:stretch>
        </p:blipFill>
        <p:spPr>
          <a:xfrm>
            <a:off x="2203510" y="406400"/>
            <a:ext cx="7784979" cy="5196474"/>
          </a:xfrm>
          <a:prstGeom prst="rect">
            <a:avLst/>
          </a:prstGeom>
        </p:spPr>
      </p:pic>
      <p:cxnSp>
        <p:nvCxnSpPr>
          <p:cNvPr id="15" name="Straight Connector 14">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969770" y="5719083"/>
            <a:ext cx="82296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325910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6BCDBD-D256-ADB7-0BAD-E1635FD3968B}"/>
              </a:ext>
            </a:extLst>
          </p:cNvPr>
          <p:cNvSpPr>
            <a:spLocks noGrp="1"/>
          </p:cNvSpPr>
          <p:nvPr>
            <p:ph type="title"/>
          </p:nvPr>
        </p:nvSpPr>
        <p:spPr>
          <a:xfrm>
            <a:off x="704087" y="559063"/>
            <a:ext cx="3306747" cy="5256025"/>
          </a:xfrm>
        </p:spPr>
        <p:txBody>
          <a:bodyPr>
            <a:normAutofit/>
          </a:bodyPr>
          <a:lstStyle/>
          <a:p>
            <a:r>
              <a:rPr lang="en-IN" sz="3600"/>
              <a:t>Diving into WCAG 2.2 Level AA - The Standard Goal</a:t>
            </a:r>
          </a:p>
        </p:txBody>
      </p:sp>
      <p:sp>
        <p:nvSpPr>
          <p:cNvPr id="3" name="Content Placeholder 2">
            <a:extLst>
              <a:ext uri="{FF2B5EF4-FFF2-40B4-BE49-F238E27FC236}">
                <a16:creationId xmlns:a16="http://schemas.microsoft.com/office/drawing/2014/main" id="{584D2534-AF55-B72F-39C4-D3020586B7AA}"/>
              </a:ext>
            </a:extLst>
          </p:cNvPr>
          <p:cNvSpPr>
            <a:spLocks noGrp="1"/>
          </p:cNvSpPr>
          <p:nvPr>
            <p:ph idx="1"/>
          </p:nvPr>
        </p:nvSpPr>
        <p:spPr>
          <a:xfrm>
            <a:off x="4643022" y="622249"/>
            <a:ext cx="6844892" cy="5639712"/>
          </a:xfrm>
        </p:spPr>
        <p:txBody>
          <a:bodyPr>
            <a:normAutofit/>
          </a:bodyPr>
          <a:lstStyle/>
          <a:p>
            <a:r>
              <a:rPr lang="en-US"/>
              <a:t>Level AA builds upon Level A</a:t>
            </a:r>
          </a:p>
          <a:p>
            <a:pPr lvl="1"/>
            <a:r>
              <a:rPr lang="en-US"/>
              <a:t>Addresses more significant barriers</a:t>
            </a:r>
          </a:p>
          <a:p>
            <a:pPr lvl="1"/>
            <a:r>
              <a:rPr lang="en-US"/>
              <a:t>Provides a better user experience for people with a wider range of disabilities</a:t>
            </a:r>
          </a:p>
          <a:p>
            <a:r>
              <a:rPr lang="en-US"/>
              <a:t>Meeting Level AA</a:t>
            </a:r>
          </a:p>
          <a:p>
            <a:pPr lvl="1"/>
            <a:r>
              <a:rPr lang="en-US"/>
              <a:t>Content is generally considered accessible</a:t>
            </a:r>
          </a:p>
          <a:p>
            <a:pPr lvl="1"/>
            <a:r>
              <a:rPr lang="en-US"/>
              <a:t>Usable by most people with disabilities</a:t>
            </a:r>
          </a:p>
          <a:p>
            <a:r>
              <a:rPr lang="en-US"/>
              <a:t>Examples of Level AA criteria</a:t>
            </a:r>
          </a:p>
          <a:p>
            <a:pPr lvl="1"/>
            <a:r>
              <a:rPr lang="en-US"/>
              <a:t>1.4.3 Contrast (Minimum)</a:t>
            </a:r>
          </a:p>
          <a:p>
            <a:pPr lvl="2"/>
            <a:r>
              <a:rPr lang="en-US"/>
              <a:t>Ensure sufficient color contrast between text and its background</a:t>
            </a:r>
          </a:p>
          <a:p>
            <a:pPr lvl="2"/>
            <a:r>
              <a:rPr lang="en-US"/>
              <a:t>Crucial for users with low vision or color blindness</a:t>
            </a:r>
          </a:p>
          <a:p>
            <a:pPr lvl="2"/>
            <a:r>
              <a:rPr lang="en-US"/>
              <a:t>Example: Dark text on a light background with a contrast ratio of at least 4.5:1</a:t>
            </a:r>
          </a:p>
          <a:p>
            <a:pPr lvl="1"/>
            <a:r>
              <a:rPr lang="en-US"/>
              <a:t>2.4.7 Focus Visible (Keyboard Focus)</a:t>
            </a:r>
            <a:endParaRPr lang="en-IN"/>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32951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9674B8-5E8A-6AD9-EB39-8A36A1BF22BE}"/>
              </a:ext>
            </a:extLst>
          </p:cNvPr>
          <p:cNvSpPr>
            <a:spLocks noGrp="1"/>
          </p:cNvSpPr>
          <p:nvPr>
            <p:ph type="title"/>
          </p:nvPr>
        </p:nvSpPr>
        <p:spPr>
          <a:xfrm>
            <a:off x="704087" y="559063"/>
            <a:ext cx="3306747" cy="5256025"/>
          </a:xfrm>
        </p:spPr>
        <p:txBody>
          <a:bodyPr>
            <a:normAutofit/>
          </a:bodyPr>
          <a:lstStyle/>
          <a:p>
            <a:r>
              <a:rPr lang="en-IN" sz="3600"/>
              <a:t>1.4.3 Contrast (Minimum)</a:t>
            </a:r>
          </a:p>
        </p:txBody>
      </p:sp>
      <p:sp>
        <p:nvSpPr>
          <p:cNvPr id="3" name="Content Placeholder 2">
            <a:extLst>
              <a:ext uri="{FF2B5EF4-FFF2-40B4-BE49-F238E27FC236}">
                <a16:creationId xmlns:a16="http://schemas.microsoft.com/office/drawing/2014/main" id="{CAFEADEF-587D-4562-452B-3345C956ECED}"/>
              </a:ext>
            </a:extLst>
          </p:cNvPr>
          <p:cNvSpPr>
            <a:spLocks noGrp="1"/>
          </p:cNvSpPr>
          <p:nvPr>
            <p:ph idx="1"/>
          </p:nvPr>
        </p:nvSpPr>
        <p:spPr>
          <a:xfrm>
            <a:off x="4643022" y="622249"/>
            <a:ext cx="6844892" cy="5639712"/>
          </a:xfrm>
        </p:spPr>
        <p:txBody>
          <a:bodyPr>
            <a:normAutofit/>
          </a:bodyPr>
          <a:lstStyle/>
          <a:p>
            <a:r>
              <a:rPr lang="en-US"/>
              <a:t>Importance of Color Contrast</a:t>
            </a:r>
          </a:p>
          <a:p>
            <a:pPr lvl="1"/>
            <a:r>
              <a:rPr lang="en-US"/>
              <a:t>Essential for users with low vision</a:t>
            </a:r>
          </a:p>
          <a:p>
            <a:pPr lvl="1"/>
            <a:r>
              <a:rPr lang="en-US"/>
              <a:t>Helps users with color blindness</a:t>
            </a:r>
          </a:p>
          <a:p>
            <a:r>
              <a:rPr lang="en-US"/>
              <a:t>Recommended Contrast Ratio</a:t>
            </a:r>
          </a:p>
          <a:p>
            <a:pPr lvl="1"/>
            <a:r>
              <a:rPr lang="en-US"/>
              <a:t>At least 4.5:1</a:t>
            </a:r>
          </a:p>
          <a:p>
            <a:pPr lvl="1"/>
            <a:r>
              <a:rPr lang="en-US"/>
              <a:t>Dark text on light background</a:t>
            </a:r>
          </a:p>
          <a:p>
            <a:pPr lvl="1"/>
            <a:r>
              <a:rPr lang="en-US"/>
              <a:t>Light text on dark background</a:t>
            </a:r>
          </a:p>
          <a:p>
            <a:r>
              <a:rPr lang="en-US"/>
              <a:t>Examples of Sufficient Contrast</a:t>
            </a:r>
          </a:p>
          <a:p>
            <a:pPr lvl="1"/>
            <a:r>
              <a:rPr lang="en-US"/>
              <a:t>Black text on white background</a:t>
            </a:r>
          </a:p>
          <a:p>
            <a:pPr lvl="1"/>
            <a:r>
              <a:rPr lang="en-US"/>
              <a:t>White text on black background</a:t>
            </a:r>
            <a:endParaRPr lang="en-IN"/>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34368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8A1390-DEC3-389E-4E88-25C18F0A8BB3}"/>
              </a:ext>
            </a:extLst>
          </p:cNvPr>
          <p:cNvSpPr>
            <a:spLocks noGrp="1"/>
          </p:cNvSpPr>
          <p:nvPr>
            <p:ph type="title"/>
          </p:nvPr>
        </p:nvSpPr>
        <p:spPr>
          <a:xfrm>
            <a:off x="4866968" y="914400"/>
            <a:ext cx="6627924" cy="1307592"/>
          </a:xfrm>
        </p:spPr>
        <p:txBody>
          <a:bodyPr vert="horz" lIns="91440" tIns="45720" rIns="91440" bIns="45720" rtlCol="0" anchor="t">
            <a:normAutofit/>
          </a:bodyPr>
          <a:lstStyle/>
          <a:p>
            <a:pPr>
              <a:lnSpc>
                <a:spcPct val="90000"/>
              </a:lnSpc>
            </a:pPr>
            <a:r>
              <a:rPr lang="en-US"/>
              <a:t>2.4.7 Focus Visible (Keyboard Focus)</a:t>
            </a:r>
          </a:p>
        </p:txBody>
      </p:sp>
      <p:pic>
        <p:nvPicPr>
          <p:cNvPr id="5" name="Content Placeholder 4" descr="Closeup of a keyboard">
            <a:extLst>
              <a:ext uri="{FF2B5EF4-FFF2-40B4-BE49-F238E27FC236}">
                <a16:creationId xmlns:a16="http://schemas.microsoft.com/office/drawing/2014/main" id="{4E497F75-973E-4113-80F1-E0C0841003E0}"/>
              </a:ext>
            </a:extLst>
          </p:cNvPr>
          <p:cNvPicPr>
            <a:picLocks noGrp="1" noChangeAspect="1"/>
          </p:cNvPicPr>
          <p:nvPr>
            <p:ph sz="half" idx="1"/>
          </p:nvPr>
        </p:nvPicPr>
        <p:blipFill>
          <a:blip r:embed="rId3"/>
          <a:srcRect l="20314" r="40076"/>
          <a:stretch>
            <a:fillRect/>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3820FACC-6D15-6C5E-CB4E-90A811889C38}"/>
              </a:ext>
            </a:extLst>
          </p:cNvPr>
          <p:cNvSpPr>
            <a:spLocks noGrp="1"/>
          </p:cNvSpPr>
          <p:nvPr>
            <p:ph sz="half" idx="2"/>
          </p:nvPr>
        </p:nvSpPr>
        <p:spPr>
          <a:xfrm>
            <a:off x="4866968" y="2221992"/>
            <a:ext cx="6627924" cy="3739896"/>
          </a:xfrm>
        </p:spPr>
        <p:txBody>
          <a:bodyPr vert="horz" lIns="91440" tIns="45720" rIns="91440" bIns="45720" rtlCol="0">
            <a:normAutofit/>
          </a:bodyPr>
          <a:lstStyle/>
          <a:p>
            <a:r>
              <a:rPr lang="en-US"/>
              <a:t>Keyboard Navigation</a:t>
            </a:r>
          </a:p>
          <a:p>
            <a:pPr lvl="1"/>
            <a:r>
              <a:rPr lang="en-US"/>
              <a:t>Clear visual indicator required</a:t>
            </a:r>
          </a:p>
          <a:p>
            <a:pPr lvl="1"/>
            <a:r>
              <a:rPr lang="en-US"/>
              <a:t>Shows which element is in focus</a:t>
            </a:r>
          </a:p>
          <a:p>
            <a:r>
              <a:rPr lang="en-US"/>
              <a:t>Example of Focus</a:t>
            </a:r>
          </a:p>
          <a:p>
            <a:pPr lvl="1"/>
            <a:r>
              <a:rPr lang="en-US"/>
              <a:t>Blue outline around a button</a:t>
            </a:r>
          </a:p>
          <a:p>
            <a:pPr lvl="1"/>
            <a:r>
              <a:rPr lang="en-US"/>
              <a:t>Occurs when user tabs to the button</a:t>
            </a:r>
          </a:p>
        </p:txBody>
      </p: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942340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831E242-E799-DD7F-A048-5961B237CE2F}"/>
              </a:ext>
            </a:extLst>
          </p:cNvPr>
          <p:cNvSpPr>
            <a:spLocks noGrp="1"/>
          </p:cNvSpPr>
          <p:nvPr>
            <p:ph type="title"/>
          </p:nvPr>
        </p:nvSpPr>
        <p:spPr>
          <a:xfrm>
            <a:off x="685800" y="899024"/>
            <a:ext cx="3076032" cy="3914947"/>
          </a:xfrm>
        </p:spPr>
        <p:txBody>
          <a:bodyPr vert="horz" lIns="91440" tIns="45720" rIns="91440" bIns="45720" rtlCol="0" anchor="t">
            <a:normAutofit/>
          </a:bodyPr>
          <a:lstStyle/>
          <a:p>
            <a:r>
              <a:rPr lang="en-US"/>
              <a:t>Key Concept</a:t>
            </a:r>
          </a:p>
        </p:txBody>
      </p:sp>
      <p:cxnSp>
        <p:nvCxnSpPr>
          <p:cNvPr id="15" name="Straight Connector 14">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3716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4" name="Content Placeholder 3" descr="Alert button">
            <a:extLst>
              <a:ext uri="{FF2B5EF4-FFF2-40B4-BE49-F238E27FC236}">
                <a16:creationId xmlns:a16="http://schemas.microsoft.com/office/drawing/2014/main" id="{CF74EAA1-FFCC-4665-9DCF-503460C0571B}"/>
              </a:ext>
            </a:extLst>
          </p:cNvPr>
          <p:cNvPicPr>
            <a:picLocks noGrp="1" noChangeAspect="1"/>
          </p:cNvPicPr>
          <p:nvPr>
            <p:ph idx="1"/>
          </p:nvPr>
        </p:nvPicPr>
        <p:blipFill>
          <a:blip r:embed="rId3"/>
          <a:stretch>
            <a:fillRect/>
          </a:stretch>
        </p:blipFill>
        <p:spPr>
          <a:xfrm>
            <a:off x="5010149" y="723901"/>
            <a:ext cx="5410200" cy="5410200"/>
          </a:xfrm>
          <a:prstGeom prst="rect">
            <a:avLst/>
          </a:prstGeom>
        </p:spPr>
      </p:pic>
    </p:spTree>
    <p:extLst>
      <p:ext uri="{BB962C8B-B14F-4D97-AF65-F5344CB8AC3E}">
        <p14:creationId xmlns:p14="http://schemas.microsoft.com/office/powerpoint/2010/main" val="35615396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DB60A1-50BB-5FA7-2100-227FDD08E66E}"/>
              </a:ext>
            </a:extLst>
          </p:cNvPr>
          <p:cNvSpPr>
            <a:spLocks noGrp="1"/>
          </p:cNvSpPr>
          <p:nvPr>
            <p:ph type="title"/>
          </p:nvPr>
        </p:nvSpPr>
        <p:spPr>
          <a:xfrm>
            <a:off x="704087" y="559063"/>
            <a:ext cx="3306747" cy="5256025"/>
          </a:xfrm>
        </p:spPr>
        <p:txBody>
          <a:bodyPr>
            <a:normAutofit/>
          </a:bodyPr>
          <a:lstStyle/>
          <a:p>
            <a:r>
              <a:rPr lang="en-IN" sz="3600"/>
              <a:t>More Level AA Examples</a:t>
            </a:r>
          </a:p>
        </p:txBody>
      </p:sp>
      <p:sp>
        <p:nvSpPr>
          <p:cNvPr id="3" name="Content Placeholder 2">
            <a:extLst>
              <a:ext uri="{FF2B5EF4-FFF2-40B4-BE49-F238E27FC236}">
                <a16:creationId xmlns:a16="http://schemas.microsoft.com/office/drawing/2014/main" id="{B82E34B9-C6C2-C661-EE65-ED5F7056DB71}"/>
              </a:ext>
            </a:extLst>
          </p:cNvPr>
          <p:cNvSpPr>
            <a:spLocks noGrp="1"/>
          </p:cNvSpPr>
          <p:nvPr>
            <p:ph idx="1"/>
          </p:nvPr>
        </p:nvSpPr>
        <p:spPr>
          <a:xfrm>
            <a:off x="4643022" y="622249"/>
            <a:ext cx="6844892" cy="5639712"/>
          </a:xfrm>
        </p:spPr>
        <p:txBody>
          <a:bodyPr>
            <a:normAutofit/>
          </a:bodyPr>
          <a:lstStyle/>
          <a:p>
            <a:r>
              <a:rPr lang="en-US"/>
              <a:t>Pause, Stop, Hide (Animations/Moving Content)</a:t>
            </a:r>
          </a:p>
          <a:p>
            <a:pPr lvl="1"/>
            <a:r>
              <a:rPr lang="en-US"/>
              <a:t>Provide mechanisms to pause, stop, or hide moving content</a:t>
            </a:r>
          </a:p>
          <a:p>
            <a:pPr lvl="1"/>
            <a:r>
              <a:rPr lang="en-US"/>
              <a:t>Avoid distractions and seizure triggers</a:t>
            </a:r>
          </a:p>
          <a:p>
            <a:pPr lvl="1"/>
            <a:r>
              <a:rPr lang="en-US"/>
              <a:t>Example: A 'Pause' button for a rotating image carousel</a:t>
            </a:r>
          </a:p>
          <a:p>
            <a:r>
              <a:rPr lang="en-US"/>
              <a:t>Link Purpose (In Context)</a:t>
            </a:r>
          </a:p>
          <a:p>
            <a:pPr lvl="1"/>
            <a:r>
              <a:rPr lang="en-US"/>
              <a:t>Ensure link purposes are clear from text or context</a:t>
            </a:r>
          </a:p>
          <a:p>
            <a:pPr lvl="1"/>
            <a:r>
              <a:rPr lang="en-US"/>
              <a:t>Avoid generic 'click here' links</a:t>
            </a:r>
          </a:p>
          <a:p>
            <a:pPr lvl="1"/>
            <a:r>
              <a:rPr lang="en-US"/>
              <a:t>Example: Use 'Download Annual Report (PDF)' instead of 'Click Here'</a:t>
            </a:r>
          </a:p>
          <a:p>
            <a:r>
              <a:rPr lang="en-US"/>
              <a:t>Language of Parts (Language Changes)</a:t>
            </a:r>
          </a:p>
          <a:p>
            <a:pPr lvl="1"/>
            <a:r>
              <a:rPr lang="en-US"/>
              <a:t>Indicate if content parts are in a different language</a:t>
            </a:r>
          </a:p>
          <a:p>
            <a:pPr lvl="1"/>
            <a:r>
              <a:rPr lang="en-US"/>
              <a:t>Helps screen readers pronounce words correctly</a:t>
            </a:r>
          </a:p>
          <a:p>
            <a:pPr lvl="1"/>
            <a:r>
              <a:rPr lang="en-US"/>
              <a:t>Example: For a French phrase in an English document:</a:t>
            </a:r>
            <a:endParaRPr lang="en-IN"/>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6588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897EFB0-52B2-A2C7-8E01-B0CAFF16A637}"/>
              </a:ext>
            </a:extLst>
          </p:cNvPr>
          <p:cNvSpPr>
            <a:spLocks noGrp="1"/>
          </p:cNvSpPr>
          <p:nvPr>
            <p:ph type="title"/>
          </p:nvPr>
        </p:nvSpPr>
        <p:spPr>
          <a:xfrm>
            <a:off x="4866968" y="914400"/>
            <a:ext cx="6627924" cy="1307592"/>
          </a:xfrm>
        </p:spPr>
        <p:txBody>
          <a:bodyPr vert="horz" lIns="91440" tIns="45720" rIns="91440" bIns="45720" rtlCol="0" anchor="t">
            <a:normAutofit/>
          </a:bodyPr>
          <a:lstStyle/>
          <a:p>
            <a:pPr>
              <a:lnSpc>
                <a:spcPct val="90000"/>
              </a:lnSpc>
            </a:pPr>
            <a:r>
              <a:rPr lang="en-US" sz="3400"/>
              <a:t>2.2.2 Pause, Stop, Hide (Animations/Moving Content)</a:t>
            </a:r>
          </a:p>
        </p:txBody>
      </p:sp>
      <p:pic>
        <p:nvPicPr>
          <p:cNvPr id="5" name="Content Placeholder 4" descr="Illuminated swing carousel at sunset">
            <a:extLst>
              <a:ext uri="{FF2B5EF4-FFF2-40B4-BE49-F238E27FC236}">
                <a16:creationId xmlns:a16="http://schemas.microsoft.com/office/drawing/2014/main" id="{1E5C5B91-B560-4BA2-845D-75FC3D5D3CB6}"/>
              </a:ext>
            </a:extLst>
          </p:cNvPr>
          <p:cNvPicPr>
            <a:picLocks noGrp="1" noChangeAspect="1"/>
          </p:cNvPicPr>
          <p:nvPr>
            <p:ph sz="half" idx="1"/>
          </p:nvPr>
        </p:nvPicPr>
        <p:blipFill>
          <a:blip r:embed="rId3"/>
          <a:srcRect l="32205" r="26963" b="2"/>
          <a:stretch>
            <a:fillRect/>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8529B3D0-0CD7-F87E-EEA6-F7652680D237}"/>
              </a:ext>
            </a:extLst>
          </p:cNvPr>
          <p:cNvSpPr>
            <a:spLocks noGrp="1"/>
          </p:cNvSpPr>
          <p:nvPr>
            <p:ph sz="half" idx="2"/>
          </p:nvPr>
        </p:nvSpPr>
        <p:spPr>
          <a:xfrm>
            <a:off x="4866968" y="2221992"/>
            <a:ext cx="6627924" cy="3739896"/>
          </a:xfrm>
        </p:spPr>
        <p:txBody>
          <a:bodyPr vert="horz" lIns="91440" tIns="45720" rIns="91440" bIns="45720" rtlCol="0">
            <a:normAutofit/>
          </a:bodyPr>
          <a:lstStyle/>
          <a:p>
            <a:r>
              <a:rPr lang="en-US"/>
              <a:t>Provide Mechanism for Moving Content</a:t>
            </a:r>
          </a:p>
          <a:p>
            <a:pPr lvl="1"/>
            <a:r>
              <a:rPr lang="en-US"/>
              <a:t>Ensure users can pause, stop, or hide moving, blinking, or scrolling content</a:t>
            </a:r>
          </a:p>
          <a:p>
            <a:pPr lvl="1"/>
            <a:r>
              <a:rPr lang="en-US"/>
              <a:t>Helps avoid distractions and seizure triggers</a:t>
            </a:r>
          </a:p>
          <a:p>
            <a:r>
              <a:rPr lang="en-US"/>
              <a:t>Example Implementation</a:t>
            </a:r>
          </a:p>
          <a:p>
            <a:pPr lvl="1"/>
            <a:r>
              <a:rPr lang="en-US"/>
              <a:t>Include a 'Pause' button for rotating image carousels</a:t>
            </a:r>
          </a:p>
        </p:txBody>
      </p: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351172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04464D-4E78-9937-EE14-B98D701EFEF9}"/>
              </a:ext>
            </a:extLst>
          </p:cNvPr>
          <p:cNvSpPr>
            <a:spLocks noGrp="1"/>
          </p:cNvSpPr>
          <p:nvPr>
            <p:ph type="title"/>
          </p:nvPr>
        </p:nvSpPr>
        <p:spPr>
          <a:xfrm>
            <a:off x="704087" y="559063"/>
            <a:ext cx="3306747" cy="5256025"/>
          </a:xfrm>
        </p:spPr>
        <p:txBody>
          <a:bodyPr>
            <a:normAutofit/>
          </a:bodyPr>
          <a:lstStyle/>
          <a:p>
            <a:r>
              <a:rPr lang="en-IN" sz="3600"/>
              <a:t>2.4.4 Link Purpose (In Context)</a:t>
            </a:r>
          </a:p>
        </p:txBody>
      </p:sp>
      <p:sp>
        <p:nvSpPr>
          <p:cNvPr id="3" name="Content Placeholder 2">
            <a:extLst>
              <a:ext uri="{FF2B5EF4-FFF2-40B4-BE49-F238E27FC236}">
                <a16:creationId xmlns:a16="http://schemas.microsoft.com/office/drawing/2014/main" id="{BC5EBE6B-100C-28BB-1325-352186CD001A}"/>
              </a:ext>
            </a:extLst>
          </p:cNvPr>
          <p:cNvSpPr>
            <a:spLocks noGrp="1"/>
          </p:cNvSpPr>
          <p:nvPr>
            <p:ph idx="1"/>
          </p:nvPr>
        </p:nvSpPr>
        <p:spPr>
          <a:xfrm>
            <a:off x="4643022" y="622249"/>
            <a:ext cx="6844892" cy="5639712"/>
          </a:xfrm>
        </p:spPr>
        <p:txBody>
          <a:bodyPr>
            <a:normAutofit/>
          </a:bodyPr>
          <a:lstStyle/>
          <a:p>
            <a:r>
              <a:rPr lang="en-US"/>
              <a:t>Clear Link Purpose</a:t>
            </a:r>
          </a:p>
          <a:p>
            <a:pPr lvl="1"/>
            <a:r>
              <a:rPr lang="en-US"/>
              <a:t>Ensure the purpose of each link is evident from its text or context</a:t>
            </a:r>
          </a:p>
          <a:p>
            <a:pPr lvl="1"/>
            <a:r>
              <a:rPr lang="en-US"/>
              <a:t>Avoid using generic phrases like 'click here'</a:t>
            </a:r>
          </a:p>
          <a:p>
            <a:r>
              <a:rPr lang="en-US"/>
              <a:t>Examples of Clear Link Text</a:t>
            </a:r>
          </a:p>
          <a:p>
            <a:pPr lvl="1"/>
            <a:r>
              <a:rPr lang="en-US"/>
              <a:t>Use descriptive text such as 'Download Annual Report (PDF)'</a:t>
            </a:r>
          </a:p>
          <a:p>
            <a:pPr lvl="1"/>
            <a:r>
              <a:rPr lang="en-US"/>
              <a:t>Provide context with phrases like 'Learn more about our services'</a:t>
            </a:r>
            <a:endParaRPr lang="en-IN"/>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67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A152AD-96C1-1F96-23ED-458E1E249102}"/>
              </a:ext>
            </a:extLst>
          </p:cNvPr>
          <p:cNvSpPr>
            <a:spLocks noGrp="1"/>
          </p:cNvSpPr>
          <p:nvPr>
            <p:ph type="title"/>
          </p:nvPr>
        </p:nvSpPr>
        <p:spPr>
          <a:xfrm>
            <a:off x="4866968" y="914400"/>
            <a:ext cx="6627924" cy="1307592"/>
          </a:xfrm>
        </p:spPr>
        <p:txBody>
          <a:bodyPr vert="horz" lIns="91440" tIns="45720" rIns="91440" bIns="45720" rtlCol="0" anchor="t">
            <a:normAutofit/>
          </a:bodyPr>
          <a:lstStyle/>
          <a:p>
            <a:pPr>
              <a:lnSpc>
                <a:spcPct val="90000"/>
              </a:lnSpc>
            </a:pPr>
            <a:r>
              <a:rPr lang="en-US"/>
              <a:t>3.1.2 Language of Parts (Language Changes)</a:t>
            </a:r>
          </a:p>
        </p:txBody>
      </p:sp>
      <p:pic>
        <p:nvPicPr>
          <p:cNvPr id="5" name="Content Placeholder 4" descr="Lorem Ipsum dolor text on printed on paper in black and white, sample of document, side view, selective focus">
            <a:extLst>
              <a:ext uri="{FF2B5EF4-FFF2-40B4-BE49-F238E27FC236}">
                <a16:creationId xmlns:a16="http://schemas.microsoft.com/office/drawing/2014/main" id="{557D271C-F74D-44B0-8277-AA6450FBF1AE}"/>
              </a:ext>
            </a:extLst>
          </p:cNvPr>
          <p:cNvPicPr>
            <a:picLocks noGrp="1" noChangeAspect="1"/>
          </p:cNvPicPr>
          <p:nvPr>
            <p:ph sz="half" idx="1"/>
          </p:nvPr>
        </p:nvPicPr>
        <p:blipFill>
          <a:blip r:embed="rId3"/>
          <a:srcRect l="51237" r="7931" b="2"/>
          <a:stretch>
            <a:fillRect/>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2725A66E-F6CC-BB9D-AA6B-EA8CF627E924}"/>
              </a:ext>
            </a:extLst>
          </p:cNvPr>
          <p:cNvSpPr>
            <a:spLocks noGrp="1"/>
          </p:cNvSpPr>
          <p:nvPr>
            <p:ph sz="half" idx="2"/>
          </p:nvPr>
        </p:nvSpPr>
        <p:spPr>
          <a:xfrm>
            <a:off x="4866968" y="2221992"/>
            <a:ext cx="6627924" cy="3739896"/>
          </a:xfrm>
        </p:spPr>
        <p:txBody>
          <a:bodyPr vert="horz" lIns="91440" tIns="45720" rIns="91440" bIns="45720" rtlCol="0">
            <a:normAutofit/>
          </a:bodyPr>
          <a:lstStyle/>
          <a:p>
            <a:r>
              <a:rPr lang="en-US"/>
              <a:t>Indicating Different Languages</a:t>
            </a:r>
          </a:p>
          <a:p>
            <a:pPr lvl="1"/>
            <a:r>
              <a:rPr lang="en-US"/>
              <a:t>Helps screen readers pronounce words correctly</a:t>
            </a:r>
          </a:p>
          <a:p>
            <a:pPr lvl="1"/>
            <a:r>
              <a:rPr lang="en-US"/>
              <a:t>Important for accessibility</a:t>
            </a:r>
          </a:p>
          <a:p>
            <a:r>
              <a:rPr lang="en-US"/>
              <a:t>Example Usage</a:t>
            </a:r>
          </a:p>
          <a:p>
            <a:pPr lvl="1"/>
            <a:r>
              <a:rPr lang="en-US"/>
              <a:t>French phrase in an English document</a:t>
            </a:r>
          </a:p>
          <a:p>
            <a:pPr lvl="1"/>
            <a:r>
              <a:rPr lang="en-US"/>
              <a:t>Use</a:t>
            </a:r>
          </a:p>
        </p:txBody>
      </p: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2747302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FD039C-3286-7CC7-9A97-5FD052DD2541}"/>
              </a:ext>
            </a:extLst>
          </p:cNvPr>
          <p:cNvSpPr>
            <a:spLocks noGrp="1"/>
          </p:cNvSpPr>
          <p:nvPr>
            <p:ph type="title"/>
          </p:nvPr>
        </p:nvSpPr>
        <p:spPr>
          <a:xfrm>
            <a:off x="800102" y="960594"/>
            <a:ext cx="5828114" cy="4936812"/>
          </a:xfrm>
        </p:spPr>
        <p:txBody>
          <a:bodyPr vert="horz" lIns="91440" tIns="45720" rIns="91440" bIns="45720" rtlCol="0" anchor="ctr">
            <a:normAutofit/>
          </a:bodyPr>
          <a:lstStyle/>
          <a:p>
            <a:pPr algn="r"/>
            <a:r>
              <a:rPr lang="en-US" sz="6000"/>
              <a:t>Image</a:t>
            </a:r>
          </a:p>
        </p:txBody>
      </p:sp>
      <p:sp>
        <p:nvSpPr>
          <p:cNvPr id="3" name="Content Placeholder 2">
            <a:extLst>
              <a:ext uri="{FF2B5EF4-FFF2-40B4-BE49-F238E27FC236}">
                <a16:creationId xmlns:a16="http://schemas.microsoft.com/office/drawing/2014/main" id="{DE5CE7D3-46B8-54D0-43D0-BB49019D2ACE}"/>
              </a:ext>
            </a:extLst>
          </p:cNvPr>
          <p:cNvSpPr>
            <a:spLocks noGrp="1"/>
          </p:cNvSpPr>
          <p:nvPr>
            <p:ph idx="1"/>
          </p:nvPr>
        </p:nvSpPr>
        <p:spPr>
          <a:xfrm>
            <a:off x="8002185" y="1390650"/>
            <a:ext cx="3019423" cy="4076700"/>
          </a:xfrm>
        </p:spPr>
        <p:txBody>
          <a:bodyPr vert="horz" lIns="91440" tIns="45720" rIns="91440" bIns="45720" rtlCol="0" anchor="ctr">
            <a:normAutofit/>
          </a:bodyPr>
          <a:lstStyle/>
          <a:p>
            <a:pPr marL="0" indent="0">
              <a:buNone/>
            </a:pPr>
            <a:r>
              <a:rPr lang="en-US" sz="2200"/>
              <a:t>Image: A pause button icon, a clear link icon, and a global language icon.</a:t>
            </a:r>
          </a:p>
        </p:txBody>
      </p:sp>
      <p:cxnSp>
        <p:nvCxnSpPr>
          <p:cNvPr id="14" name="Straight Connector 13">
            <a:extLst>
              <a:ext uri="{FF2B5EF4-FFF2-40B4-BE49-F238E27FC236}">
                <a16:creationId xmlns:a16="http://schemas.microsoft.com/office/drawing/2014/main" id="{9CA98CE3-81A7-4FFE-A047-9AA65998D8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315200" y="1733549"/>
            <a:ext cx="0" cy="3390901"/>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0265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BC889DE-C5B0-CB41-7EB3-AEDE9ACDD655}"/>
              </a:ext>
            </a:extLst>
          </p:cNvPr>
          <p:cNvSpPr>
            <a:spLocks noGrp="1"/>
          </p:cNvSpPr>
          <p:nvPr>
            <p:ph type="title"/>
          </p:nvPr>
        </p:nvSpPr>
        <p:spPr>
          <a:xfrm>
            <a:off x="704087" y="559063"/>
            <a:ext cx="3306747" cy="5256025"/>
          </a:xfrm>
        </p:spPr>
        <p:txBody>
          <a:bodyPr>
            <a:normAutofit/>
          </a:bodyPr>
          <a:lstStyle/>
          <a:p>
            <a:r>
              <a:rPr lang="en-IN" sz="3600"/>
              <a:t>New in WCAG 2.2: Focus on Usability &amp; Cognitive Needs</a:t>
            </a:r>
          </a:p>
        </p:txBody>
      </p:sp>
      <p:sp>
        <p:nvSpPr>
          <p:cNvPr id="3" name="Content Placeholder 2">
            <a:extLst>
              <a:ext uri="{FF2B5EF4-FFF2-40B4-BE49-F238E27FC236}">
                <a16:creationId xmlns:a16="http://schemas.microsoft.com/office/drawing/2014/main" id="{B5CD169F-2F6B-8CE3-72BA-C6C3B7D7DAF8}"/>
              </a:ext>
            </a:extLst>
          </p:cNvPr>
          <p:cNvSpPr>
            <a:spLocks noGrp="1"/>
          </p:cNvSpPr>
          <p:nvPr>
            <p:ph idx="1"/>
          </p:nvPr>
        </p:nvSpPr>
        <p:spPr>
          <a:xfrm>
            <a:off x="4643022" y="622249"/>
            <a:ext cx="6844892" cy="5639712"/>
          </a:xfrm>
        </p:spPr>
        <p:txBody>
          <a:bodyPr>
            <a:normAutofit/>
          </a:bodyPr>
          <a:lstStyle/>
          <a:p>
            <a:r>
              <a:rPr lang="en-US"/>
              <a:t>2.5.7 Dragging Movements (Level AA)</a:t>
            </a:r>
          </a:p>
          <a:p>
            <a:pPr lvl="1"/>
            <a:r>
              <a:rPr lang="en-US"/>
              <a:t>Provide alternative single-pointer operations for dragging movements</a:t>
            </a:r>
          </a:p>
          <a:p>
            <a:pPr lvl="1"/>
            <a:r>
              <a:rPr lang="en-US"/>
              <a:t>Example: Click a 'Browse' button for file upload</a:t>
            </a:r>
          </a:p>
          <a:p>
            <a:r>
              <a:rPr lang="en-US"/>
              <a:t>2.5.8 Target Size (Minimum) (Level AA)</a:t>
            </a:r>
          </a:p>
          <a:p>
            <a:pPr lvl="1"/>
            <a:r>
              <a:rPr lang="en-US"/>
              <a:t>Interactive elements should be large enough for easy activation</a:t>
            </a:r>
          </a:p>
          <a:p>
            <a:pPr lvl="1"/>
            <a:r>
              <a:rPr lang="en-US"/>
              <a:t>Example: Minimum target size of 24x24 CSS pixels for buttons</a:t>
            </a:r>
          </a:p>
          <a:p>
            <a:r>
              <a:rPr lang="en-US"/>
              <a:t>3.2.6 Findable Help (Level A)</a:t>
            </a:r>
          </a:p>
          <a:p>
            <a:pPr lvl="1"/>
            <a:r>
              <a:rPr lang="en-US"/>
              <a:t>Web pages must have at least one help option available</a:t>
            </a:r>
          </a:p>
          <a:p>
            <a:pPr lvl="1"/>
            <a:r>
              <a:rPr lang="en-US"/>
              <a:t>Example: Prominent 'Contact Us' or 'Help' link in header/footer</a:t>
            </a:r>
            <a:endParaRPr lang="en-IN"/>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652572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E66F75B-A679-DE05-5B4B-518182B9FB40}"/>
              </a:ext>
            </a:extLst>
          </p:cNvPr>
          <p:cNvSpPr>
            <a:spLocks noGrp="1"/>
          </p:cNvSpPr>
          <p:nvPr>
            <p:ph type="title"/>
          </p:nvPr>
        </p:nvSpPr>
        <p:spPr>
          <a:xfrm>
            <a:off x="704087" y="559063"/>
            <a:ext cx="3306747" cy="5256025"/>
          </a:xfrm>
        </p:spPr>
        <p:txBody>
          <a:bodyPr>
            <a:normAutofit/>
          </a:bodyPr>
          <a:lstStyle/>
          <a:p>
            <a:r>
              <a:rPr lang="en-IN" sz="3600"/>
              <a:t>2.5.7 Dragging Movements (Level AA)</a:t>
            </a:r>
          </a:p>
        </p:txBody>
      </p:sp>
      <p:sp>
        <p:nvSpPr>
          <p:cNvPr id="3" name="Content Placeholder 2">
            <a:extLst>
              <a:ext uri="{FF2B5EF4-FFF2-40B4-BE49-F238E27FC236}">
                <a16:creationId xmlns:a16="http://schemas.microsoft.com/office/drawing/2014/main" id="{D1C07D46-22B3-BDCD-A048-F938EE58E526}"/>
              </a:ext>
            </a:extLst>
          </p:cNvPr>
          <p:cNvSpPr>
            <a:spLocks noGrp="1"/>
          </p:cNvSpPr>
          <p:nvPr>
            <p:ph idx="1"/>
          </p:nvPr>
        </p:nvSpPr>
        <p:spPr>
          <a:xfrm>
            <a:off x="4643022" y="622249"/>
            <a:ext cx="6844892" cy="5639712"/>
          </a:xfrm>
        </p:spPr>
        <p:txBody>
          <a:bodyPr>
            <a:normAutofit/>
          </a:bodyPr>
          <a:lstStyle/>
          <a:p>
            <a:r>
              <a:rPr lang="en-US"/>
              <a:t>Provide Alternative Single-Pointer Operation</a:t>
            </a:r>
          </a:p>
          <a:p>
            <a:pPr lvl="1"/>
            <a:r>
              <a:rPr lang="en-US"/>
              <a:t>Use click or tap instead of dragging</a:t>
            </a:r>
          </a:p>
          <a:p>
            <a:r>
              <a:rPr lang="en-US"/>
              <a:t>Example: Drag-and-Drop File Upload</a:t>
            </a:r>
          </a:p>
          <a:p>
            <a:pPr lvl="1"/>
            <a:r>
              <a:rPr lang="en-US"/>
              <a:t>Include a 'Browse' button for file selection</a:t>
            </a:r>
            <a:endParaRPr lang="en-IN"/>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60290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34EE7E-3452-67E1-4ED5-B9092788D6B9}"/>
              </a:ext>
            </a:extLst>
          </p:cNvPr>
          <p:cNvSpPr>
            <a:spLocks noGrp="1"/>
          </p:cNvSpPr>
          <p:nvPr>
            <p:ph type="title"/>
          </p:nvPr>
        </p:nvSpPr>
        <p:spPr>
          <a:xfrm>
            <a:off x="4866968" y="914400"/>
            <a:ext cx="6627924" cy="1307592"/>
          </a:xfrm>
        </p:spPr>
        <p:txBody>
          <a:bodyPr vert="horz" lIns="91440" tIns="45720" rIns="91440" bIns="45720" rtlCol="0" anchor="t">
            <a:normAutofit/>
          </a:bodyPr>
          <a:lstStyle/>
          <a:p>
            <a:pPr>
              <a:lnSpc>
                <a:spcPct val="90000"/>
              </a:lnSpc>
            </a:pPr>
            <a:r>
              <a:rPr lang="en-US"/>
              <a:t>2.5.8 Target Size (Minimum) (Level AA)</a:t>
            </a:r>
          </a:p>
        </p:txBody>
      </p:sp>
      <p:pic>
        <p:nvPicPr>
          <p:cNvPr id="5" name="Content Placeholder 4" descr="Big yellow pause button on a TV remote">
            <a:extLst>
              <a:ext uri="{FF2B5EF4-FFF2-40B4-BE49-F238E27FC236}">
                <a16:creationId xmlns:a16="http://schemas.microsoft.com/office/drawing/2014/main" id="{BA7986EA-504F-464F-A557-28816DF026AD}"/>
              </a:ext>
            </a:extLst>
          </p:cNvPr>
          <p:cNvPicPr>
            <a:picLocks noGrp="1" noChangeAspect="1"/>
          </p:cNvPicPr>
          <p:nvPr>
            <p:ph sz="half" idx="1"/>
          </p:nvPr>
        </p:nvPicPr>
        <p:blipFill>
          <a:blip r:embed="rId3"/>
          <a:srcRect l="29346" r="24775" b="1"/>
          <a:stretch>
            <a:fillRect/>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8AA4E8F3-4D6B-4B24-6511-6778A8E64790}"/>
              </a:ext>
            </a:extLst>
          </p:cNvPr>
          <p:cNvSpPr>
            <a:spLocks noGrp="1"/>
          </p:cNvSpPr>
          <p:nvPr>
            <p:ph sz="half" idx="2"/>
          </p:nvPr>
        </p:nvSpPr>
        <p:spPr>
          <a:xfrm>
            <a:off x="4866968" y="2221992"/>
            <a:ext cx="6627924" cy="3739896"/>
          </a:xfrm>
        </p:spPr>
        <p:txBody>
          <a:bodyPr vert="horz" lIns="91440" tIns="45720" rIns="91440" bIns="45720" rtlCol="0">
            <a:normAutofit/>
          </a:bodyPr>
          <a:lstStyle/>
          <a:p>
            <a:r>
              <a:rPr lang="en-US"/>
              <a:t>Importance of Target Size</a:t>
            </a:r>
          </a:p>
          <a:p>
            <a:pPr lvl="1"/>
            <a:r>
              <a:rPr lang="en-US"/>
              <a:t>Ensures buttons and links are easily activated</a:t>
            </a:r>
          </a:p>
          <a:p>
            <a:pPr lvl="1"/>
            <a:r>
              <a:rPr lang="en-US"/>
              <a:t>Especially crucial for touch devices</a:t>
            </a:r>
          </a:p>
          <a:p>
            <a:r>
              <a:rPr lang="en-US"/>
              <a:t>Minimum Target Size</a:t>
            </a:r>
          </a:p>
          <a:p>
            <a:pPr lvl="1"/>
            <a:r>
              <a:rPr lang="en-US"/>
              <a:t>Recommended size is 24x24 CSS pixels</a:t>
            </a:r>
          </a:p>
          <a:p>
            <a:r>
              <a:rPr lang="en-US"/>
              <a:t>Interactive Elements</a:t>
            </a:r>
          </a:p>
          <a:p>
            <a:pPr lvl="1"/>
            <a:r>
              <a:rPr lang="en-US"/>
              <a:t>Includes buttons and links</a:t>
            </a:r>
          </a:p>
          <a:p>
            <a:pPr lvl="1"/>
            <a:r>
              <a:rPr lang="en-US"/>
              <a:t>Should have adequate spacing</a:t>
            </a:r>
          </a:p>
        </p:txBody>
      </p: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0316232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D56279-975C-4996-8B3D-EE2987EB4C29}"/>
              </a:ext>
            </a:extLst>
          </p:cNvPr>
          <p:cNvSpPr>
            <a:spLocks noGrp="1"/>
          </p:cNvSpPr>
          <p:nvPr>
            <p:ph type="title"/>
          </p:nvPr>
        </p:nvSpPr>
        <p:spPr>
          <a:xfrm>
            <a:off x="4866968" y="914400"/>
            <a:ext cx="6627924" cy="1307592"/>
          </a:xfrm>
        </p:spPr>
        <p:txBody>
          <a:bodyPr vert="horz" lIns="91440" tIns="45720" rIns="91440" bIns="45720" rtlCol="0" anchor="t">
            <a:normAutofit/>
          </a:bodyPr>
          <a:lstStyle/>
          <a:p>
            <a:pPr>
              <a:lnSpc>
                <a:spcPct val="90000"/>
              </a:lnSpc>
            </a:pPr>
            <a:r>
              <a:rPr lang="en-US"/>
              <a:t>3.2.6 Findable Help (Level A)</a:t>
            </a:r>
          </a:p>
        </p:txBody>
      </p:sp>
      <p:pic>
        <p:nvPicPr>
          <p:cNvPr id="5" name="Content Placeholder 4" descr="cubes with different contact symbols on a keyboard">
            <a:extLst>
              <a:ext uri="{FF2B5EF4-FFF2-40B4-BE49-F238E27FC236}">
                <a16:creationId xmlns:a16="http://schemas.microsoft.com/office/drawing/2014/main" id="{97F015E2-F324-4497-AE7E-BA33DF05D3A6}"/>
              </a:ext>
            </a:extLst>
          </p:cNvPr>
          <p:cNvPicPr>
            <a:picLocks noGrp="1" noChangeAspect="1"/>
          </p:cNvPicPr>
          <p:nvPr>
            <p:ph sz="half" idx="1"/>
          </p:nvPr>
        </p:nvPicPr>
        <p:blipFill>
          <a:blip r:embed="rId3"/>
          <a:srcRect l="22753" r="36415" b="2"/>
          <a:stretch>
            <a:fillRect/>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756DADD4-44DF-6208-7176-BB5778D7FCBA}"/>
              </a:ext>
            </a:extLst>
          </p:cNvPr>
          <p:cNvSpPr>
            <a:spLocks noGrp="1"/>
          </p:cNvSpPr>
          <p:nvPr>
            <p:ph sz="half" idx="2"/>
          </p:nvPr>
        </p:nvSpPr>
        <p:spPr>
          <a:xfrm>
            <a:off x="4866968" y="2221992"/>
            <a:ext cx="6627924" cy="3739896"/>
          </a:xfrm>
        </p:spPr>
        <p:txBody>
          <a:bodyPr vert="horz" lIns="91440" tIns="45720" rIns="91440" bIns="45720" rtlCol="0">
            <a:normAutofit/>
          </a:bodyPr>
          <a:lstStyle/>
          <a:p>
            <a:r>
              <a:rPr lang="en-US"/>
              <a:t>Requirement for web pages in a set</a:t>
            </a:r>
          </a:p>
          <a:p>
            <a:pPr lvl="1"/>
            <a:r>
              <a:rPr lang="en-US"/>
              <a:t>Must have at least one help option</a:t>
            </a:r>
          </a:p>
          <a:p>
            <a:pPr lvl="1"/>
            <a:r>
              <a:rPr lang="en-US"/>
              <a:t>Options include human contact mechanism, self-help, help page link, or help pop-up</a:t>
            </a:r>
          </a:p>
          <a:p>
            <a:r>
              <a:rPr lang="en-US"/>
              <a:t>Example of implementation</a:t>
            </a:r>
          </a:p>
          <a:p>
            <a:pPr lvl="1"/>
            <a:r>
              <a:rPr lang="en-US"/>
              <a:t>Prominent 'Contact Us' or 'Help' link in header/footer</a:t>
            </a:r>
          </a:p>
        </p:txBody>
      </p: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17357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DEF92653-5D6D-47E6-8744-0DAF76E049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303740-16F7-759F-02FA-E8B1DD8BB6C6}"/>
              </a:ext>
            </a:extLst>
          </p:cNvPr>
          <p:cNvSpPr>
            <a:spLocks noGrp="1"/>
          </p:cNvSpPr>
          <p:nvPr>
            <p:ph type="title"/>
          </p:nvPr>
        </p:nvSpPr>
        <p:spPr>
          <a:xfrm>
            <a:off x="800102" y="960594"/>
            <a:ext cx="5828114" cy="4936812"/>
          </a:xfrm>
        </p:spPr>
        <p:txBody>
          <a:bodyPr vert="horz" lIns="91440" tIns="45720" rIns="91440" bIns="45720" rtlCol="0" anchor="ctr">
            <a:normAutofit/>
          </a:bodyPr>
          <a:lstStyle/>
          <a:p>
            <a:pPr algn="r"/>
            <a:r>
              <a:rPr lang="en-US" sz="6000"/>
              <a:t>Image</a:t>
            </a:r>
          </a:p>
        </p:txBody>
      </p:sp>
      <p:sp>
        <p:nvSpPr>
          <p:cNvPr id="3" name="Content Placeholder 2">
            <a:extLst>
              <a:ext uri="{FF2B5EF4-FFF2-40B4-BE49-F238E27FC236}">
                <a16:creationId xmlns:a16="http://schemas.microsoft.com/office/drawing/2014/main" id="{CB5D547D-5773-C332-402F-AADECC620BC3}"/>
              </a:ext>
            </a:extLst>
          </p:cNvPr>
          <p:cNvSpPr>
            <a:spLocks noGrp="1"/>
          </p:cNvSpPr>
          <p:nvPr>
            <p:ph idx="1"/>
          </p:nvPr>
        </p:nvSpPr>
        <p:spPr>
          <a:xfrm>
            <a:off x="8002185" y="1390650"/>
            <a:ext cx="3019423" cy="4076700"/>
          </a:xfrm>
        </p:spPr>
        <p:txBody>
          <a:bodyPr vert="horz" lIns="91440" tIns="45720" rIns="91440" bIns="45720" rtlCol="0" anchor="ctr">
            <a:normAutofit/>
          </a:bodyPr>
          <a:lstStyle/>
          <a:p>
            <a:pPr marL="0" indent="0">
              <a:buNone/>
            </a:pPr>
            <a:r>
              <a:rPr lang="en-US" sz="2200"/>
              <a:t>Image: A finger tapping a large button, a question mark icon.</a:t>
            </a:r>
          </a:p>
        </p:txBody>
      </p:sp>
      <p:cxnSp>
        <p:nvCxnSpPr>
          <p:cNvPr id="14" name="Straight Connector 13">
            <a:extLst>
              <a:ext uri="{FF2B5EF4-FFF2-40B4-BE49-F238E27FC236}">
                <a16:creationId xmlns:a16="http://schemas.microsoft.com/office/drawing/2014/main" id="{9CA98CE3-81A7-4FFE-A047-9AA65998D87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315200" y="1733549"/>
            <a:ext cx="0" cy="3390901"/>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4322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4D9C11-45E3-5635-8670-35E5DB0AE9E1}"/>
              </a:ext>
            </a:extLst>
          </p:cNvPr>
          <p:cNvSpPr>
            <a:spLocks noGrp="1"/>
          </p:cNvSpPr>
          <p:nvPr>
            <p:ph type="title"/>
          </p:nvPr>
        </p:nvSpPr>
        <p:spPr>
          <a:xfrm>
            <a:off x="704087" y="559063"/>
            <a:ext cx="3306747" cy="5256025"/>
          </a:xfrm>
        </p:spPr>
        <p:txBody>
          <a:bodyPr>
            <a:normAutofit/>
          </a:bodyPr>
          <a:lstStyle/>
          <a:p>
            <a:r>
              <a:rPr lang="en-IN" sz="3600"/>
              <a:t>Why Aim for AA?</a:t>
            </a:r>
          </a:p>
        </p:txBody>
      </p:sp>
      <p:sp>
        <p:nvSpPr>
          <p:cNvPr id="3" name="Content Placeholder 2">
            <a:extLst>
              <a:ext uri="{FF2B5EF4-FFF2-40B4-BE49-F238E27FC236}">
                <a16:creationId xmlns:a16="http://schemas.microsoft.com/office/drawing/2014/main" id="{0798657E-347D-03B0-0EB7-D82161FA88B5}"/>
              </a:ext>
            </a:extLst>
          </p:cNvPr>
          <p:cNvSpPr>
            <a:spLocks noGrp="1"/>
          </p:cNvSpPr>
          <p:nvPr>
            <p:ph idx="1"/>
          </p:nvPr>
        </p:nvSpPr>
        <p:spPr>
          <a:xfrm>
            <a:off x="4643022" y="622249"/>
            <a:ext cx="6844892" cy="5639712"/>
          </a:xfrm>
        </p:spPr>
        <p:txBody>
          <a:bodyPr>
            <a:normAutofit/>
          </a:bodyPr>
          <a:lstStyle/>
          <a:p>
            <a:r>
              <a:rPr lang="en-US"/>
              <a:t>Legal Compliance</a:t>
            </a:r>
          </a:p>
          <a:p>
            <a:pPr lvl="1"/>
            <a:r>
              <a:rPr lang="en-US"/>
              <a:t>Mandated by laws and regulations worldwide</a:t>
            </a:r>
          </a:p>
          <a:p>
            <a:pPr lvl="1"/>
            <a:r>
              <a:rPr lang="en-US"/>
              <a:t>Examples: ADA, Section 508 in the US, EN 301 549 in Europe</a:t>
            </a:r>
          </a:p>
          <a:p>
            <a:r>
              <a:rPr lang="en-US"/>
              <a:t>Inclusive User Experience</a:t>
            </a:r>
          </a:p>
          <a:p>
            <a:pPr lvl="1"/>
            <a:r>
              <a:rPr lang="en-US"/>
              <a:t>Improves usability for users with visual impairments</a:t>
            </a:r>
          </a:p>
          <a:p>
            <a:pPr lvl="1"/>
            <a:r>
              <a:rPr lang="en-US"/>
              <a:t>Assists users with motor impairments</a:t>
            </a:r>
          </a:p>
          <a:p>
            <a:pPr lvl="1"/>
            <a:r>
              <a:rPr lang="en-US"/>
              <a:t>Supports users with cognitive disabilities</a:t>
            </a:r>
          </a:p>
          <a:p>
            <a:pPr lvl="1"/>
            <a:r>
              <a:rPr lang="en-US"/>
              <a:t>Benefits users with auditory impairments</a:t>
            </a:r>
          </a:p>
          <a:p>
            <a:r>
              <a:rPr lang="en-US"/>
              <a:t>SEO Benefits</a:t>
            </a:r>
          </a:p>
          <a:p>
            <a:pPr lvl="1"/>
            <a:r>
              <a:rPr lang="en-US"/>
              <a:t>Accessibility practices improve search engine optimization</a:t>
            </a:r>
          </a:p>
          <a:p>
            <a:pPr lvl="1"/>
            <a:r>
              <a:rPr lang="en-US"/>
              <a:t>Examples: proper alt text, semantic HTML</a:t>
            </a:r>
          </a:p>
          <a:p>
            <a:r>
              <a:rPr lang="en-US"/>
              <a:t>Brand Reputation</a:t>
            </a:r>
            <a:endParaRPr lang="en-IN"/>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582980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48A84D-4142-6B53-6F8A-88E04EB96C5B}"/>
              </a:ext>
            </a:extLst>
          </p:cNvPr>
          <p:cNvSpPr>
            <a:spLocks noGrp="1"/>
          </p:cNvSpPr>
          <p:nvPr>
            <p:ph type="title"/>
          </p:nvPr>
        </p:nvSpPr>
        <p:spPr>
          <a:xfrm>
            <a:off x="4866968" y="914400"/>
            <a:ext cx="6627924" cy="1307592"/>
          </a:xfrm>
        </p:spPr>
        <p:txBody>
          <a:bodyPr vert="horz" lIns="91440" tIns="45720" rIns="91440" bIns="45720" rtlCol="0" anchor="t">
            <a:normAutofit/>
          </a:bodyPr>
          <a:lstStyle/>
          <a:p>
            <a:r>
              <a:rPr lang="en-US"/>
              <a:t>Inclusive User Experience</a:t>
            </a:r>
          </a:p>
        </p:txBody>
      </p:sp>
      <p:pic>
        <p:nvPicPr>
          <p:cNvPr id="5" name="Content Placeholder 4" descr="Cinema  Outdoor filming on a grass sports field  Movie clapperboard">
            <a:extLst>
              <a:ext uri="{FF2B5EF4-FFF2-40B4-BE49-F238E27FC236}">
                <a16:creationId xmlns:a16="http://schemas.microsoft.com/office/drawing/2014/main" id="{31A0D870-8D63-4BC2-83CB-3B04F709B117}"/>
              </a:ext>
            </a:extLst>
          </p:cNvPr>
          <p:cNvPicPr>
            <a:picLocks noGrp="1" noChangeAspect="1"/>
          </p:cNvPicPr>
          <p:nvPr>
            <p:ph sz="half" idx="1"/>
          </p:nvPr>
        </p:nvPicPr>
        <p:blipFill>
          <a:blip r:embed="rId3"/>
          <a:srcRect l="10076" r="44045" b="1"/>
          <a:stretch>
            <a:fillRect/>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E8181952-0EFB-0FB4-D91E-C6EA5CF756BD}"/>
              </a:ext>
            </a:extLst>
          </p:cNvPr>
          <p:cNvSpPr>
            <a:spLocks noGrp="1"/>
          </p:cNvSpPr>
          <p:nvPr>
            <p:ph sz="half" idx="2"/>
          </p:nvPr>
        </p:nvSpPr>
        <p:spPr>
          <a:xfrm>
            <a:off x="4866968" y="2221992"/>
            <a:ext cx="6627924" cy="3739896"/>
          </a:xfrm>
        </p:spPr>
        <p:txBody>
          <a:bodyPr vert="horz" lIns="91440" tIns="45720" rIns="91440" bIns="45720" rtlCol="0">
            <a:normAutofit/>
          </a:bodyPr>
          <a:lstStyle/>
          <a:p>
            <a:r>
              <a:rPr lang="en-US"/>
              <a:t>Visual Impairments</a:t>
            </a:r>
          </a:p>
          <a:p>
            <a:pPr lvl="1"/>
            <a:r>
              <a:rPr lang="en-US"/>
              <a:t>Low vision</a:t>
            </a:r>
          </a:p>
          <a:p>
            <a:pPr lvl="1"/>
            <a:r>
              <a:rPr lang="en-US"/>
              <a:t>Color blindness</a:t>
            </a:r>
          </a:p>
          <a:p>
            <a:r>
              <a:rPr lang="en-US"/>
              <a:t>Motor Impairments</a:t>
            </a:r>
          </a:p>
          <a:p>
            <a:pPr lvl="1"/>
            <a:r>
              <a:rPr lang="en-US"/>
              <a:t>Difficulty with precise mouse movements</a:t>
            </a:r>
          </a:p>
          <a:p>
            <a:r>
              <a:rPr lang="en-US"/>
              <a:t>Cognitive Disabilities</a:t>
            </a:r>
          </a:p>
          <a:p>
            <a:pPr lvl="1"/>
            <a:r>
              <a:rPr lang="en-US"/>
              <a:t>Difficulty processing information</a:t>
            </a:r>
          </a:p>
          <a:p>
            <a:r>
              <a:rPr lang="en-US"/>
              <a:t>Auditory Impairments</a:t>
            </a:r>
          </a:p>
          <a:p>
            <a:pPr lvl="1"/>
            <a:r>
              <a:rPr lang="en-US"/>
              <a:t>Captioning for videos</a:t>
            </a:r>
          </a:p>
        </p:txBody>
      </p: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38091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660EB578-C970-4186-B93C-45851BBC6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E9D49E-9BB7-EBA5-604A-AF81CA526401}"/>
              </a:ext>
            </a:extLst>
          </p:cNvPr>
          <p:cNvSpPr>
            <a:spLocks noGrp="1"/>
          </p:cNvSpPr>
          <p:nvPr>
            <p:ph type="title"/>
          </p:nvPr>
        </p:nvSpPr>
        <p:spPr>
          <a:xfrm>
            <a:off x="4866968" y="914400"/>
            <a:ext cx="6627924" cy="1307592"/>
          </a:xfrm>
        </p:spPr>
        <p:txBody>
          <a:bodyPr vert="horz" lIns="91440" tIns="45720" rIns="91440" bIns="45720" rtlCol="0" anchor="t">
            <a:normAutofit/>
          </a:bodyPr>
          <a:lstStyle/>
          <a:p>
            <a:r>
              <a:rPr lang="en-US"/>
              <a:t>Legal Compliance</a:t>
            </a:r>
          </a:p>
        </p:txBody>
      </p:sp>
      <p:pic>
        <p:nvPicPr>
          <p:cNvPr id="5" name="Content Placeholder 4" descr="Happy team members">
            <a:extLst>
              <a:ext uri="{FF2B5EF4-FFF2-40B4-BE49-F238E27FC236}">
                <a16:creationId xmlns:a16="http://schemas.microsoft.com/office/drawing/2014/main" id="{A21AB51C-DB82-432C-903E-9D27701A69F3}"/>
              </a:ext>
            </a:extLst>
          </p:cNvPr>
          <p:cNvPicPr>
            <a:picLocks noGrp="1" noChangeAspect="1"/>
          </p:cNvPicPr>
          <p:nvPr>
            <p:ph sz="half" idx="1"/>
          </p:nvPr>
        </p:nvPicPr>
        <p:blipFill>
          <a:blip r:embed="rId3"/>
          <a:srcRect l="8034" r="51133" b="2"/>
          <a:stretch>
            <a:fillRect/>
          </a:stretch>
        </p:blipFill>
        <p:spPr>
          <a:xfrm>
            <a:off x="20" y="-17929"/>
            <a:ext cx="4206220" cy="6875929"/>
          </a:xfrm>
          <a:prstGeom prst="rect">
            <a:avLst/>
          </a:prstGeom>
        </p:spPr>
      </p:pic>
      <p:cxnSp>
        <p:nvCxnSpPr>
          <p:cNvPr id="16" name="Straight Connector 15">
            <a:extLst>
              <a:ext uri="{FF2B5EF4-FFF2-40B4-BE49-F238E27FC236}">
                <a16:creationId xmlns:a16="http://schemas.microsoft.com/office/drawing/2014/main" id="{CDF57B02-07BB-407B-BB36-06D9C64A673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722376"/>
            <a:ext cx="6476356"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E0C62C56-5011-106A-0D43-07295E2307BA}"/>
              </a:ext>
            </a:extLst>
          </p:cNvPr>
          <p:cNvSpPr>
            <a:spLocks noGrp="1"/>
          </p:cNvSpPr>
          <p:nvPr>
            <p:ph sz="half" idx="2"/>
          </p:nvPr>
        </p:nvSpPr>
        <p:spPr>
          <a:xfrm>
            <a:off x="4866968" y="2221992"/>
            <a:ext cx="6627924" cy="3739896"/>
          </a:xfrm>
        </p:spPr>
        <p:txBody>
          <a:bodyPr vert="horz" lIns="91440" tIns="45720" rIns="91440" bIns="45720" rtlCol="0">
            <a:normAutofit/>
          </a:bodyPr>
          <a:lstStyle/>
          <a:p>
            <a:pPr>
              <a:lnSpc>
                <a:spcPct val="100000"/>
              </a:lnSpc>
            </a:pPr>
            <a:r>
              <a:rPr lang="en-US"/>
              <a:t>Legal Compliance</a:t>
            </a:r>
          </a:p>
          <a:p>
            <a:pPr lvl="1">
              <a:lnSpc>
                <a:spcPct val="100000"/>
              </a:lnSpc>
            </a:pPr>
            <a:r>
              <a:rPr lang="en-US"/>
              <a:t>Mandated by laws and regulations worldwide</a:t>
            </a:r>
          </a:p>
          <a:p>
            <a:pPr lvl="1">
              <a:lnSpc>
                <a:spcPct val="100000"/>
              </a:lnSpc>
            </a:pPr>
            <a:r>
              <a:rPr lang="en-US"/>
              <a:t>Examples include ADA, Section 508 in the US, EN 301 549 in Europe</a:t>
            </a:r>
          </a:p>
          <a:p>
            <a:pPr>
              <a:lnSpc>
                <a:spcPct val="100000"/>
              </a:lnSpc>
            </a:pPr>
            <a:r>
              <a:rPr lang="en-US"/>
              <a:t>SEO Benefits</a:t>
            </a:r>
          </a:p>
          <a:p>
            <a:pPr lvl="1">
              <a:lnSpc>
                <a:spcPct val="100000"/>
              </a:lnSpc>
            </a:pPr>
            <a:r>
              <a:rPr lang="en-US"/>
              <a:t>Accessibility practices improve search engine optimization</a:t>
            </a:r>
          </a:p>
          <a:p>
            <a:pPr lvl="1">
              <a:lnSpc>
                <a:spcPct val="100000"/>
              </a:lnSpc>
            </a:pPr>
            <a:r>
              <a:rPr lang="en-US"/>
              <a:t>Examples include proper alt text and semantic HTML</a:t>
            </a:r>
          </a:p>
          <a:p>
            <a:pPr>
              <a:lnSpc>
                <a:spcPct val="100000"/>
              </a:lnSpc>
            </a:pPr>
            <a:r>
              <a:rPr lang="en-US"/>
              <a:t>Brand Reputation</a:t>
            </a:r>
          </a:p>
          <a:p>
            <a:pPr lvl="1">
              <a:lnSpc>
                <a:spcPct val="100000"/>
              </a:lnSpc>
            </a:pPr>
            <a:r>
              <a:rPr lang="en-US"/>
              <a:t>Shows commitment to inclusion</a:t>
            </a:r>
          </a:p>
          <a:p>
            <a:pPr lvl="1">
              <a:lnSpc>
                <a:spcPct val="100000"/>
              </a:lnSpc>
            </a:pPr>
            <a:r>
              <a:rPr lang="en-US"/>
              <a:t>Enhances corporate social responsibility</a:t>
            </a:r>
          </a:p>
        </p:txBody>
      </p:sp>
      <p:cxnSp>
        <p:nvCxnSpPr>
          <p:cNvPr id="18" name="Straight Connector 17">
            <a:extLst>
              <a:ext uri="{FF2B5EF4-FFF2-40B4-BE49-F238E27FC236}">
                <a16:creationId xmlns:a16="http://schemas.microsoft.com/office/drawing/2014/main" id="{C6855964-C920-48EB-8804-74291211C8A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917665" y="6144768"/>
            <a:ext cx="6476356"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839246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7692B9-4081-A267-CAC2-82BD4C01E6E4}"/>
              </a:ext>
            </a:extLst>
          </p:cNvPr>
          <p:cNvSpPr>
            <a:spLocks noGrp="1"/>
          </p:cNvSpPr>
          <p:nvPr>
            <p:ph type="title"/>
          </p:nvPr>
        </p:nvSpPr>
        <p:spPr>
          <a:xfrm>
            <a:off x="704087" y="559063"/>
            <a:ext cx="3306747" cy="5256025"/>
          </a:xfrm>
        </p:spPr>
        <p:txBody>
          <a:bodyPr>
            <a:normAutofit/>
          </a:bodyPr>
          <a:lstStyle/>
          <a:p>
            <a:r>
              <a:rPr lang="en-IN" sz="3600"/>
              <a:t>How to Get Started &amp; Tools</a:t>
            </a:r>
          </a:p>
        </p:txBody>
      </p:sp>
      <p:sp>
        <p:nvSpPr>
          <p:cNvPr id="3" name="Content Placeholder 2">
            <a:extLst>
              <a:ext uri="{FF2B5EF4-FFF2-40B4-BE49-F238E27FC236}">
                <a16:creationId xmlns:a16="http://schemas.microsoft.com/office/drawing/2014/main" id="{1295B3B5-42E1-19A1-7E02-EEC91B1A5B49}"/>
              </a:ext>
            </a:extLst>
          </p:cNvPr>
          <p:cNvSpPr>
            <a:spLocks noGrp="1"/>
          </p:cNvSpPr>
          <p:nvPr>
            <p:ph idx="1"/>
          </p:nvPr>
        </p:nvSpPr>
        <p:spPr>
          <a:xfrm>
            <a:off x="4643022" y="622249"/>
            <a:ext cx="6844892" cy="5639712"/>
          </a:xfrm>
        </p:spPr>
        <p:txBody>
          <a:bodyPr>
            <a:normAutofit/>
          </a:bodyPr>
          <a:lstStyle/>
          <a:p>
            <a:r>
              <a:rPr lang="en-US"/>
              <a:t>Educate Yourself &amp; Your Team</a:t>
            </a:r>
          </a:p>
          <a:p>
            <a:pPr lvl="1"/>
            <a:r>
              <a:rPr lang="en-US"/>
              <a:t>Understand the guidelines</a:t>
            </a:r>
          </a:p>
          <a:p>
            <a:r>
              <a:rPr lang="en-US"/>
              <a:t>Start Early</a:t>
            </a:r>
          </a:p>
          <a:p>
            <a:pPr lvl="1"/>
            <a:r>
              <a:rPr lang="en-US"/>
              <a:t>Integrate accessibility into your design and development process</a:t>
            </a:r>
          </a:p>
          <a:p>
            <a:pPr lvl="1"/>
            <a:r>
              <a:rPr lang="en-US"/>
              <a:t>Avoid treating it as an afterthought</a:t>
            </a:r>
          </a:p>
          <a:p>
            <a:r>
              <a:rPr lang="en-US"/>
              <a:t>Use Automated Tools</a:t>
            </a:r>
          </a:p>
          <a:p>
            <a:pPr lvl="1"/>
            <a:r>
              <a:rPr lang="en-US"/>
              <a:t>Browser extensions like Lighthouse, axe DevTools, WAVE</a:t>
            </a:r>
          </a:p>
          <a:p>
            <a:pPr lvl="1"/>
            <a:r>
              <a:rPr lang="en-US"/>
              <a:t>Online checkers such as WAVE, Siteimprove</a:t>
            </a:r>
          </a:p>
          <a:p>
            <a:r>
              <a:rPr lang="en-US"/>
              <a:t>Manual Testing</a:t>
            </a:r>
          </a:p>
          <a:p>
            <a:pPr lvl="1"/>
            <a:r>
              <a:rPr lang="en-US"/>
              <a:t>Keyboard navigation test</a:t>
            </a:r>
          </a:p>
          <a:p>
            <a:r>
              <a:rPr lang="en-US"/>
              <a:t>User Testing</a:t>
            </a:r>
          </a:p>
          <a:p>
            <a:r>
              <a:rPr lang="en-US"/>
              <a:t>Prioritize</a:t>
            </a:r>
            <a:endParaRPr lang="en-IN"/>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21614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4" name="Rectangle 13">
            <a:extLst>
              <a:ext uri="{FF2B5EF4-FFF2-40B4-BE49-F238E27FC236}">
                <a16:creationId xmlns:a16="http://schemas.microsoft.com/office/drawing/2014/main" id="{E49D7415-2F11-44C2-B6AA-13A25B6814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EFCC4F-BC4A-D796-FFCA-2D9B1E37C99C}"/>
              </a:ext>
            </a:extLst>
          </p:cNvPr>
          <p:cNvSpPr>
            <a:spLocks noGrp="1"/>
          </p:cNvSpPr>
          <p:nvPr>
            <p:ph type="title"/>
          </p:nvPr>
        </p:nvSpPr>
        <p:spPr>
          <a:xfrm>
            <a:off x="704088" y="555712"/>
            <a:ext cx="4218435" cy="2390687"/>
          </a:xfrm>
        </p:spPr>
        <p:txBody>
          <a:bodyPr vert="horz" lIns="91440" tIns="45720" rIns="91440" bIns="45720" rtlCol="0" anchor="t">
            <a:normAutofit/>
          </a:bodyPr>
          <a:lstStyle/>
          <a:p>
            <a:r>
              <a:rPr lang="en-US"/>
              <a:t>Key Takeaways</a:t>
            </a:r>
          </a:p>
        </p:txBody>
      </p:sp>
      <p:pic>
        <p:nvPicPr>
          <p:cNvPr id="5" name="Content Placeholder 4" descr="Blue silver check mark isolated on a white background. 3D illustration.">
            <a:extLst>
              <a:ext uri="{FF2B5EF4-FFF2-40B4-BE49-F238E27FC236}">
                <a16:creationId xmlns:a16="http://schemas.microsoft.com/office/drawing/2014/main" id="{74D47F98-F26A-47C3-9BA2-9A6C3017D829}"/>
              </a:ext>
            </a:extLst>
          </p:cNvPr>
          <p:cNvPicPr>
            <a:picLocks noGrp="1" noChangeAspect="1"/>
          </p:cNvPicPr>
          <p:nvPr>
            <p:ph sz="half" idx="1"/>
          </p:nvPr>
        </p:nvPicPr>
        <p:blipFill>
          <a:blip r:embed="rId3"/>
          <a:stretch>
            <a:fillRect/>
          </a:stretch>
        </p:blipFill>
        <p:spPr>
          <a:xfrm>
            <a:off x="715383" y="3210560"/>
            <a:ext cx="2959568" cy="2959568"/>
          </a:xfrm>
          <a:prstGeom prst="rect">
            <a:avLst/>
          </a:prstGeom>
        </p:spPr>
      </p:pic>
      <p:cxnSp>
        <p:nvCxnSpPr>
          <p:cNvPr id="16" name="Straight Connector 15">
            <a:extLst>
              <a:ext uri="{FF2B5EF4-FFF2-40B4-BE49-F238E27FC236}">
                <a16:creationId xmlns:a16="http://schemas.microsoft.com/office/drawing/2014/main" id="{40ADC89C-EB4E-4AA5-ABBD-448BEC5FA3C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255110" y="723900"/>
            <a:ext cx="0" cy="544948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Content Placeholder 3">
            <a:extLst>
              <a:ext uri="{FF2B5EF4-FFF2-40B4-BE49-F238E27FC236}">
                <a16:creationId xmlns:a16="http://schemas.microsoft.com/office/drawing/2014/main" id="{76725E05-9885-0442-4495-CF660711F6BF}"/>
              </a:ext>
            </a:extLst>
          </p:cNvPr>
          <p:cNvSpPr>
            <a:spLocks noGrp="1"/>
          </p:cNvSpPr>
          <p:nvPr>
            <p:ph sz="half" idx="2"/>
          </p:nvPr>
        </p:nvSpPr>
        <p:spPr>
          <a:xfrm>
            <a:off x="5576418" y="555712"/>
            <a:ext cx="5916168" cy="5614416"/>
          </a:xfrm>
        </p:spPr>
        <p:txBody>
          <a:bodyPr vert="horz" lIns="91440" tIns="45720" rIns="91440" bIns="45720" rtlCol="0">
            <a:normAutofit/>
          </a:bodyPr>
          <a:lstStyle/>
          <a:p>
            <a:r>
              <a:rPr lang="en-US"/>
              <a:t>Importance of Web Accessibility</a:t>
            </a:r>
          </a:p>
          <a:p>
            <a:pPr lvl="1"/>
            <a:r>
              <a:rPr lang="en-US"/>
              <a:t>Ensures inclusion for everyone</a:t>
            </a:r>
          </a:p>
          <a:p>
            <a:r>
              <a:rPr lang="en-US"/>
              <a:t>WCAG 2.2 Guidelines</a:t>
            </a:r>
          </a:p>
          <a:p>
            <a:pPr lvl="1"/>
            <a:r>
              <a:rPr lang="en-US"/>
              <a:t>Provides clear instructions for accessibility</a:t>
            </a:r>
          </a:p>
          <a:p>
            <a:r>
              <a:rPr lang="en-US"/>
              <a:t>Accessibility Levels</a:t>
            </a:r>
          </a:p>
          <a:p>
            <a:pPr lvl="1"/>
            <a:r>
              <a:rPr lang="en-US"/>
              <a:t>Level A: Basic foundation</a:t>
            </a:r>
          </a:p>
          <a:p>
            <a:pPr lvl="1"/>
            <a:r>
              <a:rPr lang="en-US"/>
              <a:t>Level AA: Widely accepted standard</a:t>
            </a:r>
          </a:p>
          <a:p>
            <a:r>
              <a:rPr lang="en-US"/>
              <a:t>Benefits of Implementing WCAG 2.2</a:t>
            </a:r>
          </a:p>
          <a:p>
            <a:pPr lvl="1"/>
            <a:r>
              <a:rPr lang="en-US"/>
              <a:t>Makes digital content more usable</a:t>
            </a:r>
          </a:p>
          <a:p>
            <a:pPr lvl="1"/>
            <a:r>
              <a:rPr lang="en-US"/>
              <a:t>Ensures legal compliance</a:t>
            </a:r>
          </a:p>
          <a:p>
            <a:pPr lvl="1"/>
            <a:r>
              <a:rPr lang="en-US"/>
              <a:t>Beneficial for all users</a:t>
            </a:r>
          </a:p>
          <a:p>
            <a:r>
              <a:rPr lang="en-US"/>
              <a:t>Steps to Achieve Accessibility</a:t>
            </a:r>
          </a:p>
        </p:txBody>
      </p:sp>
    </p:spTree>
    <p:extLst>
      <p:ext uri="{BB962C8B-B14F-4D97-AF65-F5344CB8AC3E}">
        <p14:creationId xmlns:p14="http://schemas.microsoft.com/office/powerpoint/2010/main" val="6236774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B98925-0550-1AFB-C1DC-02792400FB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Content Placeholder 3" descr="Yellow question mark">
            <a:extLst>
              <a:ext uri="{FF2B5EF4-FFF2-40B4-BE49-F238E27FC236}">
                <a16:creationId xmlns:a16="http://schemas.microsoft.com/office/drawing/2014/main" id="{C93EF2D8-688A-4853-A2F7-CF4400B1935F}"/>
              </a:ext>
            </a:extLst>
          </p:cNvPr>
          <p:cNvPicPr>
            <a:picLocks noGrp="1" noChangeAspect="1"/>
          </p:cNvPicPr>
          <p:nvPr>
            <p:ph idx="1"/>
          </p:nvPr>
        </p:nvPicPr>
        <p:blipFill>
          <a:blip r:embed="rId3"/>
          <a:srcRect l="9091" b="14773"/>
          <a:stretch>
            <a:fillRect/>
          </a:stretch>
        </p:blipFill>
        <p:spPr>
          <a:xfrm>
            <a:off x="20" y="10"/>
            <a:ext cx="12191979" cy="6857990"/>
          </a:xfrm>
          <a:prstGeom prst="rect">
            <a:avLst/>
          </a:prstGeom>
        </p:spPr>
      </p:pic>
      <p:sp>
        <p:nvSpPr>
          <p:cNvPr id="15" name="Rectangle 14">
            <a:extLst>
              <a:ext uri="{FF2B5EF4-FFF2-40B4-BE49-F238E27FC236}">
                <a16:creationId xmlns:a16="http://schemas.microsoft.com/office/drawing/2014/main" id="{0CCA9273-E74E-A306-1F74-BEF9EDA30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462170"/>
          </a:xfrm>
          <a:prstGeom prst="rect">
            <a:avLst/>
          </a:prstGeom>
          <a:gradFill>
            <a:gsLst>
              <a:gs pos="0">
                <a:schemeClr val="bg1">
                  <a:alpha val="0"/>
                </a:schemeClr>
              </a:gs>
              <a:gs pos="48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D9D9610E-12CA-A18A-CBC8-0CBD025767C7}"/>
              </a:ext>
            </a:extLst>
          </p:cNvPr>
          <p:cNvSpPr>
            <a:spLocks noGrp="1"/>
          </p:cNvSpPr>
          <p:nvPr>
            <p:ph type="title"/>
          </p:nvPr>
        </p:nvSpPr>
        <p:spPr>
          <a:xfrm>
            <a:off x="320039" y="175147"/>
            <a:ext cx="7978385" cy="916234"/>
          </a:xfrm>
        </p:spPr>
        <p:txBody>
          <a:bodyPr vert="horz" lIns="91440" tIns="45720" rIns="91440" bIns="45720" rtlCol="0" anchor="ctr">
            <a:normAutofit/>
          </a:bodyPr>
          <a:lstStyle/>
          <a:p>
            <a:r>
              <a:rPr lang="en-US" sz="3600"/>
              <a:t>Questions &amp; Discussion</a:t>
            </a:r>
          </a:p>
        </p:txBody>
      </p:sp>
    </p:spTree>
    <p:extLst>
      <p:ext uri="{BB962C8B-B14F-4D97-AF65-F5344CB8AC3E}">
        <p14:creationId xmlns:p14="http://schemas.microsoft.com/office/powerpoint/2010/main" val="7142721"/>
      </p:ext>
    </p:extLst>
  </p:cSld>
  <p:clrMapOvr>
    <a:overrideClrMapping bg1="dk1" tx1="lt1" bg2="dk2" tx2="lt2" accent1="accent1" accent2="accent2" accent3="accent3" accent4="accent4" accent5="accent5" accent6="accent6" hlink="hlink" folHlink="folHlink"/>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38E70B-DCE1-F4EF-183D-1DA6460C8976}"/>
              </a:ext>
            </a:extLst>
          </p:cNvPr>
          <p:cNvSpPr>
            <a:spLocks noGrp="1"/>
          </p:cNvSpPr>
          <p:nvPr>
            <p:ph type="title"/>
          </p:nvPr>
        </p:nvSpPr>
        <p:spPr>
          <a:xfrm>
            <a:off x="704087" y="559063"/>
            <a:ext cx="3306747" cy="5256025"/>
          </a:xfrm>
        </p:spPr>
        <p:txBody>
          <a:bodyPr>
            <a:normAutofit/>
          </a:bodyPr>
          <a:lstStyle/>
          <a:p>
            <a:r>
              <a:rPr lang="en-IN" sz="3600"/>
              <a:t>Thank You &amp; Resources</a:t>
            </a:r>
          </a:p>
        </p:txBody>
      </p:sp>
      <p:sp>
        <p:nvSpPr>
          <p:cNvPr id="3" name="Content Placeholder 2">
            <a:extLst>
              <a:ext uri="{FF2B5EF4-FFF2-40B4-BE49-F238E27FC236}">
                <a16:creationId xmlns:a16="http://schemas.microsoft.com/office/drawing/2014/main" id="{708AEC32-91DF-4081-C8EB-7FCD8EB37916}"/>
              </a:ext>
            </a:extLst>
          </p:cNvPr>
          <p:cNvSpPr>
            <a:spLocks noGrp="1"/>
          </p:cNvSpPr>
          <p:nvPr>
            <p:ph idx="1"/>
          </p:nvPr>
        </p:nvSpPr>
        <p:spPr>
          <a:xfrm>
            <a:off x="4643022" y="622249"/>
            <a:ext cx="6844892" cy="5639712"/>
          </a:xfrm>
        </p:spPr>
        <p:txBody>
          <a:bodyPr>
            <a:normAutofit/>
          </a:bodyPr>
          <a:lstStyle/>
          <a:p>
            <a:r>
              <a:rPr lang="en-IN"/>
              <a:t>Contact Information</a:t>
            </a:r>
          </a:p>
          <a:p>
            <a:pPr lvl="1"/>
            <a:r>
              <a:rPr lang="en-IN"/>
              <a:t>Your Name</a:t>
            </a:r>
          </a:p>
          <a:p>
            <a:pPr lvl="1"/>
            <a:r>
              <a:rPr lang="en-IN"/>
              <a:t>Email</a:t>
            </a:r>
          </a:p>
          <a:p>
            <a:pPr lvl="1"/>
            <a:r>
              <a:rPr lang="en-IN"/>
              <a:t>Website (Optional)</a:t>
            </a:r>
          </a:p>
          <a:p>
            <a:r>
              <a:rPr lang="en-IN"/>
              <a:t>Useful Resources</a:t>
            </a:r>
          </a:p>
          <a:p>
            <a:pPr lvl="1"/>
            <a:r>
              <a:rPr lang="en-IN"/>
              <a:t>WCAG 2.2 Guidelines:</a:t>
            </a:r>
          </a:p>
          <a:p>
            <a:pPr lvl="1"/>
            <a:r>
              <a:rPr lang="en-IN"/>
              <a:t>WebAIM Checklist:</a:t>
            </a:r>
          </a:p>
          <a:p>
            <a:pPr lvl="1"/>
            <a:r>
              <a:rPr lang="en-IN"/>
              <a:t>WAVE Accessibility Tool:</a:t>
            </a:r>
          </a:p>
          <a:p>
            <a:pPr lvl="1"/>
            <a:r>
              <a:rPr lang="en-IN"/>
              <a:t>axe DevTools:</a:t>
            </a:r>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52959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F710FDB-0919-493E-8539-8240C23F1E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A1FD33-CEF8-A9C9-52A3-1CEA6E5FF988}"/>
              </a:ext>
            </a:extLst>
          </p:cNvPr>
          <p:cNvSpPr>
            <a:spLocks noGrp="1"/>
          </p:cNvSpPr>
          <p:nvPr>
            <p:ph type="title"/>
          </p:nvPr>
        </p:nvSpPr>
        <p:spPr>
          <a:xfrm>
            <a:off x="704087" y="559063"/>
            <a:ext cx="3306747" cy="5256025"/>
          </a:xfrm>
        </p:spPr>
        <p:txBody>
          <a:bodyPr>
            <a:normAutofit/>
          </a:bodyPr>
          <a:lstStyle/>
          <a:p>
            <a:r>
              <a:rPr lang="en-IN" sz="3600"/>
              <a:t>Useful Resources</a:t>
            </a:r>
          </a:p>
        </p:txBody>
      </p:sp>
      <p:sp>
        <p:nvSpPr>
          <p:cNvPr id="3" name="Content Placeholder 2">
            <a:extLst>
              <a:ext uri="{FF2B5EF4-FFF2-40B4-BE49-F238E27FC236}">
                <a16:creationId xmlns:a16="http://schemas.microsoft.com/office/drawing/2014/main" id="{2D8CBE82-455E-0DC6-4AF2-67FD8996A05A}"/>
              </a:ext>
            </a:extLst>
          </p:cNvPr>
          <p:cNvSpPr>
            <a:spLocks noGrp="1"/>
          </p:cNvSpPr>
          <p:nvPr>
            <p:ph idx="1"/>
          </p:nvPr>
        </p:nvSpPr>
        <p:spPr>
          <a:xfrm>
            <a:off x="4643022" y="622249"/>
            <a:ext cx="6844892" cy="5639712"/>
          </a:xfrm>
        </p:spPr>
        <p:txBody>
          <a:bodyPr>
            <a:normAutofit/>
          </a:bodyPr>
          <a:lstStyle/>
          <a:p>
            <a:r>
              <a:rPr lang="en-IN"/>
              <a:t>WCAG 2.2 Guidelines</a:t>
            </a:r>
          </a:p>
          <a:p>
            <a:pPr lvl="1"/>
            <a:r>
              <a:rPr lang="en-IN"/>
              <a:t>Comprehensive guidelines for web accessibility</a:t>
            </a:r>
          </a:p>
          <a:p>
            <a:pPr lvl="1"/>
            <a:r>
              <a:rPr lang="en-IN"/>
              <a:t>Link: https://www.w3.org/TR/WCAG22/</a:t>
            </a:r>
          </a:p>
          <a:p>
            <a:r>
              <a:rPr lang="en-IN"/>
              <a:t>WebAIM Checklist</a:t>
            </a:r>
          </a:p>
          <a:p>
            <a:pPr lvl="1"/>
            <a:r>
              <a:rPr lang="en-IN"/>
              <a:t>Checklist for WCAG compliance</a:t>
            </a:r>
          </a:p>
          <a:p>
            <a:pPr lvl="1"/>
            <a:r>
              <a:rPr lang="en-IN"/>
              <a:t>Link: https://webaim.org/standards/wcag/checklist</a:t>
            </a:r>
          </a:p>
          <a:p>
            <a:r>
              <a:rPr lang="en-IN"/>
              <a:t>WAVE Accessibility Tool</a:t>
            </a:r>
          </a:p>
          <a:p>
            <a:pPr lvl="1"/>
            <a:r>
              <a:rPr lang="en-IN"/>
              <a:t>Tool for evaluating web accessibility</a:t>
            </a:r>
          </a:p>
          <a:p>
            <a:pPr lvl="1"/>
            <a:r>
              <a:rPr lang="en-IN"/>
              <a:t>Link: https://wave.webaim.org/</a:t>
            </a:r>
          </a:p>
          <a:p>
            <a:r>
              <a:rPr lang="en-IN"/>
              <a:t>axe DevTools</a:t>
            </a:r>
          </a:p>
          <a:p>
            <a:pPr lvl="1"/>
            <a:r>
              <a:rPr lang="en-IN"/>
              <a:t>Developer tools for accessibility testing</a:t>
            </a:r>
          </a:p>
          <a:p>
            <a:pPr lvl="1"/>
            <a:r>
              <a:rPr lang="en-IN"/>
              <a:t>Link: https://www.deque.com/axe/devtools/</a:t>
            </a:r>
          </a:p>
        </p:txBody>
      </p:sp>
      <p:cxnSp>
        <p:nvCxnSpPr>
          <p:cNvPr id="10" name="Straight Connector 9">
            <a:extLst>
              <a:ext uri="{FF2B5EF4-FFF2-40B4-BE49-F238E27FC236}">
                <a16:creationId xmlns:a16="http://schemas.microsoft.com/office/drawing/2014/main" id="{0AFF0B6C-73E2-4B40-9280-938C14922C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4223541" y="723900"/>
            <a:ext cx="15948" cy="545007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7312021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80B98925-0550-1AFB-C1DC-02792400FB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pic>
        <p:nvPicPr>
          <p:cNvPr id="4" name="Content Placeholder 3" descr="Robot and human handshake">
            <a:extLst>
              <a:ext uri="{FF2B5EF4-FFF2-40B4-BE49-F238E27FC236}">
                <a16:creationId xmlns:a16="http://schemas.microsoft.com/office/drawing/2014/main" id="{D9F47DBF-F98B-4137-BA79-B66A65468504}"/>
              </a:ext>
            </a:extLst>
          </p:cNvPr>
          <p:cNvPicPr>
            <a:picLocks noGrp="1" noChangeAspect="1"/>
          </p:cNvPicPr>
          <p:nvPr>
            <p:ph idx="1"/>
          </p:nvPr>
        </p:nvPicPr>
        <p:blipFill>
          <a:blip r:embed="rId3"/>
          <a:srcRect t="361" r="9091" b="23030"/>
          <a:stretch>
            <a:fillRect/>
          </a:stretch>
        </p:blipFill>
        <p:spPr>
          <a:xfrm>
            <a:off x="20" y="10"/>
            <a:ext cx="12191979" cy="6857990"/>
          </a:xfrm>
          <a:prstGeom prst="rect">
            <a:avLst/>
          </a:prstGeom>
        </p:spPr>
      </p:pic>
      <p:sp>
        <p:nvSpPr>
          <p:cNvPr id="15" name="Rectangle 14">
            <a:extLst>
              <a:ext uri="{FF2B5EF4-FFF2-40B4-BE49-F238E27FC236}">
                <a16:creationId xmlns:a16="http://schemas.microsoft.com/office/drawing/2014/main" id="{0CCA9273-E74E-A306-1F74-BEF9EDA305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0"/>
            <a:ext cx="12192000" cy="2462170"/>
          </a:xfrm>
          <a:prstGeom prst="rect">
            <a:avLst/>
          </a:prstGeom>
          <a:gradFill>
            <a:gsLst>
              <a:gs pos="0">
                <a:schemeClr val="bg1">
                  <a:alpha val="0"/>
                </a:schemeClr>
              </a:gs>
              <a:gs pos="48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sto MT"/>
              <a:ea typeface="+mn-ea"/>
              <a:cs typeface="+mn-cs"/>
            </a:endParaRPr>
          </a:p>
        </p:txBody>
      </p:sp>
      <p:sp>
        <p:nvSpPr>
          <p:cNvPr id="2" name="Title 1">
            <a:extLst>
              <a:ext uri="{FF2B5EF4-FFF2-40B4-BE49-F238E27FC236}">
                <a16:creationId xmlns:a16="http://schemas.microsoft.com/office/drawing/2014/main" id="{E6293213-EAA3-47E4-F0DC-41A1F5076E1C}"/>
              </a:ext>
            </a:extLst>
          </p:cNvPr>
          <p:cNvSpPr>
            <a:spLocks noGrp="1"/>
          </p:cNvSpPr>
          <p:nvPr>
            <p:ph type="title"/>
          </p:nvPr>
        </p:nvSpPr>
        <p:spPr>
          <a:xfrm>
            <a:off x="320039" y="175147"/>
            <a:ext cx="7978385" cy="916234"/>
          </a:xfrm>
        </p:spPr>
        <p:txBody>
          <a:bodyPr vert="horz" lIns="91440" tIns="45720" rIns="91440" bIns="45720" rtlCol="0" anchor="ctr">
            <a:normAutofit/>
          </a:bodyPr>
          <a:lstStyle/>
          <a:p>
            <a:r>
              <a:rPr lang="en-US" sz="3600"/>
              <a:t>Contact Information</a:t>
            </a:r>
          </a:p>
        </p:txBody>
      </p:sp>
    </p:spTree>
    <p:extLst>
      <p:ext uri="{BB962C8B-B14F-4D97-AF65-F5344CB8AC3E}">
        <p14:creationId xmlns:p14="http://schemas.microsoft.com/office/powerpoint/2010/main" val="315690493"/>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7415</Words>
  <Application>Microsoft Office PowerPoint</Application>
  <PresentationFormat>Widescreen</PresentationFormat>
  <Paragraphs>423</Paragraphs>
  <Slides>42</Slides>
  <Notes>42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Aptos</vt:lpstr>
      <vt:lpstr>Arial</vt:lpstr>
      <vt:lpstr>Calisto MT</vt:lpstr>
      <vt:lpstr>Univers Condensed</vt:lpstr>
      <vt:lpstr>ChronicleVTI</vt:lpstr>
      <vt:lpstr>Making Digital Content Accessible</vt:lpstr>
      <vt:lpstr>Agenda</vt:lpstr>
      <vt:lpstr>Introduction</vt:lpstr>
      <vt:lpstr>Title Slide</vt:lpstr>
      <vt:lpstr>What is Web Accessibility?</vt:lpstr>
      <vt:lpstr>Why it Matters</vt:lpstr>
      <vt:lpstr>Definition</vt:lpstr>
      <vt:lpstr>Introducing WCAG 2.2</vt:lpstr>
      <vt:lpstr>Understanding WCAG Principles (POUR)</vt:lpstr>
      <vt:lpstr>WCAG Conformance Levels</vt:lpstr>
      <vt:lpstr>Diving into WCAG 2.2 Level A - The Basics</vt:lpstr>
      <vt:lpstr>1.1.1 Non-text Content (Alt Text)</vt:lpstr>
      <vt:lpstr>2.1.1 Keyboard (Keyboard Navigation)</vt:lpstr>
      <vt:lpstr>2.4.1 Bypass Blocks (Skip Navigation)</vt:lpstr>
      <vt:lpstr>Key Concept</vt:lpstr>
      <vt:lpstr>More Level A Examples</vt:lpstr>
      <vt:lpstr>3.3.1 Error Identification (Form Errors)</vt:lpstr>
      <vt:lpstr>4.1.1 Parsing (Valid HTML)</vt:lpstr>
      <vt:lpstr>Image</vt:lpstr>
      <vt:lpstr>Diving into WCAG 2.2 Level AA - The Standard Goal</vt:lpstr>
      <vt:lpstr>1.4.3 Contrast (Minimum)</vt:lpstr>
      <vt:lpstr>2.4.7 Focus Visible (Keyboard Focus)</vt:lpstr>
      <vt:lpstr>Key Concept</vt:lpstr>
      <vt:lpstr>More Level AA Examples</vt:lpstr>
      <vt:lpstr>2.2.2 Pause, Stop, Hide (Animations/Moving Content)</vt:lpstr>
      <vt:lpstr>2.4.4 Link Purpose (In Context)</vt:lpstr>
      <vt:lpstr>3.1.2 Language of Parts (Language Changes)</vt:lpstr>
      <vt:lpstr>Image</vt:lpstr>
      <vt:lpstr>New in WCAG 2.2: Focus on Usability &amp; Cognitive Needs</vt:lpstr>
      <vt:lpstr>2.5.7 Dragging Movements (Level AA)</vt:lpstr>
      <vt:lpstr>2.5.8 Target Size (Minimum) (Level AA)</vt:lpstr>
      <vt:lpstr>3.2.6 Findable Help (Level A)</vt:lpstr>
      <vt:lpstr>Image</vt:lpstr>
      <vt:lpstr>Why Aim for AA?</vt:lpstr>
      <vt:lpstr>Inclusive User Experience</vt:lpstr>
      <vt:lpstr>Legal Compliance</vt:lpstr>
      <vt:lpstr>How to Get Started &amp; Tools</vt:lpstr>
      <vt:lpstr>Key Takeaways</vt:lpstr>
      <vt:lpstr>Questions &amp; Discussion</vt:lpstr>
      <vt:lpstr>Thank You &amp; Resources</vt:lpstr>
      <vt:lpstr>Useful Resources</vt:lpstr>
      <vt:lpstr>Contact Information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Akhilesh Malani</dc:creator>
  <cp:lastModifiedBy>Akhilesh Malani</cp:lastModifiedBy>
  <cp:revision>1</cp:revision>
  <dcterms:created xsi:type="dcterms:W3CDTF">2025-06-19T06:45:46Z</dcterms:created>
  <dcterms:modified xsi:type="dcterms:W3CDTF">2025-06-19T06:48:15Z</dcterms:modified>
</cp:coreProperties>
</file>