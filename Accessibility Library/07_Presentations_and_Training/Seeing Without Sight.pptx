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87566F-2316-4899-91A3-A806FB2C4E6D}" type="datetimeFigureOut">
              <a:rPr lang="en-IN" smtClean="0"/>
              <a:t>03-06-2025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DDAB40-D00A-4ADD-92C8-AF7E285A4A8C}" type="slidenum">
              <a:rPr lang="en-IN" smtClean="0"/>
              <a:t>‹#›</a:t>
            </a:fld>
            <a:endParaRPr lang="en-IN"/>
          </a:p>
        </p:txBody>
      </p:sp>
    </p:spTree>
    <p:extLst>
      <p:ext uri="{BB962C8B-B14F-4D97-AF65-F5344CB8AC3E}">
        <p14:creationId xmlns:p14="http://schemas.microsoft.com/office/powerpoint/2010/main" val="363234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presentation was automatically generated by PowerPoint Copilot based on content found in this document:
https://1drv.ms/w/c/f76ae15bbc4cfc1d/EfMOu90KVMpLmDO0YvZwwFsBa75Iev9jzAljHL7BTn56BQ?e=xdmqT2
AI-generated content may be incorrect.</a:t>
            </a:r>
          </a:p>
        </p:txBody>
      </p:sp>
      <p:sp>
        <p:nvSpPr>
          <p:cNvPr id="4" name="Slide Number Placeholder 3"/>
          <p:cNvSpPr>
            <a:spLocks noGrp="1"/>
          </p:cNvSpPr>
          <p:nvPr>
            <p:ph type="sldNum" sz="quarter" idx="5"/>
          </p:nvPr>
        </p:nvSpPr>
        <p:spPr/>
        <p:txBody>
          <a:bodyPr/>
          <a:lstStyle/>
          <a:p>
            <a:fld id="{7D2835AC-F5FC-4A5A-A0E5-863D3539225A}" type="slidenum">
              <a:rPr lang="en-IN" smtClean="0"/>
              <a:t>1</a:t>
            </a:fld>
            <a:endParaRPr lang="en-IN"/>
          </a:p>
        </p:txBody>
      </p:sp>
    </p:spTree>
    <p:extLst>
      <p:ext uri="{BB962C8B-B14F-4D97-AF65-F5344CB8AC3E}">
        <p14:creationId xmlns:p14="http://schemas.microsoft.com/office/powerpoint/2010/main" val="2093971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Agenda
* Introduction
    * Visualisation and Ancient Wisdom
    * Impact on Creativity and Problem-Solving
* The Mind's Eye
    * Concept of the Third Eye
    * Spatial Reasoning in Blind Individuals
    * Disclaimer on Meditation
* Sensory Substitution
    * Science of Sensory Substitution
    * Multimodal Approaches
    * Application in Creative Work
* Case Studies and Examples
    * The Ferrari Story
    * Cognitive Mapping in Blind Individuals
    * Blind Detectives
* Proof from Legends
    * Helen Keller and John Milton
    * Modern Neuroscience Confirmation
* Multimodal Sensory Processing
    * Creating Sensory Architecture
    * Engaging Multiple Cognitive Channels
* The Blind Advantage
    * Neuroscience Insights
    * Reverse-Engineering Cognitive Superpower
* Practical Applications
    * For Writers
    * For Creative Professionals
    * For Problem Solvers
    * For Everyone
* Conclusion
    * Ancient Wisdom and Modern Science
    * Final Takeaway
</a:t>
            </a:r>
          </a:p>
        </p:txBody>
      </p:sp>
      <p:sp>
        <p:nvSpPr>
          <p:cNvPr id="4" name="Slide Number Placeholder 3"/>
          <p:cNvSpPr>
            <a:spLocks noGrp="1"/>
          </p:cNvSpPr>
          <p:nvPr>
            <p:ph type="sldNum" sz="quarter" idx="5"/>
          </p:nvPr>
        </p:nvSpPr>
        <p:spPr/>
        <p:txBody>
          <a:bodyPr/>
          <a:lstStyle/>
          <a:p>
            <a:fld id="{7D2835AC-F5FC-4A5A-A0E5-863D3539225A}" type="slidenum">
              <a:rPr lang="en-IN" smtClean="0"/>
              <a:t>2</a:t>
            </a:fld>
            <a:endParaRPr lang="en-IN"/>
          </a:p>
        </p:txBody>
      </p:sp>
    </p:spTree>
    <p:extLst>
      <p:ext uri="{BB962C8B-B14F-4D97-AF65-F5344CB8AC3E}">
        <p14:creationId xmlns:p14="http://schemas.microsoft.com/office/powerpoint/2010/main" val="987816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Imagine sitting in a pooja room, gazing at Lord Shiva's third eye. This ancient symbol of seeing beyond the ordinary is now supported by modern neuroscience. Recent studies show that blind people can 'visualise' without eyesight, proving ancient wisdom right.
Original Content:
Picture this: you are sitting in a pooja room, staring at Lord Shiva's third eye blazing from his forehead like a cosmic torchlight. If you are Indian (or have even visited a traditional Hindu home), you know exactly what I am talking about. That mysterious third eye is not just ornamental—it is a masterclass in seeing what the ordinary eye misses.
Now, before you smirk and think I am about to hand you crystals and rudraksha beads, here's the interesting part: modern science is finally catching up with ancient wisdom. Recent research shows that blind people can genuinely 'visualise' without eyesight—and no, it is not some airy-fairy business, it is pure neuroscience.
</a:t>
            </a:r>
          </a:p>
        </p:txBody>
      </p:sp>
      <p:sp>
        <p:nvSpPr>
          <p:cNvPr id="4" name="Slide Number Placeholder 3"/>
          <p:cNvSpPr>
            <a:spLocks noGrp="1"/>
          </p:cNvSpPr>
          <p:nvPr>
            <p:ph type="sldNum" sz="quarter" idx="5"/>
          </p:nvPr>
        </p:nvSpPr>
        <p:spPr/>
        <p:txBody>
          <a:bodyPr/>
          <a:lstStyle/>
          <a:p>
            <a:fld id="{7D2835AC-F5FC-4A5A-A0E5-863D3539225A}" type="slidenum">
              <a:rPr lang="en-IN" smtClean="0"/>
              <a:t>3</a:t>
            </a:fld>
            <a:endParaRPr lang="en-IN"/>
          </a:p>
        </p:txBody>
      </p:sp>
    </p:spTree>
    <p:extLst>
      <p:ext uri="{BB962C8B-B14F-4D97-AF65-F5344CB8AC3E}">
        <p14:creationId xmlns:p14="http://schemas.microsoft.com/office/powerpoint/2010/main" val="1011426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Understanding how blind people 'see' can revolutionize creativity, problem-solving, and writing. Their unique visualization methods inspire new creative approaches. Alternative problem-solving strategies developed by blind individuals can enhance general problem-solving skills. Writing techniques can be enriched by their perspectives, leading to more inclusive content.
Original Content:
But the real game-changer? Understanding how blind people "see" could completely change how you tackle creativity, problem-solving, and writing.
</a:t>
            </a:r>
          </a:p>
        </p:txBody>
      </p:sp>
      <p:sp>
        <p:nvSpPr>
          <p:cNvPr id="4" name="Slide Number Placeholder 3"/>
          <p:cNvSpPr>
            <a:spLocks noGrp="1"/>
          </p:cNvSpPr>
          <p:nvPr>
            <p:ph type="sldNum" sz="quarter" idx="5"/>
          </p:nvPr>
        </p:nvSpPr>
        <p:spPr/>
        <p:txBody>
          <a:bodyPr/>
          <a:lstStyle/>
          <a:p>
            <a:fld id="{7D2835AC-F5FC-4A5A-A0E5-863D3539225A}" type="slidenum">
              <a:rPr lang="en-IN" smtClean="0"/>
              <a:t>4</a:t>
            </a:fld>
            <a:endParaRPr lang="en-IN"/>
          </a:p>
        </p:txBody>
      </p:sp>
    </p:spTree>
    <p:extLst>
      <p:ext uri="{BB962C8B-B14F-4D97-AF65-F5344CB8AC3E}">
        <p14:creationId xmlns:p14="http://schemas.microsoft.com/office/powerpoint/2010/main" val="4104262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concept of the 'third eye,' known as Agnya Chakra, is taken seriously in many traditions. Studies show visualisation is about spatial reasoning, not just physical sight. Blind people use the same cognitive tools as sighted individuals, but through different pathways.
Original Content:
The Mind's Eye Is Not a Metaphor
The idea of a "third eye"—what our elders would call the Agnya Chakra—exists in many cultures, but our traditions have always treated it seriously. And here's what might surprise you: studies show that visualisation is fundamentally about spatial reasoning, not just what you see with your physical eyes. When blind people "visualise," they are not pretending—they are using the same cognitive tools sighted people do, but through different pathways.
</a:t>
            </a:r>
          </a:p>
        </p:txBody>
      </p:sp>
      <p:sp>
        <p:nvSpPr>
          <p:cNvPr id="4" name="Slide Number Placeholder 3"/>
          <p:cNvSpPr>
            <a:spLocks noGrp="1"/>
          </p:cNvSpPr>
          <p:nvPr>
            <p:ph type="sldNum" sz="quarter" idx="5"/>
          </p:nvPr>
        </p:nvSpPr>
        <p:spPr/>
        <p:txBody>
          <a:bodyPr/>
          <a:lstStyle/>
          <a:p>
            <a:fld id="{7D2835AC-F5FC-4A5A-A0E5-863D3539225A}" type="slidenum">
              <a:rPr lang="en-IN" smtClean="0"/>
              <a:t>5</a:t>
            </a:fld>
            <a:endParaRPr lang="en-IN"/>
          </a:p>
        </p:txBody>
      </p:sp>
    </p:spTree>
    <p:extLst>
      <p:ext uri="{BB962C8B-B14F-4D97-AF65-F5344CB8AC3E}">
        <p14:creationId xmlns:p14="http://schemas.microsoft.com/office/powerpoint/2010/main" val="4030839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Our brain functions like a smartphone with multiple apps. Vision is just one of these apps. Recent research shows that blind individuals can navigate complex data visualizations through touch and sound with the same accuracy as sighted people using their eyes. This isn't compensation, but cognitive excellence.
Original Content:
Think of your brain like a smartphone. Vision is just one app. Uninstall it, and you still have a powerful device with other tools to process the world. The real question is—are you using all your apps, or sticking only to the familiar one?
Recent research reveals that this spatial understanding is so sophisticated that blind individuals can navigate complex data visualisations through touch and sound with the same accuracy as sighted people using their eyes. It's not compensation—it's cognitive excellence.
</a:t>
            </a:r>
          </a:p>
        </p:txBody>
      </p:sp>
      <p:sp>
        <p:nvSpPr>
          <p:cNvPr id="4" name="Slide Number Placeholder 3"/>
          <p:cNvSpPr>
            <a:spLocks noGrp="1"/>
          </p:cNvSpPr>
          <p:nvPr>
            <p:ph type="sldNum" sz="quarter" idx="5"/>
          </p:nvPr>
        </p:nvSpPr>
        <p:spPr/>
        <p:txBody>
          <a:bodyPr/>
          <a:lstStyle/>
          <a:p>
            <a:fld id="{7D2835AC-F5FC-4A5A-A0E5-863D3539225A}" type="slidenum">
              <a:rPr lang="en-IN" smtClean="0"/>
              <a:t>6</a:t>
            </a:fld>
            <a:endParaRPr lang="en-IN"/>
          </a:p>
        </p:txBody>
      </p:sp>
    </p:spTree>
    <p:extLst>
      <p:ext uri="{BB962C8B-B14F-4D97-AF65-F5344CB8AC3E}">
        <p14:creationId xmlns:p14="http://schemas.microsoft.com/office/powerpoint/2010/main" val="1735681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It is crucial to have proper guidance when meditating and raising your Kundalini. Attempting this without guidance is as risky as trying brain surgery after watching Instagram reels. It may be possible, but it is not sensible.
Original Content:
Disclaimer: I am not asking you to start meditating and raising your Kundalini without proper guidance. That is like trying brain surgery after watching a couple of Instagram reels. Possible, yes. Sensible? Not at all.
</a:t>
            </a:r>
          </a:p>
        </p:txBody>
      </p:sp>
      <p:sp>
        <p:nvSpPr>
          <p:cNvPr id="4" name="Slide Number Placeholder 3"/>
          <p:cNvSpPr>
            <a:spLocks noGrp="1"/>
          </p:cNvSpPr>
          <p:nvPr>
            <p:ph type="sldNum" sz="quarter" idx="5"/>
          </p:nvPr>
        </p:nvSpPr>
        <p:spPr/>
        <p:txBody>
          <a:bodyPr/>
          <a:lstStyle/>
          <a:p>
            <a:fld id="{7D2835AC-F5FC-4A5A-A0E5-863D3539225A}" type="slidenum">
              <a:rPr lang="en-IN" smtClean="0"/>
              <a:t>7</a:t>
            </a:fld>
            <a:endParaRPr lang="en-IN"/>
          </a:p>
        </p:txBody>
      </p:sp>
    </p:spTree>
    <p:extLst>
      <p:ext uri="{BB962C8B-B14F-4D97-AF65-F5344CB8AC3E}">
        <p14:creationId xmlns:p14="http://schemas.microsoft.com/office/powerpoint/2010/main" val="4025841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Scientists have discovered sensory substitution, where the brain can convert one type of sensory input into another. This fascinating ability is like a built-in Google Translate for our senses, showcasing the brain's remarkable adaptability.
Original Content:
Here is where it gets fascinating for everyone, sighted or blind. Scientists have uncovered something called "sensory substitution"—the brain's remarkable ability to convert one type of sensory input into another. Think of it as a built-in Google Translate for your senses.
When Touch Becomes Sight: The Science of Sensory Magic
</a:t>
            </a:r>
          </a:p>
        </p:txBody>
      </p:sp>
      <p:sp>
        <p:nvSpPr>
          <p:cNvPr id="4" name="Slide Number Placeholder 3"/>
          <p:cNvSpPr>
            <a:spLocks noGrp="1"/>
          </p:cNvSpPr>
          <p:nvPr>
            <p:ph type="sldNum" sz="quarter" idx="5"/>
          </p:nvPr>
        </p:nvSpPr>
        <p:spPr/>
        <p:txBody>
          <a:bodyPr/>
          <a:lstStyle/>
          <a:p>
            <a:fld id="{7D2835AC-F5FC-4A5A-A0E5-863D3539225A}" type="slidenum">
              <a:rPr lang="en-IN" smtClean="0"/>
              <a:t>8</a:t>
            </a:fld>
            <a:endParaRPr lang="en-IN"/>
          </a:p>
        </p:txBody>
      </p:sp>
    </p:spTree>
    <p:extLst>
      <p:ext uri="{BB962C8B-B14F-4D97-AF65-F5344CB8AC3E}">
        <p14:creationId xmlns:p14="http://schemas.microsoft.com/office/powerpoint/2010/main" val="4076349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Blind individuals use touch and audio cues to read graphs, reducing cognitive workload. Researchers are developing tools for sighted people to experience information through sound, touch, and spatial reasoning, enhancing understanding and retention.
Original Content:
Blind individuals can "read" graphs by touching raised diagrams or "hear" patterns in data through specially designed audio cues. One study even found these mixed-sense approaches actually reduce cognitive workload compared to traditional speech-only interfaces. In short, cutting off one sense often makes the others work more efficiently, not just harder.
But here's the kicker: researchers are now developing tools that let sighted people experience information the way blind people naturally do—through combinations of sound, touch, and spatial reasoning. Early results suggest this multimodal approach can enhance understanding and retention for everyone.
</a:t>
            </a:r>
          </a:p>
        </p:txBody>
      </p:sp>
      <p:sp>
        <p:nvSpPr>
          <p:cNvPr id="4" name="Slide Number Placeholder 3"/>
          <p:cNvSpPr>
            <a:spLocks noGrp="1"/>
          </p:cNvSpPr>
          <p:nvPr>
            <p:ph type="sldNum" sz="quarter" idx="5"/>
          </p:nvPr>
        </p:nvSpPr>
        <p:spPr/>
        <p:txBody>
          <a:bodyPr/>
          <a:lstStyle/>
          <a:p>
            <a:fld id="{7D2835AC-F5FC-4A5A-A0E5-863D3539225A}" type="slidenum">
              <a:rPr lang="en-IN" smtClean="0"/>
              <a:t>9</a:t>
            </a:fld>
            <a:endParaRPr lang="en-IN"/>
          </a:p>
        </p:txBody>
      </p:sp>
    </p:spTree>
    <p:extLst>
      <p:ext uri="{BB962C8B-B14F-4D97-AF65-F5344CB8AC3E}">
        <p14:creationId xmlns:p14="http://schemas.microsoft.com/office/powerpoint/2010/main" val="1378367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Imagine feeling the rhythm, hearing the emotional texture, and sensing the structural architecture of your story. This poetic idea is supported by neuroscience, enhancing storytelling.
Original Content:
Now imagine using this in your own work. What if you could feel your story's rhythm, hear its emotional texture, and sense its structural architecture, instead of only seeing it in your head? Sounds poetic, but it is backed by solid neuroscience.
</a:t>
            </a:r>
          </a:p>
        </p:txBody>
      </p:sp>
      <p:sp>
        <p:nvSpPr>
          <p:cNvPr id="4" name="Slide Number Placeholder 3"/>
          <p:cNvSpPr>
            <a:spLocks noGrp="1"/>
          </p:cNvSpPr>
          <p:nvPr>
            <p:ph type="sldNum" sz="quarter" idx="5"/>
          </p:nvPr>
        </p:nvSpPr>
        <p:spPr/>
        <p:txBody>
          <a:bodyPr/>
          <a:lstStyle/>
          <a:p>
            <a:fld id="{7D2835AC-F5FC-4A5A-A0E5-863D3539225A}" type="slidenum">
              <a:rPr lang="en-IN" smtClean="0"/>
              <a:t>10</a:t>
            </a:fld>
            <a:endParaRPr lang="en-IN"/>
          </a:p>
        </p:txBody>
      </p:sp>
    </p:spTree>
    <p:extLst>
      <p:ext uri="{BB962C8B-B14F-4D97-AF65-F5344CB8AC3E}">
        <p14:creationId xmlns:p14="http://schemas.microsoft.com/office/powerpoint/2010/main" val="648277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Skip Ross shared a story about a businessman who visualized owning a Ferrari and eventually did. Science supports visualization, showing that blind people infer details through sensory integration and logical reasoning, as evidenced by a recent PNAS study.
Original Content:
The Ferrari Story (And Why It Is Not Just a Gimmick)
Many years ago, motivational speaker Skip Ross told a story about a businessman who kept a poster of a red Ferrari in his office. He looked at it daily, convinced he would one day own it. Plot twist: not just any Ferrari—the exact one from the poster landed in his garage.
Now, I can already hear some of you grumbling, "Old trick, no?" But science says otherwise. Blind people constantly build mental models of things they cannot see using sounds, textures, environmental cues, and cultural knowledge. A recent PNAS study showed that they infer colours, shapes, and spatial layouts through logical reasoning and sensory integration—not just memorisation.
</a:t>
            </a:r>
          </a:p>
        </p:txBody>
      </p:sp>
      <p:sp>
        <p:nvSpPr>
          <p:cNvPr id="4" name="Slide Number Placeholder 3"/>
          <p:cNvSpPr>
            <a:spLocks noGrp="1"/>
          </p:cNvSpPr>
          <p:nvPr>
            <p:ph type="sldNum" sz="quarter" idx="5"/>
          </p:nvPr>
        </p:nvSpPr>
        <p:spPr/>
        <p:txBody>
          <a:bodyPr/>
          <a:lstStyle/>
          <a:p>
            <a:fld id="{7D2835AC-F5FC-4A5A-A0E5-863D3539225A}" type="slidenum">
              <a:rPr lang="en-IN" smtClean="0"/>
              <a:t>11</a:t>
            </a:fld>
            <a:endParaRPr lang="en-IN"/>
          </a:p>
        </p:txBody>
      </p:sp>
    </p:spTree>
    <p:extLst>
      <p:ext uri="{BB962C8B-B14F-4D97-AF65-F5344CB8AC3E}">
        <p14:creationId xmlns:p14="http://schemas.microsoft.com/office/powerpoint/2010/main" val="393417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Blind individuals use cognitive mapping and spatial inference to build complete pictures from non-visual information. This approach could also benefit those with perfect eyesight by enhancing their perception and understanding.
Original Content:
In other words, what that businessman did with a poster, blind people do daily—without needing a poster. They engage what researchers call "cognitive mapping" and "spatial inference," building complete pictures from fragments of non-visual information.
The question for the rest of us: could we benefit from this approach even with perfect eyesight?
</a:t>
            </a:r>
          </a:p>
        </p:txBody>
      </p:sp>
      <p:sp>
        <p:nvSpPr>
          <p:cNvPr id="4" name="Slide Number Placeholder 3"/>
          <p:cNvSpPr>
            <a:spLocks noGrp="1"/>
          </p:cNvSpPr>
          <p:nvPr>
            <p:ph type="sldNum" sz="quarter" idx="5"/>
          </p:nvPr>
        </p:nvSpPr>
        <p:spPr/>
        <p:txBody>
          <a:bodyPr/>
          <a:lstStyle/>
          <a:p>
            <a:fld id="{7D2835AC-F5FC-4A5A-A0E5-863D3539225A}" type="slidenum">
              <a:rPr lang="en-IN" smtClean="0"/>
              <a:t>12</a:t>
            </a:fld>
            <a:endParaRPr lang="en-IN"/>
          </a:p>
        </p:txBody>
      </p:sp>
    </p:spTree>
    <p:extLst>
      <p:ext uri="{BB962C8B-B14F-4D97-AF65-F5344CB8AC3E}">
        <p14:creationId xmlns:p14="http://schemas.microsoft.com/office/powerpoint/2010/main" val="3942935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Blind individuals possess elite cognitive mapping skills, akin to master detectives like Sherlock Holmes. They identify locations through distinct sounds, changes in floor texture, and air movement, showcasing abilities that most sighted people never develop.
Original Content:
Blind Detectives of Everyday Life: Masters of Cognitive Mapping
Blind people are like master detectives operating at Sherlock Holmes level. A door creaks differently, and they know it is the kitchen. A change in floor texture tells them they have reached the balcony. The way air moves indicates someone just entered the room. It is not about compensation—it is elite-level cognitive mapping that most sighted people never develop.
</a:t>
            </a:r>
          </a:p>
        </p:txBody>
      </p:sp>
      <p:sp>
        <p:nvSpPr>
          <p:cNvPr id="4" name="Slide Number Placeholder 3"/>
          <p:cNvSpPr>
            <a:spLocks noGrp="1"/>
          </p:cNvSpPr>
          <p:nvPr>
            <p:ph type="sldNum" sz="quarter" idx="5"/>
          </p:nvPr>
        </p:nvSpPr>
        <p:spPr/>
        <p:txBody>
          <a:bodyPr/>
          <a:lstStyle/>
          <a:p>
            <a:fld id="{7D2835AC-F5FC-4A5A-A0E5-863D3539225A}" type="slidenum">
              <a:rPr lang="en-IN" smtClean="0"/>
              <a:t>13</a:t>
            </a:fld>
            <a:endParaRPr lang="en-IN"/>
          </a:p>
        </p:txBody>
      </p:sp>
    </p:spTree>
    <p:extLst>
      <p:ext uri="{BB962C8B-B14F-4D97-AF65-F5344CB8AC3E}">
        <p14:creationId xmlns:p14="http://schemas.microsoft.com/office/powerpoint/2010/main" val="16990721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Helen Keller and John Milton are prime examples of imagination without eyesight. Keller's vivid scenes in The Story of My Life are used in spatial cognition research, showcasing superior sensory integration. Milton's evocative passages in Paradise Lost, written after blindness, demonstrate advanced spatial visualisation techniques. Their imagination thrived through spatial reasoning and sophisticated neural pathways.
Original Content:
Proof from the Legends: When Blindness Sharpens Vision
Want solid proof that imagination does not need eyesight? Two names that science now uses as case studies: Helen Keller and John Milton.
Keller's The Story of My Life paints scenes so vividly that researchers studying spatial cognition use her descriptions as examples of superior sensory integration. Most sighted writers would be left humbled by her ability to construct rich, detailed environments through pure spatial reasoning.
Milton wrote Paradise Lost's most evocative passages after going blind, using what scientists now recognise as advanced spatial visualisation techniques. His imagination did not dim—it just found more sophisticated neural pathways to express itself.
</a:t>
            </a:r>
          </a:p>
        </p:txBody>
      </p:sp>
      <p:sp>
        <p:nvSpPr>
          <p:cNvPr id="4" name="Slide Number Placeholder 3"/>
          <p:cNvSpPr>
            <a:spLocks noGrp="1"/>
          </p:cNvSpPr>
          <p:nvPr>
            <p:ph type="sldNum" sz="quarter" idx="5"/>
          </p:nvPr>
        </p:nvSpPr>
        <p:spPr/>
        <p:txBody>
          <a:bodyPr/>
          <a:lstStyle/>
          <a:p>
            <a:fld id="{7D2835AC-F5FC-4A5A-A0E5-863D3539225A}" type="slidenum">
              <a:rPr lang="en-IN" smtClean="0"/>
              <a:t>14</a:t>
            </a:fld>
            <a:endParaRPr lang="en-IN"/>
          </a:p>
        </p:txBody>
      </p:sp>
    </p:spTree>
    <p:extLst>
      <p:ext uri="{BB962C8B-B14F-4D97-AF65-F5344CB8AC3E}">
        <p14:creationId xmlns:p14="http://schemas.microsoft.com/office/powerpoint/2010/main" val="3938120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Modern neuroscience confirms that true visualisation involves spatial and cognitive processing, not eyesight. Ancient seers and literary greats understood this concept. The third eye represents perception beyond sensory limitations.
Original Content:
Modern neuroscience is finally confirming what our ancient seers and these literary greats knew centuries ago: true visualisation is about spatial and cognitive processing, not eyesight. The third eye was never about physical vision—it was about perception that transcends sensory limitations.
</a:t>
            </a:r>
          </a:p>
        </p:txBody>
      </p:sp>
      <p:sp>
        <p:nvSpPr>
          <p:cNvPr id="4" name="Slide Number Placeholder 3"/>
          <p:cNvSpPr>
            <a:spLocks noGrp="1"/>
          </p:cNvSpPr>
          <p:nvPr>
            <p:ph type="sldNum" sz="quarter" idx="5"/>
          </p:nvPr>
        </p:nvSpPr>
        <p:spPr/>
        <p:txBody>
          <a:bodyPr/>
          <a:lstStyle/>
          <a:p>
            <a:fld id="{7D2835AC-F5FC-4A5A-A0E5-863D3539225A}" type="slidenum">
              <a:rPr lang="en-IN" smtClean="0"/>
              <a:t>15</a:t>
            </a:fld>
            <a:endParaRPr lang="en-IN"/>
          </a:p>
        </p:txBody>
      </p:sp>
    </p:spTree>
    <p:extLst>
      <p:ext uri="{BB962C8B-B14F-4D97-AF65-F5344CB8AC3E}">
        <p14:creationId xmlns:p14="http://schemas.microsoft.com/office/powerpoint/2010/main" val="29510707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True writing transforms readers by engaging multiple cognitive channels simultaneously. Blind writers naturally create experiences through spatial positioning, auditory mapping, tactile awareness, and emotional geography. This results in vivid and emotionally resonant descriptions, often more complete than purely visual accounts.
Original Content:
From Dry Prose to Rich, Sensory Architecture
Anyone can string sentences together grammatically. But true writing—writing that transforms readers—requires what researchers call "multimodal sensory processing." What blind writers do naturally is engage multiple cognitive channels simultaneously to create experiences rather than mere descriptions.
When a blind writer describes a father walking away without acknowledging his child's achievement, they are not drawing from visual memory. They are reconstructing the scene through spatial positioning (where he stood relative to the child), auditory mapping (footstep patterns and fading), tactile awareness (air pressure changes), and emotional geography (the expanding silence).
The result is not just a description—it is a complete sensory architecture that often feels more vivid and emotionally resonant than purely visual accounts.
</a:t>
            </a:r>
          </a:p>
        </p:txBody>
      </p:sp>
      <p:sp>
        <p:nvSpPr>
          <p:cNvPr id="4" name="Slide Number Placeholder 3"/>
          <p:cNvSpPr>
            <a:spLocks noGrp="1"/>
          </p:cNvSpPr>
          <p:nvPr>
            <p:ph type="sldNum" sz="quarter" idx="5"/>
          </p:nvPr>
        </p:nvSpPr>
        <p:spPr/>
        <p:txBody>
          <a:bodyPr/>
          <a:lstStyle/>
          <a:p>
            <a:fld id="{7D2835AC-F5FC-4A5A-A0E5-863D3539225A}" type="slidenum">
              <a:rPr lang="en-IN" smtClean="0"/>
              <a:t>16</a:t>
            </a:fld>
            <a:endParaRPr lang="en-IN"/>
          </a:p>
        </p:txBody>
      </p:sp>
    </p:spTree>
    <p:extLst>
      <p:ext uri="{BB962C8B-B14F-4D97-AF65-F5344CB8AC3E}">
        <p14:creationId xmlns:p14="http://schemas.microsoft.com/office/powerpoint/2010/main" val="3453794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Are you using all your cognitive channels when you create, or just defaulting to the visual? Consider the depths you might discover if you deliberately engaged your other senses.
Original Content:
So here is a question worth asking: Are you using all your cognitive channels when you create, or just defaulting to the visual? What depths might you discover if you deliberately engaged your other senses?
</a:t>
            </a:r>
          </a:p>
        </p:txBody>
      </p:sp>
      <p:sp>
        <p:nvSpPr>
          <p:cNvPr id="4" name="Slide Number Placeholder 3"/>
          <p:cNvSpPr>
            <a:spLocks noGrp="1"/>
          </p:cNvSpPr>
          <p:nvPr>
            <p:ph type="sldNum" sz="quarter" idx="5"/>
          </p:nvPr>
        </p:nvSpPr>
        <p:spPr/>
        <p:txBody>
          <a:bodyPr/>
          <a:lstStyle/>
          <a:p>
            <a:fld id="{7D2835AC-F5FC-4A5A-A0E5-863D3539225A}" type="slidenum">
              <a:rPr lang="en-IN" smtClean="0"/>
              <a:t>17</a:t>
            </a:fld>
            <a:endParaRPr lang="en-IN"/>
          </a:p>
        </p:txBody>
      </p:sp>
    </p:spTree>
    <p:extLst>
      <p:ext uri="{BB962C8B-B14F-4D97-AF65-F5344CB8AC3E}">
        <p14:creationId xmlns:p14="http://schemas.microsoft.com/office/powerpoint/2010/main" val="3699785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Research shows that while sighted people develop visual acuity, blind people often develop the ability to process complex information through multiple sensory channels simultaneously. Blind individuals coordinate spatial reasoning, auditory processing, tactile memory, and cognitive inference across multiple neural networks, unlike sighted individuals who rely mainly on visual memory.
Original Content:
The Blind Advantage: What Neuroscience Reveals
Here's the delicious irony that research has uncovered: while sighted people develop visual acuity, blind people often develop something potentially more powerful—the ability to process complex information through multiple sensory channels simultaneously.
When a sighted person says, "I can see it," they are typically accessing visual memory stored in one part of the brain. When a blind person says, "I can imagine it," they are actively coordinating spatial reasoning, auditory processing, tactile memory, and cognitive inference across multiple neural networks. It is like running several high-performance apps simultaneously while others rely on just one.
</a:t>
            </a:r>
          </a:p>
        </p:txBody>
      </p:sp>
      <p:sp>
        <p:nvSpPr>
          <p:cNvPr id="4" name="Slide Number Placeholder 3"/>
          <p:cNvSpPr>
            <a:spLocks noGrp="1"/>
          </p:cNvSpPr>
          <p:nvPr>
            <p:ph type="sldNum" sz="quarter" idx="5"/>
          </p:nvPr>
        </p:nvSpPr>
        <p:spPr/>
        <p:txBody>
          <a:bodyPr/>
          <a:lstStyle/>
          <a:p>
            <a:fld id="{7D2835AC-F5FC-4A5A-A0E5-863D3539225A}" type="slidenum">
              <a:rPr lang="en-IN" smtClean="0"/>
              <a:t>18</a:t>
            </a:fld>
            <a:endParaRPr lang="en-IN"/>
          </a:p>
        </p:txBody>
      </p:sp>
    </p:spTree>
    <p:extLst>
      <p:ext uri="{BB962C8B-B14F-4D97-AF65-F5344CB8AC3E}">
        <p14:creationId xmlns:p14="http://schemas.microsoft.com/office/powerpoint/2010/main" val="3493386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Current research aims to reverse-engineer cognitive abilities by developing tools for sighted people to process data like blind individuals. Applications include storytelling, marketing, product design, and creative problem-solving, engaging multiple cognitive channels through sound, touch, spatial reasoning, and logical inference.
Original Content:
Current research projects are literally trying to reverse-engineer this cognitive superpower. Scientists are developing tools that help sighted people experience data and information the way blind people naturally process it—through integrated sound, touch, spatial reasoning, and logical inference.
The applications for storytelling, marketing, product design, and creative problem-solving are enormous. Imagine presentations that engage multiple cognitive channels, stories that create spatial experiences, or brainstorming sessions that deliberately limit visual input to force deeper neural engagement.
</a:t>
            </a:r>
          </a:p>
        </p:txBody>
      </p:sp>
      <p:sp>
        <p:nvSpPr>
          <p:cNvPr id="4" name="Slide Number Placeholder 3"/>
          <p:cNvSpPr>
            <a:spLocks noGrp="1"/>
          </p:cNvSpPr>
          <p:nvPr>
            <p:ph type="sldNum" sz="quarter" idx="5"/>
          </p:nvPr>
        </p:nvSpPr>
        <p:spPr/>
        <p:txBody>
          <a:bodyPr/>
          <a:lstStyle/>
          <a:p>
            <a:fld id="{7D2835AC-F5FC-4A5A-A0E5-863D3539225A}" type="slidenum">
              <a:rPr lang="en-IN" smtClean="0"/>
              <a:t>19</a:t>
            </a:fld>
            <a:endParaRPr lang="en-IN"/>
          </a:p>
        </p:txBody>
      </p:sp>
    </p:spTree>
    <p:extLst>
      <p:ext uri="{BB962C8B-B14F-4D97-AF65-F5344CB8AC3E}">
        <p14:creationId xmlns:p14="http://schemas.microsoft.com/office/powerpoint/2010/main" val="262386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Blind visualisation offers practical techniques for various creative fields. Writers can enhance their descriptions by closing their eyes and focusing on sensory details. Marketers can craft memorable campaigns using multimodal approaches. These techniques can be applied immediately to tackle creative challenges with fresh perspectives.
Original Content:
What This Means for You: Practical Applications
Whether you are a writer struggling to make your descriptions come alive, a marketer trying to craft campaigns that stick in memory, or just someone seeking new ways to approach creative challenges—the science of blind visualisation offers concrete techniques you can apply immediately.
For Writers: Try this experiment. Close your eyes while crafting your next scene. Describe it through temperature, air movement, sound layers, and texture. Notice how your language becomes more precise, your details more specific. Research shows this multimodal approach creates stronger emotional connections with readers.
</a:t>
            </a:r>
          </a:p>
        </p:txBody>
      </p:sp>
      <p:sp>
        <p:nvSpPr>
          <p:cNvPr id="4" name="Slide Number Placeholder 3"/>
          <p:cNvSpPr>
            <a:spLocks noGrp="1"/>
          </p:cNvSpPr>
          <p:nvPr>
            <p:ph type="sldNum" sz="quarter" idx="5"/>
          </p:nvPr>
        </p:nvSpPr>
        <p:spPr/>
        <p:txBody>
          <a:bodyPr/>
          <a:lstStyle/>
          <a:p>
            <a:fld id="{7D2835AC-F5FC-4A5A-A0E5-863D3539225A}" type="slidenum">
              <a:rPr lang="en-IN" smtClean="0"/>
              <a:t>20</a:t>
            </a:fld>
            <a:endParaRPr lang="en-IN"/>
          </a:p>
        </p:txBody>
      </p:sp>
    </p:spTree>
    <p:extLst>
      <p:ext uri="{BB962C8B-B14F-4D97-AF65-F5344CB8AC3E}">
        <p14:creationId xmlns:p14="http://schemas.microsoft.com/office/powerpoint/2010/main" val="722425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Creative professionals should design presentations like music or physical spaces, engaging multiple senses. Studies show multimodal presentations enhance memory retention and accuracy. Incorporate elements that evoke emotions and experiences for a lasting impact.
Original Content:
For Creative Professionals: Build your next presentation like a piece of music or a physical space you can walk through. Not just words and images, but a felt experience that engages multiple senses. Studies suggest multimodal presentations are remembered longer and with greater accuracy.
</a:t>
            </a:r>
          </a:p>
        </p:txBody>
      </p:sp>
      <p:sp>
        <p:nvSpPr>
          <p:cNvPr id="4" name="Slide Number Placeholder 3"/>
          <p:cNvSpPr>
            <a:spLocks noGrp="1"/>
          </p:cNvSpPr>
          <p:nvPr>
            <p:ph type="sldNum" sz="quarter" idx="5"/>
          </p:nvPr>
        </p:nvSpPr>
        <p:spPr/>
        <p:txBody>
          <a:bodyPr/>
          <a:lstStyle/>
          <a:p>
            <a:fld id="{7D2835AC-F5FC-4A5A-A0E5-863D3539225A}" type="slidenum">
              <a:rPr lang="en-IN" smtClean="0"/>
              <a:t>21</a:t>
            </a:fld>
            <a:endParaRPr lang="en-IN"/>
          </a:p>
        </p:txBody>
      </p:sp>
    </p:spTree>
    <p:extLst>
      <p:ext uri="{BB962C8B-B14F-4D97-AF65-F5344CB8AC3E}">
        <p14:creationId xmlns:p14="http://schemas.microsoft.com/office/powerpoint/2010/main" val="1696857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When facing a creative block, switch off your dominant sense. Visual thinkers should try hearing solutions. This cognitive flexibility can lead to breakthrough insights that visual thinking may miss.
Original Content:
For Problem Solvers: When you hit a creative wall, deliberately switch off your dominant sense. If you usually visualise solutions, try "hearing" them instead—what would this problem sound like if it were music? This cognitive flexibility often leads to breakthrough insights that pure visual thinking misses.
</a:t>
            </a:r>
          </a:p>
        </p:txBody>
      </p:sp>
      <p:sp>
        <p:nvSpPr>
          <p:cNvPr id="4" name="Slide Number Placeholder 3"/>
          <p:cNvSpPr>
            <a:spLocks noGrp="1"/>
          </p:cNvSpPr>
          <p:nvPr>
            <p:ph type="sldNum" sz="quarter" idx="5"/>
          </p:nvPr>
        </p:nvSpPr>
        <p:spPr/>
        <p:txBody>
          <a:bodyPr/>
          <a:lstStyle/>
          <a:p>
            <a:fld id="{7D2835AC-F5FC-4A5A-A0E5-863D3539225A}" type="slidenum">
              <a:rPr lang="en-IN" smtClean="0"/>
              <a:t>22</a:t>
            </a:fld>
            <a:endParaRPr lang="en-IN"/>
          </a:p>
        </p:txBody>
      </p:sp>
    </p:spTree>
    <p:extLst>
      <p:ext uri="{BB962C8B-B14F-4D97-AF65-F5344CB8AC3E}">
        <p14:creationId xmlns:p14="http://schemas.microsoft.com/office/powerpoint/2010/main" val="2152549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Developing environmental spatial awareness involves noticing the unique acoustic signatures of rooms, the sensations of surfaces underfoot, and the shifts in air when someone enters a space. This enhanced sensory vocabulary enriches cognitive processes.
Original Content:
For Everyone: Start developing what researchers call "environmental spatial awareness." Notice how different rooms have distinct acoustic signatures, how surfaces feel underfoot, how air shifts when someone enters a space. This enhanced sensory vocabulary will enrich all your cognitive processes.
</a:t>
            </a:r>
          </a:p>
        </p:txBody>
      </p:sp>
      <p:sp>
        <p:nvSpPr>
          <p:cNvPr id="4" name="Slide Number Placeholder 3"/>
          <p:cNvSpPr>
            <a:spLocks noGrp="1"/>
          </p:cNvSpPr>
          <p:nvPr>
            <p:ph type="sldNum" sz="quarter" idx="5"/>
          </p:nvPr>
        </p:nvSpPr>
        <p:spPr/>
        <p:txBody>
          <a:bodyPr/>
          <a:lstStyle/>
          <a:p>
            <a:fld id="{7D2835AC-F5FC-4A5A-A0E5-863D3539225A}" type="slidenum">
              <a:rPr lang="en-IN" smtClean="0"/>
              <a:t>23</a:t>
            </a:fld>
            <a:endParaRPr lang="en-IN"/>
          </a:p>
        </p:txBody>
      </p:sp>
    </p:spTree>
    <p:extLst>
      <p:ext uri="{BB962C8B-B14F-4D97-AF65-F5344CB8AC3E}">
        <p14:creationId xmlns:p14="http://schemas.microsoft.com/office/powerpoint/2010/main" val="4529459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Ancient wisdom and modern science converge in the concept of the third eye. Hindu philosophy's idea of true sight is now backed by neuroscience, showing cognitive perception beyond physical eyes. Blind professionals excel in complex tasks due to enhanced cognitive strategies, proving superior approaches. Recent studies validate the third eye's prescient vision, using spatial reasoning and sensory integration.
Original Content:
The Takeaway: Where Ancient Wisdom Meets Cutting-Edge Science
Your "third eye" is not just religious symbolism—it is neurological reality backed by peer-reviewed research. Science now validates what Hindu philosophy grasped millennia ago: true sight is not about seeing more with your physical eyes, but perceiving differently with your entire cognitive apparatus.
Modern studies demonstrate that blind professionals can analyse complex datasets, navigate spatial challenges, and solve creative problems as effectively as sighted individuals—not despite their blindness, but often because of the enhanced cognitive strategies they develop. These are not inferior workarounds—research increasingly shows they are often superior approaches.
Recent neuroscience reveals that the third eye concept was remarkably prescient: there really is a form of "vision" that operates independently of physical sight, using spatial reasoning, sensory integration, and cognitive mapping to construct complete understanding of reality.
</a:t>
            </a:r>
          </a:p>
        </p:txBody>
      </p:sp>
      <p:sp>
        <p:nvSpPr>
          <p:cNvPr id="4" name="Slide Number Placeholder 3"/>
          <p:cNvSpPr>
            <a:spLocks noGrp="1"/>
          </p:cNvSpPr>
          <p:nvPr>
            <p:ph type="sldNum" sz="quarter" idx="5"/>
          </p:nvPr>
        </p:nvSpPr>
        <p:spPr/>
        <p:txBody>
          <a:bodyPr/>
          <a:lstStyle/>
          <a:p>
            <a:fld id="{7D2835AC-F5FC-4A5A-A0E5-863D3539225A}" type="slidenum">
              <a:rPr lang="en-IN" smtClean="0"/>
              <a:t>24</a:t>
            </a:fld>
            <a:endParaRPr lang="en-IN"/>
          </a:p>
        </p:txBody>
      </p:sp>
    </p:spTree>
    <p:extLst>
      <p:ext uri="{BB962C8B-B14F-4D97-AF65-F5344CB8AC3E}">
        <p14:creationId xmlns:p14="http://schemas.microsoft.com/office/powerpoint/2010/main" val="164515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When facing a creative block, remember that closing your eyes can help you perceive deeper. The third eye represents cognitive vision beyond sensory limits. Mastering this skill can transform your thinking and creativity. Profound insights come from understanding, as both ancient wisdom and modern science confirm.
Original Content:
So the next time you hit a creative wall or find yourself stuck on a problem, remember what both ancient wisdom and modern science confirm: sometimes, closing your eyes is the most effective way to truly see. Not looking harder, but perceiving deeper.
The third eye was never about mystical visions alone—it was about cognitive vision that transcends sensory limitations. And mastering this skill could completely transform how you think, create, and engage with your world.
After all, as our ancestors knew and science now proves: the most profound insights often come not from what we see, but from what we understand.
</a:t>
            </a:r>
          </a:p>
        </p:txBody>
      </p:sp>
      <p:sp>
        <p:nvSpPr>
          <p:cNvPr id="4" name="Slide Number Placeholder 3"/>
          <p:cNvSpPr>
            <a:spLocks noGrp="1"/>
          </p:cNvSpPr>
          <p:nvPr>
            <p:ph type="sldNum" sz="quarter" idx="5"/>
          </p:nvPr>
        </p:nvSpPr>
        <p:spPr/>
        <p:txBody>
          <a:bodyPr/>
          <a:lstStyle/>
          <a:p>
            <a:fld id="{7D2835AC-F5FC-4A5A-A0E5-863D3539225A}" type="slidenum">
              <a:rPr lang="en-IN" smtClean="0"/>
              <a:t>25</a:t>
            </a:fld>
            <a:endParaRPr lang="en-IN"/>
          </a:p>
        </p:txBody>
      </p:sp>
    </p:spTree>
    <p:extLst>
      <p:ext uri="{BB962C8B-B14F-4D97-AF65-F5344CB8AC3E}">
        <p14:creationId xmlns:p14="http://schemas.microsoft.com/office/powerpoint/2010/main" val="2562964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51878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19034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8818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59375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6698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67971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951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22744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90779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69111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6/3/2025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6097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6/3/2025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75283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3AF435-44C8-C44B-9352-ACFA393E2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E8EA5D2-114A-C1D9-1B43-948A9BF79BD3}"/>
              </a:ext>
            </a:extLst>
          </p:cNvPr>
          <p:cNvSpPr>
            <a:spLocks noGrp="1"/>
          </p:cNvSpPr>
          <p:nvPr>
            <p:ph type="ctrTitle"/>
          </p:nvPr>
        </p:nvSpPr>
        <p:spPr>
          <a:xfrm>
            <a:off x="3493826" y="978407"/>
            <a:ext cx="8180339" cy="3296703"/>
          </a:xfrm>
        </p:spPr>
        <p:txBody>
          <a:bodyPr anchor="t">
            <a:normAutofit/>
          </a:bodyPr>
          <a:lstStyle/>
          <a:p>
            <a:r>
              <a:rPr lang="en-IN" sz="6600"/>
              <a:t>Seeing Without Sight</a:t>
            </a:r>
          </a:p>
        </p:txBody>
      </p:sp>
      <p:sp>
        <p:nvSpPr>
          <p:cNvPr id="3" name="Subtitle 2">
            <a:extLst>
              <a:ext uri="{FF2B5EF4-FFF2-40B4-BE49-F238E27FC236}">
                <a16:creationId xmlns:a16="http://schemas.microsoft.com/office/drawing/2014/main" id="{5C01C9A7-C628-311D-5E72-458BECD077AA}"/>
              </a:ext>
            </a:extLst>
          </p:cNvPr>
          <p:cNvSpPr>
            <a:spLocks noGrp="1"/>
          </p:cNvSpPr>
          <p:nvPr>
            <p:ph type="subTitle" idx="1"/>
          </p:nvPr>
        </p:nvSpPr>
        <p:spPr>
          <a:xfrm>
            <a:off x="3493008" y="4469641"/>
            <a:ext cx="8092765" cy="1376976"/>
          </a:xfrm>
        </p:spPr>
        <p:txBody>
          <a:bodyPr anchor="b">
            <a:normAutofit/>
          </a:bodyPr>
          <a:lstStyle/>
          <a:p>
            <a:r>
              <a:rPr lang="en-IN"/>
              <a:t>What Blind Writers Can Teach Us About True Visualisation (And Science Agrees)</a:t>
            </a:r>
          </a:p>
        </p:txBody>
      </p:sp>
      <p:sp>
        <p:nvSpPr>
          <p:cNvPr id="10" name="Rectangle 9">
            <a:extLst>
              <a:ext uri="{FF2B5EF4-FFF2-40B4-BE49-F238E27FC236}">
                <a16:creationId xmlns:a16="http://schemas.microsoft.com/office/drawing/2014/main" id="{9AD8A78E-AAB6-C125-6A57-5B031A873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1401" y="508090"/>
            <a:ext cx="807507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BFC5193-1606-67C6-6571-CC04CF234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1400" y="6209925"/>
            <a:ext cx="810195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2862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3B3EAD-0A74-5448-FE15-BCA08C644D09}"/>
              </a:ext>
            </a:extLst>
          </p:cNvPr>
          <p:cNvSpPr>
            <a:spLocks noGrp="1"/>
          </p:cNvSpPr>
          <p:nvPr>
            <p:ph type="title"/>
          </p:nvPr>
        </p:nvSpPr>
        <p:spPr>
          <a:xfrm>
            <a:off x="521208" y="978408"/>
            <a:ext cx="8732520" cy="1463040"/>
          </a:xfrm>
        </p:spPr>
        <p:txBody>
          <a:bodyPr>
            <a:normAutofit/>
          </a:bodyPr>
          <a:lstStyle/>
          <a:p>
            <a:r>
              <a:rPr lang="en-IN"/>
              <a:t>Agenda</a:t>
            </a:r>
          </a:p>
        </p:txBody>
      </p:sp>
      <p:sp>
        <p:nvSpPr>
          <p:cNvPr id="3" name="Content Placeholder 2">
            <a:extLst>
              <a:ext uri="{FF2B5EF4-FFF2-40B4-BE49-F238E27FC236}">
                <a16:creationId xmlns:a16="http://schemas.microsoft.com/office/drawing/2014/main" id="{E416614B-42D4-F5E8-0156-67BCE4ECAD8D}"/>
              </a:ext>
            </a:extLst>
          </p:cNvPr>
          <p:cNvSpPr>
            <a:spLocks noGrp="1"/>
          </p:cNvSpPr>
          <p:nvPr>
            <p:ph idx="1"/>
          </p:nvPr>
        </p:nvSpPr>
        <p:spPr>
          <a:xfrm>
            <a:off x="521208" y="2578608"/>
            <a:ext cx="8732520" cy="3767328"/>
          </a:xfrm>
        </p:spPr>
        <p:txBody>
          <a:bodyPr>
            <a:normAutofit/>
          </a:bodyPr>
          <a:lstStyle/>
          <a:p>
            <a:pPr>
              <a:lnSpc>
                <a:spcPct val="100000"/>
              </a:lnSpc>
            </a:pPr>
            <a:r>
              <a:rPr lang="en-US"/>
              <a:t>Introduction</a:t>
            </a:r>
          </a:p>
          <a:p>
            <a:pPr>
              <a:lnSpc>
                <a:spcPct val="100000"/>
              </a:lnSpc>
            </a:pPr>
            <a:r>
              <a:rPr lang="en-US"/>
              <a:t>The Mind's Eye</a:t>
            </a:r>
          </a:p>
          <a:p>
            <a:pPr>
              <a:lnSpc>
                <a:spcPct val="100000"/>
              </a:lnSpc>
            </a:pPr>
            <a:r>
              <a:rPr lang="en-US"/>
              <a:t>Sensory Substitution</a:t>
            </a:r>
          </a:p>
          <a:p>
            <a:pPr>
              <a:lnSpc>
                <a:spcPct val="100000"/>
              </a:lnSpc>
            </a:pPr>
            <a:r>
              <a:rPr lang="en-US"/>
              <a:t>Case Studies and Examples</a:t>
            </a:r>
          </a:p>
          <a:p>
            <a:pPr>
              <a:lnSpc>
                <a:spcPct val="100000"/>
              </a:lnSpc>
            </a:pPr>
            <a:r>
              <a:rPr lang="en-US"/>
              <a:t>Proof from Legends</a:t>
            </a:r>
          </a:p>
          <a:p>
            <a:pPr>
              <a:lnSpc>
                <a:spcPct val="100000"/>
              </a:lnSpc>
            </a:pPr>
            <a:r>
              <a:rPr lang="en-US"/>
              <a:t>Multimodal Sensory Processing</a:t>
            </a:r>
          </a:p>
          <a:p>
            <a:pPr>
              <a:lnSpc>
                <a:spcPct val="100000"/>
              </a:lnSpc>
            </a:pPr>
            <a:r>
              <a:rPr lang="en-US"/>
              <a:t>The Blind Advantage</a:t>
            </a:r>
          </a:p>
          <a:p>
            <a:pPr>
              <a:lnSpc>
                <a:spcPct val="100000"/>
              </a:lnSpc>
            </a:pPr>
            <a:r>
              <a:rPr lang="en-US"/>
              <a:t>Practical Applications</a:t>
            </a:r>
          </a:p>
          <a:p>
            <a:pPr>
              <a:lnSpc>
                <a:spcPct val="100000"/>
              </a:lnSpc>
            </a:pPr>
            <a:r>
              <a:rPr lang="en-US"/>
              <a:t>Conclusion</a:t>
            </a:r>
            <a:endParaRPr lang="en-IN"/>
          </a:p>
        </p:txBody>
      </p:sp>
    </p:spTree>
    <p:extLst>
      <p:ext uri="{BB962C8B-B14F-4D97-AF65-F5344CB8AC3E}">
        <p14:creationId xmlns:p14="http://schemas.microsoft.com/office/powerpoint/2010/main" val="273438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625DE28B-EAF8-6988-4247-E599FA75A5B1}"/>
              </a:ext>
            </a:extLst>
          </p:cNvPr>
          <p:cNvSpPr>
            <a:spLocks noGrp="1"/>
          </p:cNvSpPr>
          <p:nvPr>
            <p:ph type="title"/>
          </p:nvPr>
        </p:nvSpPr>
        <p:spPr>
          <a:xfrm>
            <a:off x="521208" y="978408"/>
            <a:ext cx="4754880" cy="1463040"/>
          </a:xfrm>
        </p:spPr>
        <p:txBody>
          <a:bodyPr vert="horz" lIns="91440" tIns="45720" rIns="91440" bIns="45720" rtlCol="0" anchor="t">
            <a:normAutofit/>
          </a:bodyPr>
          <a:lstStyle/>
          <a:p>
            <a:r>
              <a:rPr lang="en-US" b="1" kern="1200">
                <a:solidFill>
                  <a:schemeClr val="tx1"/>
                </a:solidFill>
                <a:latin typeface="+mj-lt"/>
                <a:ea typeface="+mj-ea"/>
                <a:cs typeface="+mj-cs"/>
              </a:rPr>
              <a:t>Visualisation and Ancient Wisdom</a:t>
            </a:r>
          </a:p>
        </p:txBody>
      </p:sp>
      <p:sp>
        <p:nvSpPr>
          <p:cNvPr id="14" name="Rectangle 13">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Content Placeholder 3">
            <a:extLst>
              <a:ext uri="{FF2B5EF4-FFF2-40B4-BE49-F238E27FC236}">
                <a16:creationId xmlns:a16="http://schemas.microsoft.com/office/drawing/2014/main" id="{B878A68C-2FBC-3709-AE16-F1A364001741}"/>
              </a:ext>
            </a:extLst>
          </p:cNvPr>
          <p:cNvSpPr>
            <a:spLocks noGrp="1"/>
          </p:cNvSpPr>
          <p:nvPr>
            <p:ph sz="half" idx="2"/>
          </p:nvPr>
        </p:nvSpPr>
        <p:spPr>
          <a:xfrm>
            <a:off x="521208" y="2578608"/>
            <a:ext cx="4672584" cy="3767328"/>
          </a:xfrm>
        </p:spPr>
        <p:txBody>
          <a:bodyPr vert="horz" lIns="91440" tIns="45720" rIns="91440" bIns="45720" rtlCol="0">
            <a:normAutofit/>
          </a:bodyPr>
          <a:lstStyle/>
          <a:p>
            <a:r>
              <a:rPr lang="en-US"/>
              <a:t>Lord Shiva's Third Eye</a:t>
            </a:r>
          </a:p>
          <a:p>
            <a:pPr lvl="1"/>
            <a:r>
              <a:rPr lang="en-US"/>
              <a:t>Symbolizes seeing beyond the ordinary</a:t>
            </a:r>
          </a:p>
          <a:p>
            <a:pPr lvl="1"/>
            <a:r>
              <a:rPr lang="en-US"/>
              <a:t>Common in traditional Hindu homes</a:t>
            </a:r>
          </a:p>
          <a:p>
            <a:r>
              <a:rPr lang="en-US"/>
              <a:t>Modern Science and Ancient Wisdom</a:t>
            </a:r>
          </a:p>
          <a:p>
            <a:pPr lvl="1"/>
            <a:r>
              <a:rPr lang="en-US"/>
              <a:t>Recent research aligns with ancient beliefs</a:t>
            </a:r>
          </a:p>
          <a:p>
            <a:pPr lvl="1"/>
            <a:r>
              <a:rPr lang="en-US"/>
              <a:t>Blind people can 'visualise' without eyesight</a:t>
            </a:r>
          </a:p>
          <a:p>
            <a:r>
              <a:rPr lang="en-US"/>
              <a:t>Neuroscience Insights</a:t>
            </a:r>
          </a:p>
          <a:p>
            <a:pPr lvl="1"/>
            <a:r>
              <a:rPr lang="en-US"/>
              <a:t>Visualisation without eyesight is scientifically proven</a:t>
            </a:r>
          </a:p>
          <a:p>
            <a:pPr lvl="1"/>
            <a:r>
              <a:rPr lang="en-US"/>
              <a:t>Not mystical, but based on neuroscience</a:t>
            </a:r>
          </a:p>
        </p:txBody>
      </p:sp>
      <p:pic>
        <p:nvPicPr>
          <p:cNvPr id="5" name="Content Placeholder 4" descr="Digital art of brain">
            <a:extLst>
              <a:ext uri="{FF2B5EF4-FFF2-40B4-BE49-F238E27FC236}">
                <a16:creationId xmlns:a16="http://schemas.microsoft.com/office/drawing/2014/main" id="{F4663023-53FC-483A-9D25-371DF17B3AE8}"/>
              </a:ext>
            </a:extLst>
          </p:cNvPr>
          <p:cNvPicPr>
            <a:picLocks noGrp="1" noChangeAspect="1"/>
          </p:cNvPicPr>
          <p:nvPr>
            <p:ph sz="half" idx="1"/>
          </p:nvPr>
        </p:nvPicPr>
        <p:blipFill>
          <a:blip r:embed="rId3"/>
          <a:srcRect l="26544" r="18527"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1855472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4D2EA5-44EB-1C2D-24CE-4EE436980B11}"/>
              </a:ext>
            </a:extLst>
          </p:cNvPr>
          <p:cNvSpPr>
            <a:spLocks noGrp="1"/>
          </p:cNvSpPr>
          <p:nvPr>
            <p:ph type="title"/>
          </p:nvPr>
        </p:nvSpPr>
        <p:spPr>
          <a:xfrm>
            <a:off x="521208" y="978408"/>
            <a:ext cx="8732520" cy="1463040"/>
          </a:xfrm>
        </p:spPr>
        <p:txBody>
          <a:bodyPr>
            <a:normAutofit/>
          </a:bodyPr>
          <a:lstStyle/>
          <a:p>
            <a:r>
              <a:rPr lang="en-IN"/>
              <a:t>Impact on Creativity and Problem-Solving</a:t>
            </a:r>
          </a:p>
        </p:txBody>
      </p:sp>
      <p:sp>
        <p:nvSpPr>
          <p:cNvPr id="3" name="Content Placeholder 2">
            <a:extLst>
              <a:ext uri="{FF2B5EF4-FFF2-40B4-BE49-F238E27FC236}">
                <a16:creationId xmlns:a16="http://schemas.microsoft.com/office/drawing/2014/main" id="{1EEA3E9E-B177-41F7-8BB3-2D8D8909E575}"/>
              </a:ext>
            </a:extLst>
          </p:cNvPr>
          <p:cNvSpPr>
            <a:spLocks noGrp="1"/>
          </p:cNvSpPr>
          <p:nvPr>
            <p:ph idx="1"/>
          </p:nvPr>
        </p:nvSpPr>
        <p:spPr>
          <a:xfrm>
            <a:off x="521208" y="2578608"/>
            <a:ext cx="8732520" cy="3767328"/>
          </a:xfrm>
        </p:spPr>
        <p:txBody>
          <a:bodyPr>
            <a:normAutofit/>
          </a:bodyPr>
          <a:lstStyle/>
          <a:p>
            <a:r>
              <a:rPr lang="en-US"/>
              <a:t>Impact on Creativity</a:t>
            </a:r>
          </a:p>
          <a:p>
            <a:pPr lvl="1"/>
            <a:r>
              <a:rPr lang="en-US"/>
              <a:t>Blind individuals use unique methods to visualize concepts</a:t>
            </a:r>
          </a:p>
          <a:p>
            <a:pPr lvl="1"/>
            <a:r>
              <a:rPr lang="en-US"/>
              <a:t>Can inspire new approaches to creative thinking</a:t>
            </a:r>
          </a:p>
          <a:p>
            <a:r>
              <a:rPr lang="en-US"/>
              <a:t>Enhancing Problem-Solving Skills</a:t>
            </a:r>
          </a:p>
          <a:p>
            <a:pPr lvl="1"/>
            <a:r>
              <a:rPr lang="en-US"/>
              <a:t>Blind people develop alternative strategies to solve problems</a:t>
            </a:r>
          </a:p>
          <a:p>
            <a:pPr lvl="1"/>
            <a:r>
              <a:rPr lang="en-US"/>
              <a:t>These strategies can be adapted to improve general problem-solving</a:t>
            </a:r>
          </a:p>
          <a:p>
            <a:r>
              <a:rPr lang="en-US"/>
              <a:t>Influence on Writing Techniques</a:t>
            </a:r>
          </a:p>
          <a:p>
            <a:pPr lvl="1"/>
            <a:r>
              <a:rPr lang="en-US"/>
              <a:t>Writing can be enriched by understanding blind people's perspectives</a:t>
            </a:r>
          </a:p>
          <a:p>
            <a:pPr lvl="1"/>
            <a:r>
              <a:rPr lang="en-US"/>
              <a:t>Leads to more inclusive and diverse content creation</a:t>
            </a:r>
            <a:endParaRPr lang="en-IN"/>
          </a:p>
        </p:txBody>
      </p:sp>
    </p:spTree>
    <p:extLst>
      <p:ext uri="{BB962C8B-B14F-4D97-AF65-F5344CB8AC3E}">
        <p14:creationId xmlns:p14="http://schemas.microsoft.com/office/powerpoint/2010/main" val="1573753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E53FF5-3EE6-5BF2-FEBF-BA7D6AAFFA8C}"/>
              </a:ext>
            </a:extLst>
          </p:cNvPr>
          <p:cNvSpPr>
            <a:spLocks noGrp="1"/>
          </p:cNvSpPr>
          <p:nvPr>
            <p:ph type="title"/>
          </p:nvPr>
        </p:nvSpPr>
        <p:spPr>
          <a:xfrm>
            <a:off x="521208" y="978408"/>
            <a:ext cx="8732520" cy="1463040"/>
          </a:xfrm>
        </p:spPr>
        <p:txBody>
          <a:bodyPr>
            <a:normAutofit/>
          </a:bodyPr>
          <a:lstStyle/>
          <a:p>
            <a:r>
              <a:rPr lang="en-IN"/>
              <a:t>Concept of the Third Eye</a:t>
            </a:r>
          </a:p>
        </p:txBody>
      </p:sp>
      <p:sp>
        <p:nvSpPr>
          <p:cNvPr id="3" name="Content Placeholder 2">
            <a:extLst>
              <a:ext uri="{FF2B5EF4-FFF2-40B4-BE49-F238E27FC236}">
                <a16:creationId xmlns:a16="http://schemas.microsoft.com/office/drawing/2014/main" id="{C9FF2F36-75AA-C5B1-540F-B09CCB404A22}"/>
              </a:ext>
            </a:extLst>
          </p:cNvPr>
          <p:cNvSpPr>
            <a:spLocks noGrp="1"/>
          </p:cNvSpPr>
          <p:nvPr>
            <p:ph idx="1"/>
          </p:nvPr>
        </p:nvSpPr>
        <p:spPr>
          <a:xfrm>
            <a:off x="521208" y="2578608"/>
            <a:ext cx="8732520" cy="3767328"/>
          </a:xfrm>
        </p:spPr>
        <p:txBody>
          <a:bodyPr>
            <a:normAutofit/>
          </a:bodyPr>
          <a:lstStyle/>
          <a:p>
            <a:r>
              <a:rPr lang="en-US"/>
              <a:t>Concept of the 'third eye'</a:t>
            </a:r>
          </a:p>
          <a:p>
            <a:pPr lvl="1"/>
            <a:r>
              <a:rPr lang="en-US"/>
              <a:t>Known as Agnya Chakra in many cultures</a:t>
            </a:r>
          </a:p>
          <a:p>
            <a:pPr lvl="1"/>
            <a:r>
              <a:rPr lang="en-US"/>
              <a:t>Treated seriously in traditions</a:t>
            </a:r>
          </a:p>
          <a:p>
            <a:r>
              <a:rPr lang="en-US"/>
              <a:t>Studies on visualisation</a:t>
            </a:r>
          </a:p>
          <a:p>
            <a:pPr lvl="1"/>
            <a:r>
              <a:rPr lang="en-US"/>
              <a:t>Fundamentally about spatial reasoning</a:t>
            </a:r>
          </a:p>
          <a:p>
            <a:pPr lvl="1"/>
            <a:r>
              <a:rPr lang="en-US"/>
              <a:t>Not limited to physical sight</a:t>
            </a:r>
          </a:p>
          <a:p>
            <a:r>
              <a:rPr lang="en-US"/>
              <a:t>Blind people's visualisation</a:t>
            </a:r>
          </a:p>
          <a:p>
            <a:pPr lvl="1"/>
            <a:r>
              <a:rPr lang="en-US"/>
              <a:t>Using same cognitive tools as sighted people</a:t>
            </a:r>
          </a:p>
          <a:p>
            <a:pPr lvl="1"/>
            <a:r>
              <a:rPr lang="en-US"/>
              <a:t>Different pathways for visualisation</a:t>
            </a:r>
            <a:endParaRPr lang="en-IN"/>
          </a:p>
        </p:txBody>
      </p:sp>
    </p:spTree>
    <p:extLst>
      <p:ext uri="{BB962C8B-B14F-4D97-AF65-F5344CB8AC3E}">
        <p14:creationId xmlns:p14="http://schemas.microsoft.com/office/powerpoint/2010/main" val="1227899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02F4C6BA-07DE-2CDF-F314-CE4028023FFC}"/>
              </a:ext>
            </a:extLst>
          </p:cNvPr>
          <p:cNvSpPr>
            <a:spLocks noGrp="1"/>
          </p:cNvSpPr>
          <p:nvPr>
            <p:ph type="title"/>
          </p:nvPr>
        </p:nvSpPr>
        <p:spPr>
          <a:xfrm>
            <a:off x="521208" y="978408"/>
            <a:ext cx="3410712" cy="5376672"/>
          </a:xfrm>
        </p:spPr>
        <p:txBody>
          <a:bodyPr>
            <a:normAutofit/>
          </a:bodyPr>
          <a:lstStyle/>
          <a:p>
            <a:r>
              <a:rPr lang="en-IN" sz="4000"/>
              <a:t>Spatial Reasoning in Blind Individuals</a:t>
            </a:r>
          </a:p>
        </p:txBody>
      </p:sp>
      <p:sp>
        <p:nvSpPr>
          <p:cNvPr id="3" name="Content Placeholder 2">
            <a:extLst>
              <a:ext uri="{FF2B5EF4-FFF2-40B4-BE49-F238E27FC236}">
                <a16:creationId xmlns:a16="http://schemas.microsoft.com/office/drawing/2014/main" id="{961B990C-26C0-EE2D-8459-0EC60B832E0B}"/>
              </a:ext>
            </a:extLst>
          </p:cNvPr>
          <p:cNvSpPr>
            <a:spLocks noGrp="1"/>
          </p:cNvSpPr>
          <p:nvPr>
            <p:ph idx="1"/>
          </p:nvPr>
        </p:nvSpPr>
        <p:spPr>
          <a:xfrm>
            <a:off x="4636008" y="1042416"/>
            <a:ext cx="7031736" cy="5312664"/>
          </a:xfrm>
        </p:spPr>
        <p:txBody>
          <a:bodyPr>
            <a:normAutofit/>
          </a:bodyPr>
          <a:lstStyle/>
          <a:p>
            <a:r>
              <a:rPr lang="en-US"/>
              <a:t>Brain Functionality Beyond Vision</a:t>
            </a:r>
          </a:p>
          <a:p>
            <a:pPr lvl="1"/>
            <a:r>
              <a:rPr lang="en-US"/>
              <a:t>Vision is just one aspect of brain function</a:t>
            </a:r>
          </a:p>
          <a:p>
            <a:pPr lvl="1"/>
            <a:r>
              <a:rPr lang="en-US"/>
              <a:t>Other senses and cognitive tools are equally powerful</a:t>
            </a:r>
          </a:p>
          <a:p>
            <a:r>
              <a:rPr lang="en-US"/>
              <a:t>Utilizing All Cognitive Tools</a:t>
            </a:r>
          </a:p>
          <a:p>
            <a:pPr lvl="1"/>
            <a:r>
              <a:rPr lang="en-US"/>
              <a:t>Importance of using all cognitive abilities</a:t>
            </a:r>
          </a:p>
          <a:p>
            <a:pPr lvl="1"/>
            <a:r>
              <a:rPr lang="en-US"/>
              <a:t>Not relying solely on familiar senses</a:t>
            </a:r>
          </a:p>
          <a:p>
            <a:r>
              <a:rPr lang="en-US"/>
              <a:t>Spatial Understanding in Blind Individuals</a:t>
            </a:r>
          </a:p>
          <a:p>
            <a:pPr lvl="1"/>
            <a:r>
              <a:rPr lang="en-US"/>
              <a:t>Blind individuals navigate complex data through touch and sound</a:t>
            </a:r>
          </a:p>
          <a:p>
            <a:pPr lvl="1"/>
            <a:r>
              <a:rPr lang="en-US"/>
              <a:t>Accuracy comparable to sighted individuals using vision</a:t>
            </a:r>
          </a:p>
          <a:p>
            <a:r>
              <a:rPr lang="en-US"/>
              <a:t>Cognitive Excellence</a:t>
            </a:r>
          </a:p>
          <a:p>
            <a:pPr lvl="1"/>
            <a:r>
              <a:rPr lang="en-US"/>
              <a:t>Not merely compensation for lack of vision</a:t>
            </a:r>
          </a:p>
          <a:p>
            <a:pPr lvl="1"/>
            <a:r>
              <a:rPr lang="en-US"/>
              <a:t>Represents advanced cognitive abilities</a:t>
            </a:r>
            <a:endParaRPr lang="en-IN"/>
          </a:p>
        </p:txBody>
      </p:sp>
    </p:spTree>
    <p:extLst>
      <p:ext uri="{BB962C8B-B14F-4D97-AF65-F5344CB8AC3E}">
        <p14:creationId xmlns:p14="http://schemas.microsoft.com/office/powerpoint/2010/main" val="2730582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BD9A85-B32E-5ABA-8780-9BF49C6699E2}"/>
              </a:ext>
            </a:extLst>
          </p:cNvPr>
          <p:cNvSpPr>
            <a:spLocks noGrp="1"/>
          </p:cNvSpPr>
          <p:nvPr>
            <p:ph type="title"/>
          </p:nvPr>
        </p:nvSpPr>
        <p:spPr>
          <a:xfrm>
            <a:off x="521208" y="978408"/>
            <a:ext cx="6300216" cy="1325880"/>
          </a:xfrm>
        </p:spPr>
        <p:txBody>
          <a:bodyPr vert="horz" lIns="91440" tIns="45720" rIns="91440" bIns="45720" rtlCol="0" anchor="t">
            <a:normAutofit/>
          </a:bodyPr>
          <a:lstStyle/>
          <a:p>
            <a:pPr>
              <a:lnSpc>
                <a:spcPct val="90000"/>
              </a:lnSpc>
            </a:pPr>
            <a:r>
              <a:rPr lang="en-US" b="1" kern="1200">
                <a:solidFill>
                  <a:schemeClr val="tx1"/>
                </a:solidFill>
                <a:latin typeface="+mj-lt"/>
                <a:ea typeface="+mj-ea"/>
                <a:cs typeface="+mj-cs"/>
              </a:rPr>
              <a:t>Disclaimer on Meditation</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Person meditating">
            <a:extLst>
              <a:ext uri="{FF2B5EF4-FFF2-40B4-BE49-F238E27FC236}">
                <a16:creationId xmlns:a16="http://schemas.microsoft.com/office/drawing/2014/main" id="{C06C4512-C629-4473-865E-A573BD20A344}"/>
              </a:ext>
            </a:extLst>
          </p:cNvPr>
          <p:cNvPicPr>
            <a:picLocks noGrp="1" noChangeAspect="1"/>
          </p:cNvPicPr>
          <p:nvPr>
            <p:ph sz="half" idx="1"/>
          </p:nvPr>
        </p:nvPicPr>
        <p:blipFill>
          <a:blip r:embed="rId3"/>
          <a:stretch>
            <a:fillRect/>
          </a:stretch>
        </p:blipFill>
        <p:spPr>
          <a:xfrm>
            <a:off x="517867" y="2429691"/>
            <a:ext cx="5889192" cy="3916313"/>
          </a:xfrm>
          <a:prstGeom prst="rect">
            <a:avLst/>
          </a:prstGeom>
        </p:spPr>
      </p:pic>
      <p:sp>
        <p:nvSpPr>
          <p:cNvPr id="4" name="Content Placeholder 3">
            <a:extLst>
              <a:ext uri="{FF2B5EF4-FFF2-40B4-BE49-F238E27FC236}">
                <a16:creationId xmlns:a16="http://schemas.microsoft.com/office/drawing/2014/main" id="{3BE8E7B3-CB79-C10D-BC32-D542D424370A}"/>
              </a:ext>
            </a:extLst>
          </p:cNvPr>
          <p:cNvSpPr>
            <a:spLocks noGrp="1"/>
          </p:cNvSpPr>
          <p:nvPr>
            <p:ph sz="half" idx="2"/>
          </p:nvPr>
        </p:nvSpPr>
        <p:spPr>
          <a:xfrm>
            <a:off x="7507224" y="1088136"/>
            <a:ext cx="4160520" cy="5257800"/>
          </a:xfrm>
        </p:spPr>
        <p:txBody>
          <a:bodyPr vert="horz" lIns="91440" tIns="45720" rIns="91440" bIns="45720" rtlCol="0">
            <a:normAutofit/>
          </a:bodyPr>
          <a:lstStyle/>
          <a:p>
            <a:r>
              <a:rPr lang="en-US"/>
              <a:t>Importance of Proper Guidance</a:t>
            </a:r>
          </a:p>
          <a:p>
            <a:pPr lvl="1"/>
            <a:r>
              <a:rPr lang="en-US"/>
              <a:t>Attempting meditation without guidance is risky</a:t>
            </a:r>
          </a:p>
          <a:p>
            <a:pPr lvl="1"/>
            <a:r>
              <a:rPr lang="en-US"/>
              <a:t>Proper guidance is essential for safe practice</a:t>
            </a:r>
          </a:p>
          <a:p>
            <a:r>
              <a:rPr lang="en-US"/>
              <a:t>Comparison to Brain Surgery</a:t>
            </a:r>
          </a:p>
          <a:p>
            <a:pPr lvl="1"/>
            <a:r>
              <a:rPr lang="en-US"/>
              <a:t>Trying brain surgery after watching Instagram reels is possible</a:t>
            </a:r>
          </a:p>
          <a:p>
            <a:pPr lvl="1"/>
            <a:r>
              <a:rPr lang="en-US"/>
              <a:t>However, it is not sensible</a:t>
            </a:r>
          </a:p>
        </p:txBody>
      </p:sp>
    </p:spTree>
    <p:extLst>
      <p:ext uri="{BB962C8B-B14F-4D97-AF65-F5344CB8AC3E}">
        <p14:creationId xmlns:p14="http://schemas.microsoft.com/office/powerpoint/2010/main" val="3389004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29F897-AAE9-B70F-2B4A-DF909AB135FD}"/>
              </a:ext>
            </a:extLst>
          </p:cNvPr>
          <p:cNvSpPr>
            <a:spLocks noGrp="1"/>
          </p:cNvSpPr>
          <p:nvPr>
            <p:ph type="title"/>
          </p:nvPr>
        </p:nvSpPr>
        <p:spPr>
          <a:xfrm>
            <a:off x="521208" y="978408"/>
            <a:ext cx="6300216" cy="1325880"/>
          </a:xfrm>
        </p:spPr>
        <p:txBody>
          <a:bodyPr vert="horz" lIns="91440" tIns="45720" rIns="91440" bIns="45720" rtlCol="0" anchor="t">
            <a:normAutofit/>
          </a:bodyPr>
          <a:lstStyle/>
          <a:p>
            <a:pPr>
              <a:lnSpc>
                <a:spcPct val="90000"/>
              </a:lnSpc>
            </a:pPr>
            <a:r>
              <a:rPr lang="en-US" b="1" kern="1200">
                <a:solidFill>
                  <a:schemeClr val="tx1"/>
                </a:solidFill>
                <a:latin typeface="+mj-lt"/>
                <a:ea typeface="+mj-ea"/>
                <a:cs typeface="+mj-cs"/>
              </a:rPr>
              <a:t>Science of Sensory Substitution</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Hand touching water">
            <a:extLst>
              <a:ext uri="{FF2B5EF4-FFF2-40B4-BE49-F238E27FC236}">
                <a16:creationId xmlns:a16="http://schemas.microsoft.com/office/drawing/2014/main" id="{3351DF8C-87F0-42D1-88DA-3293F4ADEA2D}"/>
              </a:ext>
            </a:extLst>
          </p:cNvPr>
          <p:cNvPicPr>
            <a:picLocks noGrp="1" noChangeAspect="1"/>
          </p:cNvPicPr>
          <p:nvPr>
            <p:ph sz="half" idx="1"/>
          </p:nvPr>
        </p:nvPicPr>
        <p:blipFill>
          <a:blip r:embed="rId3"/>
          <a:stretch>
            <a:fillRect/>
          </a:stretch>
        </p:blipFill>
        <p:spPr>
          <a:xfrm>
            <a:off x="517867" y="2429691"/>
            <a:ext cx="5867133" cy="3916313"/>
          </a:xfrm>
          <a:prstGeom prst="rect">
            <a:avLst/>
          </a:prstGeom>
        </p:spPr>
      </p:pic>
      <p:sp>
        <p:nvSpPr>
          <p:cNvPr id="4" name="Content Placeholder 3">
            <a:extLst>
              <a:ext uri="{FF2B5EF4-FFF2-40B4-BE49-F238E27FC236}">
                <a16:creationId xmlns:a16="http://schemas.microsoft.com/office/drawing/2014/main" id="{AEDA5B27-17B4-4F70-77EB-A78429B22FEE}"/>
              </a:ext>
            </a:extLst>
          </p:cNvPr>
          <p:cNvSpPr>
            <a:spLocks noGrp="1"/>
          </p:cNvSpPr>
          <p:nvPr>
            <p:ph sz="half" idx="2"/>
          </p:nvPr>
        </p:nvSpPr>
        <p:spPr>
          <a:xfrm>
            <a:off x="7507224" y="1088136"/>
            <a:ext cx="4160520" cy="5257800"/>
          </a:xfrm>
        </p:spPr>
        <p:txBody>
          <a:bodyPr vert="horz" lIns="91440" tIns="45720" rIns="91440" bIns="45720" rtlCol="0">
            <a:normAutofit/>
          </a:bodyPr>
          <a:lstStyle/>
          <a:p>
            <a:r>
              <a:rPr lang="en-US"/>
              <a:t>Sensory Substitution</a:t>
            </a:r>
          </a:p>
          <a:p>
            <a:pPr lvl="1"/>
            <a:r>
              <a:rPr lang="en-US"/>
              <a:t>Brain's ability to convert one type of sensory input into another</a:t>
            </a:r>
          </a:p>
          <a:p>
            <a:pPr lvl="1"/>
            <a:r>
              <a:rPr lang="en-US"/>
              <a:t>Comparable to Google Translate for senses</a:t>
            </a:r>
          </a:p>
          <a:p>
            <a:r>
              <a:rPr lang="en-US"/>
              <a:t>Touch Becomes Sight</a:t>
            </a:r>
          </a:p>
          <a:p>
            <a:pPr lvl="1"/>
            <a:r>
              <a:rPr lang="en-US"/>
              <a:t>Scientists' discovery of sensory substitution</a:t>
            </a:r>
          </a:p>
          <a:p>
            <a:pPr lvl="1"/>
            <a:r>
              <a:rPr lang="en-US"/>
              <a:t>Remarkable adaptability of the brain</a:t>
            </a:r>
          </a:p>
        </p:txBody>
      </p:sp>
    </p:spTree>
    <p:extLst>
      <p:ext uri="{BB962C8B-B14F-4D97-AF65-F5344CB8AC3E}">
        <p14:creationId xmlns:p14="http://schemas.microsoft.com/office/powerpoint/2010/main" val="2877891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1D5E7A-ED7C-146E-5594-ED5A33EE37F8}"/>
              </a:ext>
            </a:extLst>
          </p:cNvPr>
          <p:cNvSpPr>
            <a:spLocks noGrp="1"/>
          </p:cNvSpPr>
          <p:nvPr>
            <p:ph type="title"/>
          </p:nvPr>
        </p:nvSpPr>
        <p:spPr>
          <a:xfrm>
            <a:off x="521208" y="978408"/>
            <a:ext cx="8732520" cy="1463040"/>
          </a:xfrm>
        </p:spPr>
        <p:txBody>
          <a:bodyPr>
            <a:normAutofit/>
          </a:bodyPr>
          <a:lstStyle/>
          <a:p>
            <a:r>
              <a:rPr lang="en-IN"/>
              <a:t>Multimodal Approaches</a:t>
            </a:r>
          </a:p>
        </p:txBody>
      </p:sp>
      <p:sp>
        <p:nvSpPr>
          <p:cNvPr id="3" name="Content Placeholder 2">
            <a:extLst>
              <a:ext uri="{FF2B5EF4-FFF2-40B4-BE49-F238E27FC236}">
                <a16:creationId xmlns:a16="http://schemas.microsoft.com/office/drawing/2014/main" id="{B5356E60-99D9-02A0-5AB7-3D384B28B984}"/>
              </a:ext>
            </a:extLst>
          </p:cNvPr>
          <p:cNvSpPr>
            <a:spLocks noGrp="1"/>
          </p:cNvSpPr>
          <p:nvPr>
            <p:ph idx="1"/>
          </p:nvPr>
        </p:nvSpPr>
        <p:spPr>
          <a:xfrm>
            <a:off x="521208" y="2578608"/>
            <a:ext cx="8732520" cy="3767328"/>
          </a:xfrm>
        </p:spPr>
        <p:txBody>
          <a:bodyPr>
            <a:normAutofit/>
          </a:bodyPr>
          <a:lstStyle/>
          <a:p>
            <a:r>
              <a:rPr lang="en-US"/>
              <a:t>Blind individuals' methods for reading graphs</a:t>
            </a:r>
          </a:p>
          <a:p>
            <a:pPr lvl="1"/>
            <a:r>
              <a:rPr lang="en-US"/>
              <a:t>Touching raised diagrams</a:t>
            </a:r>
          </a:p>
          <a:p>
            <a:pPr lvl="1"/>
            <a:r>
              <a:rPr lang="en-US"/>
              <a:t>Hearing patterns through audio cues</a:t>
            </a:r>
          </a:p>
          <a:p>
            <a:r>
              <a:rPr lang="en-US"/>
              <a:t>Benefits of mixed-sense approaches</a:t>
            </a:r>
          </a:p>
          <a:p>
            <a:pPr lvl="1"/>
            <a:r>
              <a:rPr lang="en-US"/>
              <a:t>Reduced cognitive workload</a:t>
            </a:r>
          </a:p>
          <a:p>
            <a:pPr lvl="1"/>
            <a:r>
              <a:rPr lang="en-US"/>
              <a:t>More efficient use of senses</a:t>
            </a:r>
          </a:p>
          <a:p>
            <a:r>
              <a:rPr lang="en-US"/>
              <a:t>Development of tools for sighted people</a:t>
            </a:r>
          </a:p>
          <a:p>
            <a:pPr lvl="1"/>
            <a:r>
              <a:rPr lang="en-US"/>
              <a:t>Experiencing information through sound, touch, and spatial reasoning</a:t>
            </a:r>
          </a:p>
          <a:p>
            <a:pPr lvl="1"/>
            <a:r>
              <a:rPr lang="en-US"/>
              <a:t>Enhanced understanding and retention</a:t>
            </a:r>
            <a:endParaRPr lang="en-IN"/>
          </a:p>
        </p:txBody>
      </p:sp>
    </p:spTree>
    <p:extLst>
      <p:ext uri="{BB962C8B-B14F-4D97-AF65-F5344CB8AC3E}">
        <p14:creationId xmlns:p14="http://schemas.microsoft.com/office/powerpoint/2010/main" val="3064612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89AA35F-039C-7E3C-2A6C-02161412BBAC}"/>
              </a:ext>
            </a:extLst>
          </p:cNvPr>
          <p:cNvSpPr>
            <a:spLocks noGrp="1"/>
          </p:cNvSpPr>
          <p:nvPr>
            <p:ph type="title"/>
          </p:nvPr>
        </p:nvSpPr>
        <p:spPr>
          <a:xfrm>
            <a:off x="521208" y="978408"/>
            <a:ext cx="11155680" cy="1115568"/>
          </a:xfrm>
        </p:spPr>
        <p:txBody>
          <a:bodyPr vert="horz" lIns="91440" tIns="45720" rIns="91440" bIns="45720" rtlCol="0" anchor="t">
            <a:normAutofit/>
          </a:bodyPr>
          <a:lstStyle/>
          <a:p>
            <a:r>
              <a:rPr lang="en-US" b="1" kern="1200">
                <a:solidFill>
                  <a:schemeClr val="tx1"/>
                </a:solidFill>
                <a:latin typeface="+mj-lt"/>
                <a:ea typeface="+mj-ea"/>
                <a:cs typeface="+mj-cs"/>
              </a:rPr>
              <a:t>Application in Creative Work</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The head symbol inside the brain scribbles a messy line of thought.  mental health concepts and confusion">
            <a:extLst>
              <a:ext uri="{FF2B5EF4-FFF2-40B4-BE49-F238E27FC236}">
                <a16:creationId xmlns:a16="http://schemas.microsoft.com/office/drawing/2014/main" id="{33DBA99F-0CAF-492F-BECF-6C9DCFB6131C}"/>
              </a:ext>
            </a:extLst>
          </p:cNvPr>
          <p:cNvPicPr>
            <a:picLocks noGrp="1" noChangeAspect="1"/>
          </p:cNvPicPr>
          <p:nvPr>
            <p:ph sz="half" idx="1"/>
          </p:nvPr>
        </p:nvPicPr>
        <p:blipFill>
          <a:blip r:embed="rId3"/>
          <a:stretch>
            <a:fillRect/>
          </a:stretch>
        </p:blipFill>
        <p:spPr>
          <a:xfrm>
            <a:off x="622184" y="2299390"/>
            <a:ext cx="5430458" cy="4072844"/>
          </a:xfrm>
          <a:prstGeom prst="rect">
            <a:avLst/>
          </a:prstGeom>
        </p:spPr>
      </p:pic>
      <p:sp>
        <p:nvSpPr>
          <p:cNvPr id="4" name="Content Placeholder 3">
            <a:extLst>
              <a:ext uri="{FF2B5EF4-FFF2-40B4-BE49-F238E27FC236}">
                <a16:creationId xmlns:a16="http://schemas.microsoft.com/office/drawing/2014/main" id="{59906B91-0151-2D76-5539-BC8E1A2E392F}"/>
              </a:ext>
            </a:extLst>
          </p:cNvPr>
          <p:cNvSpPr>
            <a:spLocks noGrp="1"/>
          </p:cNvSpPr>
          <p:nvPr>
            <p:ph sz="half" idx="2"/>
          </p:nvPr>
        </p:nvSpPr>
        <p:spPr>
          <a:xfrm>
            <a:off x="6547104" y="2304288"/>
            <a:ext cx="5129784" cy="4050792"/>
          </a:xfrm>
        </p:spPr>
        <p:txBody>
          <a:bodyPr vert="horz" lIns="91440" tIns="45720" rIns="91440" bIns="45720" rtlCol="0">
            <a:normAutofit/>
          </a:bodyPr>
          <a:lstStyle/>
          <a:p>
            <a:r>
              <a:rPr lang="en-US"/>
              <a:t>Story's Rhythm</a:t>
            </a:r>
          </a:p>
          <a:p>
            <a:pPr lvl="1"/>
            <a:r>
              <a:rPr lang="en-US"/>
              <a:t>Feel the flow and pace of your narrative</a:t>
            </a:r>
          </a:p>
          <a:p>
            <a:r>
              <a:rPr lang="en-US"/>
              <a:t>Emotional Texture</a:t>
            </a:r>
          </a:p>
          <a:p>
            <a:pPr lvl="1"/>
            <a:r>
              <a:rPr lang="en-US"/>
              <a:t>Hear the emotional undertones and nuances</a:t>
            </a:r>
          </a:p>
          <a:p>
            <a:r>
              <a:rPr lang="en-US"/>
              <a:t>Structural Architecture</a:t>
            </a:r>
          </a:p>
          <a:p>
            <a:pPr lvl="1"/>
            <a:r>
              <a:rPr lang="en-US"/>
              <a:t>Sense the framework and organization of your story</a:t>
            </a:r>
          </a:p>
          <a:p>
            <a:r>
              <a:rPr lang="en-US"/>
              <a:t>Neuroscience Backing</a:t>
            </a:r>
          </a:p>
          <a:p>
            <a:pPr lvl="1"/>
            <a:r>
              <a:rPr lang="en-US"/>
              <a:t>Scientific basis for enhancing storytelling</a:t>
            </a:r>
          </a:p>
        </p:txBody>
      </p:sp>
    </p:spTree>
    <p:extLst>
      <p:ext uri="{BB962C8B-B14F-4D97-AF65-F5344CB8AC3E}">
        <p14:creationId xmlns:p14="http://schemas.microsoft.com/office/powerpoint/2010/main" val="2884591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1E38A-E0C2-C8C8-0A8F-D63C8DD57A08}"/>
              </a:ext>
            </a:extLst>
          </p:cNvPr>
          <p:cNvSpPr>
            <a:spLocks noGrp="1"/>
          </p:cNvSpPr>
          <p:nvPr>
            <p:ph type="title"/>
          </p:nvPr>
        </p:nvSpPr>
        <p:spPr>
          <a:xfrm>
            <a:off x="521208" y="978408"/>
            <a:ext cx="8732520" cy="1463040"/>
          </a:xfrm>
        </p:spPr>
        <p:txBody>
          <a:bodyPr>
            <a:normAutofit/>
          </a:bodyPr>
          <a:lstStyle/>
          <a:p>
            <a:r>
              <a:rPr lang="en-IN"/>
              <a:t>The Ferrari Story</a:t>
            </a:r>
          </a:p>
        </p:txBody>
      </p:sp>
      <p:sp>
        <p:nvSpPr>
          <p:cNvPr id="3" name="Content Placeholder 2">
            <a:extLst>
              <a:ext uri="{FF2B5EF4-FFF2-40B4-BE49-F238E27FC236}">
                <a16:creationId xmlns:a16="http://schemas.microsoft.com/office/drawing/2014/main" id="{6CFBE138-0190-3270-063E-2036999B4D64}"/>
              </a:ext>
            </a:extLst>
          </p:cNvPr>
          <p:cNvSpPr>
            <a:spLocks noGrp="1"/>
          </p:cNvSpPr>
          <p:nvPr>
            <p:ph idx="1"/>
          </p:nvPr>
        </p:nvSpPr>
        <p:spPr>
          <a:xfrm>
            <a:off x="521208" y="2578608"/>
            <a:ext cx="8732520" cy="3767328"/>
          </a:xfrm>
        </p:spPr>
        <p:txBody>
          <a:bodyPr>
            <a:normAutofit/>
          </a:bodyPr>
          <a:lstStyle/>
          <a:p>
            <a:r>
              <a:rPr lang="en-US"/>
              <a:t>Motivational Speaker's Story</a:t>
            </a:r>
          </a:p>
          <a:p>
            <a:pPr lvl="1"/>
            <a:r>
              <a:rPr lang="en-US"/>
              <a:t>Skip Ross shared a story about a businessman and his Ferrari poster</a:t>
            </a:r>
          </a:p>
          <a:p>
            <a:pPr lvl="1"/>
            <a:r>
              <a:rPr lang="en-US"/>
              <a:t>Businessman believed he would own the exact Ferrari from the poster</a:t>
            </a:r>
          </a:p>
          <a:p>
            <a:pPr lvl="1"/>
            <a:r>
              <a:rPr lang="en-US"/>
              <a:t>Eventually, he did own that specific Ferrari</a:t>
            </a:r>
          </a:p>
          <a:p>
            <a:r>
              <a:rPr lang="en-US"/>
              <a:t>Science Behind Visualization</a:t>
            </a:r>
          </a:p>
          <a:p>
            <a:pPr lvl="1"/>
            <a:r>
              <a:rPr lang="en-US"/>
              <a:t>Blind people create mental models using sensory integration</a:t>
            </a:r>
          </a:p>
          <a:p>
            <a:pPr lvl="1"/>
            <a:r>
              <a:rPr lang="en-US"/>
              <a:t>They infer colours, shapes, and spatial layouts through logical reasoning</a:t>
            </a:r>
          </a:p>
          <a:p>
            <a:pPr lvl="1"/>
            <a:r>
              <a:rPr lang="en-US"/>
              <a:t>Recent PNAS study supports this phenomenon</a:t>
            </a:r>
            <a:endParaRPr lang="en-IN"/>
          </a:p>
        </p:txBody>
      </p:sp>
    </p:spTree>
    <p:extLst>
      <p:ext uri="{BB962C8B-B14F-4D97-AF65-F5344CB8AC3E}">
        <p14:creationId xmlns:p14="http://schemas.microsoft.com/office/powerpoint/2010/main" val="386367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C616A8-2AF1-D29B-E0D0-A5A947F4395C}"/>
              </a:ext>
            </a:extLst>
          </p:cNvPr>
          <p:cNvSpPr>
            <a:spLocks noGrp="1"/>
          </p:cNvSpPr>
          <p:nvPr>
            <p:ph type="title"/>
          </p:nvPr>
        </p:nvSpPr>
        <p:spPr>
          <a:xfrm>
            <a:off x="521208" y="978408"/>
            <a:ext cx="11155680" cy="1115568"/>
          </a:xfrm>
        </p:spPr>
        <p:txBody>
          <a:bodyPr vert="horz" lIns="91440" tIns="45720" rIns="91440" bIns="45720" rtlCol="0" anchor="t">
            <a:normAutofit/>
          </a:bodyPr>
          <a:lstStyle/>
          <a:p>
            <a:r>
              <a:rPr lang="en-US" b="1" kern="1200">
                <a:solidFill>
                  <a:schemeClr val="tx1"/>
                </a:solidFill>
                <a:latin typeface="+mj-lt"/>
                <a:ea typeface="+mj-ea"/>
                <a:cs typeface="+mj-cs"/>
              </a:rPr>
              <a:t>Cognitive Mapping in Blind Individuals</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Graphic Illustration of human silhouette with red brain collecting puzzle under target sight on blue background">
            <a:extLst>
              <a:ext uri="{FF2B5EF4-FFF2-40B4-BE49-F238E27FC236}">
                <a16:creationId xmlns:a16="http://schemas.microsoft.com/office/drawing/2014/main" id="{23D02C9B-E23A-4F81-AEBC-CF0EAFA88C3A}"/>
              </a:ext>
            </a:extLst>
          </p:cNvPr>
          <p:cNvPicPr>
            <a:picLocks noGrp="1" noChangeAspect="1"/>
          </p:cNvPicPr>
          <p:nvPr>
            <p:ph sz="half" idx="1"/>
          </p:nvPr>
        </p:nvPicPr>
        <p:blipFill>
          <a:blip r:embed="rId3"/>
          <a:stretch>
            <a:fillRect/>
          </a:stretch>
        </p:blipFill>
        <p:spPr>
          <a:xfrm>
            <a:off x="791886" y="2299390"/>
            <a:ext cx="5091055" cy="4072844"/>
          </a:xfrm>
          <a:prstGeom prst="rect">
            <a:avLst/>
          </a:prstGeom>
        </p:spPr>
      </p:pic>
      <p:sp>
        <p:nvSpPr>
          <p:cNvPr id="4" name="Content Placeholder 3">
            <a:extLst>
              <a:ext uri="{FF2B5EF4-FFF2-40B4-BE49-F238E27FC236}">
                <a16:creationId xmlns:a16="http://schemas.microsoft.com/office/drawing/2014/main" id="{876E309B-713A-883D-5795-EC0F5E552708}"/>
              </a:ext>
            </a:extLst>
          </p:cNvPr>
          <p:cNvSpPr>
            <a:spLocks noGrp="1"/>
          </p:cNvSpPr>
          <p:nvPr>
            <p:ph sz="half" idx="2"/>
          </p:nvPr>
        </p:nvSpPr>
        <p:spPr>
          <a:xfrm>
            <a:off x="6547104" y="2304288"/>
            <a:ext cx="5129784" cy="4050792"/>
          </a:xfrm>
        </p:spPr>
        <p:txBody>
          <a:bodyPr vert="horz" lIns="91440" tIns="45720" rIns="91440" bIns="45720" rtlCol="0">
            <a:normAutofit/>
          </a:bodyPr>
          <a:lstStyle/>
          <a:p>
            <a:r>
              <a:rPr lang="en-US"/>
              <a:t>Blind people use cognitive mapping</a:t>
            </a:r>
          </a:p>
          <a:p>
            <a:pPr lvl="1"/>
            <a:r>
              <a:rPr lang="en-US"/>
              <a:t>Build complete pictures from fragments of non-visual information</a:t>
            </a:r>
          </a:p>
          <a:p>
            <a:r>
              <a:rPr lang="en-US"/>
              <a:t>Spatial inference</a:t>
            </a:r>
          </a:p>
          <a:p>
            <a:pPr lvl="1"/>
            <a:r>
              <a:rPr lang="en-US"/>
              <a:t>Understanding surroundings without visual cues</a:t>
            </a:r>
          </a:p>
          <a:p>
            <a:r>
              <a:rPr lang="en-US"/>
              <a:t>Potential benefits for people with perfect eyesight</a:t>
            </a:r>
          </a:p>
          <a:p>
            <a:pPr lvl="1"/>
            <a:r>
              <a:rPr lang="en-US"/>
              <a:t>Could enhance perception and understanding</a:t>
            </a:r>
          </a:p>
        </p:txBody>
      </p:sp>
    </p:spTree>
    <p:extLst>
      <p:ext uri="{BB962C8B-B14F-4D97-AF65-F5344CB8AC3E}">
        <p14:creationId xmlns:p14="http://schemas.microsoft.com/office/powerpoint/2010/main" val="1326849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BD2418-B74F-A52F-0D67-46A549F4A7A3}"/>
              </a:ext>
            </a:extLst>
          </p:cNvPr>
          <p:cNvSpPr>
            <a:spLocks noGrp="1"/>
          </p:cNvSpPr>
          <p:nvPr>
            <p:ph type="title"/>
          </p:nvPr>
        </p:nvSpPr>
        <p:spPr>
          <a:xfrm>
            <a:off x="521208" y="978408"/>
            <a:ext cx="11155680" cy="1115568"/>
          </a:xfrm>
        </p:spPr>
        <p:txBody>
          <a:bodyPr vert="horz" lIns="91440" tIns="45720" rIns="91440" bIns="45720" rtlCol="0" anchor="t">
            <a:normAutofit/>
          </a:bodyPr>
          <a:lstStyle/>
          <a:p>
            <a:r>
              <a:rPr lang="en-US" b="1" kern="1200">
                <a:solidFill>
                  <a:schemeClr val="tx1"/>
                </a:solidFill>
                <a:latin typeface="+mj-lt"/>
                <a:ea typeface="+mj-ea"/>
                <a:cs typeface="+mj-cs"/>
              </a:rPr>
              <a:t>Blind Detectives</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Thoughtful man peaking out of his window.">
            <a:extLst>
              <a:ext uri="{FF2B5EF4-FFF2-40B4-BE49-F238E27FC236}">
                <a16:creationId xmlns:a16="http://schemas.microsoft.com/office/drawing/2014/main" id="{DE71B834-0E6E-4C1E-B089-040A1197DBB0}"/>
              </a:ext>
            </a:extLst>
          </p:cNvPr>
          <p:cNvPicPr>
            <a:picLocks noGrp="1" noChangeAspect="1"/>
          </p:cNvPicPr>
          <p:nvPr>
            <p:ph sz="half" idx="1"/>
          </p:nvPr>
        </p:nvPicPr>
        <p:blipFill>
          <a:blip r:embed="rId3"/>
          <a:stretch>
            <a:fillRect/>
          </a:stretch>
        </p:blipFill>
        <p:spPr>
          <a:xfrm>
            <a:off x="517868" y="2425570"/>
            <a:ext cx="5639091" cy="3820484"/>
          </a:xfrm>
          <a:prstGeom prst="rect">
            <a:avLst/>
          </a:prstGeom>
        </p:spPr>
      </p:pic>
      <p:sp>
        <p:nvSpPr>
          <p:cNvPr id="4" name="Content Placeholder 3">
            <a:extLst>
              <a:ext uri="{FF2B5EF4-FFF2-40B4-BE49-F238E27FC236}">
                <a16:creationId xmlns:a16="http://schemas.microsoft.com/office/drawing/2014/main" id="{492575A2-7777-6F9A-EA18-4388F93B652A}"/>
              </a:ext>
            </a:extLst>
          </p:cNvPr>
          <p:cNvSpPr>
            <a:spLocks noGrp="1"/>
          </p:cNvSpPr>
          <p:nvPr>
            <p:ph sz="half" idx="2"/>
          </p:nvPr>
        </p:nvSpPr>
        <p:spPr>
          <a:xfrm>
            <a:off x="6547104" y="2304288"/>
            <a:ext cx="5129784" cy="4050792"/>
          </a:xfrm>
        </p:spPr>
        <p:txBody>
          <a:bodyPr vert="horz" lIns="91440" tIns="45720" rIns="91440" bIns="45720" rtlCol="0">
            <a:normAutofit/>
          </a:bodyPr>
          <a:lstStyle/>
          <a:p>
            <a:r>
              <a:rPr lang="en-US"/>
              <a:t>Blind people as master detectives</a:t>
            </a:r>
          </a:p>
          <a:p>
            <a:pPr lvl="1"/>
            <a:r>
              <a:rPr lang="en-US"/>
              <a:t>Operate at Sherlock Holmes level</a:t>
            </a:r>
          </a:p>
          <a:p>
            <a:pPr lvl="1"/>
            <a:r>
              <a:rPr lang="en-US"/>
              <a:t>Elite-level cognitive mapping skills</a:t>
            </a:r>
          </a:p>
          <a:p>
            <a:r>
              <a:rPr lang="en-US"/>
              <a:t>Identifying locations through sound</a:t>
            </a:r>
          </a:p>
          <a:p>
            <a:pPr lvl="1"/>
            <a:r>
              <a:rPr lang="en-US"/>
              <a:t>Door creaks indicate specific rooms</a:t>
            </a:r>
          </a:p>
          <a:p>
            <a:pPr lvl="1"/>
            <a:r>
              <a:rPr lang="en-US"/>
              <a:t>Floor texture changes signal different areas</a:t>
            </a:r>
          </a:p>
          <a:p>
            <a:r>
              <a:rPr lang="en-US"/>
              <a:t>Using air movement to detect presence</a:t>
            </a:r>
          </a:p>
          <a:p>
            <a:pPr lvl="1"/>
            <a:r>
              <a:rPr lang="en-US"/>
              <a:t>Air movement indicates someone entering the room</a:t>
            </a:r>
          </a:p>
        </p:txBody>
      </p:sp>
    </p:spTree>
    <p:extLst>
      <p:ext uri="{BB962C8B-B14F-4D97-AF65-F5344CB8AC3E}">
        <p14:creationId xmlns:p14="http://schemas.microsoft.com/office/powerpoint/2010/main" val="3896588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FF102DC-4C17-BC70-AA92-32ED1C92EA27}"/>
              </a:ext>
            </a:extLst>
          </p:cNvPr>
          <p:cNvSpPr>
            <a:spLocks noGrp="1"/>
          </p:cNvSpPr>
          <p:nvPr>
            <p:ph type="title"/>
          </p:nvPr>
        </p:nvSpPr>
        <p:spPr>
          <a:xfrm>
            <a:off x="521208" y="978408"/>
            <a:ext cx="3410712" cy="5376672"/>
          </a:xfrm>
        </p:spPr>
        <p:txBody>
          <a:bodyPr>
            <a:normAutofit/>
          </a:bodyPr>
          <a:lstStyle/>
          <a:p>
            <a:r>
              <a:rPr lang="en-IN" sz="4000"/>
              <a:t>Helen Keller and John Milton</a:t>
            </a:r>
          </a:p>
        </p:txBody>
      </p:sp>
      <p:sp>
        <p:nvSpPr>
          <p:cNvPr id="3" name="Content Placeholder 2">
            <a:extLst>
              <a:ext uri="{FF2B5EF4-FFF2-40B4-BE49-F238E27FC236}">
                <a16:creationId xmlns:a16="http://schemas.microsoft.com/office/drawing/2014/main" id="{7D3C6468-5212-DD55-4D24-B594D106A6AE}"/>
              </a:ext>
            </a:extLst>
          </p:cNvPr>
          <p:cNvSpPr>
            <a:spLocks noGrp="1"/>
          </p:cNvSpPr>
          <p:nvPr>
            <p:ph idx="1"/>
          </p:nvPr>
        </p:nvSpPr>
        <p:spPr>
          <a:xfrm>
            <a:off x="4636008" y="1042416"/>
            <a:ext cx="7031736" cy="5312664"/>
          </a:xfrm>
        </p:spPr>
        <p:txBody>
          <a:bodyPr>
            <a:normAutofit/>
          </a:bodyPr>
          <a:lstStyle/>
          <a:p>
            <a:r>
              <a:rPr lang="en-US"/>
              <a:t>Imagination without Eyesight</a:t>
            </a:r>
          </a:p>
          <a:p>
            <a:pPr lvl="1"/>
            <a:r>
              <a:rPr lang="en-US"/>
              <a:t>Helen Keller and John Milton as case studies</a:t>
            </a:r>
          </a:p>
          <a:p>
            <a:r>
              <a:rPr lang="en-US"/>
              <a:t>Helen Keller's The Story of My Life</a:t>
            </a:r>
          </a:p>
          <a:p>
            <a:pPr lvl="1"/>
            <a:r>
              <a:rPr lang="en-US"/>
              <a:t>Vivid scenes used in spatial cognition research</a:t>
            </a:r>
          </a:p>
          <a:p>
            <a:pPr lvl="1"/>
            <a:r>
              <a:rPr lang="en-US"/>
              <a:t>Superior sensory integration</a:t>
            </a:r>
          </a:p>
          <a:p>
            <a:r>
              <a:rPr lang="en-US"/>
              <a:t>John Milton's Paradise Lost</a:t>
            </a:r>
          </a:p>
          <a:p>
            <a:pPr lvl="1"/>
            <a:r>
              <a:rPr lang="en-US"/>
              <a:t>Evocative passages written after blindness</a:t>
            </a:r>
          </a:p>
          <a:p>
            <a:pPr lvl="1"/>
            <a:r>
              <a:rPr lang="en-US"/>
              <a:t>Advanced spatial visualisation techniques</a:t>
            </a:r>
          </a:p>
          <a:p>
            <a:r>
              <a:rPr lang="en-US"/>
              <a:t>Imagination through spatial reasoning</a:t>
            </a:r>
          </a:p>
          <a:p>
            <a:pPr lvl="1"/>
            <a:r>
              <a:rPr lang="en-US"/>
              <a:t>Rich, detailed environments</a:t>
            </a:r>
          </a:p>
          <a:p>
            <a:pPr lvl="1"/>
            <a:r>
              <a:rPr lang="en-US"/>
              <a:t>Sophisticated neural pathways</a:t>
            </a:r>
            <a:endParaRPr lang="en-IN"/>
          </a:p>
        </p:txBody>
      </p:sp>
    </p:spTree>
    <p:extLst>
      <p:ext uri="{BB962C8B-B14F-4D97-AF65-F5344CB8AC3E}">
        <p14:creationId xmlns:p14="http://schemas.microsoft.com/office/powerpoint/2010/main" val="2789572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FC166AB4-7239-EC3E-3E23-F902A76076AE}"/>
              </a:ext>
            </a:extLst>
          </p:cNvPr>
          <p:cNvSpPr>
            <a:spLocks noGrp="1"/>
          </p:cNvSpPr>
          <p:nvPr>
            <p:ph type="title"/>
          </p:nvPr>
        </p:nvSpPr>
        <p:spPr>
          <a:xfrm>
            <a:off x="521208" y="978408"/>
            <a:ext cx="4754880" cy="1463040"/>
          </a:xfrm>
        </p:spPr>
        <p:txBody>
          <a:bodyPr vert="horz" lIns="91440" tIns="45720" rIns="91440" bIns="45720" rtlCol="0" anchor="t">
            <a:normAutofit/>
          </a:bodyPr>
          <a:lstStyle/>
          <a:p>
            <a:pPr>
              <a:lnSpc>
                <a:spcPct val="90000"/>
              </a:lnSpc>
            </a:pPr>
            <a:r>
              <a:rPr lang="en-US" sz="3400" b="1" kern="1200">
                <a:solidFill>
                  <a:schemeClr val="tx1"/>
                </a:solidFill>
                <a:latin typeface="+mj-lt"/>
                <a:ea typeface="+mj-ea"/>
                <a:cs typeface="+mj-cs"/>
              </a:rPr>
              <a:t>Modern Neuroscience Confirmation</a:t>
            </a:r>
          </a:p>
        </p:txBody>
      </p:sp>
      <p:sp>
        <p:nvSpPr>
          <p:cNvPr id="14" name="Rectangle 13">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Content Placeholder 3">
            <a:extLst>
              <a:ext uri="{FF2B5EF4-FFF2-40B4-BE49-F238E27FC236}">
                <a16:creationId xmlns:a16="http://schemas.microsoft.com/office/drawing/2014/main" id="{A506CAB2-6B78-7546-9EE5-B2D6018E983F}"/>
              </a:ext>
            </a:extLst>
          </p:cNvPr>
          <p:cNvSpPr>
            <a:spLocks noGrp="1"/>
          </p:cNvSpPr>
          <p:nvPr>
            <p:ph sz="half" idx="2"/>
          </p:nvPr>
        </p:nvSpPr>
        <p:spPr>
          <a:xfrm>
            <a:off x="521208" y="2578608"/>
            <a:ext cx="4672584" cy="3767328"/>
          </a:xfrm>
        </p:spPr>
        <p:txBody>
          <a:bodyPr vert="horz" lIns="91440" tIns="45720" rIns="91440" bIns="45720" rtlCol="0">
            <a:normAutofit/>
          </a:bodyPr>
          <a:lstStyle/>
          <a:p>
            <a:r>
              <a:rPr lang="en-US"/>
              <a:t>Modern neuroscience findings</a:t>
            </a:r>
          </a:p>
          <a:p>
            <a:pPr lvl="1"/>
            <a:r>
              <a:rPr lang="en-US"/>
              <a:t>Confirming ancient seers' knowledge</a:t>
            </a:r>
          </a:p>
          <a:p>
            <a:pPr lvl="1"/>
            <a:r>
              <a:rPr lang="en-US"/>
              <a:t>Literary greats' understanding</a:t>
            </a:r>
          </a:p>
          <a:p>
            <a:r>
              <a:rPr lang="en-US"/>
              <a:t>True visualisation</a:t>
            </a:r>
          </a:p>
          <a:p>
            <a:pPr lvl="1"/>
            <a:r>
              <a:rPr lang="en-US"/>
              <a:t>Involves spatial processing</a:t>
            </a:r>
          </a:p>
          <a:p>
            <a:pPr lvl="1"/>
            <a:r>
              <a:rPr lang="en-US"/>
              <a:t>Involves cognitive processing</a:t>
            </a:r>
          </a:p>
          <a:p>
            <a:r>
              <a:rPr lang="en-US"/>
              <a:t>The third eye concept</a:t>
            </a:r>
          </a:p>
          <a:p>
            <a:pPr lvl="1"/>
            <a:r>
              <a:rPr lang="en-US"/>
              <a:t>Not about physical vision</a:t>
            </a:r>
          </a:p>
          <a:p>
            <a:pPr lvl="1"/>
            <a:r>
              <a:rPr lang="en-US"/>
              <a:t>About perception beyond sensory limitations</a:t>
            </a:r>
          </a:p>
        </p:txBody>
      </p:sp>
      <p:pic>
        <p:nvPicPr>
          <p:cNvPr id="5" name="Content Placeholder 4" descr="Brain made out of yellow balls">
            <a:extLst>
              <a:ext uri="{FF2B5EF4-FFF2-40B4-BE49-F238E27FC236}">
                <a16:creationId xmlns:a16="http://schemas.microsoft.com/office/drawing/2014/main" id="{FCE75DE2-94AB-4892-AAEA-C9B40B68E598}"/>
              </a:ext>
            </a:extLst>
          </p:cNvPr>
          <p:cNvPicPr>
            <a:picLocks noGrp="1" noChangeAspect="1"/>
          </p:cNvPicPr>
          <p:nvPr>
            <p:ph sz="half" idx="1"/>
          </p:nvPr>
        </p:nvPicPr>
        <p:blipFill>
          <a:blip r:embed="rId3"/>
          <a:srcRect l="16751" r="14892"/>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161366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A7BA11F-E132-920D-948C-6FA0252BFEB7}"/>
              </a:ext>
            </a:extLst>
          </p:cNvPr>
          <p:cNvSpPr>
            <a:spLocks noGrp="1"/>
          </p:cNvSpPr>
          <p:nvPr>
            <p:ph type="title"/>
          </p:nvPr>
        </p:nvSpPr>
        <p:spPr>
          <a:xfrm>
            <a:off x="521208" y="978408"/>
            <a:ext cx="3410712" cy="5376672"/>
          </a:xfrm>
        </p:spPr>
        <p:txBody>
          <a:bodyPr>
            <a:normAutofit/>
          </a:bodyPr>
          <a:lstStyle/>
          <a:p>
            <a:r>
              <a:rPr lang="en-IN" sz="4000"/>
              <a:t>Creating Sensory Architecture</a:t>
            </a:r>
          </a:p>
        </p:txBody>
      </p:sp>
      <p:sp>
        <p:nvSpPr>
          <p:cNvPr id="3" name="Content Placeholder 2">
            <a:extLst>
              <a:ext uri="{FF2B5EF4-FFF2-40B4-BE49-F238E27FC236}">
                <a16:creationId xmlns:a16="http://schemas.microsoft.com/office/drawing/2014/main" id="{A108BBC1-E28B-993D-F7BE-146C3AEB09FC}"/>
              </a:ext>
            </a:extLst>
          </p:cNvPr>
          <p:cNvSpPr>
            <a:spLocks noGrp="1"/>
          </p:cNvSpPr>
          <p:nvPr>
            <p:ph idx="1"/>
          </p:nvPr>
        </p:nvSpPr>
        <p:spPr>
          <a:xfrm>
            <a:off x="4636008" y="1042416"/>
            <a:ext cx="7031736" cy="5312664"/>
          </a:xfrm>
        </p:spPr>
        <p:txBody>
          <a:bodyPr>
            <a:normAutofit/>
          </a:bodyPr>
          <a:lstStyle/>
          <a:p>
            <a:r>
              <a:rPr lang="en-US"/>
              <a:t>Multimodal Sensory Processing in Writing</a:t>
            </a:r>
          </a:p>
          <a:p>
            <a:pPr lvl="1"/>
            <a:r>
              <a:rPr lang="en-US"/>
              <a:t>Engages multiple cognitive channels simultaneously</a:t>
            </a:r>
          </a:p>
          <a:p>
            <a:pPr lvl="1"/>
            <a:r>
              <a:rPr lang="en-US"/>
              <a:t>Creates experiences rather than mere descriptions</a:t>
            </a:r>
          </a:p>
          <a:p>
            <a:r>
              <a:rPr lang="en-US"/>
              <a:t>Blind Writers' Unique Approach</a:t>
            </a:r>
          </a:p>
          <a:p>
            <a:pPr lvl="1"/>
            <a:r>
              <a:rPr lang="en-US"/>
              <a:t>Reconstruct scenes through spatial positioning</a:t>
            </a:r>
          </a:p>
          <a:p>
            <a:pPr lvl="1"/>
            <a:r>
              <a:rPr lang="en-US"/>
              <a:t>Utilize auditory mapping for footstep patterns</a:t>
            </a:r>
          </a:p>
          <a:p>
            <a:pPr lvl="1"/>
            <a:r>
              <a:rPr lang="en-US"/>
              <a:t>Employ tactile awareness for air pressure changes</a:t>
            </a:r>
          </a:p>
          <a:p>
            <a:pPr lvl="1"/>
            <a:r>
              <a:rPr lang="en-US"/>
              <a:t>Incorporate emotional geography for expanding silence</a:t>
            </a:r>
          </a:p>
          <a:p>
            <a:r>
              <a:rPr lang="en-US"/>
              <a:t>Impact of Sensory Architecture</a:t>
            </a:r>
          </a:p>
          <a:p>
            <a:pPr lvl="1"/>
            <a:r>
              <a:rPr lang="en-US"/>
              <a:t>Results in vivid and emotionally resonant descriptions</a:t>
            </a:r>
          </a:p>
          <a:p>
            <a:pPr lvl="1"/>
            <a:r>
              <a:rPr lang="en-US"/>
              <a:t>Often feels more complete than purely visual accounts</a:t>
            </a:r>
            <a:endParaRPr lang="en-IN"/>
          </a:p>
        </p:txBody>
      </p:sp>
    </p:spTree>
    <p:extLst>
      <p:ext uri="{BB962C8B-B14F-4D97-AF65-F5344CB8AC3E}">
        <p14:creationId xmlns:p14="http://schemas.microsoft.com/office/powerpoint/2010/main" val="3182459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0AD9AE3-5B09-E147-093A-A99BA667A535}"/>
              </a:ext>
            </a:extLst>
          </p:cNvPr>
          <p:cNvSpPr>
            <a:spLocks noGrp="1"/>
          </p:cNvSpPr>
          <p:nvPr>
            <p:ph type="title"/>
          </p:nvPr>
        </p:nvSpPr>
        <p:spPr>
          <a:xfrm>
            <a:off x="521208" y="978408"/>
            <a:ext cx="6281928" cy="1463040"/>
          </a:xfrm>
        </p:spPr>
        <p:txBody>
          <a:bodyPr vert="horz" lIns="91440" tIns="45720" rIns="91440" bIns="45720" rtlCol="0" anchor="t">
            <a:normAutofit/>
          </a:bodyPr>
          <a:lstStyle/>
          <a:p>
            <a:r>
              <a:rPr lang="en-US" b="1" kern="1200">
                <a:solidFill>
                  <a:schemeClr val="tx1"/>
                </a:solidFill>
                <a:latin typeface="+mj-lt"/>
                <a:ea typeface="+mj-ea"/>
                <a:cs typeface="+mj-cs"/>
              </a:rPr>
              <a:t>Engaging Multiple Cognitive Channels</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5BE42640-DFDA-04A0-53BE-1EBA583637F4}"/>
              </a:ext>
            </a:extLst>
          </p:cNvPr>
          <p:cNvSpPr>
            <a:spLocks noGrp="1"/>
          </p:cNvSpPr>
          <p:nvPr>
            <p:ph sz="half" idx="2"/>
          </p:nvPr>
        </p:nvSpPr>
        <p:spPr>
          <a:xfrm>
            <a:off x="521208" y="2578608"/>
            <a:ext cx="6281928" cy="3767328"/>
          </a:xfrm>
        </p:spPr>
        <p:txBody>
          <a:bodyPr vert="horz" lIns="91440" tIns="45720" rIns="91440" bIns="45720" rtlCol="0">
            <a:normAutofit/>
          </a:bodyPr>
          <a:lstStyle/>
          <a:p>
            <a:r>
              <a:rPr lang="en-US"/>
              <a:t>Utilizing Cognitive Channels</a:t>
            </a:r>
          </a:p>
          <a:p>
            <a:pPr lvl="1"/>
            <a:r>
              <a:rPr lang="en-US"/>
              <a:t>Importance of engaging all senses</a:t>
            </a:r>
          </a:p>
          <a:p>
            <a:pPr lvl="1"/>
            <a:r>
              <a:rPr lang="en-US"/>
              <a:t>Potential depths to discover</a:t>
            </a:r>
          </a:p>
          <a:p>
            <a:r>
              <a:rPr lang="en-US"/>
              <a:t>Defaulting to Visual</a:t>
            </a:r>
          </a:p>
          <a:p>
            <a:pPr lvl="1"/>
            <a:r>
              <a:rPr lang="en-US"/>
              <a:t>Common tendency in creation</a:t>
            </a:r>
          </a:p>
          <a:p>
            <a:pPr lvl="1"/>
            <a:r>
              <a:rPr lang="en-US"/>
              <a:t>Limitations of relying solely on visual</a:t>
            </a:r>
          </a:p>
          <a:p>
            <a:r>
              <a:rPr lang="en-US"/>
              <a:t>Deliberate Engagement</a:t>
            </a:r>
          </a:p>
          <a:p>
            <a:pPr lvl="1"/>
            <a:r>
              <a:rPr lang="en-US"/>
              <a:t>Actively using other senses</a:t>
            </a:r>
          </a:p>
          <a:p>
            <a:pPr lvl="1"/>
            <a:r>
              <a:rPr lang="en-US"/>
              <a:t>Enhancing creative process</a:t>
            </a:r>
          </a:p>
        </p:txBody>
      </p:sp>
      <p:pic>
        <p:nvPicPr>
          <p:cNvPr id="5" name="Content Placeholder 4" descr="A beaded butterfly in the hands of a girl and items for beadwork on the table. Development of creative skills and fine motor skills for children. Top and vertical view.">
            <a:extLst>
              <a:ext uri="{FF2B5EF4-FFF2-40B4-BE49-F238E27FC236}">
                <a16:creationId xmlns:a16="http://schemas.microsoft.com/office/drawing/2014/main" id="{4DEA75BA-6F51-429E-9E36-23C9651A22B9}"/>
              </a:ext>
            </a:extLst>
          </p:cNvPr>
          <p:cNvPicPr>
            <a:picLocks noGrp="1" noChangeAspect="1"/>
          </p:cNvPicPr>
          <p:nvPr>
            <p:ph sz="half" idx="1"/>
          </p:nvPr>
        </p:nvPicPr>
        <p:blipFill>
          <a:blip r:embed="rId3"/>
          <a:stretch>
            <a:fillRect/>
          </a:stretch>
        </p:blipFill>
        <p:spPr>
          <a:xfrm>
            <a:off x="7545792" y="508090"/>
            <a:ext cx="3900213" cy="5843016"/>
          </a:xfrm>
          <a:prstGeom prst="rect">
            <a:avLst/>
          </a:prstGeom>
        </p:spPr>
      </p:pic>
    </p:spTree>
    <p:extLst>
      <p:ext uri="{BB962C8B-B14F-4D97-AF65-F5344CB8AC3E}">
        <p14:creationId xmlns:p14="http://schemas.microsoft.com/office/powerpoint/2010/main" val="915719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A0CE6C2-01FB-66A3-8FBA-F2F56580DC2F}"/>
              </a:ext>
            </a:extLst>
          </p:cNvPr>
          <p:cNvSpPr>
            <a:spLocks noGrp="1"/>
          </p:cNvSpPr>
          <p:nvPr>
            <p:ph type="title"/>
          </p:nvPr>
        </p:nvSpPr>
        <p:spPr>
          <a:xfrm>
            <a:off x="6995160" y="978408"/>
            <a:ext cx="4745736" cy="1463040"/>
          </a:xfrm>
        </p:spPr>
        <p:txBody>
          <a:bodyPr vert="horz" lIns="91440" tIns="45720" rIns="91440" bIns="45720" rtlCol="0" anchor="t">
            <a:normAutofit/>
          </a:bodyPr>
          <a:lstStyle/>
          <a:p>
            <a:r>
              <a:rPr lang="en-US" b="1" kern="1200">
                <a:solidFill>
                  <a:schemeClr val="tx1"/>
                </a:solidFill>
                <a:latin typeface="+mj-lt"/>
                <a:ea typeface="+mj-ea"/>
                <a:cs typeface="+mj-cs"/>
              </a:rPr>
              <a:t>Neuroscience Insights</a:t>
            </a:r>
          </a:p>
        </p:txBody>
      </p:sp>
      <p:pic>
        <p:nvPicPr>
          <p:cNvPr id="5" name="Content Placeholder 4" descr="Smiling young African American woman in white shirt looking at colorful brain sketch with gears drawn on concrete wall. Concept of brainstorming">
            <a:extLst>
              <a:ext uri="{FF2B5EF4-FFF2-40B4-BE49-F238E27FC236}">
                <a16:creationId xmlns:a16="http://schemas.microsoft.com/office/drawing/2014/main" id="{7259DBE7-C48F-4597-BAED-6679FE4912A7}"/>
              </a:ext>
            </a:extLst>
          </p:cNvPr>
          <p:cNvPicPr>
            <a:picLocks noGrp="1" noChangeAspect="1"/>
          </p:cNvPicPr>
          <p:nvPr>
            <p:ph sz="half" idx="1"/>
          </p:nvPr>
        </p:nvPicPr>
        <p:blipFill>
          <a:blip r:embed="rId3"/>
          <a:srcRect r="28275" b="1"/>
          <a:stretch>
            <a:fillRect/>
          </a:stretch>
        </p:blipFill>
        <p:spPr>
          <a:xfrm>
            <a:off x="517868" y="508090"/>
            <a:ext cx="5705856" cy="5846990"/>
          </a:xfrm>
          <a:prstGeom prst="rect">
            <a:avLst/>
          </a:prstGeom>
        </p:spPr>
      </p:pic>
      <p:sp>
        <p:nvSpPr>
          <p:cNvPr id="14" name="Freeform: Shape 13">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Content Placeholder 3">
            <a:extLst>
              <a:ext uri="{FF2B5EF4-FFF2-40B4-BE49-F238E27FC236}">
                <a16:creationId xmlns:a16="http://schemas.microsoft.com/office/drawing/2014/main" id="{5B827663-5A1C-8D44-B31F-7FEA250D8BD2}"/>
              </a:ext>
            </a:extLst>
          </p:cNvPr>
          <p:cNvSpPr>
            <a:spLocks noGrp="1"/>
          </p:cNvSpPr>
          <p:nvPr>
            <p:ph sz="half" idx="2"/>
          </p:nvPr>
        </p:nvSpPr>
        <p:spPr>
          <a:xfrm>
            <a:off x="6995160" y="2578608"/>
            <a:ext cx="4672584" cy="3767328"/>
          </a:xfrm>
        </p:spPr>
        <p:txBody>
          <a:bodyPr vert="horz" lIns="91440" tIns="45720" rIns="91440" bIns="45720" rtlCol="0">
            <a:normAutofit/>
          </a:bodyPr>
          <a:lstStyle/>
          <a:p>
            <a:pPr>
              <a:lnSpc>
                <a:spcPct val="100000"/>
              </a:lnSpc>
            </a:pPr>
            <a:r>
              <a:rPr lang="en-US" sz="1500"/>
              <a:t>Visual Acuity in Sighted People</a:t>
            </a:r>
          </a:p>
          <a:p>
            <a:pPr lvl="1">
              <a:lnSpc>
                <a:spcPct val="100000"/>
              </a:lnSpc>
            </a:pPr>
            <a:r>
              <a:rPr lang="en-US" sz="1500"/>
              <a:t>Develop visual memory stored in one part of the brain</a:t>
            </a:r>
          </a:p>
          <a:p>
            <a:pPr>
              <a:lnSpc>
                <a:spcPct val="100000"/>
              </a:lnSpc>
            </a:pPr>
            <a:r>
              <a:rPr lang="en-US" sz="1500"/>
              <a:t>Multisensory Processing in Blind People</a:t>
            </a:r>
          </a:p>
          <a:p>
            <a:pPr lvl="1">
              <a:lnSpc>
                <a:spcPct val="100000"/>
              </a:lnSpc>
            </a:pPr>
            <a:r>
              <a:rPr lang="en-US" sz="1500"/>
              <a:t>Coordinate spatial reasoning</a:t>
            </a:r>
          </a:p>
          <a:p>
            <a:pPr lvl="1">
              <a:lnSpc>
                <a:spcPct val="100000"/>
              </a:lnSpc>
            </a:pPr>
            <a:r>
              <a:rPr lang="en-US" sz="1500"/>
              <a:t>Utilize auditory processing</a:t>
            </a:r>
          </a:p>
          <a:p>
            <a:pPr lvl="1">
              <a:lnSpc>
                <a:spcPct val="100000"/>
              </a:lnSpc>
            </a:pPr>
            <a:r>
              <a:rPr lang="en-US" sz="1500"/>
              <a:t>Engage tactile memory</a:t>
            </a:r>
          </a:p>
          <a:p>
            <a:pPr lvl="1">
              <a:lnSpc>
                <a:spcPct val="100000"/>
              </a:lnSpc>
            </a:pPr>
            <a:r>
              <a:rPr lang="en-US" sz="1500"/>
              <a:t>Employ cognitive inference across multiple neural networks</a:t>
            </a:r>
          </a:p>
          <a:p>
            <a:pPr>
              <a:lnSpc>
                <a:spcPct val="100000"/>
              </a:lnSpc>
            </a:pPr>
            <a:r>
              <a:rPr lang="en-US" sz="1500"/>
              <a:t>Comparison of Cognitive Abilities</a:t>
            </a:r>
          </a:p>
          <a:p>
            <a:pPr lvl="1">
              <a:lnSpc>
                <a:spcPct val="100000"/>
              </a:lnSpc>
            </a:pPr>
            <a:r>
              <a:rPr lang="en-US" sz="1500"/>
              <a:t>Sighted people rely on visual memory</a:t>
            </a:r>
          </a:p>
          <a:p>
            <a:pPr lvl="1">
              <a:lnSpc>
                <a:spcPct val="100000"/>
              </a:lnSpc>
            </a:pPr>
            <a:r>
              <a:rPr lang="en-US" sz="1500"/>
              <a:t>Blind people run several high-performance apps simultaneously</a:t>
            </a:r>
          </a:p>
        </p:txBody>
      </p:sp>
    </p:spTree>
    <p:extLst>
      <p:ext uri="{BB962C8B-B14F-4D97-AF65-F5344CB8AC3E}">
        <p14:creationId xmlns:p14="http://schemas.microsoft.com/office/powerpoint/2010/main" val="716290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21B07D14-7212-107F-5423-21499F2BAB92}"/>
              </a:ext>
            </a:extLst>
          </p:cNvPr>
          <p:cNvSpPr>
            <a:spLocks noGrp="1"/>
          </p:cNvSpPr>
          <p:nvPr>
            <p:ph type="title"/>
          </p:nvPr>
        </p:nvSpPr>
        <p:spPr>
          <a:xfrm>
            <a:off x="521208" y="978408"/>
            <a:ext cx="4352544" cy="2148840"/>
          </a:xfrm>
        </p:spPr>
        <p:txBody>
          <a:bodyPr vert="horz" lIns="91440" tIns="45720" rIns="91440" bIns="45720" rtlCol="0" anchor="t">
            <a:normAutofit/>
          </a:bodyPr>
          <a:lstStyle/>
          <a:p>
            <a:pPr>
              <a:lnSpc>
                <a:spcPct val="90000"/>
              </a:lnSpc>
            </a:pPr>
            <a:r>
              <a:rPr lang="en-US" sz="3700" b="1" kern="1200">
                <a:solidFill>
                  <a:schemeClr val="tx1"/>
                </a:solidFill>
                <a:latin typeface="+mj-lt"/>
                <a:ea typeface="+mj-ea"/>
                <a:cs typeface="+mj-cs"/>
              </a:rPr>
              <a:t>Reverse-Engineering Cognitive Superpower</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idea creation process, drawn on a chalk board">
            <a:extLst>
              <a:ext uri="{FF2B5EF4-FFF2-40B4-BE49-F238E27FC236}">
                <a16:creationId xmlns:a16="http://schemas.microsoft.com/office/drawing/2014/main" id="{860D06D0-F525-4650-96E2-0355B90D6561}"/>
              </a:ext>
            </a:extLst>
          </p:cNvPr>
          <p:cNvPicPr>
            <a:picLocks noGrp="1" noChangeAspect="1"/>
          </p:cNvPicPr>
          <p:nvPr>
            <p:ph sz="half" idx="1"/>
          </p:nvPr>
        </p:nvPicPr>
        <p:blipFill>
          <a:blip r:embed="rId3"/>
          <a:srcRect l="600" r="9797" b="-2"/>
          <a:stretch>
            <a:fillRect/>
          </a:stretch>
        </p:blipFill>
        <p:spPr>
          <a:xfrm>
            <a:off x="517869" y="3428999"/>
            <a:ext cx="4356135" cy="2917009"/>
          </a:xfrm>
          <a:prstGeom prst="rect">
            <a:avLst/>
          </a:prstGeom>
        </p:spPr>
      </p:pic>
      <p:sp>
        <p:nvSpPr>
          <p:cNvPr id="4" name="Content Placeholder 3">
            <a:extLst>
              <a:ext uri="{FF2B5EF4-FFF2-40B4-BE49-F238E27FC236}">
                <a16:creationId xmlns:a16="http://schemas.microsoft.com/office/drawing/2014/main" id="{B685DC1F-C123-0F4E-F7F3-F0376A0D3AB4}"/>
              </a:ext>
            </a:extLst>
          </p:cNvPr>
          <p:cNvSpPr>
            <a:spLocks noGrp="1"/>
          </p:cNvSpPr>
          <p:nvPr>
            <p:ph sz="half" idx="2"/>
          </p:nvPr>
        </p:nvSpPr>
        <p:spPr>
          <a:xfrm>
            <a:off x="5504688" y="978408"/>
            <a:ext cx="6163056" cy="5394960"/>
          </a:xfrm>
        </p:spPr>
        <p:txBody>
          <a:bodyPr vert="horz" lIns="91440" tIns="45720" rIns="91440" bIns="45720" rtlCol="0">
            <a:normAutofit/>
          </a:bodyPr>
          <a:lstStyle/>
          <a:p>
            <a:r>
              <a:rPr lang="en-US"/>
              <a:t>Reverse-engineering cognitive superpower</a:t>
            </a:r>
          </a:p>
          <a:p>
            <a:pPr lvl="1"/>
            <a:r>
              <a:rPr lang="en-US"/>
              <a:t>Developing tools for sighted people</a:t>
            </a:r>
          </a:p>
          <a:p>
            <a:pPr lvl="1"/>
            <a:r>
              <a:rPr lang="en-US"/>
              <a:t>Experiencing data like blind people</a:t>
            </a:r>
          </a:p>
          <a:p>
            <a:r>
              <a:rPr lang="en-US"/>
              <a:t>Applications in various fields</a:t>
            </a:r>
          </a:p>
          <a:p>
            <a:pPr lvl="1"/>
            <a:r>
              <a:rPr lang="en-US"/>
              <a:t>Storytelling</a:t>
            </a:r>
          </a:p>
          <a:p>
            <a:pPr lvl="1"/>
            <a:r>
              <a:rPr lang="en-US"/>
              <a:t>Marketing</a:t>
            </a:r>
          </a:p>
          <a:p>
            <a:pPr lvl="1"/>
            <a:r>
              <a:rPr lang="en-US"/>
              <a:t>Product design</a:t>
            </a:r>
          </a:p>
          <a:p>
            <a:pPr lvl="1"/>
            <a:r>
              <a:rPr lang="en-US"/>
              <a:t>Creative problem-solving</a:t>
            </a:r>
          </a:p>
          <a:p>
            <a:r>
              <a:rPr lang="en-US"/>
              <a:t>Engaging multiple cognitive channels</a:t>
            </a:r>
          </a:p>
          <a:p>
            <a:pPr lvl="1"/>
            <a:r>
              <a:rPr lang="en-US"/>
              <a:t>Presentations with integrated sound and touch</a:t>
            </a:r>
          </a:p>
          <a:p>
            <a:pPr lvl="1"/>
            <a:r>
              <a:rPr lang="en-US"/>
              <a:t>Stories creating spatial experiences</a:t>
            </a:r>
          </a:p>
          <a:p>
            <a:pPr lvl="1"/>
            <a:r>
              <a:rPr lang="en-US"/>
              <a:t>Brainstorming sessions limiting visual input</a:t>
            </a:r>
          </a:p>
        </p:txBody>
      </p:sp>
    </p:spTree>
    <p:extLst>
      <p:ext uri="{BB962C8B-B14F-4D97-AF65-F5344CB8AC3E}">
        <p14:creationId xmlns:p14="http://schemas.microsoft.com/office/powerpoint/2010/main" val="1539538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E05B32B8-567F-E72C-77DC-6B434FD8DBF1}"/>
              </a:ext>
            </a:extLst>
          </p:cNvPr>
          <p:cNvSpPr>
            <a:spLocks noGrp="1"/>
          </p:cNvSpPr>
          <p:nvPr>
            <p:ph type="title"/>
          </p:nvPr>
        </p:nvSpPr>
        <p:spPr>
          <a:xfrm>
            <a:off x="521208" y="978408"/>
            <a:ext cx="3410712" cy="5376672"/>
          </a:xfrm>
        </p:spPr>
        <p:txBody>
          <a:bodyPr>
            <a:normAutofit/>
          </a:bodyPr>
          <a:lstStyle/>
          <a:p>
            <a:r>
              <a:rPr lang="en-IN" sz="4000"/>
              <a:t>For Writers</a:t>
            </a:r>
          </a:p>
        </p:txBody>
      </p:sp>
      <p:sp>
        <p:nvSpPr>
          <p:cNvPr id="3" name="Content Placeholder 2">
            <a:extLst>
              <a:ext uri="{FF2B5EF4-FFF2-40B4-BE49-F238E27FC236}">
                <a16:creationId xmlns:a16="http://schemas.microsoft.com/office/drawing/2014/main" id="{22DF68E6-3EC8-25AB-D26B-986A6206177C}"/>
              </a:ext>
            </a:extLst>
          </p:cNvPr>
          <p:cNvSpPr>
            <a:spLocks noGrp="1"/>
          </p:cNvSpPr>
          <p:nvPr>
            <p:ph idx="1"/>
          </p:nvPr>
        </p:nvSpPr>
        <p:spPr>
          <a:xfrm>
            <a:off x="4636008" y="1042416"/>
            <a:ext cx="7031736" cy="5312664"/>
          </a:xfrm>
        </p:spPr>
        <p:txBody>
          <a:bodyPr>
            <a:normAutofit/>
          </a:bodyPr>
          <a:lstStyle/>
          <a:p>
            <a:r>
              <a:rPr lang="en-US"/>
              <a:t>For Writers</a:t>
            </a:r>
          </a:p>
          <a:p>
            <a:pPr lvl="1"/>
            <a:r>
              <a:rPr lang="en-US"/>
              <a:t>Close your eyes while crafting scenes</a:t>
            </a:r>
          </a:p>
          <a:p>
            <a:pPr lvl="1"/>
            <a:r>
              <a:rPr lang="en-US"/>
              <a:t>Describe scenes using temperature, air movement, sound layers, and texture</a:t>
            </a:r>
          </a:p>
          <a:p>
            <a:pPr lvl="1"/>
            <a:r>
              <a:rPr lang="en-US"/>
              <a:t>Language becomes more precise and details more specific</a:t>
            </a:r>
          </a:p>
          <a:p>
            <a:pPr lvl="1"/>
            <a:r>
              <a:rPr lang="en-US"/>
              <a:t>Creates stronger emotional connections with readers</a:t>
            </a:r>
          </a:p>
          <a:p>
            <a:r>
              <a:rPr lang="en-US"/>
              <a:t>For Marketers</a:t>
            </a:r>
          </a:p>
          <a:p>
            <a:pPr lvl="1"/>
            <a:r>
              <a:rPr lang="en-US"/>
              <a:t>Craft campaigns that stick in memory</a:t>
            </a:r>
          </a:p>
          <a:p>
            <a:pPr lvl="1"/>
            <a:r>
              <a:rPr lang="en-US"/>
              <a:t>Use multimodal approaches to enhance engagement</a:t>
            </a:r>
          </a:p>
          <a:p>
            <a:r>
              <a:rPr lang="en-US"/>
              <a:t>General Creative Challenges</a:t>
            </a:r>
          </a:p>
          <a:p>
            <a:pPr lvl="1"/>
            <a:r>
              <a:rPr lang="en-US"/>
              <a:t>Apply techniques of blind visualisation immediately</a:t>
            </a:r>
          </a:p>
          <a:p>
            <a:pPr lvl="1"/>
            <a:r>
              <a:rPr lang="en-US"/>
              <a:t>Approach creative tasks with new perspectives</a:t>
            </a:r>
            <a:endParaRPr lang="en-IN"/>
          </a:p>
        </p:txBody>
      </p:sp>
    </p:spTree>
    <p:extLst>
      <p:ext uri="{BB962C8B-B14F-4D97-AF65-F5344CB8AC3E}">
        <p14:creationId xmlns:p14="http://schemas.microsoft.com/office/powerpoint/2010/main" val="3135210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BE3E6C3-E933-2E17-2929-4AEC934A08B9}"/>
              </a:ext>
            </a:extLst>
          </p:cNvPr>
          <p:cNvSpPr>
            <a:spLocks noGrp="1"/>
          </p:cNvSpPr>
          <p:nvPr>
            <p:ph type="title"/>
          </p:nvPr>
        </p:nvSpPr>
        <p:spPr>
          <a:xfrm>
            <a:off x="521208" y="978408"/>
            <a:ext cx="11155680" cy="1115568"/>
          </a:xfrm>
        </p:spPr>
        <p:txBody>
          <a:bodyPr vert="horz" lIns="91440" tIns="45720" rIns="91440" bIns="45720" rtlCol="0" anchor="t">
            <a:normAutofit/>
          </a:bodyPr>
          <a:lstStyle/>
          <a:p>
            <a:r>
              <a:rPr lang="en-US" b="1" kern="1200">
                <a:solidFill>
                  <a:schemeClr val="tx1"/>
                </a:solidFill>
                <a:latin typeface="+mj-lt"/>
                <a:ea typeface="+mj-ea"/>
                <a:cs typeface="+mj-cs"/>
              </a:rPr>
              <a:t>For Creative Professionals</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Papers realistic blank flipchart with legs on white paper background or roll up for presentation in meeting corporate training briefing or lecture classroom in university">
            <a:extLst>
              <a:ext uri="{FF2B5EF4-FFF2-40B4-BE49-F238E27FC236}">
                <a16:creationId xmlns:a16="http://schemas.microsoft.com/office/drawing/2014/main" id="{8EA35E99-BC6B-4A39-9B8C-CA491DADFFA6}"/>
              </a:ext>
            </a:extLst>
          </p:cNvPr>
          <p:cNvPicPr>
            <a:picLocks noGrp="1" noChangeAspect="1"/>
          </p:cNvPicPr>
          <p:nvPr>
            <p:ph sz="half" idx="1"/>
          </p:nvPr>
        </p:nvPicPr>
        <p:blipFill>
          <a:blip r:embed="rId3"/>
          <a:srcRect l="8032" r="-1" b="-1"/>
          <a:stretch>
            <a:fillRect/>
          </a:stretch>
        </p:blipFill>
        <p:spPr>
          <a:xfrm>
            <a:off x="517866" y="2299390"/>
            <a:ext cx="5578133" cy="4048568"/>
          </a:xfrm>
          <a:prstGeom prst="rect">
            <a:avLst/>
          </a:prstGeom>
        </p:spPr>
      </p:pic>
      <p:sp>
        <p:nvSpPr>
          <p:cNvPr id="4" name="Content Placeholder 3">
            <a:extLst>
              <a:ext uri="{FF2B5EF4-FFF2-40B4-BE49-F238E27FC236}">
                <a16:creationId xmlns:a16="http://schemas.microsoft.com/office/drawing/2014/main" id="{F6894919-8764-9158-D927-EF142157BC32}"/>
              </a:ext>
            </a:extLst>
          </p:cNvPr>
          <p:cNvSpPr>
            <a:spLocks noGrp="1"/>
          </p:cNvSpPr>
          <p:nvPr>
            <p:ph sz="half" idx="2"/>
          </p:nvPr>
        </p:nvSpPr>
        <p:spPr>
          <a:xfrm>
            <a:off x="6510528" y="2304288"/>
            <a:ext cx="5157216" cy="4050792"/>
          </a:xfrm>
        </p:spPr>
        <p:txBody>
          <a:bodyPr vert="horz" lIns="91440" tIns="45720" rIns="91440" bIns="45720" rtlCol="0">
            <a:normAutofit/>
          </a:bodyPr>
          <a:lstStyle/>
          <a:p>
            <a:pPr>
              <a:lnSpc>
                <a:spcPct val="100000"/>
              </a:lnSpc>
            </a:pPr>
            <a:r>
              <a:rPr lang="en-US"/>
              <a:t>Engage Multiple Senses</a:t>
            </a:r>
          </a:p>
          <a:p>
            <a:pPr lvl="1">
              <a:lnSpc>
                <a:spcPct val="100000"/>
              </a:lnSpc>
            </a:pPr>
            <a:r>
              <a:rPr lang="en-US"/>
              <a:t>Build presentations like music or physical spaces</a:t>
            </a:r>
          </a:p>
          <a:p>
            <a:pPr lvl="1">
              <a:lnSpc>
                <a:spcPct val="100000"/>
              </a:lnSpc>
            </a:pPr>
            <a:r>
              <a:rPr lang="en-US"/>
              <a:t>Create a felt experience, not just words and images</a:t>
            </a:r>
          </a:p>
          <a:p>
            <a:pPr>
              <a:lnSpc>
                <a:spcPct val="100000"/>
              </a:lnSpc>
            </a:pPr>
            <a:r>
              <a:rPr lang="en-US"/>
              <a:t>Enhanced Memory Retention</a:t>
            </a:r>
          </a:p>
          <a:p>
            <a:pPr lvl="1">
              <a:lnSpc>
                <a:spcPct val="100000"/>
              </a:lnSpc>
            </a:pPr>
            <a:r>
              <a:rPr lang="en-US"/>
              <a:t>Studies suggest multimodal presentations are remembered longer</a:t>
            </a:r>
          </a:p>
          <a:p>
            <a:pPr lvl="1">
              <a:lnSpc>
                <a:spcPct val="100000"/>
              </a:lnSpc>
            </a:pPr>
            <a:r>
              <a:rPr lang="en-US"/>
              <a:t>Greater accuracy in recalling information</a:t>
            </a:r>
          </a:p>
          <a:p>
            <a:pPr>
              <a:lnSpc>
                <a:spcPct val="100000"/>
              </a:lnSpc>
            </a:pPr>
            <a:r>
              <a:rPr lang="en-US"/>
              <a:t>Creative Approach</a:t>
            </a:r>
          </a:p>
          <a:p>
            <a:pPr lvl="1">
              <a:lnSpc>
                <a:spcPct val="100000"/>
              </a:lnSpc>
            </a:pPr>
            <a:r>
              <a:rPr lang="en-US"/>
              <a:t>Design presentations to engage various senses</a:t>
            </a:r>
          </a:p>
          <a:p>
            <a:pPr lvl="1">
              <a:lnSpc>
                <a:spcPct val="100000"/>
              </a:lnSpc>
            </a:pPr>
            <a:r>
              <a:rPr lang="en-US"/>
              <a:t>Incorporate elements that evoke emotions and experiences</a:t>
            </a:r>
          </a:p>
        </p:txBody>
      </p:sp>
    </p:spTree>
    <p:extLst>
      <p:ext uri="{BB962C8B-B14F-4D97-AF65-F5344CB8AC3E}">
        <p14:creationId xmlns:p14="http://schemas.microsoft.com/office/powerpoint/2010/main" val="329999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65DC48-7985-4554-D0AE-10492BCC8502}"/>
              </a:ext>
            </a:extLst>
          </p:cNvPr>
          <p:cNvSpPr>
            <a:spLocks noGrp="1"/>
          </p:cNvSpPr>
          <p:nvPr>
            <p:ph type="title"/>
          </p:nvPr>
        </p:nvSpPr>
        <p:spPr>
          <a:xfrm>
            <a:off x="521208" y="978408"/>
            <a:ext cx="6300216" cy="1325880"/>
          </a:xfrm>
        </p:spPr>
        <p:txBody>
          <a:bodyPr vert="horz" lIns="91440" tIns="45720" rIns="91440" bIns="45720" rtlCol="0" anchor="t">
            <a:normAutofit/>
          </a:bodyPr>
          <a:lstStyle/>
          <a:p>
            <a:r>
              <a:rPr lang="en-US" b="1" kern="1200">
                <a:solidFill>
                  <a:schemeClr val="tx1"/>
                </a:solidFill>
                <a:latin typeface="+mj-lt"/>
                <a:ea typeface="+mj-ea"/>
                <a:cs typeface="+mj-cs"/>
              </a:rPr>
              <a:t>For Problem Solvers</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Sheet music with treble and bass clef, and illegible notes">
            <a:extLst>
              <a:ext uri="{FF2B5EF4-FFF2-40B4-BE49-F238E27FC236}">
                <a16:creationId xmlns:a16="http://schemas.microsoft.com/office/drawing/2014/main" id="{5622231B-D82F-40A2-B272-24EC9EAFA268}"/>
              </a:ext>
            </a:extLst>
          </p:cNvPr>
          <p:cNvPicPr>
            <a:picLocks noGrp="1" noChangeAspect="1"/>
          </p:cNvPicPr>
          <p:nvPr>
            <p:ph sz="half" idx="1"/>
          </p:nvPr>
        </p:nvPicPr>
        <p:blipFill>
          <a:blip r:embed="rId3"/>
          <a:stretch>
            <a:fillRect/>
          </a:stretch>
        </p:blipFill>
        <p:spPr>
          <a:xfrm>
            <a:off x="517867" y="2429691"/>
            <a:ext cx="5889192" cy="3916313"/>
          </a:xfrm>
          <a:prstGeom prst="rect">
            <a:avLst/>
          </a:prstGeom>
        </p:spPr>
      </p:pic>
      <p:sp>
        <p:nvSpPr>
          <p:cNvPr id="4" name="Content Placeholder 3">
            <a:extLst>
              <a:ext uri="{FF2B5EF4-FFF2-40B4-BE49-F238E27FC236}">
                <a16:creationId xmlns:a16="http://schemas.microsoft.com/office/drawing/2014/main" id="{94C11FB4-224A-A1B1-69BE-BCADC592AA49}"/>
              </a:ext>
            </a:extLst>
          </p:cNvPr>
          <p:cNvSpPr>
            <a:spLocks noGrp="1"/>
          </p:cNvSpPr>
          <p:nvPr>
            <p:ph sz="half" idx="2"/>
          </p:nvPr>
        </p:nvSpPr>
        <p:spPr>
          <a:xfrm>
            <a:off x="7507224" y="1088136"/>
            <a:ext cx="4160520" cy="5257800"/>
          </a:xfrm>
        </p:spPr>
        <p:txBody>
          <a:bodyPr vert="horz" lIns="91440" tIns="45720" rIns="91440" bIns="45720" rtlCol="0">
            <a:normAutofit/>
          </a:bodyPr>
          <a:lstStyle/>
          <a:p>
            <a:r>
              <a:rPr lang="en-US"/>
              <a:t>Creative Wall Solutions</a:t>
            </a:r>
          </a:p>
          <a:p>
            <a:pPr lvl="1"/>
            <a:r>
              <a:rPr lang="en-US"/>
              <a:t>Switch off your dominant sense</a:t>
            </a:r>
          </a:p>
          <a:p>
            <a:pPr lvl="1"/>
            <a:r>
              <a:rPr lang="en-US"/>
              <a:t>Visual thinkers should try hearing solutions</a:t>
            </a:r>
          </a:p>
          <a:p>
            <a:r>
              <a:rPr lang="en-US"/>
              <a:t>Cognitive Flexibility</a:t>
            </a:r>
          </a:p>
          <a:p>
            <a:pPr lvl="1"/>
            <a:r>
              <a:rPr lang="en-US"/>
              <a:t>Leads to breakthrough insights</a:t>
            </a:r>
          </a:p>
          <a:p>
            <a:pPr lvl="1"/>
            <a:r>
              <a:rPr lang="en-US"/>
              <a:t>Pure visual thinking may miss these insights</a:t>
            </a:r>
          </a:p>
        </p:txBody>
      </p:sp>
    </p:spTree>
    <p:extLst>
      <p:ext uri="{BB962C8B-B14F-4D97-AF65-F5344CB8AC3E}">
        <p14:creationId xmlns:p14="http://schemas.microsoft.com/office/powerpoint/2010/main" val="1431207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FCD0D02-D32B-69E4-6A35-7869201950F0}"/>
              </a:ext>
            </a:extLst>
          </p:cNvPr>
          <p:cNvSpPr>
            <a:spLocks noGrp="1"/>
          </p:cNvSpPr>
          <p:nvPr>
            <p:ph type="title"/>
          </p:nvPr>
        </p:nvSpPr>
        <p:spPr>
          <a:xfrm>
            <a:off x="521208" y="978408"/>
            <a:ext cx="4352544" cy="2148840"/>
          </a:xfrm>
        </p:spPr>
        <p:txBody>
          <a:bodyPr vert="horz" lIns="91440" tIns="45720" rIns="91440" bIns="45720" rtlCol="0" anchor="t">
            <a:normAutofit/>
          </a:bodyPr>
          <a:lstStyle/>
          <a:p>
            <a:r>
              <a:rPr lang="en-US" b="1" kern="1200">
                <a:solidFill>
                  <a:schemeClr val="tx1"/>
                </a:solidFill>
                <a:latin typeface="+mj-lt"/>
                <a:ea typeface="+mj-ea"/>
                <a:cs typeface="+mj-cs"/>
              </a:rPr>
              <a:t>For Everyone</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Podcast recording studio, with microphones and equalizer for recording online radio broadcasts, with black soundproof wall">
            <a:extLst>
              <a:ext uri="{FF2B5EF4-FFF2-40B4-BE49-F238E27FC236}">
                <a16:creationId xmlns:a16="http://schemas.microsoft.com/office/drawing/2014/main" id="{4F8E2036-9A72-442E-AE14-3C5A0E31E2FF}"/>
              </a:ext>
            </a:extLst>
          </p:cNvPr>
          <p:cNvPicPr>
            <a:picLocks noGrp="1" noChangeAspect="1"/>
          </p:cNvPicPr>
          <p:nvPr>
            <p:ph sz="half" idx="1"/>
          </p:nvPr>
        </p:nvPicPr>
        <p:blipFill>
          <a:blip r:embed="rId3"/>
          <a:srcRect r="317" b="-1"/>
          <a:stretch>
            <a:fillRect/>
          </a:stretch>
        </p:blipFill>
        <p:spPr>
          <a:xfrm>
            <a:off x="517869" y="3428999"/>
            <a:ext cx="4356135" cy="2917009"/>
          </a:xfrm>
          <a:prstGeom prst="rect">
            <a:avLst/>
          </a:prstGeom>
        </p:spPr>
      </p:pic>
      <p:sp>
        <p:nvSpPr>
          <p:cNvPr id="4" name="Content Placeholder 3">
            <a:extLst>
              <a:ext uri="{FF2B5EF4-FFF2-40B4-BE49-F238E27FC236}">
                <a16:creationId xmlns:a16="http://schemas.microsoft.com/office/drawing/2014/main" id="{38106298-D3A7-C80A-0792-CF0A66BC8E40}"/>
              </a:ext>
            </a:extLst>
          </p:cNvPr>
          <p:cNvSpPr>
            <a:spLocks noGrp="1"/>
          </p:cNvSpPr>
          <p:nvPr>
            <p:ph sz="half" idx="2"/>
          </p:nvPr>
        </p:nvSpPr>
        <p:spPr>
          <a:xfrm>
            <a:off x="5504688" y="978408"/>
            <a:ext cx="6163056" cy="5394960"/>
          </a:xfrm>
        </p:spPr>
        <p:txBody>
          <a:bodyPr vert="horz" lIns="91440" tIns="45720" rIns="91440" bIns="45720" rtlCol="0">
            <a:normAutofit/>
          </a:bodyPr>
          <a:lstStyle/>
          <a:p>
            <a:r>
              <a:rPr lang="en-US"/>
              <a:t>Distinct Acoustic Signatures of Rooms</a:t>
            </a:r>
          </a:p>
          <a:p>
            <a:pPr lvl="1"/>
            <a:r>
              <a:rPr lang="en-US"/>
              <a:t>Each room has a unique sound profile</a:t>
            </a:r>
          </a:p>
          <a:p>
            <a:pPr lvl="1"/>
            <a:r>
              <a:rPr lang="en-US"/>
              <a:t>Notice variations in echoes and sound absorption</a:t>
            </a:r>
          </a:p>
          <a:p>
            <a:r>
              <a:rPr lang="en-US"/>
              <a:t>Surface Sensations Underfoot</a:t>
            </a:r>
          </a:p>
          <a:p>
            <a:pPr lvl="1"/>
            <a:r>
              <a:rPr lang="en-US"/>
              <a:t>Different textures and materials</a:t>
            </a:r>
          </a:p>
          <a:p>
            <a:pPr lvl="1"/>
            <a:r>
              <a:rPr lang="en-US"/>
              <a:t>Impact on movement and comfort</a:t>
            </a:r>
          </a:p>
          <a:p>
            <a:r>
              <a:rPr lang="en-US"/>
              <a:t>Air Movement in Spaces</a:t>
            </a:r>
          </a:p>
          <a:p>
            <a:pPr lvl="1"/>
            <a:r>
              <a:rPr lang="en-US"/>
              <a:t>Changes when someone enters</a:t>
            </a:r>
          </a:p>
          <a:p>
            <a:pPr lvl="1"/>
            <a:r>
              <a:rPr lang="en-US"/>
              <a:t>Influence on temperature and airflow</a:t>
            </a:r>
          </a:p>
          <a:p>
            <a:r>
              <a:rPr lang="en-US"/>
              <a:t>Enhanced Sensory Vocabulary</a:t>
            </a:r>
          </a:p>
          <a:p>
            <a:pPr lvl="1"/>
            <a:r>
              <a:rPr lang="en-US"/>
              <a:t>Improves cognitive processes</a:t>
            </a:r>
          </a:p>
          <a:p>
            <a:pPr lvl="1"/>
            <a:r>
              <a:rPr lang="en-US"/>
              <a:t>Enriches perception and understanding</a:t>
            </a:r>
          </a:p>
        </p:txBody>
      </p:sp>
    </p:spTree>
    <p:extLst>
      <p:ext uri="{BB962C8B-B14F-4D97-AF65-F5344CB8AC3E}">
        <p14:creationId xmlns:p14="http://schemas.microsoft.com/office/powerpoint/2010/main" val="3931655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F559FE4E-04C8-67F0-512E-B268AA3CE75E}"/>
              </a:ext>
            </a:extLst>
          </p:cNvPr>
          <p:cNvSpPr>
            <a:spLocks noGrp="1"/>
          </p:cNvSpPr>
          <p:nvPr>
            <p:ph type="title"/>
          </p:nvPr>
        </p:nvSpPr>
        <p:spPr>
          <a:xfrm>
            <a:off x="521208" y="978408"/>
            <a:ext cx="3410712" cy="5376672"/>
          </a:xfrm>
        </p:spPr>
        <p:txBody>
          <a:bodyPr>
            <a:normAutofit/>
          </a:bodyPr>
          <a:lstStyle/>
          <a:p>
            <a:r>
              <a:rPr lang="en-IN" sz="4000"/>
              <a:t>Ancient Wisdom and Modern Science</a:t>
            </a:r>
          </a:p>
        </p:txBody>
      </p:sp>
      <p:sp>
        <p:nvSpPr>
          <p:cNvPr id="3" name="Content Placeholder 2">
            <a:extLst>
              <a:ext uri="{FF2B5EF4-FFF2-40B4-BE49-F238E27FC236}">
                <a16:creationId xmlns:a16="http://schemas.microsoft.com/office/drawing/2014/main" id="{20C25818-2C77-34B1-1D6D-993D01155088}"/>
              </a:ext>
            </a:extLst>
          </p:cNvPr>
          <p:cNvSpPr>
            <a:spLocks noGrp="1"/>
          </p:cNvSpPr>
          <p:nvPr>
            <p:ph idx="1"/>
          </p:nvPr>
        </p:nvSpPr>
        <p:spPr>
          <a:xfrm>
            <a:off x="4636008" y="1042416"/>
            <a:ext cx="7031736" cy="5312664"/>
          </a:xfrm>
        </p:spPr>
        <p:txBody>
          <a:bodyPr>
            <a:normAutofit/>
          </a:bodyPr>
          <a:lstStyle/>
          <a:p>
            <a:r>
              <a:rPr lang="en-IN"/>
              <a:t>Third Eye Concept</a:t>
            </a:r>
          </a:p>
          <a:p>
            <a:pPr lvl="1"/>
            <a:r>
              <a:rPr lang="en-IN"/>
              <a:t>Not just religious symbolism</a:t>
            </a:r>
          </a:p>
          <a:p>
            <a:pPr lvl="1"/>
            <a:r>
              <a:rPr lang="en-IN"/>
              <a:t>Neurological reality backed by research</a:t>
            </a:r>
          </a:p>
          <a:p>
            <a:r>
              <a:rPr lang="en-IN"/>
              <a:t>Hindu Philosophy</a:t>
            </a:r>
          </a:p>
          <a:p>
            <a:pPr lvl="1"/>
            <a:r>
              <a:rPr lang="en-IN"/>
              <a:t>True sight is cognitive perception</a:t>
            </a:r>
          </a:p>
          <a:p>
            <a:pPr lvl="1"/>
            <a:r>
              <a:rPr lang="en-IN"/>
              <a:t>Not limited to physical eyes</a:t>
            </a:r>
          </a:p>
          <a:p>
            <a:r>
              <a:rPr lang="en-IN"/>
              <a:t>Blind Professionals</a:t>
            </a:r>
          </a:p>
          <a:p>
            <a:pPr lvl="1"/>
            <a:r>
              <a:rPr lang="en-IN"/>
              <a:t>Analyse complex datasets</a:t>
            </a:r>
          </a:p>
          <a:p>
            <a:pPr lvl="1"/>
            <a:r>
              <a:rPr lang="en-IN"/>
              <a:t>Navigate spatial challenges</a:t>
            </a:r>
          </a:p>
          <a:p>
            <a:pPr lvl="1"/>
            <a:r>
              <a:rPr lang="en-IN"/>
              <a:t>Solve creative problems</a:t>
            </a:r>
          </a:p>
          <a:p>
            <a:r>
              <a:rPr lang="en-IN"/>
              <a:t>Enhanced Cognitive Strategies</a:t>
            </a:r>
          </a:p>
          <a:p>
            <a:r>
              <a:rPr lang="en-IN"/>
              <a:t>Neuroscience Findings</a:t>
            </a:r>
          </a:p>
        </p:txBody>
      </p:sp>
    </p:spTree>
    <p:extLst>
      <p:ext uri="{BB962C8B-B14F-4D97-AF65-F5344CB8AC3E}">
        <p14:creationId xmlns:p14="http://schemas.microsoft.com/office/powerpoint/2010/main" val="2089115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29CCDF-1EBA-C8F9-52DE-2B66EDF934BD}"/>
              </a:ext>
            </a:extLst>
          </p:cNvPr>
          <p:cNvSpPr>
            <a:spLocks noGrp="1"/>
          </p:cNvSpPr>
          <p:nvPr>
            <p:ph type="title"/>
          </p:nvPr>
        </p:nvSpPr>
        <p:spPr>
          <a:xfrm>
            <a:off x="521208" y="978408"/>
            <a:ext cx="8732520" cy="1463040"/>
          </a:xfrm>
        </p:spPr>
        <p:txBody>
          <a:bodyPr>
            <a:normAutofit/>
          </a:bodyPr>
          <a:lstStyle/>
          <a:p>
            <a:r>
              <a:rPr lang="en-IN"/>
              <a:t>Final Takeaway</a:t>
            </a:r>
          </a:p>
        </p:txBody>
      </p:sp>
      <p:sp>
        <p:nvSpPr>
          <p:cNvPr id="3" name="Content Placeholder 2">
            <a:extLst>
              <a:ext uri="{FF2B5EF4-FFF2-40B4-BE49-F238E27FC236}">
                <a16:creationId xmlns:a16="http://schemas.microsoft.com/office/drawing/2014/main" id="{EB1885E4-D852-BF7A-CE04-B17514ACBB21}"/>
              </a:ext>
            </a:extLst>
          </p:cNvPr>
          <p:cNvSpPr>
            <a:spLocks noGrp="1"/>
          </p:cNvSpPr>
          <p:nvPr>
            <p:ph idx="1"/>
          </p:nvPr>
        </p:nvSpPr>
        <p:spPr>
          <a:xfrm>
            <a:off x="521208" y="2578608"/>
            <a:ext cx="8732520" cy="3767328"/>
          </a:xfrm>
        </p:spPr>
        <p:txBody>
          <a:bodyPr>
            <a:normAutofit/>
          </a:bodyPr>
          <a:lstStyle/>
          <a:p>
            <a:r>
              <a:rPr lang="en-US"/>
              <a:t>Creative Wall Solutions</a:t>
            </a:r>
          </a:p>
          <a:p>
            <a:pPr lvl="1"/>
            <a:r>
              <a:rPr lang="en-US"/>
              <a:t>Ancient wisdom and modern science agree on the effectiveness of closing your eyes</a:t>
            </a:r>
          </a:p>
          <a:p>
            <a:pPr lvl="1"/>
            <a:r>
              <a:rPr lang="en-US"/>
              <a:t>Not about looking harder, but perceiving deeper</a:t>
            </a:r>
          </a:p>
          <a:p>
            <a:r>
              <a:rPr lang="en-US"/>
              <a:t>The Third Eye Concept</a:t>
            </a:r>
          </a:p>
          <a:p>
            <a:pPr lvl="1"/>
            <a:r>
              <a:rPr lang="en-US"/>
              <a:t>Not just mystical visions, but cognitive vision</a:t>
            </a:r>
          </a:p>
          <a:p>
            <a:pPr lvl="1"/>
            <a:r>
              <a:rPr lang="en-US"/>
              <a:t>Transcends sensory limitations</a:t>
            </a:r>
          </a:p>
          <a:p>
            <a:r>
              <a:rPr lang="en-US"/>
              <a:t>Transformative Skill</a:t>
            </a:r>
          </a:p>
          <a:p>
            <a:pPr lvl="1"/>
            <a:r>
              <a:rPr lang="en-US"/>
              <a:t>Mastering cognitive vision can change how you think, create, and engage</a:t>
            </a:r>
          </a:p>
          <a:p>
            <a:r>
              <a:rPr lang="en-US"/>
              <a:t>Profound Insights</a:t>
            </a:r>
          </a:p>
          <a:p>
            <a:pPr lvl="1"/>
            <a:r>
              <a:rPr lang="en-US"/>
              <a:t>Ancestors knew and science proves insights come from understanding</a:t>
            </a:r>
            <a:endParaRPr lang="en-IN"/>
          </a:p>
        </p:txBody>
      </p:sp>
    </p:spTree>
    <p:extLst>
      <p:ext uri="{BB962C8B-B14F-4D97-AF65-F5344CB8AC3E}">
        <p14:creationId xmlns:p14="http://schemas.microsoft.com/office/powerpoint/2010/main" val="42710607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TotalTime>
  <Words>4664</Words>
  <Application>Microsoft Office PowerPoint</Application>
  <PresentationFormat>Widescreen</PresentationFormat>
  <Paragraphs>297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Bierstadt</vt:lpstr>
      <vt:lpstr>GestaltVTI</vt:lpstr>
      <vt:lpstr>Seeing Without Sight</vt:lpstr>
      <vt:lpstr>Agenda</vt:lpstr>
      <vt:lpstr>Visualisation and Ancient Wisdom</vt:lpstr>
      <vt:lpstr>Impact on Creativity and Problem-Solving</vt:lpstr>
      <vt:lpstr>Concept of the Third Eye</vt:lpstr>
      <vt:lpstr>Spatial Reasoning in Blind Individuals</vt:lpstr>
      <vt:lpstr>Disclaimer on Meditation</vt:lpstr>
      <vt:lpstr>Science of Sensory Substitution</vt:lpstr>
      <vt:lpstr>Multimodal Approaches</vt:lpstr>
      <vt:lpstr>Application in Creative Work</vt:lpstr>
      <vt:lpstr>The Ferrari Story</vt:lpstr>
      <vt:lpstr>Cognitive Mapping in Blind Individuals</vt:lpstr>
      <vt:lpstr>Blind Detectives</vt:lpstr>
      <vt:lpstr>Helen Keller and John Milton</vt:lpstr>
      <vt:lpstr>Modern Neuroscience Confirmation</vt:lpstr>
      <vt:lpstr>Creating Sensory Architecture</vt:lpstr>
      <vt:lpstr>Engaging Multiple Cognitive Channels</vt:lpstr>
      <vt:lpstr>Neuroscience Insights</vt:lpstr>
      <vt:lpstr>Reverse-Engineering Cognitive Superpower</vt:lpstr>
      <vt:lpstr>For Writers</vt:lpstr>
      <vt:lpstr>For Creative Professionals</vt:lpstr>
      <vt:lpstr>For Problem Solvers</vt:lpstr>
      <vt:lpstr>For Everyone</vt:lpstr>
      <vt:lpstr>Ancient Wisdom and Modern Science</vt:lpstr>
      <vt:lpstr>Final Takeaway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Akhilesh Malani</dc:creator>
  <cp:lastModifiedBy>Akhilesh Malani</cp:lastModifiedBy>
  <cp:revision>1</cp:revision>
  <dcterms:created xsi:type="dcterms:W3CDTF">2025-06-03T13:11:56Z</dcterms:created>
  <dcterms:modified xsi:type="dcterms:W3CDTF">2025-06-03T15:44:47Z</dcterms:modified>
</cp:coreProperties>
</file>