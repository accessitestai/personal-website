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a 15-minute awareness session on Digital Accessibility. We will cover 6 key topics: what digital accessibility is, why it matters, its impact, who benefits, types of disabilities per WCAG, and the history of WCAG itself. Please feel free to ask questions at any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the 6 topics we will cover today. Each topic is colour-coded with a teal number badge. We will spend roughly 2 to 2.5 minutes per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Accessibility means everyone, including people with disabilities, can use digital products. The four pillars of WCAG are Perceivable, Operable, Understandable, and Robust, often abbreviated as POUR. Think of it as removing the digital kerb: just as a physical ramp helps wheelchair users, accessibility features help users across all 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not an afterthought. When baked into the design and development process from the start, it costs far less, performs better, and serves a broader audience. Retrofitting accessibility after launch is like trying to add ramps to a building after construction: possible, but expensive and often inadequate. The three pillars of why accessibility is a need are: human rights, legal compliance, and sound business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of accessibility spans far beyond compliance. Accessible products are simply better products. The curb-cut effect shows that features designed for disability benefit everyone: captions help in noisy environments, keyboard navigation helps power users, and clear language helps non-native speakers. The commercial opportunity is also enormous: persons with disabilities and their families represent a combined spending power that no business can afford to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not just for a small minority. When we design for the full spectrum of users, we serve everyone better. Permanent disabilities are just one part of the picture. Temporary and situational limitations affect all of us at different points in our lives. Designing for the most constrained user invariably produces a better experience for every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WCAG recognises multiple categories of disability. On this slide we cover the first four: Visual, Auditory, Motor or Physical, and Cognitive. Visual disabilities include blindness like my own, low vision, and colour blindness. Auditory disabilities affect hearing. Motor disabilities affect the ability to use standard input devices. Cognitive disabilities include conditions like dyslexia and ADHD that affect information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from the previous slide, we now cover Speech, Neurological, Learning, and Multiple or Complex disabilities. Speech disabilities are often overlooked because many voice-first designs assume all users can speak clearly. Neurological conditions like epilepsy require us to avoid flashing content. Learning disabilities benefit enormously from well-structured, predictable layouts. Finally, many users have multiple overlapping conditions, which is why holistic WCAG compliance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WCAG was born from a simple truth: the web should work for everyone. In 1997, the W3C created the Web Accessibility Initiative. WCAG 1.0 in 1999 gave us the first technical standards. WCAG 2.0 in 2008 introduced the technology-neutral POUR framework still in use today. WCAG 2.1 in 2018 addressed mobile and cognitive gaps. WCAG 2.2 in 2023 is the current recommended standard. WCAG 3.0 is in active development and will introduce a more nuanced scoring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attending this session. Let us recap the five key takeaways: Accessibility is a baseline requirement, not optional. The POUR principles guide all WCAG thinking. 1.3 billion people need accessible design, and everyone benefits from it. Shift Left: integrate accessibility from day one. WCAG 2.2 is current; prepare for WCAG 3.0. I am happy to take any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E"/>
        </a:solidFill>
      </p:bgPr>
    </p:bg>
    <p:spTree>
      <p:nvGrpSpPr>
        <p:cNvPr id="1" name=""/>
        <p:cNvGrpSpPr/>
        <p:nvPr/>
      </p:nvGrpSpPr>
      <p:grpSpPr>
        <a:xfrm>
          <a:off x="0" y="0"/>
          <a:ext cx="0" cy="0"/>
          <a:chOff x="0" y="0"/>
          <a:chExt cx="0" cy="0"/>
        </a:xfrm>
      </p:grpSpPr>
      <p:sp>
        <p:nvSpPr>
          <p:cNvPr id="2" name="Decorative Shape" descr=""/>
          <p:cNvSpPr/>
          <p:nvPr/>
        </p:nvSpPr>
        <p:spPr>
          <a:xfrm>
            <a:off x="0" y="0"/>
            <a:ext cx="164592" cy="5143500"/>
          </a:xfrm>
          <a:prstGeom prst="rect">
            <a:avLst/>
          </a:prstGeom>
          <a:solidFill>
            <a:srgbClr val="028090"/>
          </a:solidFill>
          <a:ln w="12700">
            <a:solidFill>
              <a:srgbClr val="028090"/>
            </a:solidFill>
            <a:prstDash val="solid"/>
          </a:ln>
        </p:spPr>
        <p:txBody>
          <a:bodyPr/>
          <a:p/>
        </p:txBody>
      </p:sp>
      <p:sp>
        <p:nvSpPr>
          <p:cNvPr id="3" name="Decorative Shape" descr=""/>
          <p:cNvSpPr/>
          <p:nvPr/>
        </p:nvSpPr>
        <p:spPr>
          <a:xfrm>
            <a:off x="5943600" y="0"/>
            <a:ext cx="3200400" cy="5143500"/>
          </a:xfrm>
          <a:prstGeom prst="rect">
            <a:avLst/>
          </a:prstGeom>
          <a:solidFill>
            <a:srgbClr val="028090">
              <a:alpha val="20000"/>
            </a:srgbClr>
          </a:solidFill>
          <a:ln w="12700">
            <a:solidFill>
              <a:srgbClr val="028090">
                <a:alpha val="20000"/>
              </a:srgbClr>
            </a:solidFill>
            <a:prstDash val="solid"/>
          </a:ln>
        </p:spPr>
        <p:txBody>
          <a:bodyPr/>
          <a:p/>
        </p:txBody>
      </p:sp>
      <p:sp>
        <p:nvSpPr>
          <p:cNvPr id="4" name="Decorative Shape" descr=""/>
          <p:cNvSpPr/>
          <p:nvPr/>
        </p:nvSpPr>
        <p:spPr>
          <a:xfrm>
            <a:off x="6583680" y="914400"/>
            <a:ext cx="2286000" cy="2286000"/>
          </a:xfrm>
          <a:prstGeom prst="ellipse">
            <a:avLst/>
          </a:prstGeom>
          <a:solidFill>
            <a:srgbClr val="F4A261">
              <a:alpha val="70000"/>
            </a:srgbClr>
          </a:solidFill>
          <a:ln w="12700">
            <a:solidFill>
              <a:srgbClr val="F4A261">
                <a:alpha val="50000"/>
              </a:srgbClr>
            </a:solidFill>
            <a:prstDash val="solid"/>
          </a:ln>
        </p:spPr>
        <p:txBody>
          <a:bodyPr/>
          <a:p/>
        </p:txBody>
      </p:sp>
      <p:sp>
        <p:nvSpPr>
          <p:cNvPr id="5" name="Text: General Awareness on"/>
          <p:cNvSpPr/>
          <p:nvPr/>
        </p:nvSpPr>
        <p:spPr>
          <a:xfrm>
            <a:off x="457200" y="914400"/>
            <a:ext cx="6858000" cy="640080"/>
          </a:xfrm>
          <a:prstGeom prst="rect">
            <a:avLst/>
          </a:prstGeom>
          <a:noFill/>
          <a:ln/>
        </p:spPr>
        <p:txBody>
          <a:bodyPr wrap="square" lIns="0" tIns="0" rIns="0" bIns="0" rtlCol="0" anchor="ctr"/>
          <a:lstStyle/>
          <a:p>
            <a:pPr indent="0" marL="0">
              <a:buNone/>
            </a:pPr>
            <a:r>
              <a:rPr lang="en-US" sz="2200" dirty="0">
                <a:solidFill>
                  <a:srgbClr val="00A896"/>
                </a:solidFill>
              </a:rPr>
              <a:t>General Awareness on</a:t>
            </a:r>
            <a:endParaRPr lang="en-US" sz="2200" dirty="0"/>
          </a:p>
        </p:txBody>
      </p:sp>
      <p:sp>
        <p:nvSpPr>
          <p:cNvPr id="6" name="Text: Digital Accessibility"/>
          <p:cNvSpPr/>
          <p:nvPr/>
        </p:nvSpPr>
        <p:spPr>
          <a:xfrm>
            <a:off x="457200" y="1508760"/>
            <a:ext cx="6858000" cy="1005840"/>
          </a:xfrm>
          <a:prstGeom prst="rect">
            <a:avLst/>
          </a:prstGeom>
          <a:noFill/>
          <a:ln/>
        </p:spPr>
        <p:txBody>
          <a:bodyPr wrap="square" lIns="0" tIns="0" rIns="0" bIns="0" rtlCol="0" anchor="ctr"/>
          <a:lstStyle/>
          <a:p>
            <a:pPr indent="0" marL="0">
              <a:buNone/>
            </a:pPr>
            <a:r>
              <a:rPr lang="en-US" sz="4600" b="1" dirty="0">
                <a:solidFill>
                  <a:srgbClr val="FFFFFF"/>
                </a:solidFill>
              </a:rPr>
              <a:t>Digital Accessibility</a:t>
            </a:r>
            <a:endParaRPr lang="en-US" sz="4600" dirty="0"/>
          </a:p>
        </p:txBody>
      </p:sp>
      <p:sp>
        <p:nvSpPr>
          <p:cNvPr id="7" name="Text: Building an Inclusive Digital World for Everyone"/>
          <p:cNvSpPr/>
          <p:nvPr/>
        </p:nvSpPr>
        <p:spPr>
          <a:xfrm>
            <a:off x="457200" y="2606040"/>
            <a:ext cx="6858000" cy="457200"/>
          </a:xfrm>
          <a:prstGeom prst="rect">
            <a:avLst/>
          </a:prstGeom>
          <a:noFill/>
          <a:ln/>
        </p:spPr>
        <p:txBody>
          <a:bodyPr wrap="square" lIns="0" tIns="0" rIns="0" bIns="0" rtlCol="0" anchor="ctr"/>
          <a:lstStyle/>
          <a:p>
            <a:pPr indent="0" marL="0">
              <a:buNone/>
            </a:pPr>
            <a:r>
              <a:rPr lang="en-US" sz="1600" i="1" dirty="0">
                <a:solidFill>
                  <a:srgbClr val="F4A261"/>
                </a:solidFill>
              </a:rPr>
              <a:t>Building an Inclusive Digital World for Everyone</a:t>
            </a:r>
            <a:endParaRPr lang="en-US" sz="1600" dirty="0"/>
          </a:p>
        </p:txBody>
      </p:sp>
      <p:sp>
        <p:nvSpPr>
          <p:cNvPr id="8" name="Decorative Shape" descr=""/>
          <p:cNvSpPr/>
          <p:nvPr/>
        </p:nvSpPr>
        <p:spPr>
          <a:xfrm>
            <a:off x="457200" y="3337560"/>
            <a:ext cx="5943600" cy="27432"/>
          </a:xfrm>
          <a:prstGeom prst="rect">
            <a:avLst/>
          </a:prstGeom>
          <a:solidFill>
            <a:srgbClr val="028090"/>
          </a:solidFill>
          <a:ln w="12700">
            <a:solidFill>
              <a:srgbClr val="028090"/>
            </a:solidFill>
            <a:prstDash val="solid"/>
          </a:ln>
        </p:spPr>
        <p:txBody>
          <a:bodyPr/>
          <a:p/>
        </p:txBody>
      </p:sp>
      <p:sp>
        <p:nvSpPr>
          <p:cNvPr id="9" name="Text: A 15-Minute Awareness Session"/>
          <p:cNvSpPr/>
          <p:nvPr/>
        </p:nvSpPr>
        <p:spPr>
          <a:xfrm>
            <a:off x="457200" y="3474720"/>
            <a:ext cx="5943600" cy="365760"/>
          </a:xfrm>
          <a:prstGeom prst="rect">
            <a:avLst/>
          </a:prstGeom>
          <a:noFill/>
          <a:ln/>
        </p:spPr>
        <p:txBody>
          <a:bodyPr wrap="square" lIns="0" tIns="0" rIns="0" bIns="0" rtlCol="0" anchor="ctr"/>
          <a:lstStyle/>
          <a:p>
            <a:pPr indent="0" marL="0">
              <a:buNone/>
            </a:pPr>
            <a:r>
              <a:rPr lang="en-US" sz="1300" dirty="0">
                <a:solidFill>
                  <a:srgbClr val="C4DDE4"/>
                </a:solidFill>
              </a:rPr>
              <a:t>A 15-Minute Awareness Session</a:t>
            </a:r>
            <a:endParaRPr lang="en-US" sz="1300" dirty="0"/>
          </a:p>
        </p:txBody>
      </p:sp>
      <p:sp>
        <p:nvSpPr>
          <p:cNvPr id="1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General Awareness on Digital Accessibility – Title Slide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8"/>
        </a:solidFill>
      </p:bgPr>
    </p:bg>
    <p:spTree>
      <p:nvGrpSpPr>
        <p:cNvPr id="1" name=""/>
        <p:cNvGrpSpPr/>
        <p:nvPr/>
      </p:nvGrpSpPr>
      <p:grpSpPr>
        <a:xfrm>
          <a:off x="0" y="0"/>
          <a:ext cx="0" cy="0"/>
          <a:chOff x="0" y="0"/>
          <a:chExt cx="0" cy="0"/>
        </a:xfrm>
      </p:grpSpPr>
      <p:sp>
        <p:nvSpPr>
          <p:cNvPr id="2" name="Decorative Shape" descr=""/>
          <p:cNvSpPr/>
          <p:nvPr/>
        </p:nvSpPr>
        <p:spPr>
          <a:xfrm>
            <a:off x="0" y="0"/>
            <a:ext cx="9144000" cy="914400"/>
          </a:xfrm>
          <a:prstGeom prst="rect">
            <a:avLst/>
          </a:prstGeom>
          <a:solidFill>
            <a:srgbClr val="0D2B3E"/>
          </a:solidFill>
          <a:ln w="12700">
            <a:solidFill>
              <a:srgbClr val="0D2B3E"/>
            </a:solidFill>
            <a:prstDash val="solid"/>
          </a:ln>
        </p:spPr>
        <p:txBody>
          <a:bodyPr/>
          <a:p/>
        </p:txBody>
      </p:sp>
      <p:sp>
        <p:nvSpPr>
          <p:cNvPr id="3" name="Text: Agenda"/>
          <p:cNvSpPr/>
          <p:nvPr/>
        </p:nvSpPr>
        <p:spPr>
          <a:xfrm>
            <a:off x="365760" y="137160"/>
            <a:ext cx="8229600" cy="640080"/>
          </a:xfrm>
          <a:prstGeom prst="rect">
            <a:avLst/>
          </a:prstGeom>
          <a:noFill/>
          <a:ln/>
        </p:spPr>
        <p:txBody>
          <a:bodyPr wrap="square" lIns="0" tIns="0" rIns="0" bIns="0" rtlCol="0" anchor="ctr"/>
          <a:lstStyle/>
          <a:p>
            <a:pPr indent="0" marL="0">
              <a:buNone/>
            </a:pPr>
            <a:r>
              <a:rPr lang="en-US" sz="3200" b="1" dirty="0">
                <a:solidFill>
                  <a:srgbClr val="FFFFFF"/>
                </a:solidFill>
              </a:rPr>
              <a:t>Agenda</a:t>
            </a:r>
            <a:endParaRPr lang="en-US" sz="3200" dirty="0"/>
          </a:p>
        </p:txBody>
      </p:sp>
      <p:sp>
        <p:nvSpPr>
          <p:cNvPr id="4" name="Decorative Shape" descr=""/>
          <p:cNvSpPr/>
          <p:nvPr/>
        </p:nvSpPr>
        <p:spPr>
          <a:xfrm>
            <a:off x="365760" y="1051560"/>
            <a:ext cx="4114800" cy="100584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5" name="Decorative Shape" descr=""/>
          <p:cNvSpPr/>
          <p:nvPr/>
        </p:nvSpPr>
        <p:spPr>
          <a:xfrm>
            <a:off x="365760" y="1051560"/>
            <a:ext cx="502920" cy="1005840"/>
          </a:xfrm>
          <a:prstGeom prst="rect">
            <a:avLst/>
          </a:prstGeom>
          <a:solidFill>
            <a:srgbClr val="028090"/>
          </a:solidFill>
          <a:ln w="12700">
            <a:solidFill>
              <a:srgbClr val="028090"/>
            </a:solidFill>
            <a:prstDash val="solid"/>
          </a:ln>
        </p:spPr>
        <p:txBody>
          <a:bodyPr/>
          <a:p/>
        </p:txBody>
      </p:sp>
      <p:sp>
        <p:nvSpPr>
          <p:cNvPr id="6" name="Text: 01"/>
          <p:cNvSpPr/>
          <p:nvPr/>
        </p:nvSpPr>
        <p:spPr>
          <a:xfrm>
            <a:off x="384048" y="1280160"/>
            <a:ext cx="457200" cy="50292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7" name="Text: What is Digital Accessibility?"/>
          <p:cNvSpPr/>
          <p:nvPr/>
        </p:nvSpPr>
        <p:spPr>
          <a:xfrm>
            <a:off x="960120" y="1234440"/>
            <a:ext cx="3429000" cy="640080"/>
          </a:xfrm>
          <a:prstGeom prst="rect">
            <a:avLst/>
          </a:prstGeom>
          <a:noFill/>
          <a:ln/>
        </p:spPr>
        <p:txBody>
          <a:bodyPr wrap="square" lIns="0" tIns="0" rIns="0" bIns="0" rtlCol="0" anchor="ctr"/>
          <a:lstStyle/>
          <a:p>
            <a:pPr indent="0" marL="0">
              <a:buNone/>
            </a:pPr>
            <a:r>
              <a:rPr lang="en-US" sz="1200" dirty="0">
                <a:solidFill>
                  <a:srgbClr val="1A3040"/>
                </a:solidFill>
              </a:rPr>
              <a:t>What is Digital Accessibility?</a:t>
            </a:r>
            <a:endParaRPr lang="en-US" sz="1200" dirty="0"/>
          </a:p>
        </p:txBody>
      </p:sp>
      <p:sp>
        <p:nvSpPr>
          <p:cNvPr id="8" name="Decorative Shape" descr=""/>
          <p:cNvSpPr/>
          <p:nvPr/>
        </p:nvSpPr>
        <p:spPr>
          <a:xfrm>
            <a:off x="365760" y="2286000"/>
            <a:ext cx="4114800" cy="100584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9" name="Decorative Shape" descr=""/>
          <p:cNvSpPr/>
          <p:nvPr/>
        </p:nvSpPr>
        <p:spPr>
          <a:xfrm>
            <a:off x="365760" y="2286000"/>
            <a:ext cx="502920" cy="1005840"/>
          </a:xfrm>
          <a:prstGeom prst="rect">
            <a:avLst/>
          </a:prstGeom>
          <a:solidFill>
            <a:srgbClr val="028090"/>
          </a:solidFill>
          <a:ln w="12700">
            <a:solidFill>
              <a:srgbClr val="028090"/>
            </a:solidFill>
            <a:prstDash val="solid"/>
          </a:ln>
        </p:spPr>
        <p:txBody>
          <a:bodyPr/>
          <a:p/>
        </p:txBody>
      </p:sp>
      <p:sp>
        <p:nvSpPr>
          <p:cNvPr id="10" name="Text: 02"/>
          <p:cNvSpPr/>
          <p:nvPr/>
        </p:nvSpPr>
        <p:spPr>
          <a:xfrm>
            <a:off x="384048" y="2514600"/>
            <a:ext cx="457200" cy="50292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1" name="Text: Why Accessibility is a Need, Not a Retrofit"/>
          <p:cNvSpPr/>
          <p:nvPr/>
        </p:nvSpPr>
        <p:spPr>
          <a:xfrm>
            <a:off x="960120" y="2468880"/>
            <a:ext cx="3429000" cy="640080"/>
          </a:xfrm>
          <a:prstGeom prst="rect">
            <a:avLst/>
          </a:prstGeom>
          <a:noFill/>
          <a:ln/>
        </p:spPr>
        <p:txBody>
          <a:bodyPr wrap="square" lIns="0" tIns="0" rIns="0" bIns="0" rtlCol="0" anchor="ctr"/>
          <a:lstStyle/>
          <a:p>
            <a:pPr indent="0" marL="0">
              <a:buNone/>
            </a:pPr>
            <a:r>
              <a:rPr lang="en-US" sz="1200" dirty="0">
                <a:solidFill>
                  <a:srgbClr val="1A3040"/>
                </a:solidFill>
              </a:rPr>
              <a:t>Why Accessibility is a Need, Not a Retrofit</a:t>
            </a:r>
            <a:endParaRPr lang="en-US" sz="1200" dirty="0"/>
          </a:p>
        </p:txBody>
      </p:sp>
      <p:sp>
        <p:nvSpPr>
          <p:cNvPr id="12" name="Decorative Shape" descr=""/>
          <p:cNvSpPr/>
          <p:nvPr/>
        </p:nvSpPr>
        <p:spPr>
          <a:xfrm>
            <a:off x="365760" y="3520440"/>
            <a:ext cx="4114800" cy="100584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13" name="Decorative Shape" descr=""/>
          <p:cNvSpPr/>
          <p:nvPr/>
        </p:nvSpPr>
        <p:spPr>
          <a:xfrm>
            <a:off x="365760" y="3520440"/>
            <a:ext cx="502920" cy="1005840"/>
          </a:xfrm>
          <a:prstGeom prst="rect">
            <a:avLst/>
          </a:prstGeom>
          <a:solidFill>
            <a:srgbClr val="028090"/>
          </a:solidFill>
          <a:ln w="12700">
            <a:solidFill>
              <a:srgbClr val="028090"/>
            </a:solidFill>
            <a:prstDash val="solid"/>
          </a:ln>
        </p:spPr>
        <p:txBody>
          <a:bodyPr/>
          <a:p/>
        </p:txBody>
      </p:sp>
      <p:sp>
        <p:nvSpPr>
          <p:cNvPr id="14" name="Text: 03"/>
          <p:cNvSpPr/>
          <p:nvPr/>
        </p:nvSpPr>
        <p:spPr>
          <a:xfrm>
            <a:off x="384048" y="3749040"/>
            <a:ext cx="457200" cy="50292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5" name="Text: The Impact of Accessible Digital Products"/>
          <p:cNvSpPr/>
          <p:nvPr/>
        </p:nvSpPr>
        <p:spPr>
          <a:xfrm>
            <a:off x="960120" y="3703320"/>
            <a:ext cx="3429000" cy="640080"/>
          </a:xfrm>
          <a:prstGeom prst="rect">
            <a:avLst/>
          </a:prstGeom>
          <a:noFill/>
          <a:ln/>
        </p:spPr>
        <p:txBody>
          <a:bodyPr wrap="square" lIns="0" tIns="0" rIns="0" bIns="0" rtlCol="0" anchor="ctr"/>
          <a:lstStyle/>
          <a:p>
            <a:pPr indent="0" marL="0">
              <a:buNone/>
            </a:pPr>
            <a:r>
              <a:rPr lang="en-US" sz="1200" dirty="0">
                <a:solidFill>
                  <a:srgbClr val="1A3040"/>
                </a:solidFill>
              </a:rPr>
              <a:t>The Impact of Accessible Digital Products</a:t>
            </a:r>
            <a:endParaRPr lang="en-US" sz="1200" dirty="0"/>
          </a:p>
        </p:txBody>
      </p:sp>
      <p:sp>
        <p:nvSpPr>
          <p:cNvPr id="16" name="Decorative Shape" descr=""/>
          <p:cNvSpPr/>
          <p:nvPr/>
        </p:nvSpPr>
        <p:spPr>
          <a:xfrm>
            <a:off x="4754880" y="1051560"/>
            <a:ext cx="4114800" cy="100584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17" name="Decorative Shape" descr=""/>
          <p:cNvSpPr/>
          <p:nvPr/>
        </p:nvSpPr>
        <p:spPr>
          <a:xfrm>
            <a:off x="4754880" y="1051560"/>
            <a:ext cx="502920" cy="1005840"/>
          </a:xfrm>
          <a:prstGeom prst="rect">
            <a:avLst/>
          </a:prstGeom>
          <a:solidFill>
            <a:srgbClr val="028090"/>
          </a:solidFill>
          <a:ln w="12700">
            <a:solidFill>
              <a:srgbClr val="028090"/>
            </a:solidFill>
            <a:prstDash val="solid"/>
          </a:ln>
        </p:spPr>
        <p:txBody>
          <a:bodyPr/>
          <a:p/>
        </p:txBody>
      </p:sp>
      <p:sp>
        <p:nvSpPr>
          <p:cNvPr id="18" name="Text: 04"/>
          <p:cNvSpPr/>
          <p:nvPr/>
        </p:nvSpPr>
        <p:spPr>
          <a:xfrm>
            <a:off x="4773168" y="1280160"/>
            <a:ext cx="457200" cy="502920"/>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19" name="Text: Who Are the End Users?"/>
          <p:cNvSpPr/>
          <p:nvPr/>
        </p:nvSpPr>
        <p:spPr>
          <a:xfrm>
            <a:off x="5349240" y="1234440"/>
            <a:ext cx="3429000" cy="640080"/>
          </a:xfrm>
          <a:prstGeom prst="rect">
            <a:avLst/>
          </a:prstGeom>
          <a:noFill/>
          <a:ln/>
        </p:spPr>
        <p:txBody>
          <a:bodyPr wrap="square" lIns="0" tIns="0" rIns="0" bIns="0" rtlCol="0" anchor="ctr"/>
          <a:lstStyle/>
          <a:p>
            <a:pPr indent="0" marL="0">
              <a:buNone/>
            </a:pPr>
            <a:r>
              <a:rPr lang="en-US" sz="1200" dirty="0">
                <a:solidFill>
                  <a:srgbClr val="1A3040"/>
                </a:solidFill>
              </a:rPr>
              <a:t>Who Are the End Users?</a:t>
            </a:r>
            <a:endParaRPr lang="en-US" sz="1200" dirty="0"/>
          </a:p>
        </p:txBody>
      </p:sp>
      <p:sp>
        <p:nvSpPr>
          <p:cNvPr id="20" name="Decorative Shape" descr=""/>
          <p:cNvSpPr/>
          <p:nvPr/>
        </p:nvSpPr>
        <p:spPr>
          <a:xfrm>
            <a:off x="4754880" y="2286000"/>
            <a:ext cx="4114800" cy="100584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21" name="Decorative Shape" descr=""/>
          <p:cNvSpPr/>
          <p:nvPr/>
        </p:nvSpPr>
        <p:spPr>
          <a:xfrm>
            <a:off x="4754880" y="2286000"/>
            <a:ext cx="502920" cy="1005840"/>
          </a:xfrm>
          <a:prstGeom prst="rect">
            <a:avLst/>
          </a:prstGeom>
          <a:solidFill>
            <a:srgbClr val="028090"/>
          </a:solidFill>
          <a:ln w="12700">
            <a:solidFill>
              <a:srgbClr val="028090"/>
            </a:solidFill>
            <a:prstDash val="solid"/>
          </a:ln>
        </p:spPr>
        <p:txBody>
          <a:bodyPr/>
          <a:p/>
        </p:txBody>
      </p:sp>
      <p:sp>
        <p:nvSpPr>
          <p:cNvPr id="22" name="Text: 05"/>
          <p:cNvSpPr/>
          <p:nvPr/>
        </p:nvSpPr>
        <p:spPr>
          <a:xfrm>
            <a:off x="4773168" y="2514600"/>
            <a:ext cx="457200" cy="502920"/>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23" name="Text: Types of Disabilities as per WCAG"/>
          <p:cNvSpPr/>
          <p:nvPr/>
        </p:nvSpPr>
        <p:spPr>
          <a:xfrm>
            <a:off x="5349240" y="2468880"/>
            <a:ext cx="3429000" cy="640080"/>
          </a:xfrm>
          <a:prstGeom prst="rect">
            <a:avLst/>
          </a:prstGeom>
          <a:noFill/>
          <a:ln/>
        </p:spPr>
        <p:txBody>
          <a:bodyPr wrap="square" lIns="0" tIns="0" rIns="0" bIns="0" rtlCol="0" anchor="ctr"/>
          <a:lstStyle/>
          <a:p>
            <a:pPr indent="0" marL="0">
              <a:buNone/>
            </a:pPr>
            <a:r>
              <a:rPr lang="en-US" sz="1200" dirty="0">
                <a:solidFill>
                  <a:srgbClr val="1A3040"/>
                </a:solidFill>
              </a:rPr>
              <a:t>Types of Disabilities as per WCAG</a:t>
            </a:r>
            <a:endParaRPr lang="en-US" sz="1200" dirty="0"/>
          </a:p>
        </p:txBody>
      </p:sp>
      <p:sp>
        <p:nvSpPr>
          <p:cNvPr id="24" name="Decorative Shape" descr=""/>
          <p:cNvSpPr/>
          <p:nvPr/>
        </p:nvSpPr>
        <p:spPr>
          <a:xfrm>
            <a:off x="4754880" y="3520440"/>
            <a:ext cx="4114800" cy="100584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25" name="Decorative Shape" descr=""/>
          <p:cNvSpPr/>
          <p:nvPr/>
        </p:nvSpPr>
        <p:spPr>
          <a:xfrm>
            <a:off x="4754880" y="3520440"/>
            <a:ext cx="502920" cy="1005840"/>
          </a:xfrm>
          <a:prstGeom prst="rect">
            <a:avLst/>
          </a:prstGeom>
          <a:solidFill>
            <a:srgbClr val="028090"/>
          </a:solidFill>
          <a:ln w="12700">
            <a:solidFill>
              <a:srgbClr val="028090"/>
            </a:solidFill>
            <a:prstDash val="solid"/>
          </a:ln>
        </p:spPr>
        <p:txBody>
          <a:bodyPr/>
          <a:p/>
        </p:txBody>
      </p:sp>
      <p:sp>
        <p:nvSpPr>
          <p:cNvPr id="26" name="Text: 06"/>
          <p:cNvSpPr/>
          <p:nvPr/>
        </p:nvSpPr>
        <p:spPr>
          <a:xfrm>
            <a:off x="4773168" y="3749040"/>
            <a:ext cx="457200" cy="502920"/>
          </a:xfrm>
          <a:prstGeom prst="rect">
            <a:avLst/>
          </a:prstGeom>
          <a:noFill/>
          <a:ln/>
        </p:spPr>
        <p:txBody>
          <a:bodyPr wrap="square" lIns="0" tIns="0" rIns="0" bIns="0" rtlCol="0" anchor="ctr"/>
          <a:lstStyle/>
          <a:p>
            <a:pPr algn="ctr" indent="0" marL="0">
              <a:buNone/>
            </a:pPr>
            <a:r>
              <a:rPr lang="en-US" sz="1600" b="1" dirty="0">
                <a:solidFill>
                  <a:srgbClr val="FFFFFF"/>
                </a:solidFill>
              </a:rPr>
              <a:t>06</a:t>
            </a:r>
            <a:endParaRPr lang="en-US" sz="1600" dirty="0"/>
          </a:p>
        </p:txBody>
      </p:sp>
      <p:sp>
        <p:nvSpPr>
          <p:cNvPr id="27" name="Text: What is WCAG? A Brief History"/>
          <p:cNvSpPr/>
          <p:nvPr/>
        </p:nvSpPr>
        <p:spPr>
          <a:xfrm>
            <a:off x="5349240" y="3703320"/>
            <a:ext cx="3429000" cy="640080"/>
          </a:xfrm>
          <a:prstGeom prst="rect">
            <a:avLst/>
          </a:prstGeom>
          <a:noFill/>
          <a:ln/>
        </p:spPr>
        <p:txBody>
          <a:bodyPr wrap="square" lIns="0" tIns="0" rIns="0" bIns="0" rtlCol="0" anchor="ctr"/>
          <a:lstStyle/>
          <a:p>
            <a:pPr indent="0" marL="0">
              <a:buNone/>
            </a:pPr>
            <a:r>
              <a:rPr lang="en-US" sz="1200" dirty="0">
                <a:solidFill>
                  <a:srgbClr val="1A3040"/>
                </a:solidFill>
              </a:rPr>
              <a:t>What is WCAG? A Brief History</a:t>
            </a:r>
            <a:endParaRPr lang="en-US" sz="1200" dirty="0"/>
          </a:p>
        </p:txBody>
      </p:sp>
      <p:sp>
        <p:nvSpPr>
          <p:cNvPr id="28" name="Decorative Shape" descr=""/>
          <p:cNvSpPr/>
          <p:nvPr/>
        </p:nvSpPr>
        <p:spPr>
          <a:xfrm>
            <a:off x="0" y="4846320"/>
            <a:ext cx="9144000" cy="297180"/>
          </a:xfrm>
          <a:prstGeom prst="rect">
            <a:avLst/>
          </a:prstGeom>
          <a:solidFill>
            <a:srgbClr val="0D2B3E"/>
          </a:solidFill>
          <a:ln w="12700">
            <a:solidFill>
              <a:srgbClr val="0D2B3E"/>
            </a:solidFill>
            <a:prstDash val="solid"/>
          </a:ln>
        </p:spPr>
        <p:txBody>
          <a:bodyPr/>
          <a:p/>
        </p:txBody>
      </p:sp>
      <p:sp>
        <p:nvSpPr>
          <p:cNvPr id="29" name="Text: Digital Accessibility Awareness"/>
          <p:cNvSpPr/>
          <p:nvPr/>
        </p:nvSpPr>
        <p:spPr>
          <a:xfrm>
            <a:off x="274320" y="4864608"/>
            <a:ext cx="4572000" cy="256032"/>
          </a:xfrm>
          <a:prstGeom prst="rect">
            <a:avLst/>
          </a:prstGeom>
          <a:noFill/>
          <a:ln/>
        </p:spPr>
        <p:txBody>
          <a:bodyPr wrap="square" lIns="0" tIns="0" rIns="0" bIns="0" rtlCol="0" anchor="ctr"/>
          <a:lstStyle/>
          <a:p>
            <a:pPr indent="0" marL="0">
              <a:buNone/>
            </a:pPr>
            <a:r>
              <a:rPr lang="en-US" sz="900" dirty="0">
                <a:solidFill>
                  <a:srgbClr val="C4DDE4"/>
                </a:solidFill>
              </a:rPr>
              <a:t>Digital Accessibility Awareness</a:t>
            </a:r>
            <a:endParaRPr lang="en-US" sz="900" dirty="0"/>
          </a:p>
        </p:txBody>
      </p:sp>
      <p:sp>
        <p:nvSpPr>
          <p:cNvPr id="30" name="Text: Slide 2"/>
          <p:cNvSpPr/>
          <p:nvPr/>
        </p:nvSpPr>
        <p:spPr>
          <a:xfrm>
            <a:off x="8229600" y="4864608"/>
            <a:ext cx="640080" cy="256032"/>
          </a:xfrm>
          <a:prstGeom prst="rect">
            <a:avLst/>
          </a:prstGeom>
          <a:noFill/>
          <a:ln/>
        </p:spPr>
        <p:txBody>
          <a:bodyPr wrap="square" lIns="0" tIns="0" rIns="0" bIns="0" rtlCol="0" anchor="ctr"/>
          <a:lstStyle/>
          <a:p>
            <a:pPr algn="r" indent="0" marL="0">
              <a:buNone/>
            </a:pPr>
            <a:r>
              <a:rPr lang="en-US" sz="900" dirty="0">
                <a:solidFill>
                  <a:srgbClr val="C4DDE4"/>
                </a:solidFill>
              </a:rPr>
              <a:t>Slide 2</a:t>
            </a:r>
            <a:endParaRPr lang="en-US" sz="900" dirty="0"/>
          </a:p>
        </p:txBody>
      </p:sp>
      <p:sp>
        <p:nvSpPr>
          <p:cNvPr id="2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Agenda – Six Topics Covered in This Session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8"/>
        </a:solidFill>
      </p:bgPr>
    </p:bg>
    <p:spTree>
      <p:nvGrpSpPr>
        <p:cNvPr id="1" name=""/>
        <p:cNvGrpSpPr/>
        <p:nvPr/>
      </p:nvGrpSpPr>
      <p:grpSpPr>
        <a:xfrm>
          <a:off x="0" y="0"/>
          <a:ext cx="0" cy="0"/>
          <a:chOff x="0" y="0"/>
          <a:chExt cx="0" cy="0"/>
        </a:xfrm>
      </p:grpSpPr>
      <p:sp>
        <p:nvSpPr>
          <p:cNvPr id="2" name="Decorative Shape" descr=""/>
          <p:cNvSpPr/>
          <p:nvPr/>
        </p:nvSpPr>
        <p:spPr>
          <a:xfrm>
            <a:off x="0" y="0"/>
            <a:ext cx="9144000" cy="914400"/>
          </a:xfrm>
          <a:prstGeom prst="rect">
            <a:avLst/>
          </a:prstGeom>
          <a:solidFill>
            <a:srgbClr val="028090"/>
          </a:solidFill>
          <a:ln w="12700">
            <a:solidFill>
              <a:srgbClr val="028090"/>
            </a:solidFill>
            <a:prstDash val="solid"/>
          </a:ln>
        </p:spPr>
        <p:txBody>
          <a:bodyPr/>
          <a:p/>
        </p:txBody>
      </p:sp>
      <p:sp>
        <p:nvSpPr>
          <p:cNvPr id="3" name="Text: 01 |  What is Digital Accessibility?"/>
          <p:cNvSpPr/>
          <p:nvPr/>
        </p:nvSpPr>
        <p:spPr>
          <a:xfrm>
            <a:off x="365760" y="137160"/>
            <a:ext cx="8229600" cy="640080"/>
          </a:xfrm>
          <a:prstGeom prst="rect">
            <a:avLst/>
          </a:prstGeom>
          <a:noFill/>
          <a:ln/>
        </p:spPr>
        <p:txBody>
          <a:bodyPr wrap="square" lIns="0" tIns="0" rIns="0" bIns="0" rtlCol="0" anchor="ctr"/>
          <a:lstStyle/>
          <a:p>
            <a:pPr indent="0" marL="0">
              <a:buNone/>
            </a:pPr>
            <a:r>
              <a:rPr lang="en-US" sz="2800" b="1" dirty="0">
                <a:solidFill>
                  <a:srgbClr val="FFFFFF"/>
                </a:solidFill>
              </a:rPr>
              <a:t>01 |  What is Digital Accessibility?</a:t>
            </a:r>
            <a:endParaRPr lang="en-US" sz="2800" dirty="0"/>
          </a:p>
        </p:txBody>
      </p:sp>
      <p:sp>
        <p:nvSpPr>
          <p:cNvPr id="4" name="Decorative Shape" descr=""/>
          <p:cNvSpPr/>
          <p:nvPr/>
        </p:nvSpPr>
        <p:spPr>
          <a:xfrm>
            <a:off x="365760" y="1005840"/>
            <a:ext cx="8412480" cy="1188720"/>
          </a:xfrm>
          <a:prstGeom prst="rect">
            <a:avLst/>
          </a:prstGeom>
          <a:solidFill>
            <a:srgbClr val="0D2B3E"/>
          </a:solidFill>
          <a:ln w="12700">
            <a:solidFill>
              <a:srgbClr val="0D2B3E"/>
            </a:solidFill>
            <a:prstDash val="solid"/>
          </a:ln>
          <a:effectLst>
            <a:outerShdw sx="100000" sy="100000" kx="0" ky="0" algn="bl" rotWithShape="0" blurRad="76200" dist="25400" dir="8100000">
              <a:srgbClr val="000000">
                <a:alpha val="15000"/>
              </a:srgbClr>
            </a:outerShdw>
          </a:effectLst>
        </p:spPr>
        <p:txBody>
          <a:bodyPr/>
          <a:p/>
        </p:txBody>
      </p:sp>
      <p:sp>
        <p:nvSpPr>
          <p:cNvPr id="5" name="Decorative Shape" descr=""/>
          <p:cNvSpPr/>
          <p:nvPr/>
        </p:nvSpPr>
        <p:spPr>
          <a:xfrm>
            <a:off x="365760" y="1005840"/>
            <a:ext cx="109728" cy="1188720"/>
          </a:xfrm>
          <a:prstGeom prst="rect">
            <a:avLst/>
          </a:prstGeom>
          <a:solidFill>
            <a:srgbClr val="F4A261"/>
          </a:solidFill>
          <a:ln w="12700">
            <a:solidFill>
              <a:srgbClr val="F4A261"/>
            </a:solidFill>
            <a:prstDash val="solid"/>
          </a:ln>
        </p:spPr>
        <p:txBody>
          <a:bodyPr/>
          <a:p/>
        </p:txBody>
      </p:sp>
      <p:sp>
        <p:nvSpPr>
          <p:cNvPr id="6" name="Text: Digital Accessibility is the practice of designing and devel"/>
          <p:cNvSpPr/>
          <p:nvPr/>
        </p:nvSpPr>
        <p:spPr>
          <a:xfrm>
            <a:off x="594360" y="1051560"/>
            <a:ext cx="8046720" cy="1097280"/>
          </a:xfrm>
          <a:prstGeom prst="rect">
            <a:avLst/>
          </a:prstGeom>
          <a:noFill/>
          <a:ln/>
        </p:spPr>
        <p:txBody>
          <a:bodyPr wrap="square" lIns="0" tIns="0" rIns="0" bIns="0" rtlCol="0" anchor="ctr"/>
          <a:lstStyle/>
          <a:p>
            <a:pPr indent="0" marL="0">
              <a:buNone/>
            </a:pPr>
            <a:r>
              <a:rPr lang="en-US" sz="1400" i="1" dirty="0">
                <a:solidFill>
                  <a:srgbClr val="FFFFFF"/>
                </a:solidFill>
              </a:rPr>
              <a:t>Digital Accessibility is the practice of designing and developing websites, applications, and digital content so that people with disabilities can perceive, understand, navigate, and interact with them on an equal basis with others.</a:t>
            </a:r>
            <a:endParaRPr lang="en-US" sz="1400" dirty="0"/>
          </a:p>
        </p:txBody>
      </p:sp>
      <p:sp>
        <p:nvSpPr>
          <p:cNvPr id="7" name="Decorative Shape" descr=""/>
          <p:cNvSpPr/>
          <p:nvPr/>
        </p:nvSpPr>
        <p:spPr>
          <a:xfrm>
            <a:off x="274320" y="2377440"/>
            <a:ext cx="2011680" cy="219456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8" name="Decorative Shape" descr=""/>
          <p:cNvSpPr/>
          <p:nvPr/>
        </p:nvSpPr>
        <p:spPr>
          <a:xfrm>
            <a:off x="274320" y="2377440"/>
            <a:ext cx="2011680" cy="411480"/>
          </a:xfrm>
          <a:prstGeom prst="rect">
            <a:avLst/>
          </a:prstGeom>
          <a:solidFill>
            <a:srgbClr val="028090"/>
          </a:solidFill>
          <a:ln w="12700">
            <a:solidFill>
              <a:srgbClr val="028090"/>
            </a:solidFill>
            <a:prstDash val="solid"/>
          </a:ln>
        </p:spPr>
        <p:txBody>
          <a:bodyPr/>
          <a:p/>
        </p:txBody>
      </p:sp>
      <p:sp>
        <p:nvSpPr>
          <p:cNvPr id="9" name="Text: Perceivable"/>
          <p:cNvSpPr/>
          <p:nvPr/>
        </p:nvSpPr>
        <p:spPr>
          <a:xfrm>
            <a:off x="365760" y="2395728"/>
            <a:ext cx="1828800" cy="347472"/>
          </a:xfrm>
          <a:prstGeom prst="rect">
            <a:avLst/>
          </a:prstGeom>
          <a:noFill/>
          <a:ln/>
        </p:spPr>
        <p:txBody>
          <a:bodyPr wrap="square" lIns="0" tIns="0" rIns="0" bIns="0" rtlCol="0" anchor="ctr"/>
          <a:lstStyle/>
          <a:p>
            <a:pPr algn="ctr" indent="0" marL="0">
              <a:buNone/>
            </a:pPr>
            <a:r>
              <a:rPr lang="en-US" sz="1200" b="1" dirty="0">
                <a:solidFill>
                  <a:srgbClr val="FFFFFF"/>
                </a:solidFill>
              </a:rPr>
              <a:t>Perceivable</a:t>
            </a:r>
            <a:endParaRPr lang="en-US" sz="1200" dirty="0"/>
          </a:p>
        </p:txBody>
      </p:sp>
      <p:sp>
        <p:nvSpPr>
          <p:cNvPr id="10" name="Text: Information must be presented in ways users can sense."/>
          <p:cNvSpPr/>
          <p:nvPr/>
        </p:nvSpPr>
        <p:spPr>
          <a:xfrm>
            <a:off x="365760" y="2852928"/>
            <a:ext cx="1828800" cy="1554480"/>
          </a:xfrm>
          <a:prstGeom prst="rect">
            <a:avLst/>
          </a:prstGeom>
          <a:noFill/>
          <a:ln/>
        </p:spPr>
        <p:txBody>
          <a:bodyPr wrap="square" lIns="0" tIns="0" rIns="0" bIns="0" rtlCol="0" anchor="ctr"/>
          <a:lstStyle/>
          <a:p>
            <a:pPr indent="0" marL="0">
              <a:buNone/>
            </a:pPr>
            <a:r>
              <a:rPr lang="en-US" sz="1100" dirty="0">
                <a:solidFill>
                  <a:srgbClr val="1A3040"/>
                </a:solidFill>
              </a:rPr>
              <a:t>Information must be presented in ways users can sense.</a:t>
            </a:r>
            <a:endParaRPr lang="en-US" sz="1100" dirty="0"/>
          </a:p>
        </p:txBody>
      </p:sp>
      <p:sp>
        <p:nvSpPr>
          <p:cNvPr id="11" name="Decorative Shape" descr=""/>
          <p:cNvSpPr/>
          <p:nvPr/>
        </p:nvSpPr>
        <p:spPr>
          <a:xfrm>
            <a:off x="2450592" y="2377440"/>
            <a:ext cx="2011680" cy="219456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12" name="Decorative Shape" descr=""/>
          <p:cNvSpPr/>
          <p:nvPr/>
        </p:nvSpPr>
        <p:spPr>
          <a:xfrm>
            <a:off x="2450592" y="2377440"/>
            <a:ext cx="2011680" cy="411480"/>
          </a:xfrm>
          <a:prstGeom prst="rect">
            <a:avLst/>
          </a:prstGeom>
          <a:solidFill>
            <a:srgbClr val="00A896"/>
          </a:solidFill>
          <a:ln w="12700">
            <a:solidFill>
              <a:srgbClr val="00A896"/>
            </a:solidFill>
            <a:prstDash val="solid"/>
          </a:ln>
        </p:spPr>
        <p:txBody>
          <a:bodyPr/>
          <a:p/>
        </p:txBody>
      </p:sp>
      <p:sp>
        <p:nvSpPr>
          <p:cNvPr id="13" name="Text: Operable"/>
          <p:cNvSpPr/>
          <p:nvPr/>
        </p:nvSpPr>
        <p:spPr>
          <a:xfrm>
            <a:off x="2542032" y="2395728"/>
            <a:ext cx="1828800" cy="347472"/>
          </a:xfrm>
          <a:prstGeom prst="rect">
            <a:avLst/>
          </a:prstGeom>
          <a:noFill/>
          <a:ln/>
        </p:spPr>
        <p:txBody>
          <a:bodyPr wrap="square" lIns="0" tIns="0" rIns="0" bIns="0" rtlCol="0" anchor="ctr"/>
          <a:lstStyle/>
          <a:p>
            <a:pPr algn="ctr" indent="0" marL="0">
              <a:buNone/>
            </a:pPr>
            <a:r>
              <a:rPr lang="en-US" sz="1200" b="1" dirty="0">
                <a:solidFill>
                  <a:srgbClr val="FFFFFF"/>
                </a:solidFill>
              </a:rPr>
              <a:t>Operable</a:t>
            </a:r>
            <a:endParaRPr lang="en-US" sz="1200" dirty="0"/>
          </a:p>
        </p:txBody>
      </p:sp>
      <p:sp>
        <p:nvSpPr>
          <p:cNvPr id="14" name="Text: Interface components must be navigable and usable."/>
          <p:cNvSpPr/>
          <p:nvPr/>
        </p:nvSpPr>
        <p:spPr>
          <a:xfrm>
            <a:off x="2542032" y="2852928"/>
            <a:ext cx="1828800" cy="1554480"/>
          </a:xfrm>
          <a:prstGeom prst="rect">
            <a:avLst/>
          </a:prstGeom>
          <a:noFill/>
          <a:ln/>
        </p:spPr>
        <p:txBody>
          <a:bodyPr wrap="square" lIns="0" tIns="0" rIns="0" bIns="0" rtlCol="0" anchor="ctr"/>
          <a:lstStyle/>
          <a:p>
            <a:pPr indent="0" marL="0">
              <a:buNone/>
            </a:pPr>
            <a:r>
              <a:rPr lang="en-US" sz="1100" dirty="0">
                <a:solidFill>
                  <a:srgbClr val="1A3040"/>
                </a:solidFill>
              </a:rPr>
              <a:t>Interface components must be navigable and usable.</a:t>
            </a:r>
            <a:endParaRPr lang="en-US" sz="1100" dirty="0"/>
          </a:p>
        </p:txBody>
      </p:sp>
      <p:sp>
        <p:nvSpPr>
          <p:cNvPr id="15" name="Decorative Shape" descr=""/>
          <p:cNvSpPr/>
          <p:nvPr/>
        </p:nvSpPr>
        <p:spPr>
          <a:xfrm>
            <a:off x="4626864" y="2377440"/>
            <a:ext cx="2011680" cy="219456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16" name="Decorative Shape" descr=""/>
          <p:cNvSpPr/>
          <p:nvPr/>
        </p:nvSpPr>
        <p:spPr>
          <a:xfrm>
            <a:off x="4626864" y="2377440"/>
            <a:ext cx="2011680" cy="411480"/>
          </a:xfrm>
          <a:prstGeom prst="rect">
            <a:avLst/>
          </a:prstGeom>
          <a:solidFill>
            <a:srgbClr val="028090"/>
          </a:solidFill>
          <a:ln w="12700">
            <a:solidFill>
              <a:srgbClr val="028090"/>
            </a:solidFill>
            <a:prstDash val="solid"/>
          </a:ln>
        </p:spPr>
        <p:txBody>
          <a:bodyPr/>
          <a:p/>
        </p:txBody>
      </p:sp>
      <p:sp>
        <p:nvSpPr>
          <p:cNvPr id="17" name="Text: Understandable"/>
          <p:cNvSpPr/>
          <p:nvPr/>
        </p:nvSpPr>
        <p:spPr>
          <a:xfrm>
            <a:off x="4718304" y="2395728"/>
            <a:ext cx="1828800" cy="347472"/>
          </a:xfrm>
          <a:prstGeom prst="rect">
            <a:avLst/>
          </a:prstGeom>
          <a:noFill/>
          <a:ln/>
        </p:spPr>
        <p:txBody>
          <a:bodyPr wrap="square" lIns="0" tIns="0" rIns="0" bIns="0" rtlCol="0" anchor="ctr"/>
          <a:lstStyle/>
          <a:p>
            <a:pPr algn="ctr" indent="0" marL="0">
              <a:buNone/>
            </a:pPr>
            <a:r>
              <a:rPr lang="en-US" sz="1200" b="1" dirty="0">
                <a:solidFill>
                  <a:srgbClr val="FFFFFF"/>
                </a:solidFill>
              </a:rPr>
              <a:t>Understandable</a:t>
            </a:r>
            <a:endParaRPr lang="en-US" sz="1200" dirty="0"/>
          </a:p>
        </p:txBody>
      </p:sp>
      <p:sp>
        <p:nvSpPr>
          <p:cNvPr id="18" name="Text: Content and operation must be clear and predictable."/>
          <p:cNvSpPr/>
          <p:nvPr/>
        </p:nvSpPr>
        <p:spPr>
          <a:xfrm>
            <a:off x="4718304" y="2852928"/>
            <a:ext cx="1828800" cy="1554480"/>
          </a:xfrm>
          <a:prstGeom prst="rect">
            <a:avLst/>
          </a:prstGeom>
          <a:noFill/>
          <a:ln/>
        </p:spPr>
        <p:txBody>
          <a:bodyPr wrap="square" lIns="0" tIns="0" rIns="0" bIns="0" rtlCol="0" anchor="ctr"/>
          <a:lstStyle/>
          <a:p>
            <a:pPr indent="0" marL="0">
              <a:buNone/>
            </a:pPr>
            <a:r>
              <a:rPr lang="en-US" sz="1100" dirty="0">
                <a:solidFill>
                  <a:srgbClr val="1A3040"/>
                </a:solidFill>
              </a:rPr>
              <a:t>Content and operation must be clear and predictable.</a:t>
            </a:r>
            <a:endParaRPr lang="en-US" sz="1100" dirty="0"/>
          </a:p>
        </p:txBody>
      </p:sp>
      <p:sp>
        <p:nvSpPr>
          <p:cNvPr id="19" name="Decorative Shape" descr=""/>
          <p:cNvSpPr/>
          <p:nvPr/>
        </p:nvSpPr>
        <p:spPr>
          <a:xfrm>
            <a:off x="6803136" y="2377440"/>
            <a:ext cx="2011680" cy="219456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20" name="Decorative Shape" descr=""/>
          <p:cNvSpPr/>
          <p:nvPr/>
        </p:nvSpPr>
        <p:spPr>
          <a:xfrm>
            <a:off x="6803136" y="2377440"/>
            <a:ext cx="2011680" cy="411480"/>
          </a:xfrm>
          <a:prstGeom prst="rect">
            <a:avLst/>
          </a:prstGeom>
          <a:solidFill>
            <a:srgbClr val="00A896"/>
          </a:solidFill>
          <a:ln w="12700">
            <a:solidFill>
              <a:srgbClr val="00A896"/>
            </a:solidFill>
            <a:prstDash val="solid"/>
          </a:ln>
        </p:spPr>
        <p:txBody>
          <a:bodyPr/>
          <a:p/>
        </p:txBody>
      </p:sp>
      <p:sp>
        <p:nvSpPr>
          <p:cNvPr id="21" name="Text: Robust"/>
          <p:cNvSpPr/>
          <p:nvPr/>
        </p:nvSpPr>
        <p:spPr>
          <a:xfrm>
            <a:off x="6894576" y="2395728"/>
            <a:ext cx="1828800" cy="347472"/>
          </a:xfrm>
          <a:prstGeom prst="rect">
            <a:avLst/>
          </a:prstGeom>
          <a:noFill/>
          <a:ln/>
        </p:spPr>
        <p:txBody>
          <a:bodyPr wrap="square" lIns="0" tIns="0" rIns="0" bIns="0" rtlCol="0" anchor="ctr"/>
          <a:lstStyle/>
          <a:p>
            <a:pPr algn="ctr" indent="0" marL="0">
              <a:buNone/>
            </a:pPr>
            <a:r>
              <a:rPr lang="en-US" sz="1200" b="1" dirty="0">
                <a:solidFill>
                  <a:srgbClr val="FFFFFF"/>
                </a:solidFill>
              </a:rPr>
              <a:t>Robust</a:t>
            </a:r>
            <a:endParaRPr lang="en-US" sz="1200" dirty="0"/>
          </a:p>
        </p:txBody>
      </p:sp>
      <p:sp>
        <p:nvSpPr>
          <p:cNvPr id="22" name="Text: Content must be compatible with current and future tools."/>
          <p:cNvSpPr/>
          <p:nvPr/>
        </p:nvSpPr>
        <p:spPr>
          <a:xfrm>
            <a:off x="6894576" y="2852928"/>
            <a:ext cx="1828800" cy="1554480"/>
          </a:xfrm>
          <a:prstGeom prst="rect">
            <a:avLst/>
          </a:prstGeom>
          <a:noFill/>
          <a:ln/>
        </p:spPr>
        <p:txBody>
          <a:bodyPr wrap="square" lIns="0" tIns="0" rIns="0" bIns="0" rtlCol="0" anchor="ctr"/>
          <a:lstStyle/>
          <a:p>
            <a:pPr indent="0" marL="0">
              <a:buNone/>
            </a:pPr>
            <a:r>
              <a:rPr lang="en-US" sz="1100" dirty="0">
                <a:solidFill>
                  <a:srgbClr val="1A3040"/>
                </a:solidFill>
              </a:rPr>
              <a:t>Content must be compatible with current and future tools.</a:t>
            </a:r>
            <a:endParaRPr lang="en-US" sz="1100" dirty="0"/>
          </a:p>
        </p:txBody>
      </p:sp>
      <p:sp>
        <p:nvSpPr>
          <p:cNvPr id="23" name="Decorative Shape" descr=""/>
          <p:cNvSpPr/>
          <p:nvPr/>
        </p:nvSpPr>
        <p:spPr>
          <a:xfrm>
            <a:off x="0" y="4846320"/>
            <a:ext cx="9144000" cy="297180"/>
          </a:xfrm>
          <a:prstGeom prst="rect">
            <a:avLst/>
          </a:prstGeom>
          <a:solidFill>
            <a:srgbClr val="0D2B3E"/>
          </a:solidFill>
          <a:ln w="12700">
            <a:solidFill>
              <a:srgbClr val="0D2B3E"/>
            </a:solidFill>
            <a:prstDash val="solid"/>
          </a:ln>
        </p:spPr>
        <p:txBody>
          <a:bodyPr/>
          <a:p/>
        </p:txBody>
      </p:sp>
      <p:sp>
        <p:nvSpPr>
          <p:cNvPr id="24" name="Text: Digital Accessibility Awareness"/>
          <p:cNvSpPr/>
          <p:nvPr/>
        </p:nvSpPr>
        <p:spPr>
          <a:xfrm>
            <a:off x="274320" y="4864608"/>
            <a:ext cx="4572000" cy="256032"/>
          </a:xfrm>
          <a:prstGeom prst="rect">
            <a:avLst/>
          </a:prstGeom>
          <a:noFill/>
          <a:ln/>
        </p:spPr>
        <p:txBody>
          <a:bodyPr wrap="square" lIns="0" tIns="0" rIns="0" bIns="0" rtlCol="0" anchor="ctr"/>
          <a:lstStyle/>
          <a:p>
            <a:pPr indent="0" marL="0">
              <a:buNone/>
            </a:pPr>
            <a:r>
              <a:rPr lang="en-US" sz="900" dirty="0">
                <a:solidFill>
                  <a:srgbClr val="C4DDE4"/>
                </a:solidFill>
              </a:rPr>
              <a:t>Digital Accessibility Awareness</a:t>
            </a:r>
            <a:endParaRPr lang="en-US" sz="900" dirty="0"/>
          </a:p>
        </p:txBody>
      </p:sp>
      <p:sp>
        <p:nvSpPr>
          <p:cNvPr id="25" name="Text: Slide 3"/>
          <p:cNvSpPr/>
          <p:nvPr/>
        </p:nvSpPr>
        <p:spPr>
          <a:xfrm>
            <a:off x="8229600" y="4864608"/>
            <a:ext cx="640080" cy="256032"/>
          </a:xfrm>
          <a:prstGeom prst="rect">
            <a:avLst/>
          </a:prstGeom>
          <a:noFill/>
          <a:ln/>
        </p:spPr>
        <p:txBody>
          <a:bodyPr wrap="square" lIns="0" tIns="0" rIns="0" bIns="0" rtlCol="0" anchor="ctr"/>
          <a:lstStyle/>
          <a:p>
            <a:pPr algn="r" indent="0" marL="0">
              <a:buNone/>
            </a:pPr>
            <a:r>
              <a:rPr lang="en-US" sz="900" dirty="0">
                <a:solidFill>
                  <a:srgbClr val="C4DDE4"/>
                </a:solidFill>
              </a:rPr>
              <a:t>Slide 3</a:t>
            </a:r>
            <a:endParaRPr lang="en-US" sz="900" dirty="0"/>
          </a:p>
        </p:txBody>
      </p:sp>
      <p:sp>
        <p:nvSpPr>
          <p:cNvPr id="3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Topic 1 – What is Digital Accessibility?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8"/>
        </a:solidFill>
      </p:bgPr>
    </p:bg>
    <p:spTree>
      <p:nvGrpSpPr>
        <p:cNvPr id="1" name=""/>
        <p:cNvGrpSpPr/>
        <p:nvPr/>
      </p:nvGrpSpPr>
      <p:grpSpPr>
        <a:xfrm>
          <a:off x="0" y="0"/>
          <a:ext cx="0" cy="0"/>
          <a:chOff x="0" y="0"/>
          <a:chExt cx="0" cy="0"/>
        </a:xfrm>
      </p:grpSpPr>
      <p:sp>
        <p:nvSpPr>
          <p:cNvPr id="2" name="Decorative Shape" descr=""/>
          <p:cNvSpPr/>
          <p:nvPr/>
        </p:nvSpPr>
        <p:spPr>
          <a:xfrm>
            <a:off x="0" y="0"/>
            <a:ext cx="9144000" cy="914400"/>
          </a:xfrm>
          <a:prstGeom prst="rect">
            <a:avLst/>
          </a:prstGeom>
          <a:solidFill>
            <a:srgbClr val="0D2B3E"/>
          </a:solidFill>
          <a:ln w="12700">
            <a:solidFill>
              <a:srgbClr val="0D2B3E"/>
            </a:solidFill>
            <a:prstDash val="solid"/>
          </a:ln>
        </p:spPr>
        <p:txBody>
          <a:bodyPr/>
          <a:p/>
        </p:txBody>
      </p:sp>
      <p:sp>
        <p:nvSpPr>
          <p:cNvPr id="3" name="Text: 02 |  Why Accessibility is a Need, Not a Retrofit"/>
          <p:cNvSpPr/>
          <p:nvPr/>
        </p:nvSpPr>
        <p:spPr>
          <a:xfrm>
            <a:off x="365760" y="13716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02 |  Why Accessibility is a Need, Not a Retrofit</a:t>
            </a:r>
            <a:endParaRPr lang="en-US" sz="2400" dirty="0"/>
          </a:p>
        </p:txBody>
      </p:sp>
      <p:sp>
        <p:nvSpPr>
          <p:cNvPr id="4" name="Decorative Shape" descr=""/>
          <p:cNvSpPr/>
          <p:nvPr/>
        </p:nvSpPr>
        <p:spPr>
          <a:xfrm>
            <a:off x="320040" y="1005840"/>
            <a:ext cx="5029200" cy="114300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5" name="Decorative Shape" descr=""/>
          <p:cNvSpPr/>
          <p:nvPr/>
        </p:nvSpPr>
        <p:spPr>
          <a:xfrm>
            <a:off x="320040" y="1005840"/>
            <a:ext cx="109728" cy="1143000"/>
          </a:xfrm>
          <a:prstGeom prst="rect">
            <a:avLst/>
          </a:prstGeom>
          <a:solidFill>
            <a:srgbClr val="F4A261"/>
          </a:solidFill>
          <a:ln w="12700">
            <a:solidFill>
              <a:srgbClr val="F4A261"/>
            </a:solidFill>
            <a:prstDash val="solid"/>
          </a:ln>
        </p:spPr>
        <p:txBody>
          <a:bodyPr/>
          <a:p/>
        </p:txBody>
      </p:sp>
      <p:sp>
        <p:nvSpPr>
          <p:cNvPr id="6" name="Text: Human Right"/>
          <p:cNvSpPr/>
          <p:nvPr/>
        </p:nvSpPr>
        <p:spPr>
          <a:xfrm>
            <a:off x="530352" y="1078992"/>
            <a:ext cx="4663440" cy="320040"/>
          </a:xfrm>
          <a:prstGeom prst="rect">
            <a:avLst/>
          </a:prstGeom>
          <a:noFill/>
          <a:ln/>
        </p:spPr>
        <p:txBody>
          <a:bodyPr wrap="square" lIns="0" tIns="0" rIns="0" bIns="0" rtlCol="0" anchor="ctr"/>
          <a:lstStyle/>
          <a:p>
            <a:pPr indent="0" marL="0">
              <a:buNone/>
            </a:pPr>
            <a:r>
              <a:rPr lang="en-US" sz="1300" b="1" dirty="0">
                <a:solidFill>
                  <a:srgbClr val="028090"/>
                </a:solidFill>
              </a:rPr>
              <a:t>Human Right</a:t>
            </a:r>
            <a:endParaRPr lang="en-US" sz="1300" dirty="0"/>
          </a:p>
        </p:txBody>
      </p:sp>
      <p:sp>
        <p:nvSpPr>
          <p:cNvPr id="7" name="Text: Access to information and communication is recognised as a f"/>
          <p:cNvSpPr/>
          <p:nvPr/>
        </p:nvSpPr>
        <p:spPr>
          <a:xfrm>
            <a:off x="530352" y="1389888"/>
            <a:ext cx="4663440" cy="685800"/>
          </a:xfrm>
          <a:prstGeom prst="rect">
            <a:avLst/>
          </a:prstGeom>
          <a:noFill/>
          <a:ln/>
        </p:spPr>
        <p:txBody>
          <a:bodyPr wrap="square" lIns="0" tIns="0" rIns="0" bIns="0" rtlCol="0" anchor="ctr"/>
          <a:lstStyle/>
          <a:p>
            <a:pPr indent="0" marL="0">
              <a:buNone/>
            </a:pPr>
            <a:r>
              <a:rPr lang="en-US" sz="1100" dirty="0">
                <a:solidFill>
                  <a:srgbClr val="1A3040"/>
                </a:solidFill>
              </a:rPr>
              <a:t>Access to information and communication is recognised as a fundamental right under the UN Convention on the Rights of Persons with Disabilities.</a:t>
            </a:r>
            <a:endParaRPr lang="en-US" sz="1100" dirty="0"/>
          </a:p>
        </p:txBody>
      </p:sp>
      <p:sp>
        <p:nvSpPr>
          <p:cNvPr id="8" name="Decorative Shape" descr=""/>
          <p:cNvSpPr/>
          <p:nvPr/>
        </p:nvSpPr>
        <p:spPr>
          <a:xfrm>
            <a:off x="320040" y="2286000"/>
            <a:ext cx="5029200" cy="114300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9" name="Decorative Shape" descr=""/>
          <p:cNvSpPr/>
          <p:nvPr/>
        </p:nvSpPr>
        <p:spPr>
          <a:xfrm>
            <a:off x="320040" y="2286000"/>
            <a:ext cx="109728" cy="1143000"/>
          </a:xfrm>
          <a:prstGeom prst="rect">
            <a:avLst/>
          </a:prstGeom>
          <a:solidFill>
            <a:srgbClr val="F4A261"/>
          </a:solidFill>
          <a:ln w="12700">
            <a:solidFill>
              <a:srgbClr val="F4A261"/>
            </a:solidFill>
            <a:prstDash val="solid"/>
          </a:ln>
        </p:spPr>
        <p:txBody>
          <a:bodyPr/>
          <a:p/>
        </p:txBody>
      </p:sp>
      <p:sp>
        <p:nvSpPr>
          <p:cNvPr id="10" name="Text: Legal Mandate"/>
          <p:cNvSpPr/>
          <p:nvPr/>
        </p:nvSpPr>
        <p:spPr>
          <a:xfrm>
            <a:off x="530352" y="2359152"/>
            <a:ext cx="4663440" cy="320040"/>
          </a:xfrm>
          <a:prstGeom prst="rect">
            <a:avLst/>
          </a:prstGeom>
          <a:noFill/>
          <a:ln/>
        </p:spPr>
        <p:txBody>
          <a:bodyPr wrap="square" lIns="0" tIns="0" rIns="0" bIns="0" rtlCol="0" anchor="ctr"/>
          <a:lstStyle/>
          <a:p>
            <a:pPr indent="0" marL="0">
              <a:buNone/>
            </a:pPr>
            <a:r>
              <a:rPr lang="en-US" sz="1300" b="1" dirty="0">
                <a:solidFill>
                  <a:srgbClr val="028090"/>
                </a:solidFill>
              </a:rPr>
              <a:t>Legal Mandate</a:t>
            </a:r>
            <a:endParaRPr lang="en-US" sz="1300" dirty="0"/>
          </a:p>
        </p:txBody>
      </p:sp>
      <p:sp>
        <p:nvSpPr>
          <p:cNvPr id="11" name="Text: Laws like the ADA, Section 508, EN 301 549, and India's RPWD"/>
          <p:cNvSpPr/>
          <p:nvPr/>
        </p:nvSpPr>
        <p:spPr>
          <a:xfrm>
            <a:off x="530352" y="2670048"/>
            <a:ext cx="4663440" cy="685800"/>
          </a:xfrm>
          <a:prstGeom prst="rect">
            <a:avLst/>
          </a:prstGeom>
          <a:noFill/>
          <a:ln/>
        </p:spPr>
        <p:txBody>
          <a:bodyPr wrap="square" lIns="0" tIns="0" rIns="0" bIns="0" rtlCol="0" anchor="ctr"/>
          <a:lstStyle/>
          <a:p>
            <a:pPr indent="0" marL="0">
              <a:buNone/>
            </a:pPr>
            <a:r>
              <a:rPr lang="en-US" sz="1100" dirty="0">
                <a:solidFill>
                  <a:srgbClr val="1A3040"/>
                </a:solidFill>
              </a:rPr>
              <a:t>Laws like the ADA, Section 508, EN 301 549, and India's RPWD Act 2016 create binding obligations for accessible digital services.</a:t>
            </a:r>
            <a:endParaRPr lang="en-US" sz="1100" dirty="0"/>
          </a:p>
        </p:txBody>
      </p:sp>
      <p:sp>
        <p:nvSpPr>
          <p:cNvPr id="12" name="Decorative Shape" descr=""/>
          <p:cNvSpPr/>
          <p:nvPr/>
        </p:nvSpPr>
        <p:spPr>
          <a:xfrm>
            <a:off x="320040" y="3566160"/>
            <a:ext cx="5029200" cy="114300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13" name="Decorative Shape" descr=""/>
          <p:cNvSpPr/>
          <p:nvPr/>
        </p:nvSpPr>
        <p:spPr>
          <a:xfrm>
            <a:off x="320040" y="3566160"/>
            <a:ext cx="109728" cy="1143000"/>
          </a:xfrm>
          <a:prstGeom prst="rect">
            <a:avLst/>
          </a:prstGeom>
          <a:solidFill>
            <a:srgbClr val="F4A261"/>
          </a:solidFill>
          <a:ln w="12700">
            <a:solidFill>
              <a:srgbClr val="F4A261"/>
            </a:solidFill>
            <a:prstDash val="solid"/>
          </a:ln>
        </p:spPr>
        <p:txBody>
          <a:bodyPr/>
          <a:p/>
        </p:txBody>
      </p:sp>
      <p:sp>
        <p:nvSpPr>
          <p:cNvPr id="14" name="Text: Business Logic"/>
          <p:cNvSpPr/>
          <p:nvPr/>
        </p:nvSpPr>
        <p:spPr>
          <a:xfrm>
            <a:off x="530352" y="3639312"/>
            <a:ext cx="4663440" cy="320040"/>
          </a:xfrm>
          <a:prstGeom prst="rect">
            <a:avLst/>
          </a:prstGeom>
          <a:noFill/>
          <a:ln/>
        </p:spPr>
        <p:txBody>
          <a:bodyPr wrap="square" lIns="0" tIns="0" rIns="0" bIns="0" rtlCol="0" anchor="ctr"/>
          <a:lstStyle/>
          <a:p>
            <a:pPr indent="0" marL="0">
              <a:buNone/>
            </a:pPr>
            <a:r>
              <a:rPr lang="en-US" sz="1300" b="1" dirty="0">
                <a:solidFill>
                  <a:srgbClr val="028090"/>
                </a:solidFill>
              </a:rPr>
              <a:t>Business Logic</a:t>
            </a:r>
            <a:endParaRPr lang="en-US" sz="1300" dirty="0"/>
          </a:p>
        </p:txBody>
      </p:sp>
      <p:sp>
        <p:nvSpPr>
          <p:cNvPr id="15" name="Text: Over 1.3 billion people worldwide have a disability. Inacces"/>
          <p:cNvSpPr/>
          <p:nvPr/>
        </p:nvSpPr>
        <p:spPr>
          <a:xfrm>
            <a:off x="530352" y="3950208"/>
            <a:ext cx="4663440" cy="685800"/>
          </a:xfrm>
          <a:prstGeom prst="rect">
            <a:avLst/>
          </a:prstGeom>
          <a:noFill/>
          <a:ln/>
        </p:spPr>
        <p:txBody>
          <a:bodyPr wrap="square" lIns="0" tIns="0" rIns="0" bIns="0" rtlCol="0" anchor="ctr"/>
          <a:lstStyle/>
          <a:p>
            <a:pPr indent="0" marL="0">
              <a:buNone/>
            </a:pPr>
            <a:r>
              <a:rPr lang="en-US" sz="1100" dirty="0">
                <a:solidFill>
                  <a:srgbClr val="1A3040"/>
                </a:solidFill>
              </a:rPr>
              <a:t>Over 1.3 billion people worldwide have a disability. Inaccessible products exclude paying customers and expose organisations to litigation.</a:t>
            </a:r>
            <a:endParaRPr lang="en-US" sz="1100" dirty="0"/>
          </a:p>
        </p:txBody>
      </p:sp>
      <p:sp>
        <p:nvSpPr>
          <p:cNvPr id="16" name="Decorative Shape" descr=""/>
          <p:cNvSpPr/>
          <p:nvPr/>
        </p:nvSpPr>
        <p:spPr>
          <a:xfrm>
            <a:off x="5577840" y="1005840"/>
            <a:ext cx="3246120" cy="3749040"/>
          </a:xfrm>
          <a:prstGeom prst="rect">
            <a:avLst/>
          </a:prstGeom>
          <a:solidFill>
            <a:srgbClr val="FFFFFF"/>
          </a:solidFill>
          <a:ln w="12700">
            <a:solidFill>
              <a:srgbClr val="C4DDE4"/>
            </a:solidFill>
            <a:prstDash val="solid"/>
          </a:ln>
          <a:effectLst>
            <a:outerShdw sx="100000" sy="100000" kx="0" ky="0" algn="bl" rotWithShape="0" blurRad="50800" dist="25400" dir="8100000">
              <a:srgbClr val="000000">
                <a:alpha val="8000"/>
              </a:srgbClr>
            </a:outerShdw>
          </a:effectLst>
        </p:spPr>
        <p:txBody>
          <a:bodyPr/>
          <a:p/>
        </p:txBody>
      </p:sp>
      <p:sp>
        <p:nvSpPr>
          <p:cNvPr id="17" name="Decorative Shape" descr=""/>
          <p:cNvSpPr/>
          <p:nvPr/>
        </p:nvSpPr>
        <p:spPr>
          <a:xfrm>
            <a:off x="5577840" y="1005840"/>
            <a:ext cx="3246120" cy="457200"/>
          </a:xfrm>
          <a:prstGeom prst="rect">
            <a:avLst/>
          </a:prstGeom>
          <a:solidFill>
            <a:srgbClr val="028090"/>
          </a:solidFill>
          <a:ln w="12700">
            <a:solidFill>
              <a:srgbClr val="028090"/>
            </a:solidFill>
            <a:prstDash val="solid"/>
          </a:ln>
        </p:spPr>
        <p:txBody>
          <a:bodyPr/>
          <a:p/>
        </p:txBody>
      </p:sp>
      <p:sp>
        <p:nvSpPr>
          <p:cNvPr id="18" name="Text: Retrofit vs Built-in"/>
          <p:cNvSpPr/>
          <p:nvPr/>
        </p:nvSpPr>
        <p:spPr>
          <a:xfrm>
            <a:off x="5669280" y="1042416"/>
            <a:ext cx="3017520" cy="347472"/>
          </a:xfrm>
          <a:prstGeom prst="rect">
            <a:avLst/>
          </a:prstGeom>
          <a:noFill/>
          <a:ln/>
        </p:spPr>
        <p:txBody>
          <a:bodyPr wrap="square" lIns="0" tIns="0" rIns="0" bIns="0" rtlCol="0" anchor="ctr"/>
          <a:lstStyle/>
          <a:p>
            <a:pPr algn="ctr" indent="0" marL="0">
              <a:buNone/>
            </a:pPr>
            <a:r>
              <a:rPr lang="en-US" sz="1300" b="1" dirty="0">
                <a:solidFill>
                  <a:srgbClr val="FFFFFF"/>
                </a:solidFill>
              </a:rPr>
              <a:t>Retrofit vs Built-in</a:t>
            </a:r>
            <a:endParaRPr lang="en-US" sz="1300" dirty="0"/>
          </a:p>
        </p:txBody>
      </p:sp>
      <p:sp>
        <p:nvSpPr>
          <p:cNvPr id="19" name="Decorative Shape" descr=""/>
          <p:cNvSpPr/>
          <p:nvPr/>
        </p:nvSpPr>
        <p:spPr>
          <a:xfrm>
            <a:off x="5577840" y="1536192"/>
            <a:ext cx="1600200" cy="493776"/>
          </a:xfrm>
          <a:prstGeom prst="rect">
            <a:avLst/>
          </a:prstGeom>
          <a:solidFill>
            <a:srgbClr val="0D2B3E"/>
          </a:solidFill>
          <a:ln w="6350">
            <a:solidFill>
              <a:srgbClr val="C4DDE4"/>
            </a:solidFill>
            <a:prstDash val="solid"/>
          </a:ln>
        </p:spPr>
        <p:txBody>
          <a:bodyPr/>
          <a:p/>
        </p:txBody>
      </p:sp>
      <p:sp>
        <p:nvSpPr>
          <p:cNvPr id="20" name="Decorative Shape" descr=""/>
          <p:cNvSpPr/>
          <p:nvPr/>
        </p:nvSpPr>
        <p:spPr>
          <a:xfrm>
            <a:off x="7178040" y="1536192"/>
            <a:ext cx="1645920" cy="493776"/>
          </a:xfrm>
          <a:prstGeom prst="rect">
            <a:avLst/>
          </a:prstGeom>
          <a:solidFill>
            <a:srgbClr val="0D2B3E"/>
          </a:solidFill>
          <a:ln w="6350">
            <a:solidFill>
              <a:srgbClr val="C4DDE4"/>
            </a:solidFill>
            <a:prstDash val="solid"/>
          </a:ln>
        </p:spPr>
        <p:txBody>
          <a:bodyPr/>
          <a:p/>
        </p:txBody>
      </p:sp>
      <p:sp>
        <p:nvSpPr>
          <p:cNvPr id="21" name="Text: Retrofit"/>
          <p:cNvSpPr/>
          <p:nvPr/>
        </p:nvSpPr>
        <p:spPr>
          <a:xfrm>
            <a:off x="5623560" y="1627632"/>
            <a:ext cx="1508760" cy="310896"/>
          </a:xfrm>
          <a:prstGeom prst="rect">
            <a:avLst/>
          </a:prstGeom>
          <a:noFill/>
          <a:ln/>
        </p:spPr>
        <p:txBody>
          <a:bodyPr wrap="square" lIns="0" tIns="0" rIns="0" bIns="0" rtlCol="0" anchor="ctr"/>
          <a:lstStyle/>
          <a:p>
            <a:pPr algn="ctr" indent="0" marL="0">
              <a:buNone/>
            </a:pPr>
            <a:r>
              <a:rPr lang="en-US" sz="1000" b="1" dirty="0">
                <a:solidFill>
                  <a:srgbClr val="F4A261"/>
                </a:solidFill>
              </a:rPr>
              <a:t>Retrofit</a:t>
            </a:r>
            <a:endParaRPr lang="en-US" sz="1000" dirty="0"/>
          </a:p>
        </p:txBody>
      </p:sp>
      <p:sp>
        <p:nvSpPr>
          <p:cNvPr id="22" name="Text: Built-in"/>
          <p:cNvSpPr/>
          <p:nvPr/>
        </p:nvSpPr>
        <p:spPr>
          <a:xfrm>
            <a:off x="7223760" y="1627632"/>
            <a:ext cx="1554480" cy="310896"/>
          </a:xfrm>
          <a:prstGeom prst="rect">
            <a:avLst/>
          </a:prstGeom>
          <a:noFill/>
          <a:ln/>
        </p:spPr>
        <p:txBody>
          <a:bodyPr wrap="square" lIns="0" tIns="0" rIns="0" bIns="0" rtlCol="0" anchor="ctr"/>
          <a:lstStyle/>
          <a:p>
            <a:pPr algn="ctr" indent="0" marL="0">
              <a:buNone/>
            </a:pPr>
            <a:r>
              <a:rPr lang="en-US" sz="1000" b="1" dirty="0">
                <a:solidFill>
                  <a:srgbClr val="00A896"/>
                </a:solidFill>
              </a:rPr>
              <a:t>Built-in</a:t>
            </a:r>
            <a:endParaRPr lang="en-US" sz="1000" dirty="0"/>
          </a:p>
        </p:txBody>
      </p:sp>
      <p:sp>
        <p:nvSpPr>
          <p:cNvPr id="23" name="Decorative Shape" descr=""/>
          <p:cNvSpPr/>
          <p:nvPr/>
        </p:nvSpPr>
        <p:spPr>
          <a:xfrm>
            <a:off x="5577840" y="2057400"/>
            <a:ext cx="1600200" cy="493776"/>
          </a:xfrm>
          <a:prstGeom prst="rect">
            <a:avLst/>
          </a:prstGeom>
          <a:solidFill>
            <a:srgbClr val="FFFFFF"/>
          </a:solidFill>
          <a:ln w="6350">
            <a:solidFill>
              <a:srgbClr val="C4DDE4"/>
            </a:solidFill>
            <a:prstDash val="solid"/>
          </a:ln>
        </p:spPr>
        <p:txBody>
          <a:bodyPr/>
          <a:p/>
        </p:txBody>
      </p:sp>
      <p:sp>
        <p:nvSpPr>
          <p:cNvPr id="24" name="Decorative Shape" descr=""/>
          <p:cNvSpPr/>
          <p:nvPr/>
        </p:nvSpPr>
        <p:spPr>
          <a:xfrm>
            <a:off x="7178040" y="2057400"/>
            <a:ext cx="1645920" cy="493776"/>
          </a:xfrm>
          <a:prstGeom prst="rect">
            <a:avLst/>
          </a:prstGeom>
          <a:solidFill>
            <a:srgbClr val="D0EDEF"/>
          </a:solidFill>
          <a:ln w="6350">
            <a:solidFill>
              <a:srgbClr val="C4DDE4"/>
            </a:solidFill>
            <a:prstDash val="solid"/>
          </a:ln>
        </p:spPr>
        <p:txBody>
          <a:bodyPr/>
          <a:p/>
        </p:txBody>
      </p:sp>
      <p:sp>
        <p:nvSpPr>
          <p:cNvPr id="25" name="Text: High rework cost"/>
          <p:cNvSpPr/>
          <p:nvPr/>
        </p:nvSpPr>
        <p:spPr>
          <a:xfrm>
            <a:off x="5623560" y="2148840"/>
            <a:ext cx="1508760" cy="310896"/>
          </a:xfrm>
          <a:prstGeom prst="rect">
            <a:avLst/>
          </a:prstGeom>
          <a:noFill/>
          <a:ln/>
        </p:spPr>
        <p:txBody>
          <a:bodyPr wrap="square" lIns="0" tIns="0" rIns="0" bIns="0" rtlCol="0" anchor="ctr"/>
          <a:lstStyle/>
          <a:p>
            <a:pPr algn="ctr" indent="0" marL="0">
              <a:buNone/>
            </a:pPr>
            <a:r>
              <a:rPr lang="en-US" sz="1000" dirty="0">
                <a:solidFill>
                  <a:srgbClr val="1A3040"/>
                </a:solidFill>
              </a:rPr>
              <a:t>High rework cost</a:t>
            </a:r>
            <a:endParaRPr lang="en-US" sz="1000" dirty="0"/>
          </a:p>
        </p:txBody>
      </p:sp>
      <p:sp>
        <p:nvSpPr>
          <p:cNvPr id="26" name="Text: Low integration cost"/>
          <p:cNvSpPr/>
          <p:nvPr/>
        </p:nvSpPr>
        <p:spPr>
          <a:xfrm>
            <a:off x="7223760" y="2148840"/>
            <a:ext cx="1554480" cy="310896"/>
          </a:xfrm>
          <a:prstGeom prst="rect">
            <a:avLst/>
          </a:prstGeom>
          <a:noFill/>
          <a:ln/>
        </p:spPr>
        <p:txBody>
          <a:bodyPr wrap="square" lIns="0" tIns="0" rIns="0" bIns="0" rtlCol="0" anchor="ctr"/>
          <a:lstStyle/>
          <a:p>
            <a:pPr algn="ctr" indent="0" marL="0">
              <a:buNone/>
            </a:pPr>
            <a:r>
              <a:rPr lang="en-US" sz="1000" dirty="0">
                <a:solidFill>
                  <a:srgbClr val="028090"/>
                </a:solidFill>
              </a:rPr>
              <a:t>Low integration cost</a:t>
            </a:r>
            <a:endParaRPr lang="en-US" sz="1000" dirty="0"/>
          </a:p>
        </p:txBody>
      </p:sp>
      <p:sp>
        <p:nvSpPr>
          <p:cNvPr id="27" name="Decorative Shape" descr=""/>
          <p:cNvSpPr/>
          <p:nvPr/>
        </p:nvSpPr>
        <p:spPr>
          <a:xfrm>
            <a:off x="5577840" y="2578608"/>
            <a:ext cx="1600200" cy="493776"/>
          </a:xfrm>
          <a:prstGeom prst="rect">
            <a:avLst/>
          </a:prstGeom>
          <a:solidFill>
            <a:srgbClr val="F2F7F8"/>
          </a:solidFill>
          <a:ln w="6350">
            <a:solidFill>
              <a:srgbClr val="C4DDE4"/>
            </a:solidFill>
            <a:prstDash val="solid"/>
          </a:ln>
        </p:spPr>
        <p:txBody>
          <a:bodyPr/>
          <a:p/>
        </p:txBody>
      </p:sp>
      <p:sp>
        <p:nvSpPr>
          <p:cNvPr id="28" name="Decorative Shape" descr=""/>
          <p:cNvSpPr/>
          <p:nvPr/>
        </p:nvSpPr>
        <p:spPr>
          <a:xfrm>
            <a:off x="7178040" y="2578608"/>
            <a:ext cx="1645920" cy="493776"/>
          </a:xfrm>
          <a:prstGeom prst="rect">
            <a:avLst/>
          </a:prstGeom>
          <a:solidFill>
            <a:srgbClr val="E8F5F7"/>
          </a:solidFill>
          <a:ln w="6350">
            <a:solidFill>
              <a:srgbClr val="C4DDE4"/>
            </a:solidFill>
            <a:prstDash val="solid"/>
          </a:ln>
        </p:spPr>
        <p:txBody>
          <a:bodyPr/>
          <a:p/>
        </p:txBody>
      </p:sp>
      <p:sp>
        <p:nvSpPr>
          <p:cNvPr id="29" name="Text: Poor user experience"/>
          <p:cNvSpPr/>
          <p:nvPr/>
        </p:nvSpPr>
        <p:spPr>
          <a:xfrm>
            <a:off x="5623560" y="2670048"/>
            <a:ext cx="1508760" cy="310896"/>
          </a:xfrm>
          <a:prstGeom prst="rect">
            <a:avLst/>
          </a:prstGeom>
          <a:noFill/>
          <a:ln/>
        </p:spPr>
        <p:txBody>
          <a:bodyPr wrap="square" lIns="0" tIns="0" rIns="0" bIns="0" rtlCol="0" anchor="ctr"/>
          <a:lstStyle/>
          <a:p>
            <a:pPr algn="ctr" indent="0" marL="0">
              <a:buNone/>
            </a:pPr>
            <a:r>
              <a:rPr lang="en-US" sz="1000" dirty="0">
                <a:solidFill>
                  <a:srgbClr val="1A3040"/>
                </a:solidFill>
              </a:rPr>
              <a:t>Poor user experience</a:t>
            </a:r>
            <a:endParaRPr lang="en-US" sz="1000" dirty="0"/>
          </a:p>
        </p:txBody>
      </p:sp>
      <p:sp>
        <p:nvSpPr>
          <p:cNvPr id="30" name="Text: Seamless experience"/>
          <p:cNvSpPr/>
          <p:nvPr/>
        </p:nvSpPr>
        <p:spPr>
          <a:xfrm>
            <a:off x="7223760" y="2670048"/>
            <a:ext cx="1554480" cy="310896"/>
          </a:xfrm>
          <a:prstGeom prst="rect">
            <a:avLst/>
          </a:prstGeom>
          <a:noFill/>
          <a:ln/>
        </p:spPr>
        <p:txBody>
          <a:bodyPr wrap="square" lIns="0" tIns="0" rIns="0" bIns="0" rtlCol="0" anchor="ctr"/>
          <a:lstStyle/>
          <a:p>
            <a:pPr algn="ctr" indent="0" marL="0">
              <a:buNone/>
            </a:pPr>
            <a:r>
              <a:rPr lang="en-US" sz="1000" dirty="0">
                <a:solidFill>
                  <a:srgbClr val="028090"/>
                </a:solidFill>
              </a:rPr>
              <a:t>Seamless experience</a:t>
            </a:r>
            <a:endParaRPr lang="en-US" sz="1000" dirty="0"/>
          </a:p>
        </p:txBody>
      </p:sp>
      <p:sp>
        <p:nvSpPr>
          <p:cNvPr id="31" name="Decorative Shape" descr=""/>
          <p:cNvSpPr/>
          <p:nvPr/>
        </p:nvSpPr>
        <p:spPr>
          <a:xfrm>
            <a:off x="5577840" y="3099816"/>
            <a:ext cx="1600200" cy="493776"/>
          </a:xfrm>
          <a:prstGeom prst="rect">
            <a:avLst/>
          </a:prstGeom>
          <a:solidFill>
            <a:srgbClr val="FFFFFF"/>
          </a:solidFill>
          <a:ln w="6350">
            <a:solidFill>
              <a:srgbClr val="C4DDE4"/>
            </a:solidFill>
            <a:prstDash val="solid"/>
          </a:ln>
        </p:spPr>
        <p:txBody>
          <a:bodyPr/>
          <a:p/>
        </p:txBody>
      </p:sp>
      <p:sp>
        <p:nvSpPr>
          <p:cNvPr id="32" name="Decorative Shape" descr=""/>
          <p:cNvSpPr/>
          <p:nvPr/>
        </p:nvSpPr>
        <p:spPr>
          <a:xfrm>
            <a:off x="7178040" y="3099816"/>
            <a:ext cx="1645920" cy="493776"/>
          </a:xfrm>
          <a:prstGeom prst="rect">
            <a:avLst/>
          </a:prstGeom>
          <a:solidFill>
            <a:srgbClr val="D0EDEF"/>
          </a:solidFill>
          <a:ln w="6350">
            <a:solidFill>
              <a:srgbClr val="C4DDE4"/>
            </a:solidFill>
            <a:prstDash val="solid"/>
          </a:ln>
        </p:spPr>
        <p:txBody>
          <a:bodyPr/>
          <a:p/>
        </p:txBody>
      </p:sp>
      <p:sp>
        <p:nvSpPr>
          <p:cNvPr id="33" name="Text: Risk of litigation"/>
          <p:cNvSpPr/>
          <p:nvPr/>
        </p:nvSpPr>
        <p:spPr>
          <a:xfrm>
            <a:off x="5623560" y="3191256"/>
            <a:ext cx="1508760" cy="310896"/>
          </a:xfrm>
          <a:prstGeom prst="rect">
            <a:avLst/>
          </a:prstGeom>
          <a:noFill/>
          <a:ln/>
        </p:spPr>
        <p:txBody>
          <a:bodyPr wrap="square" lIns="0" tIns="0" rIns="0" bIns="0" rtlCol="0" anchor="ctr"/>
          <a:lstStyle/>
          <a:p>
            <a:pPr algn="ctr" indent="0" marL="0">
              <a:buNone/>
            </a:pPr>
            <a:r>
              <a:rPr lang="en-US" sz="1000" dirty="0">
                <a:solidFill>
                  <a:srgbClr val="1A3040"/>
                </a:solidFill>
              </a:rPr>
              <a:t>Risk of litigation</a:t>
            </a:r>
            <a:endParaRPr lang="en-US" sz="1000" dirty="0"/>
          </a:p>
        </p:txBody>
      </p:sp>
      <p:sp>
        <p:nvSpPr>
          <p:cNvPr id="34" name="Text: Legal compliance"/>
          <p:cNvSpPr/>
          <p:nvPr/>
        </p:nvSpPr>
        <p:spPr>
          <a:xfrm>
            <a:off x="7223760" y="3191256"/>
            <a:ext cx="1554480" cy="310896"/>
          </a:xfrm>
          <a:prstGeom prst="rect">
            <a:avLst/>
          </a:prstGeom>
          <a:noFill/>
          <a:ln/>
        </p:spPr>
        <p:txBody>
          <a:bodyPr wrap="square" lIns="0" tIns="0" rIns="0" bIns="0" rtlCol="0" anchor="ctr"/>
          <a:lstStyle/>
          <a:p>
            <a:pPr algn="ctr" indent="0" marL="0">
              <a:buNone/>
            </a:pPr>
            <a:r>
              <a:rPr lang="en-US" sz="1000" dirty="0">
                <a:solidFill>
                  <a:srgbClr val="028090"/>
                </a:solidFill>
              </a:rPr>
              <a:t>Legal compliance</a:t>
            </a:r>
            <a:endParaRPr lang="en-US" sz="1000" dirty="0"/>
          </a:p>
        </p:txBody>
      </p:sp>
      <p:sp>
        <p:nvSpPr>
          <p:cNvPr id="35" name="Decorative Shape" descr=""/>
          <p:cNvSpPr/>
          <p:nvPr/>
        </p:nvSpPr>
        <p:spPr>
          <a:xfrm>
            <a:off x="5577840" y="3621024"/>
            <a:ext cx="1600200" cy="493776"/>
          </a:xfrm>
          <a:prstGeom prst="rect">
            <a:avLst/>
          </a:prstGeom>
          <a:solidFill>
            <a:srgbClr val="F2F7F8"/>
          </a:solidFill>
          <a:ln w="6350">
            <a:solidFill>
              <a:srgbClr val="C4DDE4"/>
            </a:solidFill>
            <a:prstDash val="solid"/>
          </a:ln>
        </p:spPr>
        <p:txBody>
          <a:bodyPr/>
          <a:p/>
        </p:txBody>
      </p:sp>
      <p:sp>
        <p:nvSpPr>
          <p:cNvPr id="36" name="Decorative Shape" descr=""/>
          <p:cNvSpPr/>
          <p:nvPr/>
        </p:nvSpPr>
        <p:spPr>
          <a:xfrm>
            <a:off x="7178040" y="3621024"/>
            <a:ext cx="1645920" cy="493776"/>
          </a:xfrm>
          <a:prstGeom prst="rect">
            <a:avLst/>
          </a:prstGeom>
          <a:solidFill>
            <a:srgbClr val="E8F5F7"/>
          </a:solidFill>
          <a:ln w="6350">
            <a:solidFill>
              <a:srgbClr val="C4DDE4"/>
            </a:solidFill>
            <a:prstDash val="solid"/>
          </a:ln>
        </p:spPr>
        <p:txBody>
          <a:bodyPr/>
          <a:p/>
        </p:txBody>
      </p:sp>
      <p:sp>
        <p:nvSpPr>
          <p:cNvPr id="37" name="Text: Missed market"/>
          <p:cNvSpPr/>
          <p:nvPr/>
        </p:nvSpPr>
        <p:spPr>
          <a:xfrm>
            <a:off x="5623560" y="3712464"/>
            <a:ext cx="1508760" cy="310896"/>
          </a:xfrm>
          <a:prstGeom prst="rect">
            <a:avLst/>
          </a:prstGeom>
          <a:noFill/>
          <a:ln/>
        </p:spPr>
        <p:txBody>
          <a:bodyPr wrap="square" lIns="0" tIns="0" rIns="0" bIns="0" rtlCol="0" anchor="ctr"/>
          <a:lstStyle/>
          <a:p>
            <a:pPr algn="ctr" indent="0" marL="0">
              <a:buNone/>
            </a:pPr>
            <a:r>
              <a:rPr lang="en-US" sz="1000" dirty="0">
                <a:solidFill>
                  <a:srgbClr val="1A3040"/>
                </a:solidFill>
              </a:rPr>
              <a:t>Missed market</a:t>
            </a:r>
            <a:endParaRPr lang="en-US" sz="1000" dirty="0"/>
          </a:p>
        </p:txBody>
      </p:sp>
      <p:sp>
        <p:nvSpPr>
          <p:cNvPr id="38" name="Text: Wider audience"/>
          <p:cNvSpPr/>
          <p:nvPr/>
        </p:nvSpPr>
        <p:spPr>
          <a:xfrm>
            <a:off x="7223760" y="3712464"/>
            <a:ext cx="1554480" cy="310896"/>
          </a:xfrm>
          <a:prstGeom prst="rect">
            <a:avLst/>
          </a:prstGeom>
          <a:noFill/>
          <a:ln/>
        </p:spPr>
        <p:txBody>
          <a:bodyPr wrap="square" lIns="0" tIns="0" rIns="0" bIns="0" rtlCol="0" anchor="ctr"/>
          <a:lstStyle/>
          <a:p>
            <a:pPr algn="ctr" indent="0" marL="0">
              <a:buNone/>
            </a:pPr>
            <a:r>
              <a:rPr lang="en-US" sz="1000" dirty="0">
                <a:solidFill>
                  <a:srgbClr val="028090"/>
                </a:solidFill>
              </a:rPr>
              <a:t>Wider audience</a:t>
            </a:r>
            <a:endParaRPr lang="en-US" sz="1000" dirty="0"/>
          </a:p>
        </p:txBody>
      </p:sp>
      <p:sp>
        <p:nvSpPr>
          <p:cNvPr id="39" name="Decorative Shape" descr=""/>
          <p:cNvSpPr/>
          <p:nvPr/>
        </p:nvSpPr>
        <p:spPr>
          <a:xfrm>
            <a:off x="5577840" y="4142232"/>
            <a:ext cx="1600200" cy="493776"/>
          </a:xfrm>
          <a:prstGeom prst="rect">
            <a:avLst/>
          </a:prstGeom>
          <a:solidFill>
            <a:srgbClr val="FFFFFF"/>
          </a:solidFill>
          <a:ln w="6350">
            <a:solidFill>
              <a:srgbClr val="C4DDE4"/>
            </a:solidFill>
            <a:prstDash val="solid"/>
          </a:ln>
        </p:spPr>
        <p:txBody>
          <a:bodyPr/>
          <a:p/>
        </p:txBody>
      </p:sp>
      <p:sp>
        <p:nvSpPr>
          <p:cNvPr id="40" name="Decorative Shape" descr=""/>
          <p:cNvSpPr/>
          <p:nvPr/>
        </p:nvSpPr>
        <p:spPr>
          <a:xfrm>
            <a:off x="7178040" y="4142232"/>
            <a:ext cx="1645920" cy="493776"/>
          </a:xfrm>
          <a:prstGeom prst="rect">
            <a:avLst/>
          </a:prstGeom>
          <a:solidFill>
            <a:srgbClr val="D0EDEF"/>
          </a:solidFill>
          <a:ln w="6350">
            <a:solidFill>
              <a:srgbClr val="C4DDE4"/>
            </a:solidFill>
            <a:prstDash val="solid"/>
          </a:ln>
        </p:spPr>
        <p:txBody>
          <a:bodyPr/>
          <a:p/>
        </p:txBody>
      </p:sp>
      <p:sp>
        <p:nvSpPr>
          <p:cNvPr id="41" name="Text: Technical debt"/>
          <p:cNvSpPr/>
          <p:nvPr/>
        </p:nvSpPr>
        <p:spPr>
          <a:xfrm>
            <a:off x="5623560" y="4233672"/>
            <a:ext cx="1508760" cy="310896"/>
          </a:xfrm>
          <a:prstGeom prst="rect">
            <a:avLst/>
          </a:prstGeom>
          <a:noFill/>
          <a:ln/>
        </p:spPr>
        <p:txBody>
          <a:bodyPr wrap="square" lIns="0" tIns="0" rIns="0" bIns="0" rtlCol="0" anchor="ctr"/>
          <a:lstStyle/>
          <a:p>
            <a:pPr algn="ctr" indent="0" marL="0">
              <a:buNone/>
            </a:pPr>
            <a:r>
              <a:rPr lang="en-US" sz="1000" dirty="0">
                <a:solidFill>
                  <a:srgbClr val="1A3040"/>
                </a:solidFill>
              </a:rPr>
              <a:t>Technical debt</a:t>
            </a:r>
            <a:endParaRPr lang="en-US" sz="1000" dirty="0"/>
          </a:p>
        </p:txBody>
      </p:sp>
      <p:sp>
        <p:nvSpPr>
          <p:cNvPr id="42" name="Text: Sustainable quality"/>
          <p:cNvSpPr/>
          <p:nvPr/>
        </p:nvSpPr>
        <p:spPr>
          <a:xfrm>
            <a:off x="7223760" y="4233672"/>
            <a:ext cx="1554480" cy="310896"/>
          </a:xfrm>
          <a:prstGeom prst="rect">
            <a:avLst/>
          </a:prstGeom>
          <a:noFill/>
          <a:ln/>
        </p:spPr>
        <p:txBody>
          <a:bodyPr wrap="square" lIns="0" tIns="0" rIns="0" bIns="0" rtlCol="0" anchor="ctr"/>
          <a:lstStyle/>
          <a:p>
            <a:pPr algn="ctr" indent="0" marL="0">
              <a:buNone/>
            </a:pPr>
            <a:r>
              <a:rPr lang="en-US" sz="1000" dirty="0">
                <a:solidFill>
                  <a:srgbClr val="028090"/>
                </a:solidFill>
              </a:rPr>
              <a:t>Sustainable quality</a:t>
            </a:r>
            <a:endParaRPr lang="en-US" sz="1000" dirty="0"/>
          </a:p>
        </p:txBody>
      </p:sp>
      <p:sp>
        <p:nvSpPr>
          <p:cNvPr id="43" name="Decorative Shape" descr=""/>
          <p:cNvSpPr/>
          <p:nvPr/>
        </p:nvSpPr>
        <p:spPr>
          <a:xfrm>
            <a:off x="0" y="4846320"/>
            <a:ext cx="9144000" cy="297180"/>
          </a:xfrm>
          <a:prstGeom prst="rect">
            <a:avLst/>
          </a:prstGeom>
          <a:solidFill>
            <a:srgbClr val="0D2B3E"/>
          </a:solidFill>
          <a:ln w="12700">
            <a:solidFill>
              <a:srgbClr val="0D2B3E"/>
            </a:solidFill>
            <a:prstDash val="solid"/>
          </a:ln>
        </p:spPr>
        <p:txBody>
          <a:bodyPr/>
          <a:p/>
        </p:txBody>
      </p:sp>
      <p:sp>
        <p:nvSpPr>
          <p:cNvPr id="44" name="Text: Digital Accessibility Awareness"/>
          <p:cNvSpPr/>
          <p:nvPr/>
        </p:nvSpPr>
        <p:spPr>
          <a:xfrm>
            <a:off x="274320" y="4864608"/>
            <a:ext cx="4572000" cy="256032"/>
          </a:xfrm>
          <a:prstGeom prst="rect">
            <a:avLst/>
          </a:prstGeom>
          <a:noFill/>
          <a:ln/>
        </p:spPr>
        <p:txBody>
          <a:bodyPr wrap="square" lIns="0" tIns="0" rIns="0" bIns="0" rtlCol="0" anchor="ctr"/>
          <a:lstStyle/>
          <a:p>
            <a:pPr indent="0" marL="0">
              <a:buNone/>
            </a:pPr>
            <a:r>
              <a:rPr lang="en-US" sz="900" dirty="0">
                <a:solidFill>
                  <a:srgbClr val="C4DDE4"/>
                </a:solidFill>
              </a:rPr>
              <a:t>Digital Accessibility Awareness</a:t>
            </a:r>
            <a:endParaRPr lang="en-US" sz="900" dirty="0"/>
          </a:p>
        </p:txBody>
      </p:sp>
      <p:sp>
        <p:nvSpPr>
          <p:cNvPr id="45" name="Text: Slide 4"/>
          <p:cNvSpPr/>
          <p:nvPr/>
        </p:nvSpPr>
        <p:spPr>
          <a:xfrm>
            <a:off x="8229600" y="4864608"/>
            <a:ext cx="640080" cy="256032"/>
          </a:xfrm>
          <a:prstGeom prst="rect">
            <a:avLst/>
          </a:prstGeom>
          <a:noFill/>
          <a:ln/>
        </p:spPr>
        <p:txBody>
          <a:bodyPr wrap="square" lIns="0" tIns="0" rIns="0" bIns="0" rtlCol="0" anchor="ctr"/>
          <a:lstStyle/>
          <a:p>
            <a:pPr algn="r" indent="0" marL="0">
              <a:buNone/>
            </a:pPr>
            <a:r>
              <a:rPr lang="en-US" sz="900" dirty="0">
                <a:solidFill>
                  <a:srgbClr val="C4DDE4"/>
                </a:solidFill>
              </a:rPr>
              <a:t>Slide 4</a:t>
            </a:r>
            <a:endParaRPr lang="en-US" sz="900" dirty="0"/>
          </a:p>
        </p:txBody>
      </p:sp>
      <p:sp>
        <p:nvSpPr>
          <p:cNvPr id="4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Topic 2 – Why Accessibility is a Need, Not a Retrofit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8"/>
        </a:solidFill>
      </p:bgPr>
    </p:bg>
    <p:spTree>
      <p:nvGrpSpPr>
        <p:cNvPr id="1" name=""/>
        <p:cNvGrpSpPr/>
        <p:nvPr/>
      </p:nvGrpSpPr>
      <p:grpSpPr>
        <a:xfrm>
          <a:off x="0" y="0"/>
          <a:ext cx="0" cy="0"/>
          <a:chOff x="0" y="0"/>
          <a:chExt cx="0" cy="0"/>
        </a:xfrm>
      </p:grpSpPr>
      <p:sp>
        <p:nvSpPr>
          <p:cNvPr id="2" name="Decorative Shape" descr=""/>
          <p:cNvSpPr/>
          <p:nvPr/>
        </p:nvSpPr>
        <p:spPr>
          <a:xfrm>
            <a:off x="0" y="0"/>
            <a:ext cx="9144000" cy="914400"/>
          </a:xfrm>
          <a:prstGeom prst="rect">
            <a:avLst/>
          </a:prstGeom>
          <a:solidFill>
            <a:srgbClr val="00A896"/>
          </a:solidFill>
          <a:ln w="12700">
            <a:solidFill>
              <a:srgbClr val="00A896"/>
            </a:solidFill>
            <a:prstDash val="solid"/>
          </a:ln>
        </p:spPr>
        <p:txBody>
          <a:bodyPr/>
          <a:p/>
        </p:txBody>
      </p:sp>
      <p:sp>
        <p:nvSpPr>
          <p:cNvPr id="3" name="Text: 03 |  The Impact of Accessible Digital Products"/>
          <p:cNvSpPr/>
          <p:nvPr/>
        </p:nvSpPr>
        <p:spPr>
          <a:xfrm>
            <a:off x="365760" y="13716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03 |  The Impact of Accessible Digital Products</a:t>
            </a:r>
            <a:endParaRPr lang="en-US" sz="2400" dirty="0"/>
          </a:p>
        </p:txBody>
      </p:sp>
      <p:sp>
        <p:nvSpPr>
          <p:cNvPr id="4" name="Decorative Shape" descr=""/>
          <p:cNvSpPr/>
          <p:nvPr/>
        </p:nvSpPr>
        <p:spPr>
          <a:xfrm>
            <a:off x="274320" y="960120"/>
            <a:ext cx="2743200" cy="1554480"/>
          </a:xfrm>
          <a:prstGeom prst="rect">
            <a:avLst/>
          </a:prstGeom>
          <a:solidFill>
            <a:srgbClr val="0D2B3E"/>
          </a:solidFill>
          <a:ln w="12700">
            <a:solidFill>
              <a:srgbClr val="0D2B3E"/>
            </a:solidFill>
            <a:prstDash val="solid"/>
          </a:ln>
          <a:effectLst>
            <a:outerShdw sx="100000" sy="100000" kx="0" ky="0" algn="bl" rotWithShape="0" blurRad="76200" dist="25400" dir="8100000">
              <a:srgbClr val="000000">
                <a:alpha val="18000"/>
              </a:srgbClr>
            </a:outerShdw>
          </a:effectLst>
        </p:spPr>
        <p:txBody>
          <a:bodyPr/>
          <a:p/>
        </p:txBody>
      </p:sp>
      <p:sp>
        <p:nvSpPr>
          <p:cNvPr id="5" name="Text: 1.3 Billion"/>
          <p:cNvSpPr/>
          <p:nvPr/>
        </p:nvSpPr>
        <p:spPr>
          <a:xfrm>
            <a:off x="365760" y="1024128"/>
            <a:ext cx="2560320" cy="640080"/>
          </a:xfrm>
          <a:prstGeom prst="rect">
            <a:avLst/>
          </a:prstGeom>
          <a:noFill/>
          <a:ln/>
        </p:spPr>
        <p:txBody>
          <a:bodyPr wrap="square" lIns="0" tIns="0" rIns="0" bIns="0" rtlCol="0" anchor="ctr"/>
          <a:lstStyle/>
          <a:p>
            <a:pPr algn="ctr" indent="0" marL="0">
              <a:buNone/>
            </a:pPr>
            <a:r>
              <a:rPr lang="en-US" sz="2600" b="1" dirty="0">
                <a:solidFill>
                  <a:srgbClr val="F4A261"/>
                </a:solidFill>
              </a:rPr>
              <a:t>1.3 Billion</a:t>
            </a:r>
            <a:endParaRPr lang="en-US" sz="2600" dirty="0"/>
          </a:p>
        </p:txBody>
      </p:sp>
      <p:sp>
        <p:nvSpPr>
          <p:cNvPr id="6" name="Text: People worldwide live with some form of disability (WHO)"/>
          <p:cNvSpPr/>
          <p:nvPr/>
        </p:nvSpPr>
        <p:spPr>
          <a:xfrm>
            <a:off x="365760" y="1664208"/>
            <a:ext cx="2560320" cy="777240"/>
          </a:xfrm>
          <a:prstGeom prst="rect">
            <a:avLst/>
          </a:prstGeom>
          <a:noFill/>
          <a:ln/>
        </p:spPr>
        <p:txBody>
          <a:bodyPr wrap="square" lIns="0" tIns="0" rIns="0" bIns="0" rtlCol="0" anchor="ctr"/>
          <a:lstStyle/>
          <a:p>
            <a:pPr algn="ctr" indent="0" marL="0">
              <a:buNone/>
            </a:pPr>
            <a:r>
              <a:rPr lang="en-US" sz="1000" dirty="0">
                <a:solidFill>
                  <a:srgbClr val="C4DDE4"/>
                </a:solidFill>
              </a:rPr>
              <a:t>People worldwide live with some form of disability (WHO)</a:t>
            </a:r>
            <a:endParaRPr lang="en-US" sz="1000" dirty="0"/>
          </a:p>
        </p:txBody>
      </p:sp>
      <p:sp>
        <p:nvSpPr>
          <p:cNvPr id="7" name="Decorative Shape" descr=""/>
          <p:cNvSpPr/>
          <p:nvPr/>
        </p:nvSpPr>
        <p:spPr>
          <a:xfrm>
            <a:off x="3200400" y="960120"/>
            <a:ext cx="2743200" cy="1554480"/>
          </a:xfrm>
          <a:prstGeom prst="rect">
            <a:avLst/>
          </a:prstGeom>
          <a:solidFill>
            <a:srgbClr val="0D2B3E"/>
          </a:solidFill>
          <a:ln w="12700">
            <a:solidFill>
              <a:srgbClr val="0D2B3E"/>
            </a:solidFill>
            <a:prstDash val="solid"/>
          </a:ln>
          <a:effectLst>
            <a:outerShdw sx="100000" sy="100000" kx="0" ky="0" algn="bl" rotWithShape="0" blurRad="76200" dist="25400" dir="8100000">
              <a:srgbClr val="000000">
                <a:alpha val="18000"/>
              </a:srgbClr>
            </a:outerShdw>
          </a:effectLst>
        </p:spPr>
        <p:txBody>
          <a:bodyPr/>
          <a:p/>
        </p:txBody>
      </p:sp>
      <p:sp>
        <p:nvSpPr>
          <p:cNvPr id="8" name="Text: INR 18 Lakh Cr"/>
          <p:cNvSpPr/>
          <p:nvPr/>
        </p:nvSpPr>
        <p:spPr>
          <a:xfrm>
            <a:off x="3291840" y="1024128"/>
            <a:ext cx="2560320" cy="640080"/>
          </a:xfrm>
          <a:prstGeom prst="rect">
            <a:avLst/>
          </a:prstGeom>
          <a:noFill/>
          <a:ln/>
        </p:spPr>
        <p:txBody>
          <a:bodyPr wrap="square" lIns="0" tIns="0" rIns="0" bIns="0" rtlCol="0" anchor="ctr"/>
          <a:lstStyle/>
          <a:p>
            <a:pPr algn="ctr" indent="0" marL="0">
              <a:buNone/>
            </a:pPr>
            <a:r>
              <a:rPr lang="en-US" sz="2600" b="1" dirty="0">
                <a:solidFill>
                  <a:srgbClr val="F4A261"/>
                </a:solidFill>
              </a:rPr>
              <a:t>INR 18 Lakh Cr</a:t>
            </a:r>
            <a:endParaRPr lang="en-US" sz="2600" dirty="0"/>
          </a:p>
        </p:txBody>
      </p:sp>
      <p:sp>
        <p:nvSpPr>
          <p:cNvPr id="9" name="Text: Estimated annual spending power of persons with disabilities"/>
          <p:cNvSpPr/>
          <p:nvPr/>
        </p:nvSpPr>
        <p:spPr>
          <a:xfrm>
            <a:off x="3291840" y="1664208"/>
            <a:ext cx="2560320" cy="777240"/>
          </a:xfrm>
          <a:prstGeom prst="rect">
            <a:avLst/>
          </a:prstGeom>
          <a:noFill/>
          <a:ln/>
        </p:spPr>
        <p:txBody>
          <a:bodyPr wrap="square" lIns="0" tIns="0" rIns="0" bIns="0" rtlCol="0" anchor="ctr"/>
          <a:lstStyle/>
          <a:p>
            <a:pPr algn="ctr" indent="0" marL="0">
              <a:buNone/>
            </a:pPr>
            <a:r>
              <a:rPr lang="en-US" sz="1000" dirty="0">
                <a:solidFill>
                  <a:srgbClr val="C4DDE4"/>
                </a:solidFill>
              </a:rPr>
              <a:t>Estimated annual spending power of persons with disabilities in India</a:t>
            </a:r>
            <a:endParaRPr lang="en-US" sz="1000" dirty="0"/>
          </a:p>
        </p:txBody>
      </p:sp>
      <p:sp>
        <p:nvSpPr>
          <p:cNvPr id="10" name="Decorative Shape" descr=""/>
          <p:cNvSpPr/>
          <p:nvPr/>
        </p:nvSpPr>
        <p:spPr>
          <a:xfrm>
            <a:off x="6126480" y="960120"/>
            <a:ext cx="2743200" cy="1554480"/>
          </a:xfrm>
          <a:prstGeom prst="rect">
            <a:avLst/>
          </a:prstGeom>
          <a:solidFill>
            <a:srgbClr val="0D2B3E"/>
          </a:solidFill>
          <a:ln w="12700">
            <a:solidFill>
              <a:srgbClr val="0D2B3E"/>
            </a:solidFill>
            <a:prstDash val="solid"/>
          </a:ln>
          <a:effectLst>
            <a:outerShdw sx="100000" sy="100000" kx="0" ky="0" algn="bl" rotWithShape="0" blurRad="76200" dist="25400" dir="8100000">
              <a:srgbClr val="000000">
                <a:alpha val="18000"/>
              </a:srgbClr>
            </a:outerShdw>
          </a:effectLst>
        </p:spPr>
        <p:txBody>
          <a:bodyPr/>
          <a:p/>
        </p:txBody>
      </p:sp>
      <p:sp>
        <p:nvSpPr>
          <p:cNvPr id="11" name="Text: 71%"/>
          <p:cNvSpPr/>
          <p:nvPr/>
        </p:nvSpPr>
        <p:spPr>
          <a:xfrm>
            <a:off x="6217920" y="1024128"/>
            <a:ext cx="2560320" cy="640080"/>
          </a:xfrm>
          <a:prstGeom prst="rect">
            <a:avLst/>
          </a:prstGeom>
          <a:noFill/>
          <a:ln/>
        </p:spPr>
        <p:txBody>
          <a:bodyPr wrap="square" lIns="0" tIns="0" rIns="0" bIns="0" rtlCol="0" anchor="ctr"/>
          <a:lstStyle/>
          <a:p>
            <a:pPr algn="ctr" indent="0" marL="0">
              <a:buNone/>
            </a:pPr>
            <a:r>
              <a:rPr lang="en-US" sz="2600" b="1" dirty="0">
                <a:solidFill>
                  <a:srgbClr val="F4A261"/>
                </a:solidFill>
              </a:rPr>
              <a:t>71%</a:t>
            </a:r>
            <a:endParaRPr lang="en-US" sz="2600" dirty="0"/>
          </a:p>
        </p:txBody>
      </p:sp>
      <p:sp>
        <p:nvSpPr>
          <p:cNvPr id="12" name="Text: Disabled users leave websites immediately when they encounte"/>
          <p:cNvSpPr/>
          <p:nvPr/>
        </p:nvSpPr>
        <p:spPr>
          <a:xfrm>
            <a:off x="6217920" y="1664208"/>
            <a:ext cx="2560320" cy="777240"/>
          </a:xfrm>
          <a:prstGeom prst="rect">
            <a:avLst/>
          </a:prstGeom>
          <a:noFill/>
          <a:ln/>
        </p:spPr>
        <p:txBody>
          <a:bodyPr wrap="square" lIns="0" tIns="0" rIns="0" bIns="0" rtlCol="0" anchor="ctr"/>
          <a:lstStyle/>
          <a:p>
            <a:pPr algn="ctr" indent="0" marL="0">
              <a:buNone/>
            </a:pPr>
            <a:r>
              <a:rPr lang="en-US" sz="1000" dirty="0">
                <a:solidFill>
                  <a:srgbClr val="C4DDE4"/>
                </a:solidFill>
              </a:rPr>
              <a:t>Disabled users leave websites immediately when they encounter barriers</a:t>
            </a:r>
            <a:endParaRPr lang="en-US" sz="1000" dirty="0"/>
          </a:p>
        </p:txBody>
      </p:sp>
      <p:sp>
        <p:nvSpPr>
          <p:cNvPr id="13" name="Decorative Shape" descr=""/>
          <p:cNvSpPr/>
          <p:nvPr/>
        </p:nvSpPr>
        <p:spPr>
          <a:xfrm>
            <a:off x="274320" y="2697480"/>
            <a:ext cx="4160520" cy="109728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4" name="Decorative Shape" descr=""/>
          <p:cNvSpPr/>
          <p:nvPr/>
        </p:nvSpPr>
        <p:spPr>
          <a:xfrm>
            <a:off x="274320" y="2697480"/>
            <a:ext cx="109728" cy="1097280"/>
          </a:xfrm>
          <a:prstGeom prst="rect">
            <a:avLst/>
          </a:prstGeom>
          <a:solidFill>
            <a:srgbClr val="00A896"/>
          </a:solidFill>
          <a:ln w="12700">
            <a:solidFill>
              <a:srgbClr val="00A896"/>
            </a:solidFill>
            <a:prstDash val="solid"/>
          </a:ln>
        </p:spPr>
        <p:txBody>
          <a:bodyPr/>
          <a:p/>
        </p:txBody>
      </p:sp>
      <p:sp>
        <p:nvSpPr>
          <p:cNvPr id="15" name="Text: User Reach"/>
          <p:cNvSpPr/>
          <p:nvPr/>
        </p:nvSpPr>
        <p:spPr>
          <a:xfrm>
            <a:off x="475488" y="2788920"/>
            <a:ext cx="3840480" cy="274320"/>
          </a:xfrm>
          <a:prstGeom prst="rect">
            <a:avLst/>
          </a:prstGeom>
          <a:noFill/>
          <a:ln/>
        </p:spPr>
        <p:txBody>
          <a:bodyPr wrap="square" lIns="0" tIns="0" rIns="0" bIns="0" rtlCol="0" anchor="ctr"/>
          <a:lstStyle/>
          <a:p>
            <a:pPr indent="0" marL="0">
              <a:buNone/>
            </a:pPr>
            <a:r>
              <a:rPr lang="en-US" sz="1200" b="1" dirty="0">
                <a:solidFill>
                  <a:srgbClr val="028090"/>
                </a:solidFill>
              </a:rPr>
              <a:t>User Reach</a:t>
            </a:r>
            <a:endParaRPr lang="en-US" sz="1200" dirty="0"/>
          </a:p>
        </p:txBody>
      </p:sp>
      <p:sp>
        <p:nvSpPr>
          <p:cNvPr id="16" name="Text: Accessible products reach users with permanent, situational,"/>
          <p:cNvSpPr/>
          <p:nvPr/>
        </p:nvSpPr>
        <p:spPr>
          <a:xfrm>
            <a:off x="475488" y="3081528"/>
            <a:ext cx="3840480" cy="621792"/>
          </a:xfrm>
          <a:prstGeom prst="rect">
            <a:avLst/>
          </a:prstGeom>
          <a:noFill/>
          <a:ln/>
        </p:spPr>
        <p:txBody>
          <a:bodyPr wrap="square" lIns="0" tIns="0" rIns="0" bIns="0" rtlCol="0" anchor="ctr"/>
          <a:lstStyle/>
          <a:p>
            <a:pPr indent="0" marL="0">
              <a:buNone/>
            </a:pPr>
            <a:r>
              <a:rPr lang="en-US" sz="1000" dirty="0">
                <a:solidFill>
                  <a:srgbClr val="1A3040"/>
                </a:solidFill>
              </a:rPr>
              <a:t>Accessible products reach users with permanent, situational, and temporary disabilities, multiplying the potential audience significantly.</a:t>
            </a:r>
            <a:endParaRPr lang="en-US" sz="1000" dirty="0"/>
          </a:p>
        </p:txBody>
      </p:sp>
      <p:sp>
        <p:nvSpPr>
          <p:cNvPr id="17" name="Decorative Shape" descr=""/>
          <p:cNvSpPr/>
          <p:nvPr/>
        </p:nvSpPr>
        <p:spPr>
          <a:xfrm>
            <a:off x="4709160" y="2697480"/>
            <a:ext cx="4160520" cy="109728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8" name="Decorative Shape" descr=""/>
          <p:cNvSpPr/>
          <p:nvPr/>
        </p:nvSpPr>
        <p:spPr>
          <a:xfrm>
            <a:off x="4709160" y="2697480"/>
            <a:ext cx="109728" cy="1097280"/>
          </a:xfrm>
          <a:prstGeom prst="rect">
            <a:avLst/>
          </a:prstGeom>
          <a:solidFill>
            <a:srgbClr val="00A896"/>
          </a:solidFill>
          <a:ln w="12700">
            <a:solidFill>
              <a:srgbClr val="00A896"/>
            </a:solidFill>
            <a:prstDash val="solid"/>
          </a:ln>
        </p:spPr>
        <p:txBody>
          <a:bodyPr/>
          <a:p/>
        </p:txBody>
      </p:sp>
      <p:sp>
        <p:nvSpPr>
          <p:cNvPr id="19" name="Text: Brand Reputation"/>
          <p:cNvSpPr/>
          <p:nvPr/>
        </p:nvSpPr>
        <p:spPr>
          <a:xfrm>
            <a:off x="4910328" y="2788920"/>
            <a:ext cx="3840480" cy="274320"/>
          </a:xfrm>
          <a:prstGeom prst="rect">
            <a:avLst/>
          </a:prstGeom>
          <a:noFill/>
          <a:ln/>
        </p:spPr>
        <p:txBody>
          <a:bodyPr wrap="square" lIns="0" tIns="0" rIns="0" bIns="0" rtlCol="0" anchor="ctr"/>
          <a:lstStyle/>
          <a:p>
            <a:pPr indent="0" marL="0">
              <a:buNone/>
            </a:pPr>
            <a:r>
              <a:rPr lang="en-US" sz="1200" b="1" dirty="0">
                <a:solidFill>
                  <a:srgbClr val="028090"/>
                </a:solidFill>
              </a:rPr>
              <a:t>Brand Reputation</a:t>
            </a:r>
            <a:endParaRPr lang="en-US" sz="1200" dirty="0"/>
          </a:p>
        </p:txBody>
      </p:sp>
      <p:sp>
        <p:nvSpPr>
          <p:cNvPr id="20" name="Text: Inclusive brands are viewed as ethical and trustworthy, impr"/>
          <p:cNvSpPr/>
          <p:nvPr/>
        </p:nvSpPr>
        <p:spPr>
          <a:xfrm>
            <a:off x="4910328" y="3081528"/>
            <a:ext cx="3840480" cy="621792"/>
          </a:xfrm>
          <a:prstGeom prst="rect">
            <a:avLst/>
          </a:prstGeom>
          <a:noFill/>
          <a:ln/>
        </p:spPr>
        <p:txBody>
          <a:bodyPr wrap="square" lIns="0" tIns="0" rIns="0" bIns="0" rtlCol="0" anchor="ctr"/>
          <a:lstStyle/>
          <a:p>
            <a:pPr indent="0" marL="0">
              <a:buNone/>
            </a:pPr>
            <a:r>
              <a:rPr lang="en-US" sz="1000" dirty="0">
                <a:solidFill>
                  <a:srgbClr val="1A3040"/>
                </a:solidFill>
              </a:rPr>
              <a:t>Inclusive brands are viewed as ethical and trustworthy, improving loyalty, press coverage, and partnership opportunities.</a:t>
            </a:r>
            <a:endParaRPr lang="en-US" sz="1000" dirty="0"/>
          </a:p>
        </p:txBody>
      </p:sp>
      <p:sp>
        <p:nvSpPr>
          <p:cNvPr id="21" name="Decorative Shape" descr=""/>
          <p:cNvSpPr/>
          <p:nvPr/>
        </p:nvSpPr>
        <p:spPr>
          <a:xfrm>
            <a:off x="274320" y="3886200"/>
            <a:ext cx="4160520" cy="109728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22" name="Decorative Shape" descr=""/>
          <p:cNvSpPr/>
          <p:nvPr/>
        </p:nvSpPr>
        <p:spPr>
          <a:xfrm>
            <a:off x="274320" y="3886200"/>
            <a:ext cx="109728" cy="1097280"/>
          </a:xfrm>
          <a:prstGeom prst="rect">
            <a:avLst/>
          </a:prstGeom>
          <a:solidFill>
            <a:srgbClr val="00A896"/>
          </a:solidFill>
          <a:ln w="12700">
            <a:solidFill>
              <a:srgbClr val="00A896"/>
            </a:solidFill>
            <a:prstDash val="solid"/>
          </a:ln>
        </p:spPr>
        <p:txBody>
          <a:bodyPr/>
          <a:p/>
        </p:txBody>
      </p:sp>
      <p:sp>
        <p:nvSpPr>
          <p:cNvPr id="23" name="Text: SEO Benefits"/>
          <p:cNvSpPr/>
          <p:nvPr/>
        </p:nvSpPr>
        <p:spPr>
          <a:xfrm>
            <a:off x="475488" y="3977640"/>
            <a:ext cx="3840480" cy="274320"/>
          </a:xfrm>
          <a:prstGeom prst="rect">
            <a:avLst/>
          </a:prstGeom>
          <a:noFill/>
          <a:ln/>
        </p:spPr>
        <p:txBody>
          <a:bodyPr wrap="square" lIns="0" tIns="0" rIns="0" bIns="0" rtlCol="0" anchor="ctr"/>
          <a:lstStyle/>
          <a:p>
            <a:pPr indent="0" marL="0">
              <a:buNone/>
            </a:pPr>
            <a:r>
              <a:rPr lang="en-US" sz="1200" b="1" dirty="0">
                <a:solidFill>
                  <a:srgbClr val="028090"/>
                </a:solidFill>
              </a:rPr>
              <a:t>SEO Benefits</a:t>
            </a:r>
            <a:endParaRPr lang="en-US" sz="1200" dirty="0"/>
          </a:p>
        </p:txBody>
      </p:sp>
      <p:sp>
        <p:nvSpPr>
          <p:cNvPr id="24" name="Text: Accessibility practices such as descriptive alt text, logica"/>
          <p:cNvSpPr/>
          <p:nvPr/>
        </p:nvSpPr>
        <p:spPr>
          <a:xfrm>
            <a:off x="475488" y="4270248"/>
            <a:ext cx="3840480" cy="621792"/>
          </a:xfrm>
          <a:prstGeom prst="rect">
            <a:avLst/>
          </a:prstGeom>
          <a:noFill/>
          <a:ln/>
        </p:spPr>
        <p:txBody>
          <a:bodyPr wrap="square" lIns="0" tIns="0" rIns="0" bIns="0" rtlCol="0" anchor="ctr"/>
          <a:lstStyle/>
          <a:p>
            <a:pPr indent="0" marL="0">
              <a:buNone/>
            </a:pPr>
            <a:r>
              <a:rPr lang="en-US" sz="1000" dirty="0">
                <a:solidFill>
                  <a:srgbClr val="1A3040"/>
                </a:solidFill>
              </a:rPr>
              <a:t>Accessibility practices such as descriptive alt text, logical headings, and keyboard navigation overlap directly with search engine optimisation signals.</a:t>
            </a:r>
            <a:endParaRPr lang="en-US" sz="1000" dirty="0"/>
          </a:p>
        </p:txBody>
      </p:sp>
      <p:sp>
        <p:nvSpPr>
          <p:cNvPr id="25" name="Decorative Shape" descr=""/>
          <p:cNvSpPr/>
          <p:nvPr/>
        </p:nvSpPr>
        <p:spPr>
          <a:xfrm>
            <a:off x="4709160" y="3886200"/>
            <a:ext cx="4160520" cy="109728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26" name="Decorative Shape" descr=""/>
          <p:cNvSpPr/>
          <p:nvPr/>
        </p:nvSpPr>
        <p:spPr>
          <a:xfrm>
            <a:off x="4709160" y="3886200"/>
            <a:ext cx="109728" cy="1097280"/>
          </a:xfrm>
          <a:prstGeom prst="rect">
            <a:avLst/>
          </a:prstGeom>
          <a:solidFill>
            <a:srgbClr val="00A896"/>
          </a:solidFill>
          <a:ln w="12700">
            <a:solidFill>
              <a:srgbClr val="00A896"/>
            </a:solidFill>
            <a:prstDash val="solid"/>
          </a:ln>
        </p:spPr>
        <p:txBody>
          <a:bodyPr/>
          <a:p/>
        </p:txBody>
      </p:sp>
      <p:sp>
        <p:nvSpPr>
          <p:cNvPr id="27" name="Text: Reduced Legal Risk"/>
          <p:cNvSpPr/>
          <p:nvPr/>
        </p:nvSpPr>
        <p:spPr>
          <a:xfrm>
            <a:off x="4910328" y="3977640"/>
            <a:ext cx="3840480" cy="274320"/>
          </a:xfrm>
          <a:prstGeom prst="rect">
            <a:avLst/>
          </a:prstGeom>
          <a:noFill/>
          <a:ln/>
        </p:spPr>
        <p:txBody>
          <a:bodyPr wrap="square" lIns="0" tIns="0" rIns="0" bIns="0" rtlCol="0" anchor="ctr"/>
          <a:lstStyle/>
          <a:p>
            <a:pPr indent="0" marL="0">
              <a:buNone/>
            </a:pPr>
            <a:r>
              <a:rPr lang="en-US" sz="1200" b="1" dirty="0">
                <a:solidFill>
                  <a:srgbClr val="028090"/>
                </a:solidFill>
              </a:rPr>
              <a:t>Reduced Legal Risk</a:t>
            </a:r>
            <a:endParaRPr lang="en-US" sz="1200" dirty="0"/>
          </a:p>
        </p:txBody>
      </p:sp>
      <p:sp>
        <p:nvSpPr>
          <p:cNvPr id="28" name="Text: Proactive accessibility compliance protects organisations fr"/>
          <p:cNvSpPr/>
          <p:nvPr/>
        </p:nvSpPr>
        <p:spPr>
          <a:xfrm>
            <a:off x="4910328" y="4270248"/>
            <a:ext cx="3840480" cy="621792"/>
          </a:xfrm>
          <a:prstGeom prst="rect">
            <a:avLst/>
          </a:prstGeom>
          <a:noFill/>
          <a:ln/>
        </p:spPr>
        <p:txBody>
          <a:bodyPr wrap="square" lIns="0" tIns="0" rIns="0" bIns="0" rtlCol="0" anchor="ctr"/>
          <a:lstStyle/>
          <a:p>
            <a:pPr indent="0" marL="0">
              <a:buNone/>
            </a:pPr>
            <a:r>
              <a:rPr lang="en-US" sz="1000" dirty="0">
                <a:solidFill>
                  <a:srgbClr val="1A3040"/>
                </a:solidFill>
              </a:rPr>
              <a:t>Proactive accessibility compliance protects organisations from costly litigation, regulatory penalties, and reputational damage.</a:t>
            </a:r>
            <a:endParaRPr lang="en-US" sz="1000" dirty="0"/>
          </a:p>
        </p:txBody>
      </p:sp>
      <p:sp>
        <p:nvSpPr>
          <p:cNvPr id="29" name="Decorative Shape" descr=""/>
          <p:cNvSpPr/>
          <p:nvPr/>
        </p:nvSpPr>
        <p:spPr>
          <a:xfrm>
            <a:off x="0" y="4846320"/>
            <a:ext cx="9144000" cy="297180"/>
          </a:xfrm>
          <a:prstGeom prst="rect">
            <a:avLst/>
          </a:prstGeom>
          <a:solidFill>
            <a:srgbClr val="0D2B3E"/>
          </a:solidFill>
          <a:ln w="12700">
            <a:solidFill>
              <a:srgbClr val="0D2B3E"/>
            </a:solidFill>
            <a:prstDash val="solid"/>
          </a:ln>
        </p:spPr>
        <p:txBody>
          <a:bodyPr/>
          <a:p/>
        </p:txBody>
      </p:sp>
      <p:sp>
        <p:nvSpPr>
          <p:cNvPr id="30" name="Text: Digital Accessibility Awareness"/>
          <p:cNvSpPr/>
          <p:nvPr/>
        </p:nvSpPr>
        <p:spPr>
          <a:xfrm>
            <a:off x="274320" y="4864608"/>
            <a:ext cx="4572000" cy="256032"/>
          </a:xfrm>
          <a:prstGeom prst="rect">
            <a:avLst/>
          </a:prstGeom>
          <a:noFill/>
          <a:ln/>
        </p:spPr>
        <p:txBody>
          <a:bodyPr wrap="square" lIns="0" tIns="0" rIns="0" bIns="0" rtlCol="0" anchor="ctr"/>
          <a:lstStyle/>
          <a:p>
            <a:pPr indent="0" marL="0">
              <a:buNone/>
            </a:pPr>
            <a:r>
              <a:rPr lang="en-US" sz="900" dirty="0">
                <a:solidFill>
                  <a:srgbClr val="C4DDE4"/>
                </a:solidFill>
              </a:rPr>
              <a:t>Digital Accessibility Awareness</a:t>
            </a:r>
            <a:endParaRPr lang="en-US" sz="900" dirty="0"/>
          </a:p>
        </p:txBody>
      </p:sp>
      <p:sp>
        <p:nvSpPr>
          <p:cNvPr id="31" name="Text: Slide 5"/>
          <p:cNvSpPr/>
          <p:nvPr/>
        </p:nvSpPr>
        <p:spPr>
          <a:xfrm>
            <a:off x="8229600" y="4864608"/>
            <a:ext cx="640080" cy="256032"/>
          </a:xfrm>
          <a:prstGeom prst="rect">
            <a:avLst/>
          </a:prstGeom>
          <a:noFill/>
          <a:ln/>
        </p:spPr>
        <p:txBody>
          <a:bodyPr wrap="square" lIns="0" tIns="0" rIns="0" bIns="0" rtlCol="0" anchor="ctr"/>
          <a:lstStyle/>
          <a:p>
            <a:pPr algn="r" indent="0" marL="0">
              <a:buNone/>
            </a:pPr>
            <a:r>
              <a:rPr lang="en-US" sz="900" dirty="0">
                <a:solidFill>
                  <a:srgbClr val="C4DDE4"/>
                </a:solidFill>
              </a:rPr>
              <a:t>Slide 5</a:t>
            </a:r>
            <a:endParaRPr lang="en-US" sz="900" dirty="0"/>
          </a:p>
        </p:txBody>
      </p:sp>
      <p:sp>
        <p:nvSpPr>
          <p:cNvPr id="5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Topic 3 – The Impact of Accessible Digital Products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8"/>
        </a:solidFill>
      </p:bgPr>
    </p:bg>
    <p:spTree>
      <p:nvGrpSpPr>
        <p:cNvPr id="1" name=""/>
        <p:cNvGrpSpPr/>
        <p:nvPr/>
      </p:nvGrpSpPr>
      <p:grpSpPr>
        <a:xfrm>
          <a:off x="0" y="0"/>
          <a:ext cx="0" cy="0"/>
          <a:chOff x="0" y="0"/>
          <a:chExt cx="0" cy="0"/>
        </a:xfrm>
      </p:grpSpPr>
      <p:sp>
        <p:nvSpPr>
          <p:cNvPr id="2" name="Decorative Shape" descr=""/>
          <p:cNvSpPr/>
          <p:nvPr/>
        </p:nvSpPr>
        <p:spPr>
          <a:xfrm>
            <a:off x="0" y="0"/>
            <a:ext cx="9144000" cy="914400"/>
          </a:xfrm>
          <a:prstGeom prst="rect">
            <a:avLst/>
          </a:prstGeom>
          <a:solidFill>
            <a:srgbClr val="0D2B3E"/>
          </a:solidFill>
          <a:ln w="12700">
            <a:solidFill>
              <a:srgbClr val="0D2B3E"/>
            </a:solidFill>
            <a:prstDash val="solid"/>
          </a:ln>
        </p:spPr>
        <p:txBody>
          <a:bodyPr/>
          <a:p/>
        </p:txBody>
      </p:sp>
      <p:sp>
        <p:nvSpPr>
          <p:cNvPr id="3" name="Text: 04 |  Who Are the End Users?"/>
          <p:cNvSpPr/>
          <p:nvPr/>
        </p:nvSpPr>
        <p:spPr>
          <a:xfrm>
            <a:off x="365760" y="137160"/>
            <a:ext cx="8229600" cy="640080"/>
          </a:xfrm>
          <a:prstGeom prst="rect">
            <a:avLst/>
          </a:prstGeom>
          <a:noFill/>
          <a:ln/>
        </p:spPr>
        <p:txBody>
          <a:bodyPr wrap="square" lIns="0" tIns="0" rIns="0" bIns="0" rtlCol="0" anchor="ctr"/>
          <a:lstStyle/>
          <a:p>
            <a:pPr indent="0" marL="0">
              <a:buNone/>
            </a:pPr>
            <a:r>
              <a:rPr lang="en-US" sz="2800" b="1" dirty="0">
                <a:solidFill>
                  <a:srgbClr val="FFFFFF"/>
                </a:solidFill>
              </a:rPr>
              <a:t>04 |  Who Are the End Users?</a:t>
            </a:r>
            <a:endParaRPr lang="en-US" sz="2800" dirty="0"/>
          </a:p>
        </p:txBody>
      </p:sp>
      <p:sp>
        <p:nvSpPr>
          <p:cNvPr id="4" name="Decorative Shape" descr=""/>
          <p:cNvSpPr/>
          <p:nvPr/>
        </p:nvSpPr>
        <p:spPr>
          <a:xfrm>
            <a:off x="320040" y="987552"/>
            <a:ext cx="8503920" cy="731520"/>
          </a:xfrm>
          <a:prstGeom prst="rect">
            <a:avLst/>
          </a:prstGeom>
          <a:solidFill>
            <a:srgbClr val="028090">
              <a:alpha val="85000"/>
            </a:srgbClr>
          </a:solidFill>
          <a:ln w="12700">
            <a:solidFill>
              <a:srgbClr val="028090"/>
            </a:solidFill>
            <a:prstDash val="solid"/>
          </a:ln>
        </p:spPr>
        <p:txBody>
          <a:bodyPr/>
          <a:p/>
        </p:txBody>
      </p:sp>
      <p:sp>
        <p:nvSpPr>
          <p:cNvPr id="5" name="Text: The Curb-Cut Effect: Accessibility features designed for peo"/>
          <p:cNvSpPr/>
          <p:nvPr/>
        </p:nvSpPr>
        <p:spPr>
          <a:xfrm>
            <a:off x="457200" y="1024128"/>
            <a:ext cx="8229600" cy="594360"/>
          </a:xfrm>
          <a:prstGeom prst="rect">
            <a:avLst/>
          </a:prstGeom>
          <a:noFill/>
          <a:ln/>
        </p:spPr>
        <p:txBody>
          <a:bodyPr wrap="square" lIns="0" tIns="0" rIns="0" bIns="0" rtlCol="0" anchor="ctr"/>
          <a:lstStyle/>
          <a:p>
            <a:pPr indent="0" marL="0">
              <a:buNone/>
            </a:pPr>
            <a:r>
              <a:rPr lang="en-US" sz="1200" b="1" i="1" dirty="0">
                <a:solidFill>
                  <a:srgbClr val="FFFFFF"/>
                </a:solidFill>
              </a:rPr>
              <a:t>The Curb-Cut Effect: Accessibility features designed for people with disabilities end up benefiting everyone.</a:t>
            </a:r>
            <a:endParaRPr lang="en-US" sz="1200" dirty="0"/>
          </a:p>
        </p:txBody>
      </p:sp>
      <p:sp>
        <p:nvSpPr>
          <p:cNvPr id="6" name="Decorative Shape" descr=""/>
          <p:cNvSpPr/>
          <p:nvPr/>
        </p:nvSpPr>
        <p:spPr>
          <a:xfrm>
            <a:off x="274320" y="1874520"/>
            <a:ext cx="2743200" cy="123444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7" name="Decorative Shape" descr=""/>
          <p:cNvSpPr/>
          <p:nvPr/>
        </p:nvSpPr>
        <p:spPr>
          <a:xfrm>
            <a:off x="274320" y="1874520"/>
            <a:ext cx="2743200" cy="365760"/>
          </a:xfrm>
          <a:prstGeom prst="rect">
            <a:avLst/>
          </a:prstGeom>
          <a:solidFill>
            <a:srgbClr val="028090"/>
          </a:solidFill>
          <a:ln w="12700">
            <a:solidFill>
              <a:srgbClr val="028090"/>
            </a:solidFill>
            <a:prstDash val="solid"/>
          </a:ln>
        </p:spPr>
        <p:txBody>
          <a:bodyPr/>
          <a:p/>
        </p:txBody>
      </p:sp>
      <p:sp>
        <p:nvSpPr>
          <p:cNvPr id="8" name="Text: Permanent Disability"/>
          <p:cNvSpPr/>
          <p:nvPr/>
        </p:nvSpPr>
        <p:spPr>
          <a:xfrm>
            <a:off x="365760" y="1911096"/>
            <a:ext cx="2560320" cy="292608"/>
          </a:xfrm>
          <a:prstGeom prst="rect">
            <a:avLst/>
          </a:prstGeom>
          <a:noFill/>
          <a:ln/>
        </p:spPr>
        <p:txBody>
          <a:bodyPr wrap="square" lIns="0" tIns="0" rIns="0" bIns="0" rtlCol="0" anchor="ctr"/>
          <a:lstStyle/>
          <a:p>
            <a:pPr indent="0" marL="0">
              <a:buNone/>
            </a:pPr>
            <a:r>
              <a:rPr lang="en-US" sz="1100" b="1" dirty="0">
                <a:solidFill>
                  <a:srgbClr val="FFFFFF"/>
                </a:solidFill>
              </a:rPr>
              <a:t>Permanent Disability</a:t>
            </a:r>
            <a:endParaRPr lang="en-US" sz="1100" dirty="0"/>
          </a:p>
        </p:txBody>
      </p:sp>
      <p:sp>
        <p:nvSpPr>
          <p:cNvPr id="9" name="Text: Blindness, deafness, motor impairment, or cognitive disabili"/>
          <p:cNvSpPr/>
          <p:nvPr/>
        </p:nvSpPr>
        <p:spPr>
          <a:xfrm>
            <a:off x="365760" y="2295144"/>
            <a:ext cx="2560320" cy="749808"/>
          </a:xfrm>
          <a:prstGeom prst="rect">
            <a:avLst/>
          </a:prstGeom>
          <a:noFill/>
          <a:ln/>
        </p:spPr>
        <p:txBody>
          <a:bodyPr wrap="square" lIns="0" tIns="0" rIns="0" bIns="0" rtlCol="0" anchor="ctr"/>
          <a:lstStyle/>
          <a:p>
            <a:pPr indent="0" marL="0">
              <a:buNone/>
            </a:pPr>
            <a:r>
              <a:rPr lang="en-US" sz="1000" dirty="0">
                <a:solidFill>
                  <a:srgbClr val="1A3040"/>
                </a:solidFill>
              </a:rPr>
              <a:t>Blindness, deafness, motor impairment, or cognitive disability present from birth or acquired.</a:t>
            </a:r>
            <a:endParaRPr lang="en-US" sz="1000" dirty="0"/>
          </a:p>
        </p:txBody>
      </p:sp>
      <p:sp>
        <p:nvSpPr>
          <p:cNvPr id="10" name="Decorative Shape" descr=""/>
          <p:cNvSpPr/>
          <p:nvPr/>
        </p:nvSpPr>
        <p:spPr>
          <a:xfrm>
            <a:off x="3200400" y="1874520"/>
            <a:ext cx="2743200" cy="123444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1" name="Decorative Shape" descr=""/>
          <p:cNvSpPr/>
          <p:nvPr/>
        </p:nvSpPr>
        <p:spPr>
          <a:xfrm>
            <a:off x="3200400" y="1874520"/>
            <a:ext cx="2743200" cy="365760"/>
          </a:xfrm>
          <a:prstGeom prst="rect">
            <a:avLst/>
          </a:prstGeom>
          <a:solidFill>
            <a:srgbClr val="028090"/>
          </a:solidFill>
          <a:ln w="12700">
            <a:solidFill>
              <a:srgbClr val="028090"/>
            </a:solidFill>
            <a:prstDash val="solid"/>
          </a:ln>
        </p:spPr>
        <p:txBody>
          <a:bodyPr/>
          <a:p/>
        </p:txBody>
      </p:sp>
      <p:sp>
        <p:nvSpPr>
          <p:cNvPr id="12" name="Text: Temporary Disability"/>
          <p:cNvSpPr/>
          <p:nvPr/>
        </p:nvSpPr>
        <p:spPr>
          <a:xfrm>
            <a:off x="3291840" y="1911096"/>
            <a:ext cx="2560320" cy="292608"/>
          </a:xfrm>
          <a:prstGeom prst="rect">
            <a:avLst/>
          </a:prstGeom>
          <a:noFill/>
          <a:ln/>
        </p:spPr>
        <p:txBody>
          <a:bodyPr wrap="square" lIns="0" tIns="0" rIns="0" bIns="0" rtlCol="0" anchor="ctr"/>
          <a:lstStyle/>
          <a:p>
            <a:pPr indent="0" marL="0">
              <a:buNone/>
            </a:pPr>
            <a:r>
              <a:rPr lang="en-US" sz="1100" b="1" dirty="0">
                <a:solidFill>
                  <a:srgbClr val="FFFFFF"/>
                </a:solidFill>
              </a:rPr>
              <a:t>Temporary Disability</a:t>
            </a:r>
            <a:endParaRPr lang="en-US" sz="1100" dirty="0"/>
          </a:p>
        </p:txBody>
      </p:sp>
      <p:sp>
        <p:nvSpPr>
          <p:cNvPr id="13" name="Text: A broken arm, eye surgery, or ear infection that temporarily"/>
          <p:cNvSpPr/>
          <p:nvPr/>
        </p:nvSpPr>
        <p:spPr>
          <a:xfrm>
            <a:off x="3291840" y="2295144"/>
            <a:ext cx="2560320" cy="749808"/>
          </a:xfrm>
          <a:prstGeom prst="rect">
            <a:avLst/>
          </a:prstGeom>
          <a:noFill/>
          <a:ln/>
        </p:spPr>
        <p:txBody>
          <a:bodyPr wrap="square" lIns="0" tIns="0" rIns="0" bIns="0" rtlCol="0" anchor="ctr"/>
          <a:lstStyle/>
          <a:p>
            <a:pPr indent="0" marL="0">
              <a:buNone/>
            </a:pPr>
            <a:r>
              <a:rPr lang="en-US" sz="1000" dirty="0">
                <a:solidFill>
                  <a:srgbClr val="1A3040"/>
                </a:solidFill>
              </a:rPr>
              <a:t>A broken arm, eye surgery, or ear infection that temporarily limits ability to use standard interfaces.</a:t>
            </a:r>
            <a:endParaRPr lang="en-US" sz="1000" dirty="0"/>
          </a:p>
        </p:txBody>
      </p:sp>
      <p:sp>
        <p:nvSpPr>
          <p:cNvPr id="14" name="Decorative Shape" descr=""/>
          <p:cNvSpPr/>
          <p:nvPr/>
        </p:nvSpPr>
        <p:spPr>
          <a:xfrm>
            <a:off x="6126480" y="1874520"/>
            <a:ext cx="2743200" cy="123444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5" name="Decorative Shape" descr=""/>
          <p:cNvSpPr/>
          <p:nvPr/>
        </p:nvSpPr>
        <p:spPr>
          <a:xfrm>
            <a:off x="6126480" y="1874520"/>
            <a:ext cx="2743200" cy="365760"/>
          </a:xfrm>
          <a:prstGeom prst="rect">
            <a:avLst/>
          </a:prstGeom>
          <a:solidFill>
            <a:srgbClr val="028090"/>
          </a:solidFill>
          <a:ln w="12700">
            <a:solidFill>
              <a:srgbClr val="028090"/>
            </a:solidFill>
            <a:prstDash val="solid"/>
          </a:ln>
        </p:spPr>
        <p:txBody>
          <a:bodyPr/>
          <a:p/>
        </p:txBody>
      </p:sp>
      <p:sp>
        <p:nvSpPr>
          <p:cNvPr id="16" name="Text: Situational Limitation"/>
          <p:cNvSpPr/>
          <p:nvPr/>
        </p:nvSpPr>
        <p:spPr>
          <a:xfrm>
            <a:off x="6217920" y="1911096"/>
            <a:ext cx="2560320" cy="292608"/>
          </a:xfrm>
          <a:prstGeom prst="rect">
            <a:avLst/>
          </a:prstGeom>
          <a:noFill/>
          <a:ln/>
        </p:spPr>
        <p:txBody>
          <a:bodyPr wrap="square" lIns="0" tIns="0" rIns="0" bIns="0" rtlCol="0" anchor="ctr"/>
          <a:lstStyle/>
          <a:p>
            <a:pPr indent="0" marL="0">
              <a:buNone/>
            </a:pPr>
            <a:r>
              <a:rPr lang="en-US" sz="1100" b="1" dirty="0">
                <a:solidFill>
                  <a:srgbClr val="FFFFFF"/>
                </a:solidFill>
              </a:rPr>
              <a:t>Situational Limitation</a:t>
            </a:r>
            <a:endParaRPr lang="en-US" sz="1100" dirty="0"/>
          </a:p>
        </p:txBody>
      </p:sp>
      <p:sp>
        <p:nvSpPr>
          <p:cNvPr id="17" name="Text: Bright sunlight making a screen unreadable, or one hand occu"/>
          <p:cNvSpPr/>
          <p:nvPr/>
        </p:nvSpPr>
        <p:spPr>
          <a:xfrm>
            <a:off x="6217920" y="2295144"/>
            <a:ext cx="2560320" cy="749808"/>
          </a:xfrm>
          <a:prstGeom prst="rect">
            <a:avLst/>
          </a:prstGeom>
          <a:noFill/>
          <a:ln/>
        </p:spPr>
        <p:txBody>
          <a:bodyPr wrap="square" lIns="0" tIns="0" rIns="0" bIns="0" rtlCol="0" anchor="ctr"/>
          <a:lstStyle/>
          <a:p>
            <a:pPr indent="0" marL="0">
              <a:buNone/>
            </a:pPr>
            <a:r>
              <a:rPr lang="en-US" sz="1000" dirty="0">
                <a:solidFill>
                  <a:srgbClr val="1A3040"/>
                </a:solidFill>
              </a:rPr>
              <a:t>Bright sunlight making a screen unreadable, or one hand occupied while commuting.</a:t>
            </a:r>
            <a:endParaRPr lang="en-US" sz="1000" dirty="0"/>
          </a:p>
        </p:txBody>
      </p:sp>
      <p:sp>
        <p:nvSpPr>
          <p:cNvPr id="18" name="Decorative Shape" descr=""/>
          <p:cNvSpPr/>
          <p:nvPr/>
        </p:nvSpPr>
        <p:spPr>
          <a:xfrm>
            <a:off x="274320" y="3246120"/>
            <a:ext cx="2743200" cy="123444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9" name="Decorative Shape" descr=""/>
          <p:cNvSpPr/>
          <p:nvPr/>
        </p:nvSpPr>
        <p:spPr>
          <a:xfrm>
            <a:off x="274320" y="3246120"/>
            <a:ext cx="2743200" cy="365760"/>
          </a:xfrm>
          <a:prstGeom prst="rect">
            <a:avLst/>
          </a:prstGeom>
          <a:solidFill>
            <a:srgbClr val="00A896"/>
          </a:solidFill>
          <a:ln w="12700">
            <a:solidFill>
              <a:srgbClr val="00A896"/>
            </a:solidFill>
            <a:prstDash val="solid"/>
          </a:ln>
        </p:spPr>
        <p:txBody>
          <a:bodyPr/>
          <a:p/>
        </p:txBody>
      </p:sp>
      <p:sp>
        <p:nvSpPr>
          <p:cNvPr id="20" name="Text: Ageing Population"/>
          <p:cNvSpPr/>
          <p:nvPr/>
        </p:nvSpPr>
        <p:spPr>
          <a:xfrm>
            <a:off x="365760" y="3282696"/>
            <a:ext cx="2560320" cy="292608"/>
          </a:xfrm>
          <a:prstGeom prst="rect">
            <a:avLst/>
          </a:prstGeom>
          <a:noFill/>
          <a:ln/>
        </p:spPr>
        <p:txBody>
          <a:bodyPr wrap="square" lIns="0" tIns="0" rIns="0" bIns="0" rtlCol="0" anchor="ctr"/>
          <a:lstStyle/>
          <a:p>
            <a:pPr indent="0" marL="0">
              <a:buNone/>
            </a:pPr>
            <a:r>
              <a:rPr lang="en-US" sz="1100" b="1" dirty="0">
                <a:solidFill>
                  <a:srgbClr val="FFFFFF"/>
                </a:solidFill>
              </a:rPr>
              <a:t>Ageing Population</a:t>
            </a:r>
            <a:endParaRPr lang="en-US" sz="1100" dirty="0"/>
          </a:p>
        </p:txBody>
      </p:sp>
      <p:sp>
        <p:nvSpPr>
          <p:cNvPr id="21" name="Text: Older adults experiencing reduced vision, hearing, dexterity"/>
          <p:cNvSpPr/>
          <p:nvPr/>
        </p:nvSpPr>
        <p:spPr>
          <a:xfrm>
            <a:off x="365760" y="3666744"/>
            <a:ext cx="2560320" cy="749808"/>
          </a:xfrm>
          <a:prstGeom prst="rect">
            <a:avLst/>
          </a:prstGeom>
          <a:noFill/>
          <a:ln/>
        </p:spPr>
        <p:txBody>
          <a:bodyPr wrap="square" lIns="0" tIns="0" rIns="0" bIns="0" rtlCol="0" anchor="ctr"/>
          <a:lstStyle/>
          <a:p>
            <a:pPr indent="0" marL="0">
              <a:buNone/>
            </a:pPr>
            <a:r>
              <a:rPr lang="en-US" sz="1000" dirty="0">
                <a:solidFill>
                  <a:srgbClr val="1A3040"/>
                </a:solidFill>
              </a:rPr>
              <a:t>Older adults experiencing reduced vision, hearing, dexterity, or cognitive processing over time.</a:t>
            </a:r>
            <a:endParaRPr lang="en-US" sz="1000" dirty="0"/>
          </a:p>
        </p:txBody>
      </p:sp>
      <p:sp>
        <p:nvSpPr>
          <p:cNvPr id="22" name="Decorative Shape" descr=""/>
          <p:cNvSpPr/>
          <p:nvPr/>
        </p:nvSpPr>
        <p:spPr>
          <a:xfrm>
            <a:off x="3200400" y="3246120"/>
            <a:ext cx="2743200" cy="123444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23" name="Decorative Shape" descr=""/>
          <p:cNvSpPr/>
          <p:nvPr/>
        </p:nvSpPr>
        <p:spPr>
          <a:xfrm>
            <a:off x="3200400" y="3246120"/>
            <a:ext cx="2743200" cy="365760"/>
          </a:xfrm>
          <a:prstGeom prst="rect">
            <a:avLst/>
          </a:prstGeom>
          <a:solidFill>
            <a:srgbClr val="00A896"/>
          </a:solidFill>
          <a:ln w="12700">
            <a:solidFill>
              <a:srgbClr val="00A896"/>
            </a:solidFill>
            <a:prstDash val="solid"/>
          </a:ln>
        </p:spPr>
        <p:txBody>
          <a:bodyPr/>
          <a:p/>
        </p:txBody>
      </p:sp>
      <p:sp>
        <p:nvSpPr>
          <p:cNvPr id="24" name="Text: Low Literacy Users"/>
          <p:cNvSpPr/>
          <p:nvPr/>
        </p:nvSpPr>
        <p:spPr>
          <a:xfrm>
            <a:off x="3291840" y="3282696"/>
            <a:ext cx="2560320" cy="292608"/>
          </a:xfrm>
          <a:prstGeom prst="rect">
            <a:avLst/>
          </a:prstGeom>
          <a:noFill/>
          <a:ln/>
        </p:spPr>
        <p:txBody>
          <a:bodyPr wrap="square" lIns="0" tIns="0" rIns="0" bIns="0" rtlCol="0" anchor="ctr"/>
          <a:lstStyle/>
          <a:p>
            <a:pPr indent="0" marL="0">
              <a:buNone/>
            </a:pPr>
            <a:r>
              <a:rPr lang="en-US" sz="1100" b="1" dirty="0">
                <a:solidFill>
                  <a:srgbClr val="FFFFFF"/>
                </a:solidFill>
              </a:rPr>
              <a:t>Low Literacy Users</a:t>
            </a:r>
            <a:endParaRPr lang="en-US" sz="1100" dirty="0"/>
          </a:p>
        </p:txBody>
      </p:sp>
      <p:sp>
        <p:nvSpPr>
          <p:cNvPr id="25" name="Text: People who benefit from plain language, icons, and structure"/>
          <p:cNvSpPr/>
          <p:nvPr/>
        </p:nvSpPr>
        <p:spPr>
          <a:xfrm>
            <a:off x="3291840" y="3666744"/>
            <a:ext cx="2560320" cy="749808"/>
          </a:xfrm>
          <a:prstGeom prst="rect">
            <a:avLst/>
          </a:prstGeom>
          <a:noFill/>
          <a:ln/>
        </p:spPr>
        <p:txBody>
          <a:bodyPr wrap="square" lIns="0" tIns="0" rIns="0" bIns="0" rtlCol="0" anchor="ctr"/>
          <a:lstStyle/>
          <a:p>
            <a:pPr indent="0" marL="0">
              <a:buNone/>
            </a:pPr>
            <a:r>
              <a:rPr lang="en-US" sz="1000" dirty="0">
                <a:solidFill>
                  <a:srgbClr val="1A3040"/>
                </a:solidFill>
              </a:rPr>
              <a:t>People who benefit from plain language, icons, and structured content regardless of disability status.</a:t>
            </a:r>
            <a:endParaRPr lang="en-US" sz="1000" dirty="0"/>
          </a:p>
        </p:txBody>
      </p:sp>
      <p:sp>
        <p:nvSpPr>
          <p:cNvPr id="26" name="Decorative Shape" descr=""/>
          <p:cNvSpPr/>
          <p:nvPr/>
        </p:nvSpPr>
        <p:spPr>
          <a:xfrm>
            <a:off x="6126480" y="3246120"/>
            <a:ext cx="2743200" cy="123444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27" name="Decorative Shape" descr=""/>
          <p:cNvSpPr/>
          <p:nvPr/>
        </p:nvSpPr>
        <p:spPr>
          <a:xfrm>
            <a:off x="6126480" y="3246120"/>
            <a:ext cx="2743200" cy="365760"/>
          </a:xfrm>
          <a:prstGeom prst="rect">
            <a:avLst/>
          </a:prstGeom>
          <a:solidFill>
            <a:srgbClr val="00A896"/>
          </a:solidFill>
          <a:ln w="12700">
            <a:solidFill>
              <a:srgbClr val="00A896"/>
            </a:solidFill>
            <a:prstDash val="solid"/>
          </a:ln>
        </p:spPr>
        <p:txBody>
          <a:bodyPr/>
          <a:p/>
        </p:txBody>
      </p:sp>
      <p:sp>
        <p:nvSpPr>
          <p:cNvPr id="28" name="Text: Non-Native Speakers"/>
          <p:cNvSpPr/>
          <p:nvPr/>
        </p:nvSpPr>
        <p:spPr>
          <a:xfrm>
            <a:off x="6217920" y="3282696"/>
            <a:ext cx="2560320" cy="292608"/>
          </a:xfrm>
          <a:prstGeom prst="rect">
            <a:avLst/>
          </a:prstGeom>
          <a:noFill/>
          <a:ln/>
        </p:spPr>
        <p:txBody>
          <a:bodyPr wrap="square" lIns="0" tIns="0" rIns="0" bIns="0" rtlCol="0" anchor="ctr"/>
          <a:lstStyle/>
          <a:p>
            <a:pPr indent="0" marL="0">
              <a:buNone/>
            </a:pPr>
            <a:r>
              <a:rPr lang="en-US" sz="1100" b="1" dirty="0">
                <a:solidFill>
                  <a:srgbClr val="FFFFFF"/>
                </a:solidFill>
              </a:rPr>
              <a:t>Non-Native Speakers</a:t>
            </a:r>
            <a:endParaRPr lang="en-US" sz="1100" dirty="0"/>
          </a:p>
        </p:txBody>
      </p:sp>
      <p:sp>
        <p:nvSpPr>
          <p:cNvPr id="29" name="Text: Users who rely on clear, simple language and consistent navi"/>
          <p:cNvSpPr/>
          <p:nvPr/>
        </p:nvSpPr>
        <p:spPr>
          <a:xfrm>
            <a:off x="6217920" y="3666744"/>
            <a:ext cx="2560320" cy="749808"/>
          </a:xfrm>
          <a:prstGeom prst="rect">
            <a:avLst/>
          </a:prstGeom>
          <a:noFill/>
          <a:ln/>
        </p:spPr>
        <p:txBody>
          <a:bodyPr wrap="square" lIns="0" tIns="0" rIns="0" bIns="0" rtlCol="0" anchor="ctr"/>
          <a:lstStyle/>
          <a:p>
            <a:pPr indent="0" marL="0">
              <a:buNone/>
            </a:pPr>
            <a:r>
              <a:rPr lang="en-US" sz="1000" dirty="0">
                <a:solidFill>
                  <a:srgbClr val="1A3040"/>
                </a:solidFill>
              </a:rPr>
              <a:t>Users who rely on clear, simple language and consistent navigation to use digital products confidently.</a:t>
            </a:r>
            <a:endParaRPr lang="en-US" sz="1000" dirty="0"/>
          </a:p>
        </p:txBody>
      </p:sp>
      <p:sp>
        <p:nvSpPr>
          <p:cNvPr id="30" name="Decorative Shape" descr=""/>
          <p:cNvSpPr/>
          <p:nvPr/>
        </p:nvSpPr>
        <p:spPr>
          <a:xfrm>
            <a:off x="0" y="4846320"/>
            <a:ext cx="9144000" cy="297180"/>
          </a:xfrm>
          <a:prstGeom prst="rect">
            <a:avLst/>
          </a:prstGeom>
          <a:solidFill>
            <a:srgbClr val="0D2B3E"/>
          </a:solidFill>
          <a:ln w="12700">
            <a:solidFill>
              <a:srgbClr val="0D2B3E"/>
            </a:solidFill>
            <a:prstDash val="solid"/>
          </a:ln>
        </p:spPr>
        <p:txBody>
          <a:bodyPr/>
          <a:p/>
        </p:txBody>
      </p:sp>
      <p:sp>
        <p:nvSpPr>
          <p:cNvPr id="31" name="Text: Digital Accessibility Awareness"/>
          <p:cNvSpPr/>
          <p:nvPr/>
        </p:nvSpPr>
        <p:spPr>
          <a:xfrm>
            <a:off x="274320" y="4864608"/>
            <a:ext cx="4572000" cy="256032"/>
          </a:xfrm>
          <a:prstGeom prst="rect">
            <a:avLst/>
          </a:prstGeom>
          <a:noFill/>
          <a:ln/>
        </p:spPr>
        <p:txBody>
          <a:bodyPr wrap="square" lIns="0" tIns="0" rIns="0" bIns="0" rtlCol="0" anchor="ctr"/>
          <a:lstStyle/>
          <a:p>
            <a:pPr indent="0" marL="0">
              <a:buNone/>
            </a:pPr>
            <a:r>
              <a:rPr lang="en-US" sz="900" dirty="0">
                <a:solidFill>
                  <a:srgbClr val="C4DDE4"/>
                </a:solidFill>
              </a:rPr>
              <a:t>Digital Accessibility Awareness</a:t>
            </a:r>
            <a:endParaRPr lang="en-US" sz="900" dirty="0"/>
          </a:p>
        </p:txBody>
      </p:sp>
      <p:sp>
        <p:nvSpPr>
          <p:cNvPr id="32" name="Text: Slide 6"/>
          <p:cNvSpPr/>
          <p:nvPr/>
        </p:nvSpPr>
        <p:spPr>
          <a:xfrm>
            <a:off x="8229600" y="4864608"/>
            <a:ext cx="640080" cy="256032"/>
          </a:xfrm>
          <a:prstGeom prst="rect">
            <a:avLst/>
          </a:prstGeom>
          <a:noFill/>
          <a:ln/>
        </p:spPr>
        <p:txBody>
          <a:bodyPr wrap="square" lIns="0" tIns="0" rIns="0" bIns="0" rtlCol="0" anchor="ctr"/>
          <a:lstStyle/>
          <a:p>
            <a:pPr algn="r" indent="0" marL="0">
              <a:buNone/>
            </a:pPr>
            <a:r>
              <a:rPr lang="en-US" sz="900" dirty="0">
                <a:solidFill>
                  <a:srgbClr val="C4DDE4"/>
                </a:solidFill>
              </a:rPr>
              <a:t>Slide 6</a:t>
            </a:r>
            <a:endParaRPr lang="en-US" sz="900" dirty="0"/>
          </a:p>
        </p:txBody>
      </p:sp>
      <p:sp>
        <p:nvSpPr>
          <p:cNvPr id="6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Topic 4 – Who Are the End Users?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8"/>
        </a:solidFill>
      </p:bgPr>
    </p:bg>
    <p:spTree>
      <p:nvGrpSpPr>
        <p:cNvPr id="1" name=""/>
        <p:cNvGrpSpPr/>
        <p:nvPr/>
      </p:nvGrpSpPr>
      <p:grpSpPr>
        <a:xfrm>
          <a:off x="0" y="0"/>
          <a:ext cx="0" cy="0"/>
          <a:chOff x="0" y="0"/>
          <a:chExt cx="0" cy="0"/>
        </a:xfrm>
      </p:grpSpPr>
      <p:sp>
        <p:nvSpPr>
          <p:cNvPr id="2" name="Decorative Shape" descr=""/>
          <p:cNvSpPr/>
          <p:nvPr/>
        </p:nvSpPr>
        <p:spPr>
          <a:xfrm>
            <a:off x="0" y="0"/>
            <a:ext cx="9144000" cy="914400"/>
          </a:xfrm>
          <a:prstGeom prst="rect">
            <a:avLst/>
          </a:prstGeom>
          <a:solidFill>
            <a:srgbClr val="028090"/>
          </a:solidFill>
          <a:ln w="12700">
            <a:solidFill>
              <a:srgbClr val="028090"/>
            </a:solidFill>
            <a:prstDash val="solid"/>
          </a:ln>
        </p:spPr>
        <p:txBody>
          <a:bodyPr/>
          <a:p/>
        </p:txBody>
      </p:sp>
      <p:sp>
        <p:nvSpPr>
          <p:cNvPr id="3" name="Text: 05 |  Types of Disabilities as per WCAG  (Part 1 of 2)"/>
          <p:cNvSpPr/>
          <p:nvPr/>
        </p:nvSpPr>
        <p:spPr>
          <a:xfrm>
            <a:off x="365760" y="137160"/>
            <a:ext cx="8229600" cy="640080"/>
          </a:xfrm>
          <a:prstGeom prst="rect">
            <a:avLst/>
          </a:prstGeom>
          <a:noFill/>
          <a:ln/>
        </p:spPr>
        <p:txBody>
          <a:bodyPr wrap="square" lIns="0" tIns="0" rIns="0" bIns="0" rtlCol="0" anchor="ctr"/>
          <a:lstStyle/>
          <a:p>
            <a:pPr indent="0" marL="0">
              <a:buNone/>
            </a:pPr>
            <a:r>
              <a:rPr lang="en-US" sz="2200" b="1" dirty="0">
                <a:solidFill>
                  <a:srgbClr val="FFFFFF"/>
                </a:solidFill>
              </a:rPr>
              <a:t>05 |  Types of Disabilities as per WCAG  (Part 1 of 2)</a:t>
            </a:r>
            <a:endParaRPr lang="en-US" sz="2200" dirty="0"/>
          </a:p>
        </p:txBody>
      </p:sp>
      <p:sp>
        <p:nvSpPr>
          <p:cNvPr id="4" name="Decorative Shape" descr=""/>
          <p:cNvSpPr/>
          <p:nvPr/>
        </p:nvSpPr>
        <p:spPr>
          <a:xfrm>
            <a:off x="320040" y="1005840"/>
            <a:ext cx="8503920" cy="91440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5" name="Decorative Shape" descr=""/>
          <p:cNvSpPr/>
          <p:nvPr/>
        </p:nvSpPr>
        <p:spPr>
          <a:xfrm>
            <a:off x="320040" y="1005840"/>
            <a:ext cx="109728" cy="914400"/>
          </a:xfrm>
          <a:prstGeom prst="rect">
            <a:avLst/>
          </a:prstGeom>
          <a:solidFill>
            <a:srgbClr val="F4A261"/>
          </a:solidFill>
          <a:ln w="12700">
            <a:solidFill>
              <a:srgbClr val="F4A261"/>
            </a:solidFill>
            <a:prstDash val="solid"/>
          </a:ln>
        </p:spPr>
        <p:txBody>
          <a:bodyPr/>
          <a:p/>
        </p:txBody>
      </p:sp>
      <p:sp>
        <p:nvSpPr>
          <p:cNvPr id="6" name="Text: 01  Visual"/>
          <p:cNvSpPr/>
          <p:nvPr/>
        </p:nvSpPr>
        <p:spPr>
          <a:xfrm>
            <a:off x="530352" y="1078992"/>
            <a:ext cx="8229600" cy="320040"/>
          </a:xfrm>
          <a:prstGeom prst="rect">
            <a:avLst/>
          </a:prstGeom>
          <a:noFill/>
          <a:ln/>
        </p:spPr>
        <p:txBody>
          <a:bodyPr wrap="square" lIns="0" tIns="0" rIns="0" bIns="0" rtlCol="0" anchor="ctr"/>
          <a:lstStyle/>
          <a:p>
            <a:pPr indent="0" marL="0">
              <a:buNone/>
            </a:pPr>
            <a:r>
              <a:rPr lang="en-US" sz="1300" b="1" dirty="0">
                <a:solidFill>
                  <a:srgbClr val="028090"/>
                </a:solidFill>
              </a:rPr>
              <a:t>01  Visual</a:t>
            </a:r>
            <a:endParaRPr lang="en-US" sz="1300" dirty="0"/>
          </a:p>
        </p:txBody>
      </p:sp>
      <p:sp>
        <p:nvSpPr>
          <p:cNvPr id="7" name="Text: Includes blindness, low vision, and colour blindness. Users "/>
          <p:cNvSpPr/>
          <p:nvPr/>
        </p:nvSpPr>
        <p:spPr>
          <a:xfrm>
            <a:off x="530352" y="1408176"/>
            <a:ext cx="8138160" cy="438912"/>
          </a:xfrm>
          <a:prstGeom prst="rect">
            <a:avLst/>
          </a:prstGeom>
          <a:noFill/>
          <a:ln/>
        </p:spPr>
        <p:txBody>
          <a:bodyPr wrap="square" lIns="0" tIns="0" rIns="0" bIns="0" rtlCol="0" anchor="ctr"/>
          <a:lstStyle/>
          <a:p>
            <a:pPr indent="0" marL="0">
              <a:buNone/>
            </a:pPr>
            <a:r>
              <a:rPr lang="en-US" sz="1100" dirty="0">
                <a:solidFill>
                  <a:srgbClr val="1A3040"/>
                </a:solidFill>
              </a:rPr>
              <a:t>Includes blindness, low vision, and colour blindness. Users rely on screen readers, magnifiers, and high-contrast displays to access digital content.</a:t>
            </a:r>
            <a:endParaRPr lang="en-US" sz="1100" dirty="0"/>
          </a:p>
        </p:txBody>
      </p:sp>
      <p:sp>
        <p:nvSpPr>
          <p:cNvPr id="8" name="Decorative Shape" descr=""/>
          <p:cNvSpPr/>
          <p:nvPr/>
        </p:nvSpPr>
        <p:spPr>
          <a:xfrm>
            <a:off x="320040" y="2011680"/>
            <a:ext cx="8503920" cy="91440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9" name="Decorative Shape" descr=""/>
          <p:cNvSpPr/>
          <p:nvPr/>
        </p:nvSpPr>
        <p:spPr>
          <a:xfrm>
            <a:off x="320040" y="2011680"/>
            <a:ext cx="109728" cy="914400"/>
          </a:xfrm>
          <a:prstGeom prst="rect">
            <a:avLst/>
          </a:prstGeom>
          <a:solidFill>
            <a:srgbClr val="F4A261"/>
          </a:solidFill>
          <a:ln w="12700">
            <a:solidFill>
              <a:srgbClr val="F4A261"/>
            </a:solidFill>
            <a:prstDash val="solid"/>
          </a:ln>
        </p:spPr>
        <p:txBody>
          <a:bodyPr/>
          <a:p/>
        </p:txBody>
      </p:sp>
      <p:sp>
        <p:nvSpPr>
          <p:cNvPr id="10" name="Text: 02  Auditory"/>
          <p:cNvSpPr/>
          <p:nvPr/>
        </p:nvSpPr>
        <p:spPr>
          <a:xfrm>
            <a:off x="530352" y="2084832"/>
            <a:ext cx="8229600" cy="320040"/>
          </a:xfrm>
          <a:prstGeom prst="rect">
            <a:avLst/>
          </a:prstGeom>
          <a:noFill/>
          <a:ln/>
        </p:spPr>
        <p:txBody>
          <a:bodyPr wrap="square" lIns="0" tIns="0" rIns="0" bIns="0" rtlCol="0" anchor="ctr"/>
          <a:lstStyle/>
          <a:p>
            <a:pPr indent="0" marL="0">
              <a:buNone/>
            </a:pPr>
            <a:r>
              <a:rPr lang="en-US" sz="1300" b="1" dirty="0">
                <a:solidFill>
                  <a:srgbClr val="028090"/>
                </a:solidFill>
              </a:rPr>
              <a:t>02  Auditory</a:t>
            </a:r>
            <a:endParaRPr lang="en-US" sz="1300" dirty="0"/>
          </a:p>
        </p:txBody>
      </p:sp>
      <p:sp>
        <p:nvSpPr>
          <p:cNvPr id="11" name="Text: Includes deafness and hard of hearing. Users rely on caption"/>
          <p:cNvSpPr/>
          <p:nvPr/>
        </p:nvSpPr>
        <p:spPr>
          <a:xfrm>
            <a:off x="530352" y="2414016"/>
            <a:ext cx="8138160" cy="438912"/>
          </a:xfrm>
          <a:prstGeom prst="rect">
            <a:avLst/>
          </a:prstGeom>
          <a:noFill/>
          <a:ln/>
        </p:spPr>
        <p:txBody>
          <a:bodyPr wrap="square" lIns="0" tIns="0" rIns="0" bIns="0" rtlCol="0" anchor="ctr"/>
          <a:lstStyle/>
          <a:p>
            <a:pPr indent="0" marL="0">
              <a:buNone/>
            </a:pPr>
            <a:r>
              <a:rPr lang="en-US" sz="1100" dirty="0">
                <a:solidFill>
                  <a:srgbClr val="1A3040"/>
                </a:solidFill>
              </a:rPr>
              <a:t>Includes deafness and hard of hearing. Users rely on captions, transcripts, and visual alternatives to audio content.</a:t>
            </a:r>
            <a:endParaRPr lang="en-US" sz="1100" dirty="0"/>
          </a:p>
        </p:txBody>
      </p:sp>
      <p:sp>
        <p:nvSpPr>
          <p:cNvPr id="12" name="Decorative Shape" descr=""/>
          <p:cNvSpPr/>
          <p:nvPr/>
        </p:nvSpPr>
        <p:spPr>
          <a:xfrm>
            <a:off x="320040" y="3017520"/>
            <a:ext cx="8503920" cy="91440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3" name="Decorative Shape" descr=""/>
          <p:cNvSpPr/>
          <p:nvPr/>
        </p:nvSpPr>
        <p:spPr>
          <a:xfrm>
            <a:off x="320040" y="3017520"/>
            <a:ext cx="109728" cy="914400"/>
          </a:xfrm>
          <a:prstGeom prst="rect">
            <a:avLst/>
          </a:prstGeom>
          <a:solidFill>
            <a:srgbClr val="F4A261"/>
          </a:solidFill>
          <a:ln w="12700">
            <a:solidFill>
              <a:srgbClr val="F4A261"/>
            </a:solidFill>
            <a:prstDash val="solid"/>
          </a:ln>
        </p:spPr>
        <p:txBody>
          <a:bodyPr/>
          <a:p/>
        </p:txBody>
      </p:sp>
      <p:sp>
        <p:nvSpPr>
          <p:cNvPr id="14" name="Text: 03  Motor / Physical"/>
          <p:cNvSpPr/>
          <p:nvPr/>
        </p:nvSpPr>
        <p:spPr>
          <a:xfrm>
            <a:off x="530352" y="3090672"/>
            <a:ext cx="8229600" cy="320040"/>
          </a:xfrm>
          <a:prstGeom prst="rect">
            <a:avLst/>
          </a:prstGeom>
          <a:noFill/>
          <a:ln/>
        </p:spPr>
        <p:txBody>
          <a:bodyPr wrap="square" lIns="0" tIns="0" rIns="0" bIns="0" rtlCol="0" anchor="ctr"/>
          <a:lstStyle/>
          <a:p>
            <a:pPr indent="0" marL="0">
              <a:buNone/>
            </a:pPr>
            <a:r>
              <a:rPr lang="en-US" sz="1300" b="1" dirty="0">
                <a:solidFill>
                  <a:srgbClr val="028090"/>
                </a:solidFill>
              </a:rPr>
              <a:t>03  Motor / Physical</a:t>
            </a:r>
            <a:endParaRPr lang="en-US" sz="1300" dirty="0"/>
          </a:p>
        </p:txBody>
      </p:sp>
      <p:sp>
        <p:nvSpPr>
          <p:cNvPr id="15" name="Text: Includes limited or no use of hands or limbs. Users rely on "/>
          <p:cNvSpPr/>
          <p:nvPr/>
        </p:nvSpPr>
        <p:spPr>
          <a:xfrm>
            <a:off x="530352" y="3419856"/>
            <a:ext cx="8138160" cy="438912"/>
          </a:xfrm>
          <a:prstGeom prst="rect">
            <a:avLst/>
          </a:prstGeom>
          <a:noFill/>
          <a:ln/>
        </p:spPr>
        <p:txBody>
          <a:bodyPr wrap="square" lIns="0" tIns="0" rIns="0" bIns="0" rtlCol="0" anchor="ctr"/>
          <a:lstStyle/>
          <a:p>
            <a:pPr indent="0" marL="0">
              <a:buNone/>
            </a:pPr>
            <a:r>
              <a:rPr lang="en-US" sz="1100" dirty="0">
                <a:solidFill>
                  <a:srgbClr val="1A3040"/>
                </a:solidFill>
              </a:rPr>
              <a:t>Includes limited or no use of hands or limbs. Users rely on keyboard navigation, switch controls, eye tracking, and voice input.</a:t>
            </a:r>
            <a:endParaRPr lang="en-US" sz="1100" dirty="0"/>
          </a:p>
        </p:txBody>
      </p:sp>
      <p:sp>
        <p:nvSpPr>
          <p:cNvPr id="16" name="Decorative Shape" descr=""/>
          <p:cNvSpPr/>
          <p:nvPr/>
        </p:nvSpPr>
        <p:spPr>
          <a:xfrm>
            <a:off x="320040" y="4023360"/>
            <a:ext cx="8503920" cy="91440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7" name="Decorative Shape" descr=""/>
          <p:cNvSpPr/>
          <p:nvPr/>
        </p:nvSpPr>
        <p:spPr>
          <a:xfrm>
            <a:off x="320040" y="4023360"/>
            <a:ext cx="109728" cy="914400"/>
          </a:xfrm>
          <a:prstGeom prst="rect">
            <a:avLst/>
          </a:prstGeom>
          <a:solidFill>
            <a:srgbClr val="F4A261"/>
          </a:solidFill>
          <a:ln w="12700">
            <a:solidFill>
              <a:srgbClr val="F4A261"/>
            </a:solidFill>
            <a:prstDash val="solid"/>
          </a:ln>
        </p:spPr>
        <p:txBody>
          <a:bodyPr/>
          <a:p/>
        </p:txBody>
      </p:sp>
      <p:sp>
        <p:nvSpPr>
          <p:cNvPr id="18" name="Text: 04  Cognitive"/>
          <p:cNvSpPr/>
          <p:nvPr/>
        </p:nvSpPr>
        <p:spPr>
          <a:xfrm>
            <a:off x="530352" y="4096512"/>
            <a:ext cx="8229600" cy="320040"/>
          </a:xfrm>
          <a:prstGeom prst="rect">
            <a:avLst/>
          </a:prstGeom>
          <a:noFill/>
          <a:ln/>
        </p:spPr>
        <p:txBody>
          <a:bodyPr wrap="square" lIns="0" tIns="0" rIns="0" bIns="0" rtlCol="0" anchor="ctr"/>
          <a:lstStyle/>
          <a:p>
            <a:pPr indent="0" marL="0">
              <a:buNone/>
            </a:pPr>
            <a:r>
              <a:rPr lang="en-US" sz="1300" b="1" dirty="0">
                <a:solidFill>
                  <a:srgbClr val="028090"/>
                </a:solidFill>
              </a:rPr>
              <a:t>04  Cognitive</a:t>
            </a:r>
            <a:endParaRPr lang="en-US" sz="1300" dirty="0"/>
          </a:p>
        </p:txBody>
      </p:sp>
      <p:sp>
        <p:nvSpPr>
          <p:cNvPr id="19" name="Text: Includes dyslexia, ADHD, and memory difficulties. Users bene"/>
          <p:cNvSpPr/>
          <p:nvPr/>
        </p:nvSpPr>
        <p:spPr>
          <a:xfrm>
            <a:off x="530352" y="4425696"/>
            <a:ext cx="8138160" cy="438912"/>
          </a:xfrm>
          <a:prstGeom prst="rect">
            <a:avLst/>
          </a:prstGeom>
          <a:noFill/>
          <a:ln/>
        </p:spPr>
        <p:txBody>
          <a:bodyPr wrap="square" lIns="0" tIns="0" rIns="0" bIns="0" rtlCol="0" anchor="ctr"/>
          <a:lstStyle/>
          <a:p>
            <a:pPr indent="0" marL="0">
              <a:buNone/>
            </a:pPr>
            <a:r>
              <a:rPr lang="en-US" sz="1100" dirty="0">
                <a:solidFill>
                  <a:srgbClr val="1A3040"/>
                </a:solidFill>
              </a:rPr>
              <a:t>Includes dyslexia, ADHD, and memory difficulties. Users benefit from plain language, consistent layouts, and reduced cognitive load.</a:t>
            </a:r>
            <a:endParaRPr lang="en-US" sz="1100" dirty="0"/>
          </a:p>
        </p:txBody>
      </p:sp>
      <p:sp>
        <p:nvSpPr>
          <p:cNvPr id="20" name="Decorative Shape" descr=""/>
          <p:cNvSpPr/>
          <p:nvPr/>
        </p:nvSpPr>
        <p:spPr>
          <a:xfrm>
            <a:off x="0" y="4846320"/>
            <a:ext cx="9144000" cy="297180"/>
          </a:xfrm>
          <a:prstGeom prst="rect">
            <a:avLst/>
          </a:prstGeom>
          <a:solidFill>
            <a:srgbClr val="0D2B3E"/>
          </a:solidFill>
          <a:ln w="12700">
            <a:solidFill>
              <a:srgbClr val="0D2B3E"/>
            </a:solidFill>
            <a:prstDash val="solid"/>
          </a:ln>
        </p:spPr>
        <p:txBody>
          <a:bodyPr/>
          <a:p/>
        </p:txBody>
      </p:sp>
      <p:sp>
        <p:nvSpPr>
          <p:cNvPr id="21" name="Text: Digital Accessibility Awareness"/>
          <p:cNvSpPr/>
          <p:nvPr/>
        </p:nvSpPr>
        <p:spPr>
          <a:xfrm>
            <a:off x="274320" y="4864608"/>
            <a:ext cx="4572000" cy="256032"/>
          </a:xfrm>
          <a:prstGeom prst="rect">
            <a:avLst/>
          </a:prstGeom>
          <a:noFill/>
          <a:ln/>
        </p:spPr>
        <p:txBody>
          <a:bodyPr wrap="square" lIns="0" tIns="0" rIns="0" bIns="0" rtlCol="0" anchor="ctr"/>
          <a:lstStyle/>
          <a:p>
            <a:pPr indent="0" marL="0">
              <a:buNone/>
            </a:pPr>
            <a:r>
              <a:rPr lang="en-US" sz="900" dirty="0">
                <a:solidFill>
                  <a:srgbClr val="C4DDE4"/>
                </a:solidFill>
              </a:rPr>
              <a:t>Digital Accessibility Awareness</a:t>
            </a:r>
            <a:endParaRPr lang="en-US" sz="900" dirty="0"/>
          </a:p>
        </p:txBody>
      </p:sp>
      <p:sp>
        <p:nvSpPr>
          <p:cNvPr id="22" name="Text: Slide 7"/>
          <p:cNvSpPr/>
          <p:nvPr/>
        </p:nvSpPr>
        <p:spPr>
          <a:xfrm>
            <a:off x="8229600" y="4864608"/>
            <a:ext cx="640080" cy="256032"/>
          </a:xfrm>
          <a:prstGeom prst="rect">
            <a:avLst/>
          </a:prstGeom>
          <a:noFill/>
          <a:ln/>
        </p:spPr>
        <p:txBody>
          <a:bodyPr wrap="square" lIns="0" tIns="0" rIns="0" bIns="0" rtlCol="0" anchor="ctr"/>
          <a:lstStyle/>
          <a:p>
            <a:pPr algn="r" indent="0" marL="0">
              <a:buNone/>
            </a:pPr>
            <a:r>
              <a:rPr lang="en-US" sz="900" dirty="0">
                <a:solidFill>
                  <a:srgbClr val="C4DDE4"/>
                </a:solidFill>
              </a:rPr>
              <a:t>Slide 7</a:t>
            </a:r>
            <a:endParaRPr lang="en-US" sz="900" dirty="0"/>
          </a:p>
        </p:txBody>
      </p:sp>
      <p:sp>
        <p:nvSpPr>
          <p:cNvPr id="7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Topic 5 – Types of Disabilities as per WCAG, Part 1 of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8"/>
        </a:solidFill>
      </p:bgPr>
    </p:bg>
    <p:spTree>
      <p:nvGrpSpPr>
        <p:cNvPr id="1" name=""/>
        <p:cNvGrpSpPr/>
        <p:nvPr/>
      </p:nvGrpSpPr>
      <p:grpSpPr>
        <a:xfrm>
          <a:off x="0" y="0"/>
          <a:ext cx="0" cy="0"/>
          <a:chOff x="0" y="0"/>
          <a:chExt cx="0" cy="0"/>
        </a:xfrm>
      </p:grpSpPr>
      <p:sp>
        <p:nvSpPr>
          <p:cNvPr id="2" name="Decorative Shape" descr=""/>
          <p:cNvSpPr/>
          <p:nvPr/>
        </p:nvSpPr>
        <p:spPr>
          <a:xfrm>
            <a:off x="0" y="0"/>
            <a:ext cx="9144000" cy="914400"/>
          </a:xfrm>
          <a:prstGeom prst="rect">
            <a:avLst/>
          </a:prstGeom>
          <a:solidFill>
            <a:srgbClr val="028090"/>
          </a:solidFill>
          <a:ln w="12700">
            <a:solidFill>
              <a:srgbClr val="028090"/>
            </a:solidFill>
            <a:prstDash val="solid"/>
          </a:ln>
        </p:spPr>
        <p:txBody>
          <a:bodyPr/>
          <a:p/>
        </p:txBody>
      </p:sp>
      <p:sp>
        <p:nvSpPr>
          <p:cNvPr id="3" name="Text: 05 |  Types of Disabilities as per WCAG  (Part 2 of 2)"/>
          <p:cNvSpPr/>
          <p:nvPr/>
        </p:nvSpPr>
        <p:spPr>
          <a:xfrm>
            <a:off x="365760" y="137160"/>
            <a:ext cx="8229600" cy="640080"/>
          </a:xfrm>
          <a:prstGeom prst="rect">
            <a:avLst/>
          </a:prstGeom>
          <a:noFill/>
          <a:ln/>
        </p:spPr>
        <p:txBody>
          <a:bodyPr wrap="square" lIns="0" tIns="0" rIns="0" bIns="0" rtlCol="0" anchor="ctr"/>
          <a:lstStyle/>
          <a:p>
            <a:pPr indent="0" marL="0">
              <a:buNone/>
            </a:pPr>
            <a:r>
              <a:rPr lang="en-US" sz="2200" b="1" dirty="0">
                <a:solidFill>
                  <a:srgbClr val="FFFFFF"/>
                </a:solidFill>
              </a:rPr>
              <a:t>05 |  Types of Disabilities as per WCAG  (Part 2 of 2)</a:t>
            </a:r>
            <a:endParaRPr lang="en-US" sz="2200" dirty="0"/>
          </a:p>
        </p:txBody>
      </p:sp>
      <p:sp>
        <p:nvSpPr>
          <p:cNvPr id="4" name="Decorative Shape" descr=""/>
          <p:cNvSpPr/>
          <p:nvPr/>
        </p:nvSpPr>
        <p:spPr>
          <a:xfrm>
            <a:off x="320040" y="1005840"/>
            <a:ext cx="8503920" cy="91440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5" name="Decorative Shape" descr=""/>
          <p:cNvSpPr/>
          <p:nvPr/>
        </p:nvSpPr>
        <p:spPr>
          <a:xfrm>
            <a:off x="320040" y="1005840"/>
            <a:ext cx="109728" cy="914400"/>
          </a:xfrm>
          <a:prstGeom prst="rect">
            <a:avLst/>
          </a:prstGeom>
          <a:solidFill>
            <a:srgbClr val="00A896"/>
          </a:solidFill>
          <a:ln w="12700">
            <a:solidFill>
              <a:srgbClr val="00A896"/>
            </a:solidFill>
            <a:prstDash val="solid"/>
          </a:ln>
        </p:spPr>
        <p:txBody>
          <a:bodyPr/>
          <a:p/>
        </p:txBody>
      </p:sp>
      <p:sp>
        <p:nvSpPr>
          <p:cNvPr id="6" name="Text: 05  Speech"/>
          <p:cNvSpPr/>
          <p:nvPr/>
        </p:nvSpPr>
        <p:spPr>
          <a:xfrm>
            <a:off x="530352" y="1078992"/>
            <a:ext cx="8229600" cy="320040"/>
          </a:xfrm>
          <a:prstGeom prst="rect">
            <a:avLst/>
          </a:prstGeom>
          <a:noFill/>
          <a:ln/>
        </p:spPr>
        <p:txBody>
          <a:bodyPr wrap="square" lIns="0" tIns="0" rIns="0" bIns="0" rtlCol="0" anchor="ctr"/>
          <a:lstStyle/>
          <a:p>
            <a:pPr indent="0" marL="0">
              <a:buNone/>
            </a:pPr>
            <a:r>
              <a:rPr lang="en-US" sz="1300" b="1" dirty="0">
                <a:solidFill>
                  <a:srgbClr val="028090"/>
                </a:solidFill>
              </a:rPr>
              <a:t>05  Speech</a:t>
            </a:r>
            <a:endParaRPr lang="en-US" sz="1300" dirty="0"/>
          </a:p>
        </p:txBody>
      </p:sp>
      <p:sp>
        <p:nvSpPr>
          <p:cNvPr id="7" name="Text: Includes conditions affecting the ability to speak clearly. "/>
          <p:cNvSpPr/>
          <p:nvPr/>
        </p:nvSpPr>
        <p:spPr>
          <a:xfrm>
            <a:off x="530352" y="1408176"/>
            <a:ext cx="8138160" cy="438912"/>
          </a:xfrm>
          <a:prstGeom prst="rect">
            <a:avLst/>
          </a:prstGeom>
          <a:noFill/>
          <a:ln/>
        </p:spPr>
        <p:txBody>
          <a:bodyPr wrap="square" lIns="0" tIns="0" rIns="0" bIns="0" rtlCol="0" anchor="ctr"/>
          <a:lstStyle/>
          <a:p>
            <a:pPr indent="0" marL="0">
              <a:buNone/>
            </a:pPr>
            <a:r>
              <a:rPr lang="en-US" sz="1100" dirty="0">
                <a:solidFill>
                  <a:srgbClr val="1A3040"/>
                </a:solidFill>
              </a:rPr>
              <a:t>Includes conditions affecting the ability to speak clearly. Users rely on text-based communication and AAC devices rather than voice-only interfaces.</a:t>
            </a:r>
            <a:endParaRPr lang="en-US" sz="1100" dirty="0"/>
          </a:p>
        </p:txBody>
      </p:sp>
      <p:sp>
        <p:nvSpPr>
          <p:cNvPr id="8" name="Decorative Shape" descr=""/>
          <p:cNvSpPr/>
          <p:nvPr/>
        </p:nvSpPr>
        <p:spPr>
          <a:xfrm>
            <a:off x="320040" y="2011680"/>
            <a:ext cx="8503920" cy="91440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9" name="Decorative Shape" descr=""/>
          <p:cNvSpPr/>
          <p:nvPr/>
        </p:nvSpPr>
        <p:spPr>
          <a:xfrm>
            <a:off x="320040" y="2011680"/>
            <a:ext cx="109728" cy="914400"/>
          </a:xfrm>
          <a:prstGeom prst="rect">
            <a:avLst/>
          </a:prstGeom>
          <a:solidFill>
            <a:srgbClr val="00A896"/>
          </a:solidFill>
          <a:ln w="12700">
            <a:solidFill>
              <a:srgbClr val="00A896"/>
            </a:solidFill>
            <a:prstDash val="solid"/>
          </a:ln>
        </p:spPr>
        <p:txBody>
          <a:bodyPr/>
          <a:p/>
        </p:txBody>
      </p:sp>
      <p:sp>
        <p:nvSpPr>
          <p:cNvPr id="10" name="Text: 06  Neurological"/>
          <p:cNvSpPr/>
          <p:nvPr/>
        </p:nvSpPr>
        <p:spPr>
          <a:xfrm>
            <a:off x="530352" y="2084832"/>
            <a:ext cx="8229600" cy="320040"/>
          </a:xfrm>
          <a:prstGeom prst="rect">
            <a:avLst/>
          </a:prstGeom>
          <a:noFill/>
          <a:ln/>
        </p:spPr>
        <p:txBody>
          <a:bodyPr wrap="square" lIns="0" tIns="0" rIns="0" bIns="0" rtlCol="0" anchor="ctr"/>
          <a:lstStyle/>
          <a:p>
            <a:pPr indent="0" marL="0">
              <a:buNone/>
            </a:pPr>
            <a:r>
              <a:rPr lang="en-US" sz="1300" b="1" dirty="0">
                <a:solidFill>
                  <a:srgbClr val="028090"/>
                </a:solidFill>
              </a:rPr>
              <a:t>06  Neurological</a:t>
            </a:r>
            <a:endParaRPr lang="en-US" sz="1300" dirty="0"/>
          </a:p>
        </p:txBody>
      </p:sp>
      <p:sp>
        <p:nvSpPr>
          <p:cNvPr id="11" name="Text: Includes epilepsy, multiple sclerosis, and Parkinson's disea"/>
          <p:cNvSpPr/>
          <p:nvPr/>
        </p:nvSpPr>
        <p:spPr>
          <a:xfrm>
            <a:off x="530352" y="2414016"/>
            <a:ext cx="8138160" cy="438912"/>
          </a:xfrm>
          <a:prstGeom prst="rect">
            <a:avLst/>
          </a:prstGeom>
          <a:noFill/>
          <a:ln/>
        </p:spPr>
        <p:txBody>
          <a:bodyPr wrap="square" lIns="0" tIns="0" rIns="0" bIns="0" rtlCol="0" anchor="ctr"/>
          <a:lstStyle/>
          <a:p>
            <a:pPr indent="0" marL="0">
              <a:buNone/>
            </a:pPr>
            <a:r>
              <a:rPr lang="en-US" sz="1100" dirty="0">
                <a:solidFill>
                  <a:srgbClr val="1A3040"/>
                </a:solidFill>
              </a:rPr>
              <a:t>Includes epilepsy, multiple sclerosis, and Parkinson's disease. Users may need seizure-safe animations and fine-motor-friendly controls.</a:t>
            </a:r>
            <a:endParaRPr lang="en-US" sz="1100" dirty="0"/>
          </a:p>
        </p:txBody>
      </p:sp>
      <p:sp>
        <p:nvSpPr>
          <p:cNvPr id="12" name="Decorative Shape" descr=""/>
          <p:cNvSpPr/>
          <p:nvPr/>
        </p:nvSpPr>
        <p:spPr>
          <a:xfrm>
            <a:off x="320040" y="3017520"/>
            <a:ext cx="8503920" cy="91440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3" name="Decorative Shape" descr=""/>
          <p:cNvSpPr/>
          <p:nvPr/>
        </p:nvSpPr>
        <p:spPr>
          <a:xfrm>
            <a:off x="320040" y="3017520"/>
            <a:ext cx="109728" cy="914400"/>
          </a:xfrm>
          <a:prstGeom prst="rect">
            <a:avLst/>
          </a:prstGeom>
          <a:solidFill>
            <a:srgbClr val="00A896"/>
          </a:solidFill>
          <a:ln w="12700">
            <a:solidFill>
              <a:srgbClr val="00A896"/>
            </a:solidFill>
            <a:prstDash val="solid"/>
          </a:ln>
        </p:spPr>
        <p:txBody>
          <a:bodyPr/>
          <a:p/>
        </p:txBody>
      </p:sp>
      <p:sp>
        <p:nvSpPr>
          <p:cNvPr id="14" name="Text: 07  Learning"/>
          <p:cNvSpPr/>
          <p:nvPr/>
        </p:nvSpPr>
        <p:spPr>
          <a:xfrm>
            <a:off x="530352" y="3090672"/>
            <a:ext cx="8229600" cy="320040"/>
          </a:xfrm>
          <a:prstGeom prst="rect">
            <a:avLst/>
          </a:prstGeom>
          <a:noFill/>
          <a:ln/>
        </p:spPr>
        <p:txBody>
          <a:bodyPr wrap="square" lIns="0" tIns="0" rIns="0" bIns="0" rtlCol="0" anchor="ctr"/>
          <a:lstStyle/>
          <a:p>
            <a:pPr indent="0" marL="0">
              <a:buNone/>
            </a:pPr>
            <a:r>
              <a:rPr lang="en-US" sz="1300" b="1" dirty="0">
                <a:solidFill>
                  <a:srgbClr val="028090"/>
                </a:solidFill>
              </a:rPr>
              <a:t>07  Learning</a:t>
            </a:r>
            <a:endParaRPr lang="en-US" sz="1300" dirty="0"/>
          </a:p>
        </p:txBody>
      </p:sp>
      <p:sp>
        <p:nvSpPr>
          <p:cNvPr id="15" name="Text: Includes conditions such as dyscalculia and processing disor"/>
          <p:cNvSpPr/>
          <p:nvPr/>
        </p:nvSpPr>
        <p:spPr>
          <a:xfrm>
            <a:off x="530352" y="3419856"/>
            <a:ext cx="8138160" cy="438912"/>
          </a:xfrm>
          <a:prstGeom prst="rect">
            <a:avLst/>
          </a:prstGeom>
          <a:noFill/>
          <a:ln/>
        </p:spPr>
        <p:txBody>
          <a:bodyPr wrap="square" lIns="0" tIns="0" rIns="0" bIns="0" rtlCol="0" anchor="ctr"/>
          <a:lstStyle/>
          <a:p>
            <a:pPr indent="0" marL="0">
              <a:buNone/>
            </a:pPr>
            <a:r>
              <a:rPr lang="en-US" sz="1100" dirty="0">
                <a:solidFill>
                  <a:srgbClr val="1A3040"/>
                </a:solidFill>
              </a:rPr>
              <a:t>Includes conditions such as dyscalculia and processing disorders. Clear structure, visual cues, and scaffolded content reduce barriers significantly.</a:t>
            </a:r>
            <a:endParaRPr lang="en-US" sz="1100" dirty="0"/>
          </a:p>
        </p:txBody>
      </p:sp>
      <p:sp>
        <p:nvSpPr>
          <p:cNvPr id="16" name="Decorative Shape" descr=""/>
          <p:cNvSpPr/>
          <p:nvPr/>
        </p:nvSpPr>
        <p:spPr>
          <a:xfrm>
            <a:off x="320040" y="4023360"/>
            <a:ext cx="8503920" cy="91440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7000"/>
              </a:srgbClr>
            </a:outerShdw>
          </a:effectLst>
        </p:spPr>
        <p:txBody>
          <a:bodyPr/>
          <a:p/>
        </p:txBody>
      </p:sp>
      <p:sp>
        <p:nvSpPr>
          <p:cNvPr id="17" name="Decorative Shape" descr=""/>
          <p:cNvSpPr/>
          <p:nvPr/>
        </p:nvSpPr>
        <p:spPr>
          <a:xfrm>
            <a:off x="320040" y="4023360"/>
            <a:ext cx="109728" cy="914400"/>
          </a:xfrm>
          <a:prstGeom prst="rect">
            <a:avLst/>
          </a:prstGeom>
          <a:solidFill>
            <a:srgbClr val="00A896"/>
          </a:solidFill>
          <a:ln w="12700">
            <a:solidFill>
              <a:srgbClr val="00A896"/>
            </a:solidFill>
            <a:prstDash val="solid"/>
          </a:ln>
        </p:spPr>
        <p:txBody>
          <a:bodyPr/>
          <a:p/>
        </p:txBody>
      </p:sp>
      <p:sp>
        <p:nvSpPr>
          <p:cNvPr id="18" name="Text: 08  Multiple / Complex"/>
          <p:cNvSpPr/>
          <p:nvPr/>
        </p:nvSpPr>
        <p:spPr>
          <a:xfrm>
            <a:off x="530352" y="4096512"/>
            <a:ext cx="8229600" cy="320040"/>
          </a:xfrm>
          <a:prstGeom prst="rect">
            <a:avLst/>
          </a:prstGeom>
          <a:noFill/>
          <a:ln/>
        </p:spPr>
        <p:txBody>
          <a:bodyPr wrap="square" lIns="0" tIns="0" rIns="0" bIns="0" rtlCol="0" anchor="ctr"/>
          <a:lstStyle/>
          <a:p>
            <a:pPr indent="0" marL="0">
              <a:buNone/>
            </a:pPr>
            <a:r>
              <a:rPr lang="en-US" sz="1300" b="1" dirty="0">
                <a:solidFill>
                  <a:srgbClr val="028090"/>
                </a:solidFill>
              </a:rPr>
              <a:t>08  Multiple / Complex</a:t>
            </a:r>
            <a:endParaRPr lang="en-US" sz="1300" dirty="0"/>
          </a:p>
        </p:txBody>
      </p:sp>
      <p:sp>
        <p:nvSpPr>
          <p:cNvPr id="19" name="Text: Many users present with two or more overlapping disabilities"/>
          <p:cNvSpPr/>
          <p:nvPr/>
        </p:nvSpPr>
        <p:spPr>
          <a:xfrm>
            <a:off x="530352" y="4425696"/>
            <a:ext cx="8138160" cy="438912"/>
          </a:xfrm>
          <a:prstGeom prst="rect">
            <a:avLst/>
          </a:prstGeom>
          <a:noFill/>
          <a:ln/>
        </p:spPr>
        <p:txBody>
          <a:bodyPr wrap="square" lIns="0" tIns="0" rIns="0" bIns="0" rtlCol="0" anchor="ctr"/>
          <a:lstStyle/>
          <a:p>
            <a:pPr indent="0" marL="0">
              <a:buNone/>
            </a:pPr>
            <a:r>
              <a:rPr lang="en-US" sz="1100" dirty="0">
                <a:solidFill>
                  <a:srgbClr val="1A3040"/>
                </a:solidFill>
              </a:rPr>
              <a:t>Many users present with two or more overlapping disabilities. Robust, flexible interfaces that respect all WCAG success criteria serve this group best.</a:t>
            </a:r>
            <a:endParaRPr lang="en-US" sz="1100" dirty="0"/>
          </a:p>
        </p:txBody>
      </p:sp>
      <p:sp>
        <p:nvSpPr>
          <p:cNvPr id="20" name="Decorative Shape" descr=""/>
          <p:cNvSpPr/>
          <p:nvPr/>
        </p:nvSpPr>
        <p:spPr>
          <a:xfrm>
            <a:off x="0" y="4846320"/>
            <a:ext cx="9144000" cy="297180"/>
          </a:xfrm>
          <a:prstGeom prst="rect">
            <a:avLst/>
          </a:prstGeom>
          <a:solidFill>
            <a:srgbClr val="0D2B3E"/>
          </a:solidFill>
          <a:ln w="12700">
            <a:solidFill>
              <a:srgbClr val="0D2B3E"/>
            </a:solidFill>
            <a:prstDash val="solid"/>
          </a:ln>
        </p:spPr>
        <p:txBody>
          <a:bodyPr/>
          <a:p/>
        </p:txBody>
      </p:sp>
      <p:sp>
        <p:nvSpPr>
          <p:cNvPr id="21" name="Text: Digital Accessibility Awareness"/>
          <p:cNvSpPr/>
          <p:nvPr/>
        </p:nvSpPr>
        <p:spPr>
          <a:xfrm>
            <a:off x="274320" y="4864608"/>
            <a:ext cx="4572000" cy="256032"/>
          </a:xfrm>
          <a:prstGeom prst="rect">
            <a:avLst/>
          </a:prstGeom>
          <a:noFill/>
          <a:ln/>
        </p:spPr>
        <p:txBody>
          <a:bodyPr wrap="square" lIns="0" tIns="0" rIns="0" bIns="0" rtlCol="0" anchor="ctr"/>
          <a:lstStyle/>
          <a:p>
            <a:pPr indent="0" marL="0">
              <a:buNone/>
            </a:pPr>
            <a:r>
              <a:rPr lang="en-US" sz="900" dirty="0">
                <a:solidFill>
                  <a:srgbClr val="C4DDE4"/>
                </a:solidFill>
              </a:rPr>
              <a:t>Digital Accessibility Awareness</a:t>
            </a:r>
            <a:endParaRPr lang="en-US" sz="900" dirty="0"/>
          </a:p>
        </p:txBody>
      </p:sp>
      <p:sp>
        <p:nvSpPr>
          <p:cNvPr id="22" name="Text: Slide 8"/>
          <p:cNvSpPr/>
          <p:nvPr/>
        </p:nvSpPr>
        <p:spPr>
          <a:xfrm>
            <a:off x="8229600" y="4864608"/>
            <a:ext cx="640080" cy="256032"/>
          </a:xfrm>
          <a:prstGeom prst="rect">
            <a:avLst/>
          </a:prstGeom>
          <a:noFill/>
          <a:ln/>
        </p:spPr>
        <p:txBody>
          <a:bodyPr wrap="square" lIns="0" tIns="0" rIns="0" bIns="0" rtlCol="0" anchor="ctr"/>
          <a:lstStyle/>
          <a:p>
            <a:pPr algn="r" indent="0" marL="0">
              <a:buNone/>
            </a:pPr>
            <a:r>
              <a:rPr lang="en-US" sz="900" dirty="0">
                <a:solidFill>
                  <a:srgbClr val="C4DDE4"/>
                </a:solidFill>
              </a:rPr>
              <a:t>Slide 8</a:t>
            </a:r>
            <a:endParaRPr lang="en-US" sz="900" dirty="0"/>
          </a:p>
        </p:txBody>
      </p:sp>
      <p:sp>
        <p:nvSpPr>
          <p:cNvPr id="8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Topic 5 – Types of Disabilities as per WCAG, Part 2 of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8"/>
        </a:solidFill>
      </p:bgPr>
    </p:bg>
    <p:spTree>
      <p:nvGrpSpPr>
        <p:cNvPr id="1" name=""/>
        <p:cNvGrpSpPr/>
        <p:nvPr/>
      </p:nvGrpSpPr>
      <p:grpSpPr>
        <a:xfrm>
          <a:off x="0" y="0"/>
          <a:ext cx="0" cy="0"/>
          <a:chOff x="0" y="0"/>
          <a:chExt cx="0" cy="0"/>
        </a:xfrm>
      </p:grpSpPr>
      <p:sp>
        <p:nvSpPr>
          <p:cNvPr id="2" name="Decorative Shape" descr=""/>
          <p:cNvSpPr/>
          <p:nvPr/>
        </p:nvSpPr>
        <p:spPr>
          <a:xfrm>
            <a:off x="0" y="0"/>
            <a:ext cx="9144000" cy="914400"/>
          </a:xfrm>
          <a:prstGeom prst="rect">
            <a:avLst/>
          </a:prstGeom>
          <a:solidFill>
            <a:srgbClr val="0D2B3E"/>
          </a:solidFill>
          <a:ln w="12700">
            <a:solidFill>
              <a:srgbClr val="0D2B3E"/>
            </a:solidFill>
            <a:prstDash val="solid"/>
          </a:ln>
        </p:spPr>
        <p:txBody>
          <a:bodyPr/>
          <a:p/>
        </p:txBody>
      </p:sp>
      <p:sp>
        <p:nvSpPr>
          <p:cNvPr id="3" name="Text: 06 |  What is WCAG?  A Brief History"/>
          <p:cNvSpPr/>
          <p:nvPr/>
        </p:nvSpPr>
        <p:spPr>
          <a:xfrm>
            <a:off x="365760" y="137160"/>
            <a:ext cx="8229600" cy="640080"/>
          </a:xfrm>
          <a:prstGeom prst="rect">
            <a:avLst/>
          </a:prstGeom>
          <a:noFill/>
          <a:ln/>
        </p:spPr>
        <p:txBody>
          <a:bodyPr wrap="square" lIns="0" tIns="0" rIns="0" bIns="0" rtlCol="0" anchor="ctr"/>
          <a:lstStyle/>
          <a:p>
            <a:pPr indent="0" marL="0">
              <a:buNone/>
            </a:pPr>
            <a:r>
              <a:rPr lang="en-US" sz="2600" b="1" dirty="0">
                <a:solidFill>
                  <a:srgbClr val="FFFFFF"/>
                </a:solidFill>
              </a:rPr>
              <a:t>06 |  What is WCAG?  A Brief History</a:t>
            </a:r>
            <a:endParaRPr lang="en-US" sz="2600" dirty="0"/>
          </a:p>
        </p:txBody>
      </p:sp>
      <p:sp>
        <p:nvSpPr>
          <p:cNvPr id="4" name="Decorative Shape" descr=""/>
          <p:cNvSpPr/>
          <p:nvPr/>
        </p:nvSpPr>
        <p:spPr>
          <a:xfrm>
            <a:off x="320040" y="987552"/>
            <a:ext cx="8503920" cy="685800"/>
          </a:xfrm>
          <a:prstGeom prst="rect">
            <a:avLst/>
          </a:prstGeom>
          <a:solidFill>
            <a:srgbClr val="028090">
              <a:alpha val="90000"/>
            </a:srgbClr>
          </a:solidFill>
          <a:ln w="12700">
            <a:solidFill>
              <a:srgbClr val="028090"/>
            </a:solidFill>
            <a:prstDash val="solid"/>
          </a:ln>
        </p:spPr>
        <p:txBody>
          <a:bodyPr/>
          <a:p/>
        </p:txBody>
      </p:sp>
      <p:sp>
        <p:nvSpPr>
          <p:cNvPr id="5" name="Text: WCAG stands for Web Content Accessibility Guidelines. It is "/>
          <p:cNvSpPr/>
          <p:nvPr/>
        </p:nvSpPr>
        <p:spPr>
          <a:xfrm>
            <a:off x="457200" y="1014984"/>
            <a:ext cx="8229600" cy="594360"/>
          </a:xfrm>
          <a:prstGeom prst="rect">
            <a:avLst/>
          </a:prstGeom>
          <a:noFill/>
          <a:ln/>
        </p:spPr>
        <p:txBody>
          <a:bodyPr wrap="square" lIns="0" tIns="0" rIns="0" bIns="0" rtlCol="0" anchor="ctr"/>
          <a:lstStyle/>
          <a:p>
            <a:pPr indent="0" marL="0">
              <a:buNone/>
            </a:pPr>
            <a:r>
              <a:rPr lang="en-US" sz="1100" i="1" dirty="0">
                <a:solidFill>
                  <a:srgbClr val="FFFFFF"/>
                </a:solidFill>
              </a:rPr>
              <a:t>WCAG stands for Web Content Accessibility Guidelines. It is a set of internationally recognised technical standards published by the World Wide Web Consortium (W3C) through its Web Accessibility Initiative (WAI).</a:t>
            </a:r>
            <a:endParaRPr lang="en-US" sz="1100" dirty="0"/>
          </a:p>
        </p:txBody>
      </p:sp>
      <p:sp>
        <p:nvSpPr>
          <p:cNvPr id="6" name="Decorative Shape" descr=""/>
          <p:cNvSpPr/>
          <p:nvPr/>
        </p:nvSpPr>
        <p:spPr>
          <a:xfrm>
            <a:off x="457200" y="3127248"/>
            <a:ext cx="8229600" cy="73152"/>
          </a:xfrm>
          <a:prstGeom prst="rect">
            <a:avLst/>
          </a:prstGeom>
          <a:solidFill>
            <a:srgbClr val="028090"/>
          </a:solidFill>
          <a:ln w="12700">
            <a:solidFill>
              <a:srgbClr val="028090"/>
            </a:solidFill>
            <a:prstDash val="solid"/>
          </a:ln>
        </p:spPr>
        <p:txBody>
          <a:bodyPr/>
          <a:p/>
        </p:txBody>
      </p:sp>
      <p:sp>
        <p:nvSpPr>
          <p:cNvPr id="7" name="Decorative Shape" descr=""/>
          <p:cNvSpPr/>
          <p:nvPr/>
        </p:nvSpPr>
        <p:spPr>
          <a:xfrm>
            <a:off x="612648" y="3017520"/>
            <a:ext cx="201168" cy="201168"/>
          </a:xfrm>
          <a:prstGeom prst="ellipse">
            <a:avLst/>
          </a:prstGeom>
          <a:solidFill>
            <a:srgbClr val="0D2B3E"/>
          </a:solidFill>
          <a:ln w="25400">
            <a:solidFill>
              <a:srgbClr val="028090"/>
            </a:solidFill>
            <a:prstDash val="solid"/>
          </a:ln>
        </p:spPr>
        <p:txBody>
          <a:bodyPr/>
          <a:p/>
        </p:txBody>
      </p:sp>
      <p:sp>
        <p:nvSpPr>
          <p:cNvPr id="8" name="Decorative Shape" descr=""/>
          <p:cNvSpPr/>
          <p:nvPr/>
        </p:nvSpPr>
        <p:spPr>
          <a:xfrm>
            <a:off x="365760" y="1737360"/>
            <a:ext cx="1417320" cy="123444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8000"/>
              </a:srgbClr>
            </a:outerShdw>
          </a:effectLst>
        </p:spPr>
        <p:txBody>
          <a:bodyPr/>
          <a:p/>
        </p:txBody>
      </p:sp>
      <p:sp>
        <p:nvSpPr>
          <p:cNvPr id="9" name="Text: 1997"/>
          <p:cNvSpPr/>
          <p:nvPr/>
        </p:nvSpPr>
        <p:spPr>
          <a:xfrm>
            <a:off x="411480" y="1792224"/>
            <a:ext cx="1325880" cy="292608"/>
          </a:xfrm>
          <a:prstGeom prst="rect">
            <a:avLst/>
          </a:prstGeom>
          <a:noFill/>
          <a:ln/>
        </p:spPr>
        <p:txBody>
          <a:bodyPr wrap="square" lIns="0" tIns="0" rIns="0" bIns="0" rtlCol="0" anchor="ctr"/>
          <a:lstStyle/>
          <a:p>
            <a:pPr algn="ctr" indent="0" marL="0">
              <a:buNone/>
            </a:pPr>
            <a:r>
              <a:rPr lang="en-US" sz="1300" b="1" dirty="0">
                <a:solidFill>
                  <a:srgbClr val="028090"/>
                </a:solidFill>
              </a:rPr>
              <a:t>1997</a:t>
            </a:r>
            <a:endParaRPr lang="en-US" sz="1300" dirty="0"/>
          </a:p>
        </p:txBody>
      </p:sp>
      <p:sp>
        <p:nvSpPr>
          <p:cNvPr id="10" name="Text: WAI Founded"/>
          <p:cNvSpPr/>
          <p:nvPr/>
        </p:nvSpPr>
        <p:spPr>
          <a:xfrm>
            <a:off x="411480" y="2066544"/>
            <a:ext cx="1325880" cy="256032"/>
          </a:xfrm>
          <a:prstGeom prst="rect">
            <a:avLst/>
          </a:prstGeom>
          <a:noFill/>
          <a:ln/>
        </p:spPr>
        <p:txBody>
          <a:bodyPr wrap="square" lIns="0" tIns="0" rIns="0" bIns="0" rtlCol="0" anchor="ctr"/>
          <a:lstStyle/>
          <a:p>
            <a:pPr algn="ctr" indent="0" marL="0">
              <a:buNone/>
            </a:pPr>
            <a:r>
              <a:rPr lang="en-US" sz="1000" b="1" dirty="0">
                <a:solidFill>
                  <a:srgbClr val="1A3040"/>
                </a:solidFill>
              </a:rPr>
              <a:t>WAI Founded</a:t>
            </a:r>
            <a:endParaRPr lang="en-US" sz="1000" dirty="0"/>
          </a:p>
        </p:txBody>
      </p:sp>
      <p:sp>
        <p:nvSpPr>
          <p:cNvPr id="11" name="Text: W3C launches the Web Accessibility Initiative to address the"/>
          <p:cNvSpPr/>
          <p:nvPr/>
        </p:nvSpPr>
        <p:spPr>
          <a:xfrm>
            <a:off x="411480" y="2331720"/>
            <a:ext cx="1325880" cy="566928"/>
          </a:xfrm>
          <a:prstGeom prst="rect">
            <a:avLst/>
          </a:prstGeom>
          <a:noFill/>
          <a:ln/>
        </p:spPr>
        <p:txBody>
          <a:bodyPr wrap="square" lIns="0" tIns="0" rIns="0" bIns="0" rtlCol="0" anchor="ctr"/>
          <a:lstStyle/>
          <a:p>
            <a:pPr algn="ctr" indent="0" marL="0">
              <a:buNone/>
            </a:pPr>
            <a:r>
              <a:rPr lang="en-US" sz="850" dirty="0">
                <a:solidFill>
                  <a:srgbClr val="4A6E7E"/>
                </a:solidFill>
              </a:rPr>
              <a:t>W3C launches the Web Accessibility Initiative to address the growing need for accessible web content standards.</a:t>
            </a:r>
            <a:endParaRPr lang="en-US" sz="850" dirty="0"/>
          </a:p>
        </p:txBody>
      </p:sp>
      <p:sp>
        <p:nvSpPr>
          <p:cNvPr id="12" name="Decorative Shape" descr=""/>
          <p:cNvSpPr/>
          <p:nvPr/>
        </p:nvSpPr>
        <p:spPr>
          <a:xfrm>
            <a:off x="1984248" y="3017520"/>
            <a:ext cx="201168" cy="201168"/>
          </a:xfrm>
          <a:prstGeom prst="ellipse">
            <a:avLst/>
          </a:prstGeom>
          <a:solidFill>
            <a:srgbClr val="0D2B3E"/>
          </a:solidFill>
          <a:ln w="25400">
            <a:solidFill>
              <a:srgbClr val="028090"/>
            </a:solidFill>
            <a:prstDash val="solid"/>
          </a:ln>
        </p:spPr>
        <p:txBody>
          <a:bodyPr/>
          <a:p/>
        </p:txBody>
      </p:sp>
      <p:sp>
        <p:nvSpPr>
          <p:cNvPr id="13" name="Decorative Shape" descr=""/>
          <p:cNvSpPr/>
          <p:nvPr/>
        </p:nvSpPr>
        <p:spPr>
          <a:xfrm>
            <a:off x="1737360" y="3401568"/>
            <a:ext cx="1417320" cy="128016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8000"/>
              </a:srgbClr>
            </a:outerShdw>
          </a:effectLst>
        </p:spPr>
        <p:txBody>
          <a:bodyPr/>
          <a:p/>
        </p:txBody>
      </p:sp>
      <p:sp>
        <p:nvSpPr>
          <p:cNvPr id="14" name="Text: 1999"/>
          <p:cNvSpPr/>
          <p:nvPr/>
        </p:nvSpPr>
        <p:spPr>
          <a:xfrm>
            <a:off x="1783080" y="3456432"/>
            <a:ext cx="1325880" cy="292608"/>
          </a:xfrm>
          <a:prstGeom prst="rect">
            <a:avLst/>
          </a:prstGeom>
          <a:noFill/>
          <a:ln/>
        </p:spPr>
        <p:txBody>
          <a:bodyPr wrap="square" lIns="0" tIns="0" rIns="0" bIns="0" rtlCol="0" anchor="ctr"/>
          <a:lstStyle/>
          <a:p>
            <a:pPr algn="ctr" indent="0" marL="0">
              <a:buNone/>
            </a:pPr>
            <a:r>
              <a:rPr lang="en-US" sz="1300" b="1" dirty="0">
                <a:solidFill>
                  <a:srgbClr val="028090"/>
                </a:solidFill>
              </a:rPr>
              <a:t>1999</a:t>
            </a:r>
            <a:endParaRPr lang="en-US" sz="1300" dirty="0"/>
          </a:p>
        </p:txBody>
      </p:sp>
      <p:sp>
        <p:nvSpPr>
          <p:cNvPr id="15" name="Text: WCAG 1.0"/>
          <p:cNvSpPr/>
          <p:nvPr/>
        </p:nvSpPr>
        <p:spPr>
          <a:xfrm>
            <a:off x="1783080" y="3730752"/>
            <a:ext cx="1325880" cy="256032"/>
          </a:xfrm>
          <a:prstGeom prst="rect">
            <a:avLst/>
          </a:prstGeom>
          <a:noFill/>
          <a:ln/>
        </p:spPr>
        <p:txBody>
          <a:bodyPr wrap="square" lIns="0" tIns="0" rIns="0" bIns="0" rtlCol="0" anchor="ctr"/>
          <a:lstStyle/>
          <a:p>
            <a:pPr algn="ctr" indent="0" marL="0">
              <a:buNone/>
            </a:pPr>
            <a:r>
              <a:rPr lang="en-US" sz="1000" b="1" dirty="0">
                <a:solidFill>
                  <a:srgbClr val="1A3040"/>
                </a:solidFill>
              </a:rPr>
              <a:t>WCAG 1.0</a:t>
            </a:r>
            <a:endParaRPr lang="en-US" sz="1000" dirty="0"/>
          </a:p>
        </p:txBody>
      </p:sp>
      <p:sp>
        <p:nvSpPr>
          <p:cNvPr id="16" name="Text: First formal guidelines published with 14 guidelines and 65 "/>
          <p:cNvSpPr/>
          <p:nvPr/>
        </p:nvSpPr>
        <p:spPr>
          <a:xfrm>
            <a:off x="1783080" y="3995928"/>
            <a:ext cx="1325880" cy="621792"/>
          </a:xfrm>
          <a:prstGeom prst="rect">
            <a:avLst/>
          </a:prstGeom>
          <a:noFill/>
          <a:ln/>
        </p:spPr>
        <p:txBody>
          <a:bodyPr wrap="square" lIns="0" tIns="0" rIns="0" bIns="0" rtlCol="0" anchor="ctr"/>
          <a:lstStyle/>
          <a:p>
            <a:pPr algn="ctr" indent="0" marL="0">
              <a:buNone/>
            </a:pPr>
            <a:r>
              <a:rPr lang="en-US" sz="850" dirty="0">
                <a:solidFill>
                  <a:srgbClr val="4A6E7E"/>
                </a:solidFill>
              </a:rPr>
              <a:t>First formal guidelines published with 14 guidelines and 65 checkpoints at 3 priority levels.</a:t>
            </a:r>
            <a:endParaRPr lang="en-US" sz="850" dirty="0"/>
          </a:p>
        </p:txBody>
      </p:sp>
      <p:sp>
        <p:nvSpPr>
          <p:cNvPr id="17" name="Decorative Shape" descr=""/>
          <p:cNvSpPr/>
          <p:nvPr/>
        </p:nvSpPr>
        <p:spPr>
          <a:xfrm>
            <a:off x="3355848" y="3017520"/>
            <a:ext cx="201168" cy="201168"/>
          </a:xfrm>
          <a:prstGeom prst="ellipse">
            <a:avLst/>
          </a:prstGeom>
          <a:solidFill>
            <a:srgbClr val="0D2B3E"/>
          </a:solidFill>
          <a:ln w="25400">
            <a:solidFill>
              <a:srgbClr val="028090"/>
            </a:solidFill>
            <a:prstDash val="solid"/>
          </a:ln>
        </p:spPr>
        <p:txBody>
          <a:bodyPr/>
          <a:p/>
        </p:txBody>
      </p:sp>
      <p:sp>
        <p:nvSpPr>
          <p:cNvPr id="18" name="Decorative Shape" descr=""/>
          <p:cNvSpPr/>
          <p:nvPr/>
        </p:nvSpPr>
        <p:spPr>
          <a:xfrm>
            <a:off x="3108960" y="1737360"/>
            <a:ext cx="1417320" cy="123444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8000"/>
              </a:srgbClr>
            </a:outerShdw>
          </a:effectLst>
        </p:spPr>
        <p:txBody>
          <a:bodyPr/>
          <a:p/>
        </p:txBody>
      </p:sp>
      <p:sp>
        <p:nvSpPr>
          <p:cNvPr id="19" name="Text: 2008"/>
          <p:cNvSpPr/>
          <p:nvPr/>
        </p:nvSpPr>
        <p:spPr>
          <a:xfrm>
            <a:off x="3154680" y="1792224"/>
            <a:ext cx="1325880" cy="292608"/>
          </a:xfrm>
          <a:prstGeom prst="rect">
            <a:avLst/>
          </a:prstGeom>
          <a:noFill/>
          <a:ln/>
        </p:spPr>
        <p:txBody>
          <a:bodyPr wrap="square" lIns="0" tIns="0" rIns="0" bIns="0" rtlCol="0" anchor="ctr"/>
          <a:lstStyle/>
          <a:p>
            <a:pPr algn="ctr" indent="0" marL="0">
              <a:buNone/>
            </a:pPr>
            <a:r>
              <a:rPr lang="en-US" sz="1300" b="1" dirty="0">
                <a:solidFill>
                  <a:srgbClr val="028090"/>
                </a:solidFill>
              </a:rPr>
              <a:t>2008</a:t>
            </a:r>
            <a:endParaRPr lang="en-US" sz="1300" dirty="0"/>
          </a:p>
        </p:txBody>
      </p:sp>
      <p:sp>
        <p:nvSpPr>
          <p:cNvPr id="20" name="Text: WCAG 2.0"/>
          <p:cNvSpPr/>
          <p:nvPr/>
        </p:nvSpPr>
        <p:spPr>
          <a:xfrm>
            <a:off x="3154680" y="2066544"/>
            <a:ext cx="1325880" cy="256032"/>
          </a:xfrm>
          <a:prstGeom prst="rect">
            <a:avLst/>
          </a:prstGeom>
          <a:noFill/>
          <a:ln/>
        </p:spPr>
        <p:txBody>
          <a:bodyPr wrap="square" lIns="0" tIns="0" rIns="0" bIns="0" rtlCol="0" anchor="ctr"/>
          <a:lstStyle/>
          <a:p>
            <a:pPr algn="ctr" indent="0" marL="0">
              <a:buNone/>
            </a:pPr>
            <a:r>
              <a:rPr lang="en-US" sz="1000" b="1" dirty="0">
                <a:solidFill>
                  <a:srgbClr val="1A3040"/>
                </a:solidFill>
              </a:rPr>
              <a:t>WCAG 2.0</a:t>
            </a:r>
            <a:endParaRPr lang="en-US" sz="1000" dirty="0"/>
          </a:p>
        </p:txBody>
      </p:sp>
      <p:sp>
        <p:nvSpPr>
          <p:cNvPr id="21" name="Text: Technology-neutral guidelines built on 4 POUR principles: Pe"/>
          <p:cNvSpPr/>
          <p:nvPr/>
        </p:nvSpPr>
        <p:spPr>
          <a:xfrm>
            <a:off x="3154680" y="2331720"/>
            <a:ext cx="1325880" cy="566928"/>
          </a:xfrm>
          <a:prstGeom prst="rect">
            <a:avLst/>
          </a:prstGeom>
          <a:noFill/>
          <a:ln/>
        </p:spPr>
        <p:txBody>
          <a:bodyPr wrap="square" lIns="0" tIns="0" rIns="0" bIns="0" rtlCol="0" anchor="ctr"/>
          <a:lstStyle/>
          <a:p>
            <a:pPr algn="ctr" indent="0" marL="0">
              <a:buNone/>
            </a:pPr>
            <a:r>
              <a:rPr lang="en-US" sz="850" dirty="0">
                <a:solidFill>
                  <a:srgbClr val="4A6E7E"/>
                </a:solidFill>
              </a:rPr>
              <a:t>Technology-neutral guidelines built on 4 POUR principles: Perceivable, Operable, Understandable, Robust.</a:t>
            </a:r>
            <a:endParaRPr lang="en-US" sz="850" dirty="0"/>
          </a:p>
        </p:txBody>
      </p:sp>
      <p:sp>
        <p:nvSpPr>
          <p:cNvPr id="22" name="Decorative Shape" descr=""/>
          <p:cNvSpPr/>
          <p:nvPr/>
        </p:nvSpPr>
        <p:spPr>
          <a:xfrm>
            <a:off x="4727448" y="3017520"/>
            <a:ext cx="201168" cy="201168"/>
          </a:xfrm>
          <a:prstGeom prst="ellipse">
            <a:avLst/>
          </a:prstGeom>
          <a:solidFill>
            <a:srgbClr val="0D2B3E"/>
          </a:solidFill>
          <a:ln w="25400">
            <a:solidFill>
              <a:srgbClr val="028090"/>
            </a:solidFill>
            <a:prstDash val="solid"/>
          </a:ln>
        </p:spPr>
        <p:txBody>
          <a:bodyPr/>
          <a:p/>
        </p:txBody>
      </p:sp>
      <p:sp>
        <p:nvSpPr>
          <p:cNvPr id="23" name="Decorative Shape" descr=""/>
          <p:cNvSpPr/>
          <p:nvPr/>
        </p:nvSpPr>
        <p:spPr>
          <a:xfrm>
            <a:off x="4480560" y="3401568"/>
            <a:ext cx="1417320" cy="128016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8000"/>
              </a:srgbClr>
            </a:outerShdw>
          </a:effectLst>
        </p:spPr>
        <p:txBody>
          <a:bodyPr/>
          <a:p/>
        </p:txBody>
      </p:sp>
      <p:sp>
        <p:nvSpPr>
          <p:cNvPr id="24" name="Text: 2018"/>
          <p:cNvSpPr/>
          <p:nvPr/>
        </p:nvSpPr>
        <p:spPr>
          <a:xfrm>
            <a:off x="4526280" y="3456432"/>
            <a:ext cx="1325880" cy="292608"/>
          </a:xfrm>
          <a:prstGeom prst="rect">
            <a:avLst/>
          </a:prstGeom>
          <a:noFill/>
          <a:ln/>
        </p:spPr>
        <p:txBody>
          <a:bodyPr wrap="square" lIns="0" tIns="0" rIns="0" bIns="0" rtlCol="0" anchor="ctr"/>
          <a:lstStyle/>
          <a:p>
            <a:pPr algn="ctr" indent="0" marL="0">
              <a:buNone/>
            </a:pPr>
            <a:r>
              <a:rPr lang="en-US" sz="1300" b="1" dirty="0">
                <a:solidFill>
                  <a:srgbClr val="028090"/>
                </a:solidFill>
              </a:rPr>
              <a:t>2018</a:t>
            </a:r>
            <a:endParaRPr lang="en-US" sz="1300" dirty="0"/>
          </a:p>
        </p:txBody>
      </p:sp>
      <p:sp>
        <p:nvSpPr>
          <p:cNvPr id="25" name="Text: WCAG 2.1"/>
          <p:cNvSpPr/>
          <p:nvPr/>
        </p:nvSpPr>
        <p:spPr>
          <a:xfrm>
            <a:off x="4526280" y="3730752"/>
            <a:ext cx="1325880" cy="256032"/>
          </a:xfrm>
          <a:prstGeom prst="rect">
            <a:avLst/>
          </a:prstGeom>
          <a:noFill/>
          <a:ln/>
        </p:spPr>
        <p:txBody>
          <a:bodyPr wrap="square" lIns="0" tIns="0" rIns="0" bIns="0" rtlCol="0" anchor="ctr"/>
          <a:lstStyle/>
          <a:p>
            <a:pPr algn="ctr" indent="0" marL="0">
              <a:buNone/>
            </a:pPr>
            <a:r>
              <a:rPr lang="en-US" sz="1000" b="1" dirty="0">
                <a:solidFill>
                  <a:srgbClr val="1A3040"/>
                </a:solidFill>
              </a:rPr>
              <a:t>WCAG 2.1</a:t>
            </a:r>
            <a:endParaRPr lang="en-US" sz="1000" dirty="0"/>
          </a:p>
        </p:txBody>
      </p:sp>
      <p:sp>
        <p:nvSpPr>
          <p:cNvPr id="26" name="Text: Added 17 new success criteria covering mobile, low vision, a"/>
          <p:cNvSpPr/>
          <p:nvPr/>
        </p:nvSpPr>
        <p:spPr>
          <a:xfrm>
            <a:off x="4526280" y="3995928"/>
            <a:ext cx="1325880" cy="621792"/>
          </a:xfrm>
          <a:prstGeom prst="rect">
            <a:avLst/>
          </a:prstGeom>
          <a:noFill/>
          <a:ln/>
        </p:spPr>
        <p:txBody>
          <a:bodyPr wrap="square" lIns="0" tIns="0" rIns="0" bIns="0" rtlCol="0" anchor="ctr"/>
          <a:lstStyle/>
          <a:p>
            <a:pPr algn="ctr" indent="0" marL="0">
              <a:buNone/>
            </a:pPr>
            <a:r>
              <a:rPr lang="en-US" sz="850" dirty="0">
                <a:solidFill>
                  <a:srgbClr val="4A6E7E"/>
                </a:solidFill>
              </a:rPr>
              <a:t>Added 17 new success criteria covering mobile, low vision, and cognitive disabilities.</a:t>
            </a:r>
            <a:endParaRPr lang="en-US" sz="850" dirty="0"/>
          </a:p>
        </p:txBody>
      </p:sp>
      <p:sp>
        <p:nvSpPr>
          <p:cNvPr id="27" name="Decorative Shape" descr=""/>
          <p:cNvSpPr/>
          <p:nvPr/>
        </p:nvSpPr>
        <p:spPr>
          <a:xfrm>
            <a:off x="6099048" y="3017520"/>
            <a:ext cx="201168" cy="201168"/>
          </a:xfrm>
          <a:prstGeom prst="ellipse">
            <a:avLst/>
          </a:prstGeom>
          <a:solidFill>
            <a:srgbClr val="F4A261"/>
          </a:solidFill>
          <a:ln w="25400">
            <a:solidFill>
              <a:srgbClr val="028090"/>
            </a:solidFill>
            <a:prstDash val="solid"/>
          </a:ln>
        </p:spPr>
        <p:txBody>
          <a:bodyPr/>
          <a:p/>
        </p:txBody>
      </p:sp>
      <p:sp>
        <p:nvSpPr>
          <p:cNvPr id="28" name="Decorative Shape" descr=""/>
          <p:cNvSpPr/>
          <p:nvPr/>
        </p:nvSpPr>
        <p:spPr>
          <a:xfrm>
            <a:off x="5852160" y="1737360"/>
            <a:ext cx="1417320" cy="1234440"/>
          </a:xfrm>
          <a:prstGeom prst="rect">
            <a:avLst/>
          </a:prstGeom>
          <a:solidFill>
            <a:srgbClr val="F4A261"/>
          </a:solidFill>
          <a:ln w="12700">
            <a:solidFill>
              <a:srgbClr val="F4A261"/>
            </a:solidFill>
            <a:prstDash val="solid"/>
          </a:ln>
          <a:effectLst>
            <a:outerShdw sx="100000" sy="100000" kx="0" ky="0" algn="bl" rotWithShape="0" blurRad="38100" dist="12700" dir="8100000">
              <a:srgbClr val="000000">
                <a:alpha val="8000"/>
              </a:srgbClr>
            </a:outerShdw>
          </a:effectLst>
        </p:spPr>
        <p:txBody>
          <a:bodyPr/>
          <a:p/>
        </p:txBody>
      </p:sp>
      <p:sp>
        <p:nvSpPr>
          <p:cNvPr id="29" name="Text: 2023"/>
          <p:cNvSpPr/>
          <p:nvPr/>
        </p:nvSpPr>
        <p:spPr>
          <a:xfrm>
            <a:off x="5897880" y="1792224"/>
            <a:ext cx="1325880" cy="292608"/>
          </a:xfrm>
          <a:prstGeom prst="rect">
            <a:avLst/>
          </a:prstGeom>
          <a:noFill/>
          <a:ln/>
        </p:spPr>
        <p:txBody>
          <a:bodyPr wrap="square" lIns="0" tIns="0" rIns="0" bIns="0" rtlCol="0" anchor="ctr"/>
          <a:lstStyle/>
          <a:p>
            <a:pPr algn="ctr" indent="0" marL="0">
              <a:buNone/>
            </a:pPr>
            <a:r>
              <a:rPr lang="en-US" sz="1300" b="1" dirty="0">
                <a:solidFill>
                  <a:srgbClr val="0D2B3E"/>
                </a:solidFill>
              </a:rPr>
              <a:t>2023</a:t>
            </a:r>
            <a:endParaRPr lang="en-US" sz="1300" dirty="0"/>
          </a:p>
        </p:txBody>
      </p:sp>
      <p:sp>
        <p:nvSpPr>
          <p:cNvPr id="30" name="Text: WCAG 2.2"/>
          <p:cNvSpPr/>
          <p:nvPr/>
        </p:nvSpPr>
        <p:spPr>
          <a:xfrm>
            <a:off x="5897880" y="2066544"/>
            <a:ext cx="1325880" cy="256032"/>
          </a:xfrm>
          <a:prstGeom prst="rect">
            <a:avLst/>
          </a:prstGeom>
          <a:noFill/>
          <a:ln/>
        </p:spPr>
        <p:txBody>
          <a:bodyPr wrap="square" lIns="0" tIns="0" rIns="0" bIns="0" rtlCol="0" anchor="ctr"/>
          <a:lstStyle/>
          <a:p>
            <a:pPr algn="ctr" indent="0" marL="0">
              <a:buNone/>
            </a:pPr>
            <a:r>
              <a:rPr lang="en-US" sz="1000" b="1" dirty="0">
                <a:solidFill>
                  <a:srgbClr val="0D2B3E"/>
                </a:solidFill>
              </a:rPr>
              <a:t>WCAG 2.2</a:t>
            </a:r>
            <a:endParaRPr lang="en-US" sz="1000" dirty="0"/>
          </a:p>
        </p:txBody>
      </p:sp>
      <p:sp>
        <p:nvSpPr>
          <p:cNvPr id="31" name="Text: Added 9 new criteria including focus appearance and accessib"/>
          <p:cNvSpPr/>
          <p:nvPr/>
        </p:nvSpPr>
        <p:spPr>
          <a:xfrm>
            <a:off x="5897880" y="2331720"/>
            <a:ext cx="1325880" cy="566928"/>
          </a:xfrm>
          <a:prstGeom prst="rect">
            <a:avLst/>
          </a:prstGeom>
          <a:noFill/>
          <a:ln/>
        </p:spPr>
        <p:txBody>
          <a:bodyPr wrap="square" lIns="0" tIns="0" rIns="0" bIns="0" rtlCol="0" anchor="ctr"/>
          <a:lstStyle/>
          <a:p>
            <a:pPr algn="ctr" indent="0" marL="0">
              <a:buNone/>
            </a:pPr>
            <a:r>
              <a:rPr lang="en-US" sz="850" dirty="0">
                <a:solidFill>
                  <a:srgbClr val="0D2B3E"/>
                </a:solidFill>
              </a:rPr>
              <a:t>Added 9 new criteria including focus appearance and accessible authentication. Most widely adopted today.</a:t>
            </a:r>
            <a:endParaRPr lang="en-US" sz="850" dirty="0"/>
          </a:p>
        </p:txBody>
      </p:sp>
      <p:sp>
        <p:nvSpPr>
          <p:cNvPr id="32" name="Decorative Shape" descr=""/>
          <p:cNvSpPr/>
          <p:nvPr/>
        </p:nvSpPr>
        <p:spPr>
          <a:xfrm>
            <a:off x="7470648" y="3017520"/>
            <a:ext cx="201168" cy="201168"/>
          </a:xfrm>
          <a:prstGeom prst="ellipse">
            <a:avLst/>
          </a:prstGeom>
          <a:solidFill>
            <a:srgbClr val="0D2B3E"/>
          </a:solidFill>
          <a:ln w="25400">
            <a:solidFill>
              <a:srgbClr val="028090"/>
            </a:solidFill>
            <a:prstDash val="solid"/>
          </a:ln>
        </p:spPr>
        <p:txBody>
          <a:bodyPr/>
          <a:p/>
        </p:txBody>
      </p:sp>
      <p:sp>
        <p:nvSpPr>
          <p:cNvPr id="33" name="Decorative Shape" descr=""/>
          <p:cNvSpPr/>
          <p:nvPr/>
        </p:nvSpPr>
        <p:spPr>
          <a:xfrm>
            <a:off x="7223760" y="3401568"/>
            <a:ext cx="1417320" cy="1280160"/>
          </a:xfrm>
          <a:prstGeom prst="rect">
            <a:avLst/>
          </a:prstGeom>
          <a:solidFill>
            <a:srgbClr val="FFFFFF"/>
          </a:solidFill>
          <a:ln w="12700">
            <a:solidFill>
              <a:srgbClr val="C4DDE4"/>
            </a:solidFill>
            <a:prstDash val="solid"/>
          </a:ln>
          <a:effectLst>
            <a:outerShdw sx="100000" sy="100000" kx="0" ky="0" algn="bl" rotWithShape="0" blurRad="38100" dist="12700" dir="8100000">
              <a:srgbClr val="000000">
                <a:alpha val="8000"/>
              </a:srgbClr>
            </a:outerShdw>
          </a:effectLst>
        </p:spPr>
        <p:txBody>
          <a:bodyPr/>
          <a:p/>
        </p:txBody>
      </p:sp>
      <p:sp>
        <p:nvSpPr>
          <p:cNvPr id="34" name="Text: 2025+"/>
          <p:cNvSpPr/>
          <p:nvPr/>
        </p:nvSpPr>
        <p:spPr>
          <a:xfrm>
            <a:off x="7269480" y="3456432"/>
            <a:ext cx="1325880" cy="292608"/>
          </a:xfrm>
          <a:prstGeom prst="rect">
            <a:avLst/>
          </a:prstGeom>
          <a:noFill/>
          <a:ln/>
        </p:spPr>
        <p:txBody>
          <a:bodyPr wrap="square" lIns="0" tIns="0" rIns="0" bIns="0" rtlCol="0" anchor="ctr"/>
          <a:lstStyle/>
          <a:p>
            <a:pPr algn="ctr" indent="0" marL="0">
              <a:buNone/>
            </a:pPr>
            <a:r>
              <a:rPr lang="en-US" sz="1300" b="1" dirty="0">
                <a:solidFill>
                  <a:srgbClr val="028090"/>
                </a:solidFill>
              </a:rPr>
              <a:t>2025+</a:t>
            </a:r>
            <a:endParaRPr lang="en-US" sz="1300" dirty="0"/>
          </a:p>
        </p:txBody>
      </p:sp>
      <p:sp>
        <p:nvSpPr>
          <p:cNvPr id="35" name="Text: WCAG 3.0"/>
          <p:cNvSpPr/>
          <p:nvPr/>
        </p:nvSpPr>
        <p:spPr>
          <a:xfrm>
            <a:off x="7269480" y="3730752"/>
            <a:ext cx="1325880" cy="256032"/>
          </a:xfrm>
          <a:prstGeom prst="rect">
            <a:avLst/>
          </a:prstGeom>
          <a:noFill/>
          <a:ln/>
        </p:spPr>
        <p:txBody>
          <a:bodyPr wrap="square" lIns="0" tIns="0" rIns="0" bIns="0" rtlCol="0" anchor="ctr"/>
          <a:lstStyle/>
          <a:p>
            <a:pPr algn="ctr" indent="0" marL="0">
              <a:buNone/>
            </a:pPr>
            <a:r>
              <a:rPr lang="en-US" sz="1000" b="1" dirty="0">
                <a:solidFill>
                  <a:srgbClr val="1A3040"/>
                </a:solidFill>
              </a:rPr>
              <a:t>WCAG 3.0</a:t>
            </a:r>
            <a:endParaRPr lang="en-US" sz="1000" dirty="0"/>
          </a:p>
        </p:txBody>
      </p:sp>
      <p:sp>
        <p:nvSpPr>
          <p:cNvPr id="36" name="Text: In development. Moves from binary pass-or-fail to a scoring "/>
          <p:cNvSpPr/>
          <p:nvPr/>
        </p:nvSpPr>
        <p:spPr>
          <a:xfrm>
            <a:off x="7269480" y="3995928"/>
            <a:ext cx="1325880" cy="621792"/>
          </a:xfrm>
          <a:prstGeom prst="rect">
            <a:avLst/>
          </a:prstGeom>
          <a:noFill/>
          <a:ln/>
        </p:spPr>
        <p:txBody>
          <a:bodyPr wrap="square" lIns="0" tIns="0" rIns="0" bIns="0" rtlCol="0" anchor="ctr"/>
          <a:lstStyle/>
          <a:p>
            <a:pPr algn="ctr" indent="0" marL="0">
              <a:buNone/>
            </a:pPr>
            <a:r>
              <a:rPr lang="en-US" sz="850" dirty="0">
                <a:solidFill>
                  <a:srgbClr val="4A6E7E"/>
                </a:solidFill>
              </a:rPr>
              <a:t>In development. Moves from binary pass-or-fail to a scoring model with broader disability coverage.</a:t>
            </a:r>
            <a:endParaRPr lang="en-US" sz="850" dirty="0"/>
          </a:p>
        </p:txBody>
      </p:sp>
      <p:sp>
        <p:nvSpPr>
          <p:cNvPr id="37" name="Decorative Shape" descr=""/>
          <p:cNvSpPr/>
          <p:nvPr/>
        </p:nvSpPr>
        <p:spPr>
          <a:xfrm>
            <a:off x="0" y="4846320"/>
            <a:ext cx="9144000" cy="297180"/>
          </a:xfrm>
          <a:prstGeom prst="rect">
            <a:avLst/>
          </a:prstGeom>
          <a:solidFill>
            <a:srgbClr val="0D2B3E"/>
          </a:solidFill>
          <a:ln w="12700">
            <a:solidFill>
              <a:srgbClr val="0D2B3E"/>
            </a:solidFill>
            <a:prstDash val="solid"/>
          </a:ln>
        </p:spPr>
        <p:txBody>
          <a:bodyPr/>
          <a:p/>
        </p:txBody>
      </p:sp>
      <p:sp>
        <p:nvSpPr>
          <p:cNvPr id="38" name="Text: Digital Accessibility Awareness"/>
          <p:cNvSpPr/>
          <p:nvPr/>
        </p:nvSpPr>
        <p:spPr>
          <a:xfrm>
            <a:off x="274320" y="4864608"/>
            <a:ext cx="4572000" cy="256032"/>
          </a:xfrm>
          <a:prstGeom prst="rect">
            <a:avLst/>
          </a:prstGeom>
          <a:noFill/>
          <a:ln/>
        </p:spPr>
        <p:txBody>
          <a:bodyPr wrap="square" lIns="0" tIns="0" rIns="0" bIns="0" rtlCol="0" anchor="ctr"/>
          <a:lstStyle/>
          <a:p>
            <a:pPr indent="0" marL="0">
              <a:buNone/>
            </a:pPr>
            <a:r>
              <a:rPr lang="en-US" sz="900" dirty="0">
                <a:solidFill>
                  <a:srgbClr val="C4DDE4"/>
                </a:solidFill>
              </a:rPr>
              <a:t>Digital Accessibility Awareness</a:t>
            </a:r>
            <a:endParaRPr lang="en-US" sz="900" dirty="0"/>
          </a:p>
        </p:txBody>
      </p:sp>
      <p:sp>
        <p:nvSpPr>
          <p:cNvPr id="39" name="Text: Slide 9"/>
          <p:cNvSpPr/>
          <p:nvPr/>
        </p:nvSpPr>
        <p:spPr>
          <a:xfrm>
            <a:off x="8229600" y="4864608"/>
            <a:ext cx="640080" cy="256032"/>
          </a:xfrm>
          <a:prstGeom prst="rect">
            <a:avLst/>
          </a:prstGeom>
          <a:noFill/>
          <a:ln/>
        </p:spPr>
        <p:txBody>
          <a:bodyPr wrap="square" lIns="0" tIns="0" rIns="0" bIns="0" rtlCol="0" anchor="ctr"/>
          <a:lstStyle/>
          <a:p>
            <a:pPr algn="r" indent="0" marL="0">
              <a:buNone/>
            </a:pPr>
            <a:r>
              <a:rPr lang="en-US" sz="900" dirty="0">
                <a:solidFill>
                  <a:srgbClr val="C4DDE4"/>
                </a:solidFill>
              </a:rPr>
              <a:t>Slide 9</a:t>
            </a:r>
            <a:endParaRPr lang="en-US" sz="900" dirty="0"/>
          </a:p>
        </p:txBody>
      </p:sp>
      <p:sp>
        <p:nvSpPr>
          <p:cNvPr id="9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Topic 6 – What is WCAG? A Brief History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3E"/>
        </a:solidFill>
      </p:bgPr>
    </p:bg>
    <p:spTree>
      <p:nvGrpSpPr>
        <p:cNvPr id="1" name=""/>
        <p:cNvGrpSpPr/>
        <p:nvPr/>
      </p:nvGrpSpPr>
      <p:grpSpPr>
        <a:xfrm>
          <a:off x="0" y="0"/>
          <a:ext cx="0" cy="0"/>
          <a:chOff x="0" y="0"/>
          <a:chExt cx="0" cy="0"/>
        </a:xfrm>
      </p:grpSpPr>
      <p:sp>
        <p:nvSpPr>
          <p:cNvPr id="2" name="Decorative Shape" descr=""/>
          <p:cNvSpPr/>
          <p:nvPr/>
        </p:nvSpPr>
        <p:spPr>
          <a:xfrm>
            <a:off x="6217920" y="0"/>
            <a:ext cx="2926080" cy="5143500"/>
          </a:xfrm>
          <a:prstGeom prst="rect">
            <a:avLst/>
          </a:prstGeom>
          <a:solidFill>
            <a:srgbClr val="028090">
              <a:alpha val="30000"/>
            </a:srgbClr>
          </a:solidFill>
          <a:ln w="12700">
            <a:solidFill>
              <a:srgbClr val="028090">
                <a:alpha val="30000"/>
              </a:srgbClr>
            </a:solidFill>
            <a:prstDash val="solid"/>
          </a:ln>
        </p:spPr>
        <p:txBody>
          <a:bodyPr/>
          <a:p/>
        </p:txBody>
      </p:sp>
      <p:sp>
        <p:nvSpPr>
          <p:cNvPr id="3" name="Decorative Shape" descr=""/>
          <p:cNvSpPr/>
          <p:nvPr/>
        </p:nvSpPr>
        <p:spPr>
          <a:xfrm>
            <a:off x="6766560" y="1097280"/>
            <a:ext cx="2011680" cy="2011680"/>
          </a:xfrm>
          <a:prstGeom prst="ellipse">
            <a:avLst/>
          </a:prstGeom>
          <a:solidFill>
            <a:srgbClr val="F4A261">
              <a:alpha val="75000"/>
            </a:srgbClr>
          </a:solidFill>
          <a:ln w="12700">
            <a:solidFill>
              <a:srgbClr val="F4A261">
                <a:alpha val="60000"/>
              </a:srgbClr>
            </a:solidFill>
            <a:prstDash val="solid"/>
          </a:ln>
        </p:spPr>
        <p:txBody>
          <a:bodyPr/>
          <a:p/>
        </p:txBody>
      </p:sp>
      <p:sp>
        <p:nvSpPr>
          <p:cNvPr id="4" name="Text: Key Takeaways"/>
          <p:cNvSpPr/>
          <p:nvPr/>
        </p:nvSpPr>
        <p:spPr>
          <a:xfrm>
            <a:off x="457200" y="320040"/>
            <a:ext cx="5486400" cy="548640"/>
          </a:xfrm>
          <a:prstGeom prst="rect">
            <a:avLst/>
          </a:prstGeom>
          <a:noFill/>
          <a:ln/>
        </p:spPr>
        <p:txBody>
          <a:bodyPr wrap="square" lIns="0" tIns="0" rIns="0" bIns="0" rtlCol="0" anchor="ctr"/>
          <a:lstStyle/>
          <a:p>
            <a:pPr indent="0" marL="0">
              <a:buNone/>
            </a:pPr>
            <a:r>
              <a:rPr lang="en-US" sz="3000" b="1" dirty="0">
                <a:solidFill>
                  <a:srgbClr val="F4A261"/>
                </a:solidFill>
              </a:rPr>
              <a:t>Key Takeaways</a:t>
            </a:r>
            <a:endParaRPr lang="en-US" sz="3000" dirty="0"/>
          </a:p>
        </p:txBody>
      </p:sp>
      <p:sp>
        <p:nvSpPr>
          <p:cNvPr id="5" name="Decorative Shape" descr=""/>
          <p:cNvSpPr/>
          <p:nvPr/>
        </p:nvSpPr>
        <p:spPr>
          <a:xfrm>
            <a:off x="457200" y="987552"/>
            <a:ext cx="5486400" cy="658368"/>
          </a:xfrm>
          <a:prstGeom prst="rect">
            <a:avLst/>
          </a:prstGeom>
          <a:solidFill>
            <a:srgbClr val="FFFFFF">
              <a:alpha val="8000"/>
            </a:srgbClr>
          </a:solidFill>
          <a:ln w="12700">
            <a:solidFill>
              <a:srgbClr val="028090"/>
            </a:solidFill>
            <a:prstDash val="solid"/>
          </a:ln>
        </p:spPr>
        <p:txBody>
          <a:bodyPr/>
          <a:p/>
        </p:txBody>
      </p:sp>
      <p:sp>
        <p:nvSpPr>
          <p:cNvPr id="6" name="Decorative Shape" descr=""/>
          <p:cNvSpPr/>
          <p:nvPr/>
        </p:nvSpPr>
        <p:spPr>
          <a:xfrm>
            <a:off x="457200" y="987552"/>
            <a:ext cx="91440" cy="658368"/>
          </a:xfrm>
          <a:prstGeom prst="rect">
            <a:avLst/>
          </a:prstGeom>
          <a:solidFill>
            <a:srgbClr val="00A896"/>
          </a:solidFill>
          <a:ln w="12700">
            <a:solidFill>
              <a:srgbClr val="00A896"/>
            </a:solidFill>
            <a:prstDash val="solid"/>
          </a:ln>
        </p:spPr>
        <p:txBody>
          <a:bodyPr/>
          <a:p/>
        </p:txBody>
      </p:sp>
      <p:sp>
        <p:nvSpPr>
          <p:cNvPr id="7" name="Text: Accessibility is not an optional extra; it is a baseline req"/>
          <p:cNvSpPr/>
          <p:nvPr/>
        </p:nvSpPr>
        <p:spPr>
          <a:xfrm>
            <a:off x="658368" y="1042416"/>
            <a:ext cx="5166360" cy="502920"/>
          </a:xfrm>
          <a:prstGeom prst="rect">
            <a:avLst/>
          </a:prstGeom>
          <a:noFill/>
          <a:ln/>
        </p:spPr>
        <p:txBody>
          <a:bodyPr wrap="square" lIns="0" tIns="0" rIns="0" bIns="0" rtlCol="0" anchor="ctr"/>
          <a:lstStyle/>
          <a:p>
            <a:pPr indent="0" marL="0">
              <a:buNone/>
            </a:pPr>
            <a:r>
              <a:rPr lang="en-US" sz="1100" dirty="0">
                <a:solidFill>
                  <a:srgbClr val="FFFFFF"/>
                </a:solidFill>
              </a:rPr>
              <a:t>Accessibility is not an optional extra; it is a baseline requirement.</a:t>
            </a:r>
            <a:endParaRPr lang="en-US" sz="1100" dirty="0"/>
          </a:p>
        </p:txBody>
      </p:sp>
      <p:sp>
        <p:nvSpPr>
          <p:cNvPr id="8" name="Decorative Shape" descr=""/>
          <p:cNvSpPr/>
          <p:nvPr/>
        </p:nvSpPr>
        <p:spPr>
          <a:xfrm>
            <a:off x="457200" y="1746504"/>
            <a:ext cx="5486400" cy="658368"/>
          </a:xfrm>
          <a:prstGeom prst="rect">
            <a:avLst/>
          </a:prstGeom>
          <a:solidFill>
            <a:srgbClr val="FFFFFF">
              <a:alpha val="8000"/>
            </a:srgbClr>
          </a:solidFill>
          <a:ln w="12700">
            <a:solidFill>
              <a:srgbClr val="028090"/>
            </a:solidFill>
            <a:prstDash val="solid"/>
          </a:ln>
        </p:spPr>
        <p:txBody>
          <a:bodyPr/>
          <a:p/>
        </p:txBody>
      </p:sp>
      <p:sp>
        <p:nvSpPr>
          <p:cNvPr id="9" name="Decorative Shape" descr=""/>
          <p:cNvSpPr/>
          <p:nvPr/>
        </p:nvSpPr>
        <p:spPr>
          <a:xfrm>
            <a:off x="457200" y="1746504"/>
            <a:ext cx="91440" cy="658368"/>
          </a:xfrm>
          <a:prstGeom prst="rect">
            <a:avLst/>
          </a:prstGeom>
          <a:solidFill>
            <a:srgbClr val="00A896"/>
          </a:solidFill>
          <a:ln w="12700">
            <a:solidFill>
              <a:srgbClr val="00A896"/>
            </a:solidFill>
            <a:prstDash val="solid"/>
          </a:ln>
        </p:spPr>
        <p:txBody>
          <a:bodyPr/>
          <a:p/>
        </p:txBody>
      </p:sp>
      <p:sp>
        <p:nvSpPr>
          <p:cNvPr id="10" name="Text: The POUR principles underpin every WCAG success criterion."/>
          <p:cNvSpPr/>
          <p:nvPr/>
        </p:nvSpPr>
        <p:spPr>
          <a:xfrm>
            <a:off x="658368" y="1801368"/>
            <a:ext cx="5166360" cy="502920"/>
          </a:xfrm>
          <a:prstGeom prst="rect">
            <a:avLst/>
          </a:prstGeom>
          <a:noFill/>
          <a:ln/>
        </p:spPr>
        <p:txBody>
          <a:bodyPr wrap="square" lIns="0" tIns="0" rIns="0" bIns="0" rtlCol="0" anchor="ctr"/>
          <a:lstStyle/>
          <a:p>
            <a:pPr indent="0" marL="0">
              <a:buNone/>
            </a:pPr>
            <a:r>
              <a:rPr lang="en-US" sz="1100" dirty="0">
                <a:solidFill>
                  <a:srgbClr val="FFFFFF"/>
                </a:solidFill>
              </a:rPr>
              <a:t>The POUR principles underpin every WCAG success criterion.</a:t>
            </a:r>
            <a:endParaRPr lang="en-US" sz="1100" dirty="0"/>
          </a:p>
        </p:txBody>
      </p:sp>
      <p:sp>
        <p:nvSpPr>
          <p:cNvPr id="11" name="Decorative Shape" descr=""/>
          <p:cNvSpPr/>
          <p:nvPr/>
        </p:nvSpPr>
        <p:spPr>
          <a:xfrm>
            <a:off x="457200" y="2505456"/>
            <a:ext cx="5486400" cy="658368"/>
          </a:xfrm>
          <a:prstGeom prst="rect">
            <a:avLst/>
          </a:prstGeom>
          <a:solidFill>
            <a:srgbClr val="FFFFFF">
              <a:alpha val="8000"/>
            </a:srgbClr>
          </a:solidFill>
          <a:ln w="12700">
            <a:solidFill>
              <a:srgbClr val="028090"/>
            </a:solidFill>
            <a:prstDash val="solid"/>
          </a:ln>
        </p:spPr>
        <p:txBody>
          <a:bodyPr/>
          <a:p/>
        </p:txBody>
      </p:sp>
      <p:sp>
        <p:nvSpPr>
          <p:cNvPr id="12" name="Decorative Shape" descr=""/>
          <p:cNvSpPr/>
          <p:nvPr/>
        </p:nvSpPr>
        <p:spPr>
          <a:xfrm>
            <a:off x="457200" y="2505456"/>
            <a:ext cx="91440" cy="658368"/>
          </a:xfrm>
          <a:prstGeom prst="rect">
            <a:avLst/>
          </a:prstGeom>
          <a:solidFill>
            <a:srgbClr val="00A896"/>
          </a:solidFill>
          <a:ln w="12700">
            <a:solidFill>
              <a:srgbClr val="00A896"/>
            </a:solidFill>
            <a:prstDash val="solid"/>
          </a:ln>
        </p:spPr>
        <p:txBody>
          <a:bodyPr/>
          <a:p/>
        </p:txBody>
      </p:sp>
      <p:sp>
        <p:nvSpPr>
          <p:cNvPr id="13" name="Text: 1.3 billion people need accessible design; everyone else ben"/>
          <p:cNvSpPr/>
          <p:nvPr/>
        </p:nvSpPr>
        <p:spPr>
          <a:xfrm>
            <a:off x="658368" y="2560320"/>
            <a:ext cx="5166360" cy="502920"/>
          </a:xfrm>
          <a:prstGeom prst="rect">
            <a:avLst/>
          </a:prstGeom>
          <a:noFill/>
          <a:ln/>
        </p:spPr>
        <p:txBody>
          <a:bodyPr wrap="square" lIns="0" tIns="0" rIns="0" bIns="0" rtlCol="0" anchor="ctr"/>
          <a:lstStyle/>
          <a:p>
            <a:pPr indent="0" marL="0">
              <a:buNone/>
            </a:pPr>
            <a:r>
              <a:rPr lang="en-US" sz="1100" dirty="0">
                <a:solidFill>
                  <a:srgbClr val="FFFFFF"/>
                </a:solidFill>
              </a:rPr>
              <a:t>1.3 billion people need accessible design; everyone else benefits from it too.</a:t>
            </a:r>
            <a:endParaRPr lang="en-US" sz="1100" dirty="0"/>
          </a:p>
        </p:txBody>
      </p:sp>
      <p:sp>
        <p:nvSpPr>
          <p:cNvPr id="14" name="Decorative Shape" descr=""/>
          <p:cNvSpPr/>
          <p:nvPr/>
        </p:nvSpPr>
        <p:spPr>
          <a:xfrm>
            <a:off x="457200" y="3264408"/>
            <a:ext cx="5486400" cy="658368"/>
          </a:xfrm>
          <a:prstGeom prst="rect">
            <a:avLst/>
          </a:prstGeom>
          <a:solidFill>
            <a:srgbClr val="FFFFFF">
              <a:alpha val="8000"/>
            </a:srgbClr>
          </a:solidFill>
          <a:ln w="12700">
            <a:solidFill>
              <a:srgbClr val="028090"/>
            </a:solidFill>
            <a:prstDash val="solid"/>
          </a:ln>
        </p:spPr>
        <p:txBody>
          <a:bodyPr/>
          <a:p/>
        </p:txBody>
      </p:sp>
      <p:sp>
        <p:nvSpPr>
          <p:cNvPr id="15" name="Decorative Shape" descr=""/>
          <p:cNvSpPr/>
          <p:nvPr/>
        </p:nvSpPr>
        <p:spPr>
          <a:xfrm>
            <a:off x="457200" y="3264408"/>
            <a:ext cx="91440" cy="658368"/>
          </a:xfrm>
          <a:prstGeom prst="rect">
            <a:avLst/>
          </a:prstGeom>
          <a:solidFill>
            <a:srgbClr val="00A896"/>
          </a:solidFill>
          <a:ln w="12700">
            <a:solidFill>
              <a:srgbClr val="00A896"/>
            </a:solidFill>
            <a:prstDash val="solid"/>
          </a:ln>
        </p:spPr>
        <p:txBody>
          <a:bodyPr/>
          <a:p/>
        </p:txBody>
      </p:sp>
      <p:sp>
        <p:nvSpPr>
          <p:cNvPr id="16" name="Text: Integrate accessibility at the start of every project: Shift"/>
          <p:cNvSpPr/>
          <p:nvPr/>
        </p:nvSpPr>
        <p:spPr>
          <a:xfrm>
            <a:off x="658368" y="3319272"/>
            <a:ext cx="5166360" cy="502920"/>
          </a:xfrm>
          <a:prstGeom prst="rect">
            <a:avLst/>
          </a:prstGeom>
          <a:noFill/>
          <a:ln/>
        </p:spPr>
        <p:txBody>
          <a:bodyPr wrap="square" lIns="0" tIns="0" rIns="0" bIns="0" rtlCol="0" anchor="ctr"/>
          <a:lstStyle/>
          <a:p>
            <a:pPr indent="0" marL="0">
              <a:buNone/>
            </a:pPr>
            <a:r>
              <a:rPr lang="en-US" sz="1100" dirty="0">
                <a:solidFill>
                  <a:srgbClr val="FFFFFF"/>
                </a:solidFill>
              </a:rPr>
              <a:t>Integrate accessibility at the start of every project: Shift Left.</a:t>
            </a:r>
            <a:endParaRPr lang="en-US" sz="1100" dirty="0"/>
          </a:p>
        </p:txBody>
      </p:sp>
      <p:sp>
        <p:nvSpPr>
          <p:cNvPr id="17" name="Decorative Shape" descr=""/>
          <p:cNvSpPr/>
          <p:nvPr/>
        </p:nvSpPr>
        <p:spPr>
          <a:xfrm>
            <a:off x="457200" y="4023360"/>
            <a:ext cx="5486400" cy="658368"/>
          </a:xfrm>
          <a:prstGeom prst="rect">
            <a:avLst/>
          </a:prstGeom>
          <a:solidFill>
            <a:srgbClr val="FFFFFF">
              <a:alpha val="8000"/>
            </a:srgbClr>
          </a:solidFill>
          <a:ln w="12700">
            <a:solidFill>
              <a:srgbClr val="028090"/>
            </a:solidFill>
            <a:prstDash val="solid"/>
          </a:ln>
        </p:spPr>
        <p:txBody>
          <a:bodyPr/>
          <a:p/>
        </p:txBody>
      </p:sp>
      <p:sp>
        <p:nvSpPr>
          <p:cNvPr id="18" name="Decorative Shape" descr=""/>
          <p:cNvSpPr/>
          <p:nvPr/>
        </p:nvSpPr>
        <p:spPr>
          <a:xfrm>
            <a:off x="457200" y="4023360"/>
            <a:ext cx="91440" cy="658368"/>
          </a:xfrm>
          <a:prstGeom prst="rect">
            <a:avLst/>
          </a:prstGeom>
          <a:solidFill>
            <a:srgbClr val="00A896"/>
          </a:solidFill>
          <a:ln w="12700">
            <a:solidFill>
              <a:srgbClr val="00A896"/>
            </a:solidFill>
            <a:prstDash val="solid"/>
          </a:ln>
        </p:spPr>
        <p:txBody>
          <a:bodyPr/>
          <a:p/>
        </p:txBody>
      </p:sp>
      <p:sp>
        <p:nvSpPr>
          <p:cNvPr id="19" name="Text: WCAG 2.2 is the current standard; plan for WCAG 3.0 ahead."/>
          <p:cNvSpPr/>
          <p:nvPr/>
        </p:nvSpPr>
        <p:spPr>
          <a:xfrm>
            <a:off x="658368" y="4078224"/>
            <a:ext cx="5166360" cy="502920"/>
          </a:xfrm>
          <a:prstGeom prst="rect">
            <a:avLst/>
          </a:prstGeom>
          <a:noFill/>
          <a:ln/>
        </p:spPr>
        <p:txBody>
          <a:bodyPr wrap="square" lIns="0" tIns="0" rIns="0" bIns="0" rtlCol="0" anchor="ctr"/>
          <a:lstStyle/>
          <a:p>
            <a:pPr indent="0" marL="0">
              <a:buNone/>
            </a:pPr>
            <a:r>
              <a:rPr lang="en-US" sz="1100" dirty="0">
                <a:solidFill>
                  <a:srgbClr val="FFFFFF"/>
                </a:solidFill>
              </a:rPr>
              <a:t>WCAG 2.2 is the current standard; plan for WCAG 3.0 ahead.</a:t>
            </a:r>
            <a:endParaRPr lang="en-US" sz="1100" dirty="0"/>
          </a:p>
        </p:txBody>
      </p:sp>
      <p:sp>
        <p:nvSpPr>
          <p:cNvPr id="20" name="Text: Thank You  |  Questions Welcome"/>
          <p:cNvSpPr/>
          <p:nvPr/>
        </p:nvSpPr>
        <p:spPr>
          <a:xfrm>
            <a:off x="457200" y="4663440"/>
            <a:ext cx="5486400" cy="365760"/>
          </a:xfrm>
          <a:prstGeom prst="rect">
            <a:avLst/>
          </a:prstGeom>
          <a:noFill/>
          <a:ln/>
        </p:spPr>
        <p:txBody>
          <a:bodyPr wrap="square" lIns="0" tIns="0" rIns="0" bIns="0" rtlCol="0" anchor="ctr"/>
          <a:lstStyle/>
          <a:p>
            <a:pPr indent="0" marL="0">
              <a:buNone/>
            </a:pPr>
            <a:r>
              <a:rPr lang="en-US" sz="1300" b="1" dirty="0">
                <a:solidFill>
                  <a:srgbClr val="F4A261"/>
                </a:solidFill>
              </a:rPr>
              <a:t>Thank You  |  Questions Welcome</a:t>
            </a:r>
            <a:endParaRPr lang="en-US" sz="1300" dirty="0"/>
          </a:p>
        </p:txBody>
      </p:sp>
      <p:sp>
        <p:nvSpPr>
          <p:cNvPr id="10999" name="Slide Title" title="Slide Title"/>
          <p:cNvSpPr>
            <a:spLocks noGrp="1"/>
          </p:cNvSpPr>
          <p:nvPr>
            <p:ph type="title"/>
          </p:nvPr>
        </p:nvSpPr>
        <p:spPr>
          <a:xfrm>
            <a:off x="457200" y="-914400"/>
            <a:ext cx="8229600" cy="1143000"/>
          </a:xfrm>
          <a:prstGeom prst="rect">
            <a:avLst/>
          </a:prstGeom>
          <a:noFill/>
        </p:spPr>
        <p:txBody>
          <a:bodyPr/>
          <a:lstStyle/>
          <a:p>
            <a:r>
              <a:rPr lang="en-GB" altLang="en-US" sz="2800" b="1" dirty="0"/>
              <a:t>Key Takeaways and Closing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Awareness on Digital Accessibility</dc:title>
  <dc:subject>Digital Accessibility Awareness Presentation</dc:subject>
  <dc:creator>Akhil</dc:creator>
  <cp:lastModifiedBy>Akhil</cp:lastModifiedBy>
  <cp:revision>1</cp:revision>
  <dcterms:created xsi:type="dcterms:W3CDTF">2026-03-18T13:16:13Z</dcterms:created>
  <dcterms:modified xsi:type="dcterms:W3CDTF">2026-03-18T13:16:13Z</dcterms:modified>
</cp:coreProperties>
</file>