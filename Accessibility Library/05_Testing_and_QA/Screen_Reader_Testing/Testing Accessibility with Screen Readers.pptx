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350"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A46679-FFA0-4BC7-8772-83054B55887B}" type="datetimeFigureOut">
              <a:rPr lang="en-IN" smtClean="0"/>
              <a:t>16-05-2025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3EBD4F-2928-49D0-850E-C1021A2D4482}" type="slidenum">
              <a:rPr lang="en-IN" smtClean="0"/>
              <a:t>‹#›</a:t>
            </a:fld>
            <a:endParaRPr lang="en-IN"/>
          </a:p>
        </p:txBody>
      </p:sp>
    </p:spTree>
    <p:extLst>
      <p:ext uri="{BB962C8B-B14F-4D97-AF65-F5344CB8AC3E}">
        <p14:creationId xmlns:p14="http://schemas.microsoft.com/office/powerpoint/2010/main" val="1002261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presentation was automatically generated by PowerPoint Copilot based on content found in this document:
https://1drv.ms/w/c/f76ae15bbc4cfc1d/ES1TG9MJtcFHq2KUh4DfadQBcluHV1EXb0KbQ8H3RmELMg?e=2lzNk8
AI-generated content may be incorrect.</a:t>
            </a:r>
          </a:p>
        </p:txBody>
      </p:sp>
      <p:sp>
        <p:nvSpPr>
          <p:cNvPr id="4" name="Slide Number Placeholder 3"/>
          <p:cNvSpPr>
            <a:spLocks noGrp="1"/>
          </p:cNvSpPr>
          <p:nvPr>
            <p:ph type="sldNum" sz="quarter" idx="5"/>
          </p:nvPr>
        </p:nvSpPr>
        <p:spPr/>
        <p:txBody>
          <a:bodyPr/>
          <a:lstStyle/>
          <a:p>
            <a:fld id="{63A89259-F187-41C9-894F-216096E1AB59}" type="slidenum">
              <a:rPr lang="en-IN" smtClean="0"/>
              <a:t>1</a:t>
            </a:fld>
            <a:endParaRPr lang="en-IN"/>
          </a:p>
        </p:txBody>
      </p:sp>
    </p:spTree>
    <p:extLst>
      <p:ext uri="{BB962C8B-B14F-4D97-AF65-F5344CB8AC3E}">
        <p14:creationId xmlns:p14="http://schemas.microsoft.com/office/powerpoint/2010/main" val="360845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Agenda
* Overview
* Introduction to Accessibility
* Screen Reader Usage
* Common Screen Readers
* Screen Reader Modes
* Technical Overview
* Key Elements of the Accessibility Tree
* Testing Web Applications with Screen Readers
* Testing Workflow
* Key Testing Areas
* Tips for Ensuring a Screen Reader Accessible Site
* Conclusion
</a:t>
            </a:r>
          </a:p>
        </p:txBody>
      </p:sp>
      <p:sp>
        <p:nvSpPr>
          <p:cNvPr id="4" name="Slide Number Placeholder 3"/>
          <p:cNvSpPr>
            <a:spLocks noGrp="1"/>
          </p:cNvSpPr>
          <p:nvPr>
            <p:ph type="sldNum" sz="quarter" idx="5"/>
          </p:nvPr>
        </p:nvSpPr>
        <p:spPr/>
        <p:txBody>
          <a:bodyPr/>
          <a:lstStyle/>
          <a:p>
            <a:fld id="{63A89259-F187-41C9-894F-216096E1AB59}" type="slidenum">
              <a:rPr lang="en-IN" smtClean="0"/>
              <a:t>2</a:t>
            </a:fld>
            <a:endParaRPr lang="en-IN"/>
          </a:p>
        </p:txBody>
      </p:sp>
    </p:spTree>
    <p:extLst>
      <p:ext uri="{BB962C8B-B14F-4D97-AF65-F5344CB8AC3E}">
        <p14:creationId xmlns:p14="http://schemas.microsoft.com/office/powerpoint/2010/main" val="4034326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focuses on improving usability and inclusivity.
Original Content:
Enhancing Usability and Inclusivity
</a:t>
            </a:r>
          </a:p>
        </p:txBody>
      </p:sp>
      <p:sp>
        <p:nvSpPr>
          <p:cNvPr id="4" name="Slide Number Placeholder 3"/>
          <p:cNvSpPr>
            <a:spLocks noGrp="1"/>
          </p:cNvSpPr>
          <p:nvPr>
            <p:ph type="sldNum" sz="quarter" idx="5"/>
          </p:nvPr>
        </p:nvSpPr>
        <p:spPr/>
        <p:txBody>
          <a:bodyPr/>
          <a:lstStyle/>
          <a:p>
            <a:fld id="{63A89259-F187-41C9-894F-216096E1AB59}" type="slidenum">
              <a:rPr lang="en-IN" smtClean="0"/>
              <a:t>3</a:t>
            </a:fld>
            <a:endParaRPr lang="en-IN"/>
          </a:p>
        </p:txBody>
      </p:sp>
    </p:spTree>
    <p:extLst>
      <p:ext uri="{BB962C8B-B14F-4D97-AF65-F5344CB8AC3E}">
        <p14:creationId xmlns:p14="http://schemas.microsoft.com/office/powerpoint/2010/main" val="4264004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Accessibility is crucial for enhancing usability and promoting inclusivity. Keyboard accessibility is the initial step, while screen readers are vital for users with low vision or blindness.
Original Content:
Accessibility enhances usability and inclusivity.
Keyboard accessibility is only the first step.
Screen readers are vital for users with low vision or blindness.
</a:t>
            </a:r>
          </a:p>
        </p:txBody>
      </p:sp>
      <p:sp>
        <p:nvSpPr>
          <p:cNvPr id="4" name="Slide Number Placeholder 3"/>
          <p:cNvSpPr>
            <a:spLocks noGrp="1"/>
          </p:cNvSpPr>
          <p:nvPr>
            <p:ph type="sldNum" sz="quarter" idx="5"/>
          </p:nvPr>
        </p:nvSpPr>
        <p:spPr/>
        <p:txBody>
          <a:bodyPr/>
          <a:lstStyle/>
          <a:p>
            <a:fld id="{63A89259-F187-41C9-894F-216096E1AB59}" type="slidenum">
              <a:rPr lang="en-IN" smtClean="0"/>
              <a:t>4</a:t>
            </a:fld>
            <a:endParaRPr lang="en-IN"/>
          </a:p>
        </p:txBody>
      </p:sp>
    </p:spTree>
    <p:extLst>
      <p:ext uri="{BB962C8B-B14F-4D97-AF65-F5344CB8AC3E}">
        <p14:creationId xmlns:p14="http://schemas.microsoft.com/office/powerpoint/2010/main" val="2964826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Learn to navigate content sequentially or by specific elements. Understand the role, name, and state of interactive elements. Use keyboard shortcuts for efficient browsing.
Original Content:
Navigate content sequentially or by specific elements.
Understand the role, name, and state of interactive elements.
Use keyboard shortcuts for efficient browsing.
</a:t>
            </a:r>
          </a:p>
        </p:txBody>
      </p:sp>
      <p:sp>
        <p:nvSpPr>
          <p:cNvPr id="4" name="Slide Number Placeholder 3"/>
          <p:cNvSpPr>
            <a:spLocks noGrp="1"/>
          </p:cNvSpPr>
          <p:nvPr>
            <p:ph type="sldNum" sz="quarter" idx="5"/>
          </p:nvPr>
        </p:nvSpPr>
        <p:spPr/>
        <p:txBody>
          <a:bodyPr/>
          <a:lstStyle/>
          <a:p>
            <a:fld id="{63A89259-F187-41C9-894F-216096E1AB59}" type="slidenum">
              <a:rPr lang="en-IN" smtClean="0"/>
              <a:t>5</a:t>
            </a:fld>
            <a:endParaRPr lang="en-IN"/>
          </a:p>
        </p:txBody>
      </p:sp>
    </p:spTree>
    <p:extLst>
      <p:ext uri="{BB962C8B-B14F-4D97-AF65-F5344CB8AC3E}">
        <p14:creationId xmlns:p14="http://schemas.microsoft.com/office/powerpoint/2010/main" val="2674204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lists popular screen readers including Apple Voiceover, NVDA, JAWS, Talkback for Android, and ChromeVox.
Original Content:
Apple Voiceover
NVDA
JAWS
Talkback (Android)
ChromeVox
</a:t>
            </a:r>
          </a:p>
        </p:txBody>
      </p:sp>
      <p:sp>
        <p:nvSpPr>
          <p:cNvPr id="4" name="Slide Number Placeholder 3"/>
          <p:cNvSpPr>
            <a:spLocks noGrp="1"/>
          </p:cNvSpPr>
          <p:nvPr>
            <p:ph type="sldNum" sz="quarter" idx="5"/>
          </p:nvPr>
        </p:nvSpPr>
        <p:spPr/>
        <p:txBody>
          <a:bodyPr/>
          <a:lstStyle/>
          <a:p>
            <a:fld id="{63A89259-F187-41C9-894F-216096E1AB59}" type="slidenum">
              <a:rPr lang="en-IN" smtClean="0"/>
              <a:t>6</a:t>
            </a:fld>
            <a:endParaRPr lang="en-IN"/>
          </a:p>
        </p:txBody>
      </p:sp>
    </p:spTree>
    <p:extLst>
      <p:ext uri="{BB962C8B-B14F-4D97-AF65-F5344CB8AC3E}">
        <p14:creationId xmlns:p14="http://schemas.microsoft.com/office/powerpoint/2010/main" val="949095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covers features for navigating and reading pages, engaging with interactive elements like forms and modals, and managing shortcuts for element navigation.
Original Content:
Used for navigating and reading the page.
Supports navigating by headings, links, and regions.
Engages with interactive elements like forms or modals.
Disables shortcuts for moving between elements.
</a:t>
            </a:r>
          </a:p>
        </p:txBody>
      </p:sp>
      <p:sp>
        <p:nvSpPr>
          <p:cNvPr id="4" name="Slide Number Placeholder 3"/>
          <p:cNvSpPr>
            <a:spLocks noGrp="1"/>
          </p:cNvSpPr>
          <p:nvPr>
            <p:ph type="sldNum" sz="quarter" idx="5"/>
          </p:nvPr>
        </p:nvSpPr>
        <p:spPr/>
        <p:txBody>
          <a:bodyPr/>
          <a:lstStyle/>
          <a:p>
            <a:fld id="{63A89259-F187-41C9-894F-216096E1AB59}" type="slidenum">
              <a:rPr lang="en-IN" smtClean="0"/>
              <a:t>7</a:t>
            </a:fld>
            <a:endParaRPr lang="en-IN"/>
          </a:p>
        </p:txBody>
      </p:sp>
    </p:spTree>
    <p:extLst>
      <p:ext uri="{BB962C8B-B14F-4D97-AF65-F5344CB8AC3E}">
        <p14:creationId xmlns:p14="http://schemas.microsoft.com/office/powerpoint/2010/main" val="3575116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Screen readers navigate the UI from top to bottom. Assistive technologies rely on the accessibility tree, not the DOM. The accessibility tree excludes unnecessary or decorative information.
Original Content:
Screen readers navigate the UI from top to bottom.
Assistive technologies use the accessibility tree, not the DOM.
The accessibility tree omits unnecessary or decorative information.
</a:t>
            </a:r>
          </a:p>
        </p:txBody>
      </p:sp>
      <p:sp>
        <p:nvSpPr>
          <p:cNvPr id="4" name="Slide Number Placeholder 3"/>
          <p:cNvSpPr>
            <a:spLocks noGrp="1"/>
          </p:cNvSpPr>
          <p:nvPr>
            <p:ph type="sldNum" sz="quarter" idx="5"/>
          </p:nvPr>
        </p:nvSpPr>
        <p:spPr/>
        <p:txBody>
          <a:bodyPr/>
          <a:lstStyle/>
          <a:p>
            <a:fld id="{63A89259-F187-41C9-894F-216096E1AB59}" type="slidenum">
              <a:rPr lang="en-IN" smtClean="0"/>
              <a:t>8</a:t>
            </a:fld>
            <a:endParaRPr lang="en-IN"/>
          </a:p>
        </p:txBody>
      </p:sp>
    </p:spTree>
    <p:extLst>
      <p:ext uri="{BB962C8B-B14F-4D97-AF65-F5344CB8AC3E}">
        <p14:creationId xmlns:p14="http://schemas.microsoft.com/office/powerpoint/2010/main" val="3352026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elements have various attributes including their role, name, state, properties, and hierarchy. The role defines the type, the name is the label, the state indicates the condition, properties add attributes, and hierarchy shows relationships.
Original Content:
Role: Element's type (e.g., button, heading, link).
Name: Element's accessible label or text content.
State: Element's current condition (e.g., checked, expanded).
Properties: Additional attributes (e.g., required, hidden).
Hierarchy: Parent-child relationships.
</a:t>
            </a:r>
          </a:p>
        </p:txBody>
      </p:sp>
      <p:sp>
        <p:nvSpPr>
          <p:cNvPr id="4" name="Slide Number Placeholder 3"/>
          <p:cNvSpPr>
            <a:spLocks noGrp="1"/>
          </p:cNvSpPr>
          <p:nvPr>
            <p:ph type="sldNum" sz="quarter" idx="5"/>
          </p:nvPr>
        </p:nvSpPr>
        <p:spPr/>
        <p:txBody>
          <a:bodyPr/>
          <a:lstStyle/>
          <a:p>
            <a:fld id="{63A89259-F187-41C9-894F-216096E1AB59}" type="slidenum">
              <a:rPr lang="en-IN" smtClean="0"/>
              <a:t>9</a:t>
            </a:fld>
            <a:endParaRPr lang="en-IN"/>
          </a:p>
        </p:txBody>
      </p:sp>
    </p:spTree>
    <p:extLst>
      <p:ext uri="{BB962C8B-B14F-4D97-AF65-F5344CB8AC3E}">
        <p14:creationId xmlns:p14="http://schemas.microsoft.com/office/powerpoint/2010/main" val="1298027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To use a screen reader, first enable it on your device. Navigate using keyboard shortcuts and listen to the audio announcements for guidance.
Original Content:
Enable the screen reader on your device.
Navigate using keyboard and listen to announcements.
</a:t>
            </a:r>
          </a:p>
        </p:txBody>
      </p:sp>
      <p:sp>
        <p:nvSpPr>
          <p:cNvPr id="4" name="Slide Number Placeholder 3"/>
          <p:cNvSpPr>
            <a:spLocks noGrp="1"/>
          </p:cNvSpPr>
          <p:nvPr>
            <p:ph type="sldNum" sz="quarter" idx="5"/>
          </p:nvPr>
        </p:nvSpPr>
        <p:spPr/>
        <p:txBody>
          <a:bodyPr/>
          <a:lstStyle/>
          <a:p>
            <a:fld id="{63A89259-F187-41C9-894F-216096E1AB59}" type="slidenum">
              <a:rPr lang="en-IN" smtClean="0"/>
              <a:t>10</a:t>
            </a:fld>
            <a:endParaRPr lang="en-IN"/>
          </a:p>
        </p:txBody>
      </p:sp>
    </p:spTree>
    <p:extLst>
      <p:ext uri="{BB962C8B-B14F-4D97-AF65-F5344CB8AC3E}">
        <p14:creationId xmlns:p14="http://schemas.microsoft.com/office/powerpoint/2010/main" val="1679058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Learn how to navigate using keyboard shortcuts. Use Tab and Shift+Tab keys for navigation. On MacOS, use the rotor feature for headings, buttons, and links. Ensure application shortcuts provide full context.
Original Content:
Keyboard navigation: Use Tab and Shift+Tab keys.
Navigating headings, buttons, and links: Use rotor feature on MacOS.
Application keyboard shortcuts: Ensure shortcuts provide full context.
</a:t>
            </a:r>
          </a:p>
        </p:txBody>
      </p:sp>
      <p:sp>
        <p:nvSpPr>
          <p:cNvPr id="4" name="Slide Number Placeholder 3"/>
          <p:cNvSpPr>
            <a:spLocks noGrp="1"/>
          </p:cNvSpPr>
          <p:nvPr>
            <p:ph type="sldNum" sz="quarter" idx="5"/>
          </p:nvPr>
        </p:nvSpPr>
        <p:spPr/>
        <p:txBody>
          <a:bodyPr/>
          <a:lstStyle/>
          <a:p>
            <a:fld id="{63A89259-F187-41C9-894F-216096E1AB59}" type="slidenum">
              <a:rPr lang="en-IN" smtClean="0"/>
              <a:t>11</a:t>
            </a:fld>
            <a:endParaRPr lang="en-IN"/>
          </a:p>
        </p:txBody>
      </p:sp>
    </p:spTree>
    <p:extLst>
      <p:ext uri="{BB962C8B-B14F-4D97-AF65-F5344CB8AC3E}">
        <p14:creationId xmlns:p14="http://schemas.microsoft.com/office/powerpoint/2010/main" val="1803483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To ensure accessibility, focus should be clear and logical. Elements need correct roles and labels, and must be announced. Use descriptive alt text for images and avoid vague labels. Fields should be traversable with proper labels. Errors and validation messages must be announced. Use landmarks to structure content and help users navigate efficiently.
Original Content:
Focus should be clear and logical.
Elements should have correct role and defined label.
Must be announced.
Descriptive alt text for images.
Avoid vague labels.
Fields must be traversable and announced with proper labels.
Errors and validation messages must be announced.
Use landmarks to structure content.
Landmarks help users jump between sections efficiently.
</a:t>
            </a:r>
          </a:p>
        </p:txBody>
      </p:sp>
      <p:sp>
        <p:nvSpPr>
          <p:cNvPr id="4" name="Slide Number Placeholder 3"/>
          <p:cNvSpPr>
            <a:spLocks noGrp="1"/>
          </p:cNvSpPr>
          <p:nvPr>
            <p:ph type="sldNum" sz="quarter" idx="5"/>
          </p:nvPr>
        </p:nvSpPr>
        <p:spPr/>
        <p:txBody>
          <a:bodyPr/>
          <a:lstStyle/>
          <a:p>
            <a:fld id="{63A89259-F187-41C9-894F-216096E1AB59}" type="slidenum">
              <a:rPr lang="en-IN" smtClean="0"/>
              <a:t>12</a:t>
            </a:fld>
            <a:endParaRPr lang="en-IN"/>
          </a:p>
        </p:txBody>
      </p:sp>
    </p:spTree>
    <p:extLst>
      <p:ext uri="{BB962C8B-B14F-4D97-AF65-F5344CB8AC3E}">
        <p14:creationId xmlns:p14="http://schemas.microsoft.com/office/powerpoint/2010/main" val="2927257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To ensure web accessibility, prioritize keyboard-first navigation, design with accessibility in mind, avoid visual-only cues, specify the lang attribute, use semantic HTML, avoid abbreviations, exercise caution with aria-hidden, organize content logically, and use automated testing tools.
Original Content:
Prioritize keyboard-first navigation.
Design with accessibility in mind.
Avoid visual-only cues.
Specify the lang attribute.
Use semantic HTML.
Avoid abbreviations.
Exercise caution when using aria-hidden.
Organize content logically.
Use automated testing tools.
</a:t>
            </a:r>
          </a:p>
        </p:txBody>
      </p:sp>
      <p:sp>
        <p:nvSpPr>
          <p:cNvPr id="4" name="Slide Number Placeholder 3"/>
          <p:cNvSpPr>
            <a:spLocks noGrp="1"/>
          </p:cNvSpPr>
          <p:nvPr>
            <p:ph type="sldNum" sz="quarter" idx="5"/>
          </p:nvPr>
        </p:nvSpPr>
        <p:spPr/>
        <p:txBody>
          <a:bodyPr/>
          <a:lstStyle/>
          <a:p>
            <a:fld id="{63A89259-F187-41C9-894F-216096E1AB59}" type="slidenum">
              <a:rPr lang="en-IN" smtClean="0"/>
              <a:t>13</a:t>
            </a:fld>
            <a:endParaRPr lang="en-IN"/>
          </a:p>
        </p:txBody>
      </p:sp>
    </p:spTree>
    <p:extLst>
      <p:ext uri="{BB962C8B-B14F-4D97-AF65-F5344CB8AC3E}">
        <p14:creationId xmlns:p14="http://schemas.microsoft.com/office/powerpoint/2010/main" val="2124405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Testing with screen readers is crucial for web accessibility. Ensure your app works with multiple screen readers and include real user testing in your process.
Original Content:
Testing with screen readers is essential for accessible web apps.
Ensure your app functions with multiple screen readers.
Include real user testing in your process.
</a:t>
            </a:r>
          </a:p>
        </p:txBody>
      </p:sp>
      <p:sp>
        <p:nvSpPr>
          <p:cNvPr id="4" name="Slide Number Placeholder 3"/>
          <p:cNvSpPr>
            <a:spLocks noGrp="1"/>
          </p:cNvSpPr>
          <p:nvPr>
            <p:ph type="sldNum" sz="quarter" idx="5"/>
          </p:nvPr>
        </p:nvSpPr>
        <p:spPr/>
        <p:txBody>
          <a:bodyPr/>
          <a:lstStyle/>
          <a:p>
            <a:fld id="{63A89259-F187-41C9-894F-216096E1AB59}" type="slidenum">
              <a:rPr lang="en-IN" smtClean="0"/>
              <a:t>14</a:t>
            </a:fld>
            <a:endParaRPr lang="en-IN"/>
          </a:p>
        </p:txBody>
      </p:sp>
    </p:spTree>
    <p:extLst>
      <p:ext uri="{BB962C8B-B14F-4D97-AF65-F5344CB8AC3E}">
        <p14:creationId xmlns:p14="http://schemas.microsoft.com/office/powerpoint/2010/main" val="1733279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5/16/2025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30109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5/16/2025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14270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5/16/2025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28341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5/16/2025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38097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5/16/2025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0605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5/16/2025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8939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5/16/2025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09439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5/16/2025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3077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5/16/2025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52183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5/16/2025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35070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5/16/2025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29696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5/16/2025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482622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EC0BD9-FF25-5F7D-F717-96A9C2234976}"/>
              </a:ext>
            </a:extLst>
          </p:cNvPr>
          <p:cNvSpPr>
            <a:spLocks noGrp="1"/>
          </p:cNvSpPr>
          <p:nvPr>
            <p:ph type="ctrTitle"/>
          </p:nvPr>
        </p:nvSpPr>
        <p:spPr>
          <a:xfrm>
            <a:off x="1170165" y="1088571"/>
            <a:ext cx="7538405" cy="2774393"/>
          </a:xfrm>
        </p:spPr>
        <p:txBody>
          <a:bodyPr>
            <a:normAutofit/>
          </a:bodyPr>
          <a:lstStyle/>
          <a:p>
            <a:pPr algn="l"/>
            <a:r>
              <a:rPr lang="en-IN" sz="5400"/>
              <a:t>Testing Accessibility with Screen Readers</a:t>
            </a:r>
          </a:p>
        </p:txBody>
      </p:sp>
    </p:spTree>
    <p:extLst>
      <p:ext uri="{BB962C8B-B14F-4D97-AF65-F5344CB8AC3E}">
        <p14:creationId xmlns:p14="http://schemas.microsoft.com/office/powerpoint/2010/main" val="190650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65684A01-511A-4FE3-30FD-4B49794DF630}"/>
              </a:ext>
            </a:extLst>
          </p:cNvPr>
          <p:cNvSpPr>
            <a:spLocks noGrp="1"/>
          </p:cNvSpPr>
          <p:nvPr>
            <p:ph type="title"/>
          </p:nvPr>
        </p:nvSpPr>
        <p:spPr>
          <a:xfrm>
            <a:off x="614679" y="548639"/>
            <a:ext cx="3977640" cy="5719640"/>
          </a:xfrm>
        </p:spPr>
        <p:txBody>
          <a:bodyPr anchor="t">
            <a:normAutofit/>
          </a:bodyPr>
          <a:lstStyle/>
          <a:p>
            <a:r>
              <a:rPr lang="en-IN"/>
              <a:t>Agenda</a:t>
            </a:r>
          </a:p>
        </p:txBody>
      </p:sp>
      <p:sp>
        <p:nvSpPr>
          <p:cNvPr id="3" name="Content Placeholder 2">
            <a:extLst>
              <a:ext uri="{FF2B5EF4-FFF2-40B4-BE49-F238E27FC236}">
                <a16:creationId xmlns:a16="http://schemas.microsoft.com/office/drawing/2014/main" id="{0A67BDE7-C4C5-AF59-6A01-A24AFEB412B5}"/>
              </a:ext>
            </a:extLst>
          </p:cNvPr>
          <p:cNvSpPr>
            <a:spLocks noGrp="1"/>
          </p:cNvSpPr>
          <p:nvPr>
            <p:ph idx="1"/>
          </p:nvPr>
        </p:nvSpPr>
        <p:spPr>
          <a:xfrm>
            <a:off x="5387542" y="548639"/>
            <a:ext cx="6189780" cy="5861304"/>
          </a:xfrm>
        </p:spPr>
        <p:txBody>
          <a:bodyPr anchor="t">
            <a:normAutofit/>
          </a:bodyPr>
          <a:lstStyle/>
          <a:p>
            <a:pPr>
              <a:lnSpc>
                <a:spcPct val="110000"/>
              </a:lnSpc>
            </a:pPr>
            <a:r>
              <a:rPr lang="en-US"/>
              <a:t>Overview</a:t>
            </a:r>
          </a:p>
          <a:p>
            <a:pPr>
              <a:lnSpc>
                <a:spcPct val="110000"/>
              </a:lnSpc>
            </a:pPr>
            <a:r>
              <a:rPr lang="en-US"/>
              <a:t>Introduction to Accessibility</a:t>
            </a:r>
          </a:p>
          <a:p>
            <a:pPr>
              <a:lnSpc>
                <a:spcPct val="110000"/>
              </a:lnSpc>
            </a:pPr>
            <a:r>
              <a:rPr lang="en-US"/>
              <a:t>Screen Reader Usage</a:t>
            </a:r>
          </a:p>
          <a:p>
            <a:pPr>
              <a:lnSpc>
                <a:spcPct val="110000"/>
              </a:lnSpc>
            </a:pPr>
            <a:r>
              <a:rPr lang="en-US"/>
              <a:t>Common Screen Readers</a:t>
            </a:r>
          </a:p>
          <a:p>
            <a:pPr>
              <a:lnSpc>
                <a:spcPct val="110000"/>
              </a:lnSpc>
            </a:pPr>
            <a:r>
              <a:rPr lang="en-US"/>
              <a:t>Screen Reader Modes</a:t>
            </a:r>
          </a:p>
          <a:p>
            <a:pPr>
              <a:lnSpc>
                <a:spcPct val="110000"/>
              </a:lnSpc>
            </a:pPr>
            <a:r>
              <a:rPr lang="en-US"/>
              <a:t>Technical Overview</a:t>
            </a:r>
          </a:p>
          <a:p>
            <a:pPr>
              <a:lnSpc>
                <a:spcPct val="110000"/>
              </a:lnSpc>
            </a:pPr>
            <a:r>
              <a:rPr lang="en-US"/>
              <a:t>Key Elements of the Accessibility Tree</a:t>
            </a:r>
          </a:p>
          <a:p>
            <a:pPr>
              <a:lnSpc>
                <a:spcPct val="110000"/>
              </a:lnSpc>
            </a:pPr>
            <a:r>
              <a:rPr lang="en-US"/>
              <a:t>Testing Web Applications with Screen Readers</a:t>
            </a:r>
          </a:p>
          <a:p>
            <a:pPr>
              <a:lnSpc>
                <a:spcPct val="110000"/>
              </a:lnSpc>
            </a:pPr>
            <a:r>
              <a:rPr lang="en-US"/>
              <a:t>Testing Workflow</a:t>
            </a:r>
          </a:p>
          <a:p>
            <a:pPr>
              <a:lnSpc>
                <a:spcPct val="110000"/>
              </a:lnSpc>
            </a:pPr>
            <a:r>
              <a:rPr lang="en-US"/>
              <a:t>Key Testing Areas</a:t>
            </a:r>
          </a:p>
          <a:p>
            <a:pPr>
              <a:lnSpc>
                <a:spcPct val="110000"/>
              </a:lnSpc>
            </a:pPr>
            <a:r>
              <a:rPr lang="en-US"/>
              <a:t>Tips for Ensuring a Screen Reader Accessible Site</a:t>
            </a:r>
          </a:p>
          <a:p>
            <a:pPr>
              <a:lnSpc>
                <a:spcPct val="110000"/>
              </a:lnSpc>
            </a:pPr>
            <a:r>
              <a:rPr lang="en-US"/>
              <a:t>Conclusion</a:t>
            </a:r>
            <a:endParaRPr lang="en-IN"/>
          </a:p>
        </p:txBody>
      </p:sp>
    </p:spTree>
    <p:extLst>
      <p:ext uri="{BB962C8B-B14F-4D97-AF65-F5344CB8AC3E}">
        <p14:creationId xmlns:p14="http://schemas.microsoft.com/office/powerpoint/2010/main" val="2215414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031B0A-4FBC-90B0-3D93-3227D025BD4E}"/>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a:t>Overview</a:t>
            </a:r>
          </a:p>
        </p:txBody>
      </p:sp>
      <p:sp>
        <p:nvSpPr>
          <p:cNvPr id="3" name="Content Placeholder 2">
            <a:extLst>
              <a:ext uri="{FF2B5EF4-FFF2-40B4-BE49-F238E27FC236}">
                <a16:creationId xmlns:a16="http://schemas.microsoft.com/office/drawing/2014/main" id="{957C6C1B-14EE-5EF7-2424-F800F4BA8FFC}"/>
              </a:ext>
            </a:extLst>
          </p:cNvPr>
          <p:cNvSpPr>
            <a:spLocks noGrp="1"/>
          </p:cNvSpPr>
          <p:nvPr>
            <p:ph idx="1"/>
          </p:nvPr>
        </p:nvSpPr>
        <p:spPr>
          <a:xfrm>
            <a:off x="1197060" y="4027211"/>
            <a:ext cx="7538405" cy="1014107"/>
          </a:xfrm>
        </p:spPr>
        <p:txBody>
          <a:bodyPr vert="horz" lIns="91440" tIns="45720" rIns="91440" bIns="45720" rtlCol="0">
            <a:normAutofit/>
          </a:bodyPr>
          <a:lstStyle/>
          <a:p>
            <a:pPr marL="0" indent="0">
              <a:buNone/>
            </a:pPr>
            <a:r>
              <a:rPr lang="en-US" sz="2200"/>
              <a:t>Enhancing Usability and Inclusivity</a:t>
            </a:r>
          </a:p>
        </p:txBody>
      </p:sp>
    </p:spTree>
    <p:extLst>
      <p:ext uri="{BB962C8B-B14F-4D97-AF65-F5344CB8AC3E}">
        <p14:creationId xmlns:p14="http://schemas.microsoft.com/office/powerpoint/2010/main" val="386023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54ADB3-71C8-F278-7150-CE2DA75A8A8B}"/>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b="1" kern="1200">
                <a:solidFill>
                  <a:schemeClr val="tx1"/>
                </a:solidFill>
                <a:latin typeface="+mj-lt"/>
                <a:ea typeface="+mj-ea"/>
                <a:cs typeface="+mj-cs"/>
              </a:rPr>
              <a:t>Introduction to Accessibility</a:t>
            </a:r>
          </a:p>
        </p:txBody>
      </p:sp>
      <p:sp>
        <p:nvSpPr>
          <p:cNvPr id="4" name="Content Placeholder 3">
            <a:extLst>
              <a:ext uri="{FF2B5EF4-FFF2-40B4-BE49-F238E27FC236}">
                <a16:creationId xmlns:a16="http://schemas.microsoft.com/office/drawing/2014/main" id="{06C7417B-A3A6-A12E-6FC4-48FA5289E670}"/>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800"/>
              <a:t>Importance of Accessibility</a:t>
            </a:r>
          </a:p>
          <a:p>
            <a:pPr lvl="1">
              <a:lnSpc>
                <a:spcPct val="110000"/>
              </a:lnSpc>
            </a:pPr>
            <a:r>
              <a:rPr lang="en-US"/>
              <a:t>Enhances usability for all users</a:t>
            </a:r>
          </a:p>
          <a:p>
            <a:pPr lvl="1">
              <a:lnSpc>
                <a:spcPct val="110000"/>
              </a:lnSpc>
            </a:pPr>
            <a:r>
              <a:rPr lang="en-US"/>
              <a:t>Promotes inclusivity</a:t>
            </a:r>
          </a:p>
          <a:p>
            <a:pPr>
              <a:lnSpc>
                <a:spcPct val="110000"/>
              </a:lnSpc>
            </a:pPr>
            <a:r>
              <a:rPr lang="en-US" sz="1800"/>
              <a:t>Keyboard Accessibility</a:t>
            </a:r>
          </a:p>
          <a:p>
            <a:pPr lvl="1">
              <a:lnSpc>
                <a:spcPct val="110000"/>
              </a:lnSpc>
            </a:pPr>
            <a:r>
              <a:rPr lang="en-US"/>
              <a:t>First step towards accessibility</a:t>
            </a:r>
          </a:p>
          <a:p>
            <a:pPr>
              <a:lnSpc>
                <a:spcPct val="110000"/>
              </a:lnSpc>
            </a:pPr>
            <a:r>
              <a:rPr lang="en-US" sz="1800"/>
              <a:t>Screen Readers</a:t>
            </a:r>
          </a:p>
          <a:p>
            <a:pPr lvl="1">
              <a:lnSpc>
                <a:spcPct val="110000"/>
              </a:lnSpc>
            </a:pPr>
            <a:r>
              <a:rPr lang="en-US"/>
              <a:t>Vital for users with low vision</a:t>
            </a:r>
          </a:p>
          <a:p>
            <a:pPr lvl="1">
              <a:lnSpc>
                <a:spcPct val="110000"/>
              </a:lnSpc>
            </a:pPr>
            <a:r>
              <a:rPr lang="en-US"/>
              <a:t>Essential for users with blindness</a:t>
            </a:r>
          </a:p>
        </p:txBody>
      </p:sp>
      <p:pic>
        <p:nvPicPr>
          <p:cNvPr id="5" name="Content Placeholder 4" descr="Keyboard with a shopping cart key">
            <a:extLst>
              <a:ext uri="{FF2B5EF4-FFF2-40B4-BE49-F238E27FC236}">
                <a16:creationId xmlns:a16="http://schemas.microsoft.com/office/drawing/2014/main" id="{3DF59AF8-111B-498C-9814-4AC9F4312FC3}"/>
              </a:ext>
            </a:extLst>
          </p:cNvPr>
          <p:cNvPicPr>
            <a:picLocks noGrp="1" noChangeAspect="1"/>
          </p:cNvPicPr>
          <p:nvPr>
            <p:ph sz="half" idx="1"/>
          </p:nvPr>
        </p:nvPicPr>
        <p:blipFill>
          <a:blip r:embed="rId3"/>
          <a:stretch>
            <a:fillRect/>
          </a:stretch>
        </p:blipFill>
        <p:spPr>
          <a:xfrm>
            <a:off x="5691261" y="1509829"/>
            <a:ext cx="5837780" cy="3838341"/>
          </a:xfrm>
          <a:prstGeom prst="rect">
            <a:avLst/>
          </a:prstGeom>
        </p:spPr>
      </p:pic>
    </p:spTree>
    <p:extLst>
      <p:ext uri="{BB962C8B-B14F-4D97-AF65-F5344CB8AC3E}">
        <p14:creationId xmlns:p14="http://schemas.microsoft.com/office/powerpoint/2010/main" val="1959482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46695181-0E4E-B5C4-CBD8-9663119DED91}"/>
              </a:ext>
            </a:extLst>
          </p:cNvPr>
          <p:cNvSpPr>
            <a:spLocks noGrp="1"/>
          </p:cNvSpPr>
          <p:nvPr>
            <p:ph type="title"/>
          </p:nvPr>
        </p:nvSpPr>
        <p:spPr>
          <a:xfrm>
            <a:off x="614679" y="548639"/>
            <a:ext cx="3977640" cy="5719640"/>
          </a:xfrm>
        </p:spPr>
        <p:txBody>
          <a:bodyPr anchor="t">
            <a:normAutofit/>
          </a:bodyPr>
          <a:lstStyle/>
          <a:p>
            <a:r>
              <a:rPr lang="en-IN"/>
              <a:t>Screen Reader Usage</a:t>
            </a:r>
          </a:p>
        </p:txBody>
      </p:sp>
      <p:sp>
        <p:nvSpPr>
          <p:cNvPr id="3" name="Content Placeholder 2">
            <a:extLst>
              <a:ext uri="{FF2B5EF4-FFF2-40B4-BE49-F238E27FC236}">
                <a16:creationId xmlns:a16="http://schemas.microsoft.com/office/drawing/2014/main" id="{D0F14D2A-8B59-479A-9BE0-0407009882DA}"/>
              </a:ext>
            </a:extLst>
          </p:cNvPr>
          <p:cNvSpPr>
            <a:spLocks noGrp="1"/>
          </p:cNvSpPr>
          <p:nvPr>
            <p:ph idx="1"/>
          </p:nvPr>
        </p:nvSpPr>
        <p:spPr>
          <a:xfrm>
            <a:off x="5387542" y="548639"/>
            <a:ext cx="6189780" cy="5861304"/>
          </a:xfrm>
        </p:spPr>
        <p:txBody>
          <a:bodyPr anchor="t">
            <a:normAutofit/>
          </a:bodyPr>
          <a:lstStyle/>
          <a:p>
            <a:r>
              <a:rPr lang="en-US"/>
              <a:t>Sequential Content Navigation</a:t>
            </a:r>
          </a:p>
          <a:p>
            <a:pPr lvl="1"/>
            <a:r>
              <a:rPr lang="en-US"/>
              <a:t>Navigate through content step-by-step</a:t>
            </a:r>
          </a:p>
          <a:p>
            <a:pPr lvl="1"/>
            <a:r>
              <a:rPr lang="en-US"/>
              <a:t>Ensures thorough understanding</a:t>
            </a:r>
          </a:p>
          <a:p>
            <a:r>
              <a:rPr lang="en-US"/>
              <a:t>Specific Element Navigation</a:t>
            </a:r>
          </a:p>
          <a:p>
            <a:pPr lvl="1"/>
            <a:r>
              <a:rPr lang="en-US"/>
              <a:t>Jump directly to desired elements</a:t>
            </a:r>
          </a:p>
          <a:p>
            <a:pPr lvl="1"/>
            <a:r>
              <a:rPr lang="en-US"/>
              <a:t>Saves time and effort</a:t>
            </a:r>
          </a:p>
          <a:p>
            <a:r>
              <a:rPr lang="en-US"/>
              <a:t>Role, Name, and State of Interactive Elements</a:t>
            </a:r>
          </a:p>
          <a:p>
            <a:pPr lvl="1"/>
            <a:r>
              <a:rPr lang="en-US"/>
              <a:t>Identify interactive elements</a:t>
            </a:r>
          </a:p>
          <a:p>
            <a:pPr lvl="1"/>
            <a:r>
              <a:rPr lang="en-US"/>
              <a:t>Understand their functions and current states</a:t>
            </a:r>
          </a:p>
          <a:p>
            <a:r>
              <a:rPr lang="en-US"/>
              <a:t>Keyboard Shortcuts for Efficient Browsing</a:t>
            </a:r>
          </a:p>
          <a:p>
            <a:pPr lvl="1"/>
            <a:r>
              <a:rPr lang="en-US"/>
              <a:t>Use shortcuts to speed up navigation</a:t>
            </a:r>
          </a:p>
          <a:p>
            <a:pPr lvl="1"/>
            <a:r>
              <a:rPr lang="en-US"/>
              <a:t>Enhances productivity</a:t>
            </a:r>
            <a:endParaRPr lang="en-IN"/>
          </a:p>
        </p:txBody>
      </p:sp>
    </p:spTree>
    <p:extLst>
      <p:ext uri="{BB962C8B-B14F-4D97-AF65-F5344CB8AC3E}">
        <p14:creationId xmlns:p14="http://schemas.microsoft.com/office/powerpoint/2010/main" val="268228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20A9FB-A8B5-2E53-5EF9-95CAA9816B8D}"/>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a:t>Common Screen Readers</a:t>
            </a:r>
          </a:p>
        </p:txBody>
      </p:sp>
      <p:pic>
        <p:nvPicPr>
          <p:cNvPr id="4" name="Content Placeholder 3" descr="Businessman voice recording the conversation via smartphone with customers, telemarketing, consulting, voice assistance access to information and applications, write a message and send a message.">
            <a:extLst>
              <a:ext uri="{FF2B5EF4-FFF2-40B4-BE49-F238E27FC236}">
                <a16:creationId xmlns:a16="http://schemas.microsoft.com/office/drawing/2014/main" id="{D7260D67-5308-4DB6-9368-DA34718A97C2}"/>
              </a:ext>
            </a:extLst>
          </p:cNvPr>
          <p:cNvPicPr>
            <a:picLocks noGrp="1" noChangeAspect="1"/>
          </p:cNvPicPr>
          <p:nvPr>
            <p:ph idx="1"/>
          </p:nvPr>
        </p:nvPicPr>
        <p:blipFill>
          <a:blip r:embed="rId3"/>
          <a:stretch>
            <a:fillRect/>
          </a:stretch>
        </p:blipFill>
        <p:spPr>
          <a:xfrm>
            <a:off x="2671281" y="1782115"/>
            <a:ext cx="6849438" cy="4572000"/>
          </a:xfrm>
          <a:prstGeom prst="rect">
            <a:avLst/>
          </a:prstGeom>
        </p:spPr>
      </p:pic>
    </p:spTree>
    <p:extLst>
      <p:ext uri="{BB962C8B-B14F-4D97-AF65-F5344CB8AC3E}">
        <p14:creationId xmlns:p14="http://schemas.microsoft.com/office/powerpoint/2010/main" val="1018077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E7A827-4DD7-8A5A-4519-32BDA5CDB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A75348D-3376-10BB-E89D-A72720D88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7258BF-D6E8-F7EF-CDBD-A38C44F974A0}"/>
              </a:ext>
            </a:extLst>
          </p:cNvPr>
          <p:cNvSpPr>
            <a:spLocks noGrp="1"/>
          </p:cNvSpPr>
          <p:nvPr>
            <p:ph type="title"/>
          </p:nvPr>
        </p:nvSpPr>
        <p:spPr>
          <a:xfrm>
            <a:off x="614678" y="548640"/>
            <a:ext cx="7098627" cy="1325236"/>
          </a:xfrm>
        </p:spPr>
        <p:txBody>
          <a:bodyPr anchor="t">
            <a:normAutofit/>
          </a:bodyPr>
          <a:lstStyle/>
          <a:p>
            <a:r>
              <a:rPr lang="en-IN"/>
              <a:t>Screen Reader Modes</a:t>
            </a:r>
          </a:p>
        </p:txBody>
      </p:sp>
      <p:sp>
        <p:nvSpPr>
          <p:cNvPr id="3" name="Content Placeholder 2">
            <a:extLst>
              <a:ext uri="{FF2B5EF4-FFF2-40B4-BE49-F238E27FC236}">
                <a16:creationId xmlns:a16="http://schemas.microsoft.com/office/drawing/2014/main" id="{58A09A8E-E639-EC88-915E-986514A123D7}"/>
              </a:ext>
            </a:extLst>
          </p:cNvPr>
          <p:cNvSpPr>
            <a:spLocks noGrp="1"/>
          </p:cNvSpPr>
          <p:nvPr>
            <p:ph idx="1"/>
          </p:nvPr>
        </p:nvSpPr>
        <p:spPr>
          <a:xfrm>
            <a:off x="2432424" y="1899631"/>
            <a:ext cx="7333128" cy="4011769"/>
          </a:xfrm>
        </p:spPr>
        <p:txBody>
          <a:bodyPr anchor="ctr">
            <a:normAutofit/>
          </a:bodyPr>
          <a:lstStyle/>
          <a:p>
            <a:r>
              <a:rPr lang="en-US" sz="1800"/>
              <a:t>Navigation and Reading</a:t>
            </a:r>
          </a:p>
          <a:p>
            <a:pPr lvl="1"/>
            <a:r>
              <a:rPr lang="en-US"/>
              <a:t>Supports navigating by headings</a:t>
            </a:r>
          </a:p>
          <a:p>
            <a:pPr lvl="1"/>
            <a:r>
              <a:rPr lang="en-US"/>
              <a:t>Supports navigating by links</a:t>
            </a:r>
          </a:p>
          <a:p>
            <a:pPr lvl="1"/>
            <a:r>
              <a:rPr lang="en-US"/>
              <a:t>Supports navigating by regions</a:t>
            </a:r>
          </a:p>
          <a:p>
            <a:r>
              <a:rPr lang="en-US" sz="1800"/>
              <a:t>Interactive Elements Engagement</a:t>
            </a:r>
          </a:p>
          <a:p>
            <a:pPr lvl="1"/>
            <a:r>
              <a:rPr lang="en-US"/>
              <a:t>Engages with forms</a:t>
            </a:r>
          </a:p>
          <a:p>
            <a:pPr lvl="1"/>
            <a:r>
              <a:rPr lang="en-US"/>
              <a:t>Engages with modals</a:t>
            </a:r>
          </a:p>
          <a:p>
            <a:r>
              <a:rPr lang="en-US" sz="1800"/>
              <a:t>Shortcut Management</a:t>
            </a:r>
          </a:p>
          <a:p>
            <a:pPr lvl="1"/>
            <a:r>
              <a:rPr lang="en-US"/>
              <a:t>Disables shortcuts for moving between elements</a:t>
            </a:r>
            <a:endParaRPr lang="en-IN"/>
          </a:p>
        </p:txBody>
      </p:sp>
    </p:spTree>
    <p:extLst>
      <p:ext uri="{BB962C8B-B14F-4D97-AF65-F5344CB8AC3E}">
        <p14:creationId xmlns:p14="http://schemas.microsoft.com/office/powerpoint/2010/main" val="2126114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E7A827-4DD7-8A5A-4519-32BDA5CDB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A75348D-3376-10BB-E89D-A72720D88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9BF297-77F5-5199-BEE9-C0FE51058D89}"/>
              </a:ext>
            </a:extLst>
          </p:cNvPr>
          <p:cNvSpPr>
            <a:spLocks noGrp="1"/>
          </p:cNvSpPr>
          <p:nvPr>
            <p:ph type="title"/>
          </p:nvPr>
        </p:nvSpPr>
        <p:spPr>
          <a:xfrm>
            <a:off x="614678" y="548640"/>
            <a:ext cx="7098627" cy="1325236"/>
          </a:xfrm>
        </p:spPr>
        <p:txBody>
          <a:bodyPr anchor="t">
            <a:normAutofit/>
          </a:bodyPr>
          <a:lstStyle/>
          <a:p>
            <a:r>
              <a:rPr lang="en-IN"/>
              <a:t>Technical Overview</a:t>
            </a:r>
          </a:p>
        </p:txBody>
      </p:sp>
      <p:sp>
        <p:nvSpPr>
          <p:cNvPr id="3" name="Content Placeholder 2">
            <a:extLst>
              <a:ext uri="{FF2B5EF4-FFF2-40B4-BE49-F238E27FC236}">
                <a16:creationId xmlns:a16="http://schemas.microsoft.com/office/drawing/2014/main" id="{434FF5E6-8924-BC5F-5CEF-15970F4CF1D6}"/>
              </a:ext>
            </a:extLst>
          </p:cNvPr>
          <p:cNvSpPr>
            <a:spLocks noGrp="1"/>
          </p:cNvSpPr>
          <p:nvPr>
            <p:ph idx="1"/>
          </p:nvPr>
        </p:nvSpPr>
        <p:spPr>
          <a:xfrm>
            <a:off x="2432424" y="1899631"/>
            <a:ext cx="7333128" cy="4011769"/>
          </a:xfrm>
        </p:spPr>
        <p:txBody>
          <a:bodyPr anchor="ctr">
            <a:normAutofit/>
          </a:bodyPr>
          <a:lstStyle/>
          <a:p>
            <a:r>
              <a:rPr lang="en-US" sz="1800"/>
              <a:t>Screen Readers Navigation</a:t>
            </a:r>
          </a:p>
          <a:p>
            <a:pPr lvl="1"/>
            <a:r>
              <a:rPr lang="en-US"/>
              <a:t>Navigate the UI from top to bottom</a:t>
            </a:r>
          </a:p>
          <a:p>
            <a:r>
              <a:rPr lang="en-US" sz="1800"/>
              <a:t>Assistive Technologies</a:t>
            </a:r>
          </a:p>
          <a:p>
            <a:pPr lvl="1"/>
            <a:r>
              <a:rPr lang="en-US"/>
              <a:t>Use the accessibility tree</a:t>
            </a:r>
          </a:p>
          <a:p>
            <a:pPr lvl="1"/>
            <a:r>
              <a:rPr lang="en-US"/>
              <a:t>Do not use the DOM</a:t>
            </a:r>
          </a:p>
          <a:p>
            <a:r>
              <a:rPr lang="en-US" sz="1800"/>
              <a:t>Accessibility Tree</a:t>
            </a:r>
          </a:p>
          <a:p>
            <a:pPr lvl="1"/>
            <a:r>
              <a:rPr lang="en-US"/>
              <a:t>Omits unnecessary information</a:t>
            </a:r>
          </a:p>
          <a:p>
            <a:pPr lvl="1"/>
            <a:r>
              <a:rPr lang="en-US"/>
              <a:t>Excludes decorative elements</a:t>
            </a:r>
            <a:endParaRPr lang="en-IN"/>
          </a:p>
        </p:txBody>
      </p:sp>
    </p:spTree>
    <p:extLst>
      <p:ext uri="{BB962C8B-B14F-4D97-AF65-F5344CB8AC3E}">
        <p14:creationId xmlns:p14="http://schemas.microsoft.com/office/powerpoint/2010/main" val="1885867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6B41A9-05EB-0C26-D102-67BD19654EBA}"/>
              </a:ext>
            </a:extLst>
          </p:cNvPr>
          <p:cNvSpPr>
            <a:spLocks noGrp="1"/>
          </p:cNvSpPr>
          <p:nvPr>
            <p:ph type="title"/>
          </p:nvPr>
        </p:nvSpPr>
        <p:spPr>
          <a:xfrm>
            <a:off x="612648" y="603504"/>
            <a:ext cx="5862396" cy="1527048"/>
          </a:xfrm>
        </p:spPr>
        <p:txBody>
          <a:bodyPr vert="horz" lIns="91440" tIns="45720" rIns="91440" bIns="45720" rtlCol="0" anchor="b">
            <a:normAutofit/>
          </a:bodyPr>
          <a:lstStyle/>
          <a:p>
            <a:r>
              <a:rPr lang="en-US" b="1" kern="1200">
                <a:solidFill>
                  <a:schemeClr val="tx1"/>
                </a:solidFill>
                <a:latin typeface="+mj-lt"/>
                <a:ea typeface="+mj-ea"/>
                <a:cs typeface="+mj-cs"/>
              </a:rPr>
              <a:t>Key Elements of the Accessibility Tree</a:t>
            </a:r>
          </a:p>
        </p:txBody>
      </p:sp>
      <p:sp>
        <p:nvSpPr>
          <p:cNvPr id="4" name="Content Placeholder 3">
            <a:extLst>
              <a:ext uri="{FF2B5EF4-FFF2-40B4-BE49-F238E27FC236}">
                <a16:creationId xmlns:a16="http://schemas.microsoft.com/office/drawing/2014/main" id="{70B152C9-3E22-7A6C-5CAB-D2C4EB969BF1}"/>
              </a:ext>
            </a:extLst>
          </p:cNvPr>
          <p:cNvSpPr>
            <a:spLocks noGrp="1"/>
          </p:cNvSpPr>
          <p:nvPr>
            <p:ph sz="half" idx="2"/>
          </p:nvPr>
        </p:nvSpPr>
        <p:spPr>
          <a:xfrm>
            <a:off x="612648" y="2212848"/>
            <a:ext cx="5862396" cy="4096512"/>
          </a:xfrm>
        </p:spPr>
        <p:txBody>
          <a:bodyPr vert="horz" lIns="91440" tIns="45720" rIns="91440" bIns="45720" rtlCol="0">
            <a:normAutofit/>
          </a:bodyPr>
          <a:lstStyle/>
          <a:p>
            <a:pPr>
              <a:lnSpc>
                <a:spcPct val="110000"/>
              </a:lnSpc>
            </a:pPr>
            <a:r>
              <a:rPr lang="en-US" sz="1500"/>
              <a:t>Role</a:t>
            </a:r>
          </a:p>
          <a:p>
            <a:pPr lvl="1">
              <a:lnSpc>
                <a:spcPct val="110000"/>
              </a:lnSpc>
            </a:pPr>
            <a:r>
              <a:rPr lang="en-US" sz="1500"/>
              <a:t>Defines the type of element (e.g., button, heading, link)</a:t>
            </a:r>
          </a:p>
          <a:p>
            <a:pPr>
              <a:lnSpc>
                <a:spcPct val="110000"/>
              </a:lnSpc>
            </a:pPr>
            <a:r>
              <a:rPr lang="en-US" sz="1500"/>
              <a:t>Name</a:t>
            </a:r>
          </a:p>
          <a:p>
            <a:pPr lvl="1">
              <a:lnSpc>
                <a:spcPct val="110000"/>
              </a:lnSpc>
            </a:pPr>
            <a:r>
              <a:rPr lang="en-US" sz="1500"/>
              <a:t>Represents the element's accessible label or text content</a:t>
            </a:r>
          </a:p>
          <a:p>
            <a:pPr>
              <a:lnSpc>
                <a:spcPct val="110000"/>
              </a:lnSpc>
            </a:pPr>
            <a:r>
              <a:rPr lang="en-US" sz="1500"/>
              <a:t>State</a:t>
            </a:r>
          </a:p>
          <a:p>
            <a:pPr lvl="1">
              <a:lnSpc>
                <a:spcPct val="110000"/>
              </a:lnSpc>
            </a:pPr>
            <a:r>
              <a:rPr lang="en-US" sz="1500"/>
              <a:t>Indicates the element's current condition (e.g., checked, expanded)</a:t>
            </a:r>
          </a:p>
          <a:p>
            <a:pPr>
              <a:lnSpc>
                <a:spcPct val="110000"/>
              </a:lnSpc>
            </a:pPr>
            <a:r>
              <a:rPr lang="en-US" sz="1500"/>
              <a:t>Properties</a:t>
            </a:r>
          </a:p>
          <a:p>
            <a:pPr lvl="1">
              <a:lnSpc>
                <a:spcPct val="110000"/>
              </a:lnSpc>
            </a:pPr>
            <a:r>
              <a:rPr lang="en-US" sz="1500"/>
              <a:t>Includes additional attributes (e.g., required, hidden)</a:t>
            </a:r>
          </a:p>
          <a:p>
            <a:pPr>
              <a:lnSpc>
                <a:spcPct val="110000"/>
              </a:lnSpc>
            </a:pPr>
            <a:r>
              <a:rPr lang="en-US" sz="1500"/>
              <a:t>Hierarchy</a:t>
            </a:r>
          </a:p>
          <a:p>
            <a:pPr lvl="1">
              <a:lnSpc>
                <a:spcPct val="110000"/>
              </a:lnSpc>
            </a:pPr>
            <a:r>
              <a:rPr lang="en-US" sz="1500"/>
              <a:t>Describes parent-child relationships</a:t>
            </a:r>
          </a:p>
        </p:txBody>
      </p:sp>
      <p:pic>
        <p:nvPicPr>
          <p:cNvPr id="5" name="Content Placeholder 4" descr="Red buzzer button">
            <a:extLst>
              <a:ext uri="{FF2B5EF4-FFF2-40B4-BE49-F238E27FC236}">
                <a16:creationId xmlns:a16="http://schemas.microsoft.com/office/drawing/2014/main" id="{7FA1C12B-F6A7-4C52-9F45-08A17BCACF09}"/>
              </a:ext>
            </a:extLst>
          </p:cNvPr>
          <p:cNvPicPr>
            <a:picLocks noGrp="1" noChangeAspect="1"/>
          </p:cNvPicPr>
          <p:nvPr>
            <p:ph sz="half" idx="1"/>
          </p:nvPr>
        </p:nvPicPr>
        <p:blipFill>
          <a:blip r:embed="rId3"/>
          <a:stretch>
            <a:fillRect/>
          </a:stretch>
        </p:blipFill>
        <p:spPr>
          <a:xfrm>
            <a:off x="7091395" y="1757851"/>
            <a:ext cx="4681506" cy="3370684"/>
          </a:xfrm>
          <a:prstGeom prst="rect">
            <a:avLst/>
          </a:prstGeom>
        </p:spPr>
      </p:pic>
    </p:spTree>
    <p:extLst>
      <p:ext uri="{BB962C8B-B14F-4D97-AF65-F5344CB8AC3E}">
        <p14:creationId xmlns:p14="http://schemas.microsoft.com/office/powerpoint/2010/main" val="2197957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206AD1-C2EC-237A-13D3-F484DF9EE810}"/>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2800" b="1" kern="1200">
                <a:solidFill>
                  <a:schemeClr val="tx1"/>
                </a:solidFill>
                <a:latin typeface="+mj-lt"/>
                <a:ea typeface="+mj-ea"/>
                <a:cs typeface="+mj-cs"/>
              </a:rPr>
              <a:t>Testing Web Applications with Screen Readers</a:t>
            </a:r>
          </a:p>
        </p:txBody>
      </p:sp>
      <p:sp>
        <p:nvSpPr>
          <p:cNvPr id="4" name="Content Placeholder 3">
            <a:extLst>
              <a:ext uri="{FF2B5EF4-FFF2-40B4-BE49-F238E27FC236}">
                <a16:creationId xmlns:a16="http://schemas.microsoft.com/office/drawing/2014/main" id="{C4BB2682-D874-916A-FBB8-34D43E1A4A9A}"/>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700"/>
              <a:t>Enable Screen Reader</a:t>
            </a:r>
          </a:p>
          <a:p>
            <a:pPr lvl="1">
              <a:lnSpc>
                <a:spcPct val="110000"/>
              </a:lnSpc>
            </a:pPr>
            <a:r>
              <a:rPr lang="en-US" sz="1700"/>
              <a:t>Activate the screen reader feature on your device</a:t>
            </a:r>
          </a:p>
          <a:p>
            <a:pPr>
              <a:lnSpc>
                <a:spcPct val="110000"/>
              </a:lnSpc>
            </a:pPr>
            <a:r>
              <a:rPr lang="en-US" sz="1700"/>
              <a:t>Keyboard Navigation</a:t>
            </a:r>
          </a:p>
          <a:p>
            <a:pPr lvl="1">
              <a:lnSpc>
                <a:spcPct val="110000"/>
              </a:lnSpc>
            </a:pPr>
            <a:r>
              <a:rPr lang="en-US" sz="1700"/>
              <a:t>Use keyboard shortcuts to navigate through the interface</a:t>
            </a:r>
          </a:p>
          <a:p>
            <a:pPr>
              <a:lnSpc>
                <a:spcPct val="110000"/>
              </a:lnSpc>
            </a:pPr>
            <a:r>
              <a:rPr lang="en-US" sz="1700"/>
              <a:t>Listen to Announcements</a:t>
            </a:r>
          </a:p>
          <a:p>
            <a:pPr lvl="1">
              <a:lnSpc>
                <a:spcPct val="110000"/>
              </a:lnSpc>
            </a:pPr>
            <a:r>
              <a:rPr lang="en-US" sz="1700"/>
              <a:t>Pay attention to the audio announcements for guidance</a:t>
            </a:r>
          </a:p>
        </p:txBody>
      </p:sp>
      <p:pic>
        <p:nvPicPr>
          <p:cNvPr id="5" name="Content Placeholder 4" descr="Closeup of a keyboard">
            <a:extLst>
              <a:ext uri="{FF2B5EF4-FFF2-40B4-BE49-F238E27FC236}">
                <a16:creationId xmlns:a16="http://schemas.microsoft.com/office/drawing/2014/main" id="{045177EB-2E62-4ECE-986E-6B5C2D4536FB}"/>
              </a:ext>
            </a:extLst>
          </p:cNvPr>
          <p:cNvPicPr>
            <a:picLocks noGrp="1" noChangeAspect="1"/>
          </p:cNvPicPr>
          <p:nvPr>
            <p:ph sz="half" idx="1"/>
          </p:nvPr>
        </p:nvPicPr>
        <p:blipFill>
          <a:blip r:embed="rId3"/>
          <a:stretch>
            <a:fillRect/>
          </a:stretch>
        </p:blipFill>
        <p:spPr>
          <a:xfrm>
            <a:off x="5691261" y="1539017"/>
            <a:ext cx="5837780" cy="3779964"/>
          </a:xfrm>
          <a:prstGeom prst="rect">
            <a:avLst/>
          </a:prstGeom>
        </p:spPr>
      </p:pic>
    </p:spTree>
    <p:extLst>
      <p:ext uri="{BB962C8B-B14F-4D97-AF65-F5344CB8AC3E}">
        <p14:creationId xmlns:p14="http://schemas.microsoft.com/office/powerpoint/2010/main" val="2607647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E7A827-4DD7-8A5A-4519-32BDA5CDB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A75348D-3376-10BB-E89D-A72720D88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70CF63-D0E1-C90F-A340-A96902CB3F1A}"/>
              </a:ext>
            </a:extLst>
          </p:cNvPr>
          <p:cNvSpPr>
            <a:spLocks noGrp="1"/>
          </p:cNvSpPr>
          <p:nvPr>
            <p:ph type="title"/>
          </p:nvPr>
        </p:nvSpPr>
        <p:spPr>
          <a:xfrm>
            <a:off x="614678" y="548640"/>
            <a:ext cx="7098627" cy="1325236"/>
          </a:xfrm>
        </p:spPr>
        <p:txBody>
          <a:bodyPr anchor="t">
            <a:normAutofit/>
          </a:bodyPr>
          <a:lstStyle/>
          <a:p>
            <a:r>
              <a:rPr lang="en-IN"/>
              <a:t>Testing Workflow</a:t>
            </a:r>
          </a:p>
        </p:txBody>
      </p:sp>
      <p:sp>
        <p:nvSpPr>
          <p:cNvPr id="3" name="Content Placeholder 2">
            <a:extLst>
              <a:ext uri="{FF2B5EF4-FFF2-40B4-BE49-F238E27FC236}">
                <a16:creationId xmlns:a16="http://schemas.microsoft.com/office/drawing/2014/main" id="{E130D3F8-3252-73A1-4140-B1C7FEA942D3}"/>
              </a:ext>
            </a:extLst>
          </p:cNvPr>
          <p:cNvSpPr>
            <a:spLocks noGrp="1"/>
          </p:cNvSpPr>
          <p:nvPr>
            <p:ph idx="1"/>
          </p:nvPr>
        </p:nvSpPr>
        <p:spPr>
          <a:xfrm>
            <a:off x="2432424" y="1899631"/>
            <a:ext cx="7333128" cy="4011769"/>
          </a:xfrm>
        </p:spPr>
        <p:txBody>
          <a:bodyPr anchor="ctr">
            <a:normAutofit/>
          </a:bodyPr>
          <a:lstStyle/>
          <a:p>
            <a:r>
              <a:rPr lang="en-US" sz="1800"/>
              <a:t>Keyboard navigation</a:t>
            </a:r>
          </a:p>
          <a:p>
            <a:pPr lvl="1"/>
            <a:r>
              <a:rPr lang="en-US"/>
              <a:t>Use Tab and Shift+Tab keys</a:t>
            </a:r>
          </a:p>
          <a:p>
            <a:r>
              <a:rPr lang="en-US" sz="1800"/>
              <a:t>Navigating headings, buttons, and links</a:t>
            </a:r>
          </a:p>
          <a:p>
            <a:pPr lvl="1"/>
            <a:r>
              <a:rPr lang="en-US"/>
              <a:t>Use rotor feature on MacOS</a:t>
            </a:r>
          </a:p>
          <a:p>
            <a:r>
              <a:rPr lang="en-US" sz="1800"/>
              <a:t>Application keyboard shortcuts</a:t>
            </a:r>
          </a:p>
          <a:p>
            <a:pPr lvl="1"/>
            <a:r>
              <a:rPr lang="en-US"/>
              <a:t>Ensure shortcuts provide full context</a:t>
            </a:r>
            <a:endParaRPr lang="en-IN"/>
          </a:p>
        </p:txBody>
      </p:sp>
    </p:spTree>
    <p:extLst>
      <p:ext uri="{BB962C8B-B14F-4D97-AF65-F5344CB8AC3E}">
        <p14:creationId xmlns:p14="http://schemas.microsoft.com/office/powerpoint/2010/main" val="965029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4DB750F-3D82-8383-40D0-AF0A9B88EFD2}"/>
              </a:ext>
            </a:extLst>
          </p:cNvPr>
          <p:cNvSpPr>
            <a:spLocks noGrp="1"/>
          </p:cNvSpPr>
          <p:nvPr>
            <p:ph type="title"/>
          </p:nvPr>
        </p:nvSpPr>
        <p:spPr>
          <a:xfrm>
            <a:off x="614679" y="548639"/>
            <a:ext cx="3977640" cy="5719640"/>
          </a:xfrm>
        </p:spPr>
        <p:txBody>
          <a:bodyPr anchor="t">
            <a:normAutofit/>
          </a:bodyPr>
          <a:lstStyle/>
          <a:p>
            <a:r>
              <a:rPr lang="en-IN"/>
              <a:t>Key Testing Areas</a:t>
            </a:r>
          </a:p>
        </p:txBody>
      </p:sp>
      <p:sp>
        <p:nvSpPr>
          <p:cNvPr id="3" name="Content Placeholder 2">
            <a:extLst>
              <a:ext uri="{FF2B5EF4-FFF2-40B4-BE49-F238E27FC236}">
                <a16:creationId xmlns:a16="http://schemas.microsoft.com/office/drawing/2014/main" id="{E6C4A649-9527-21C2-A3B0-08B3F226C7D9}"/>
              </a:ext>
            </a:extLst>
          </p:cNvPr>
          <p:cNvSpPr>
            <a:spLocks noGrp="1"/>
          </p:cNvSpPr>
          <p:nvPr>
            <p:ph idx="1"/>
          </p:nvPr>
        </p:nvSpPr>
        <p:spPr>
          <a:xfrm>
            <a:off x="5387542" y="548639"/>
            <a:ext cx="6189780" cy="5861304"/>
          </a:xfrm>
        </p:spPr>
        <p:txBody>
          <a:bodyPr anchor="t">
            <a:normAutofit/>
          </a:bodyPr>
          <a:lstStyle/>
          <a:p>
            <a:r>
              <a:rPr lang="en-US"/>
              <a:t>Clear and Logical Focus</a:t>
            </a:r>
          </a:p>
          <a:p>
            <a:pPr lvl="1"/>
            <a:r>
              <a:rPr lang="en-US"/>
              <a:t>Ensure focus is clear and logical</a:t>
            </a:r>
          </a:p>
          <a:p>
            <a:r>
              <a:rPr lang="en-US"/>
              <a:t>Correct Role and Defined Label</a:t>
            </a:r>
          </a:p>
          <a:p>
            <a:pPr lvl="1"/>
            <a:r>
              <a:rPr lang="en-US"/>
              <a:t>Elements should have correct roles</a:t>
            </a:r>
          </a:p>
          <a:p>
            <a:pPr lvl="1"/>
            <a:r>
              <a:rPr lang="en-US"/>
              <a:t>Defined labels for elements</a:t>
            </a:r>
          </a:p>
          <a:p>
            <a:r>
              <a:rPr lang="en-US"/>
              <a:t>Announcement of Elements</a:t>
            </a:r>
          </a:p>
          <a:p>
            <a:pPr lvl="1"/>
            <a:r>
              <a:rPr lang="en-US"/>
              <a:t>Elements must be announced</a:t>
            </a:r>
          </a:p>
          <a:p>
            <a:r>
              <a:rPr lang="en-US"/>
              <a:t>Descriptive Alt Text for Images</a:t>
            </a:r>
          </a:p>
          <a:p>
            <a:r>
              <a:rPr lang="en-US"/>
              <a:t>Avoid Vague Labels</a:t>
            </a:r>
          </a:p>
          <a:p>
            <a:r>
              <a:rPr lang="en-US"/>
              <a:t>Traversable Fields with Proper Labels</a:t>
            </a:r>
          </a:p>
          <a:p>
            <a:r>
              <a:rPr lang="en-US"/>
              <a:t>Errors and Validation Messages</a:t>
            </a:r>
          </a:p>
          <a:p>
            <a:r>
              <a:rPr lang="en-US"/>
              <a:t>Use Landmarks to Structure Content</a:t>
            </a:r>
            <a:endParaRPr lang="en-IN"/>
          </a:p>
        </p:txBody>
      </p:sp>
    </p:spTree>
    <p:extLst>
      <p:ext uri="{BB962C8B-B14F-4D97-AF65-F5344CB8AC3E}">
        <p14:creationId xmlns:p14="http://schemas.microsoft.com/office/powerpoint/2010/main" val="3128113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AD80800-C3DE-CCB5-BEB5-030B073D7420}"/>
              </a:ext>
            </a:extLst>
          </p:cNvPr>
          <p:cNvSpPr>
            <a:spLocks noGrp="1"/>
          </p:cNvSpPr>
          <p:nvPr>
            <p:ph type="title"/>
          </p:nvPr>
        </p:nvSpPr>
        <p:spPr>
          <a:xfrm>
            <a:off x="614679" y="548639"/>
            <a:ext cx="3977640" cy="5719640"/>
          </a:xfrm>
        </p:spPr>
        <p:txBody>
          <a:bodyPr anchor="t">
            <a:normAutofit/>
          </a:bodyPr>
          <a:lstStyle/>
          <a:p>
            <a:r>
              <a:rPr lang="en-IN"/>
              <a:t>Tips for Ensuring a Screen Reader Accessible Site</a:t>
            </a:r>
          </a:p>
        </p:txBody>
      </p:sp>
      <p:sp>
        <p:nvSpPr>
          <p:cNvPr id="3" name="Content Placeholder 2">
            <a:extLst>
              <a:ext uri="{FF2B5EF4-FFF2-40B4-BE49-F238E27FC236}">
                <a16:creationId xmlns:a16="http://schemas.microsoft.com/office/drawing/2014/main" id="{95503317-9C7A-2370-5223-400161A12A16}"/>
              </a:ext>
            </a:extLst>
          </p:cNvPr>
          <p:cNvSpPr>
            <a:spLocks noGrp="1"/>
          </p:cNvSpPr>
          <p:nvPr>
            <p:ph idx="1"/>
          </p:nvPr>
        </p:nvSpPr>
        <p:spPr>
          <a:xfrm>
            <a:off x="5387542" y="548639"/>
            <a:ext cx="6189780" cy="5861304"/>
          </a:xfrm>
        </p:spPr>
        <p:txBody>
          <a:bodyPr anchor="t">
            <a:normAutofit/>
          </a:bodyPr>
          <a:lstStyle/>
          <a:p>
            <a:pPr>
              <a:lnSpc>
                <a:spcPct val="110000"/>
              </a:lnSpc>
            </a:pPr>
            <a:r>
              <a:rPr lang="en-US"/>
              <a:t>Prioritize keyboard-first navigation</a:t>
            </a:r>
          </a:p>
          <a:p>
            <a:pPr lvl="1">
              <a:lnSpc>
                <a:spcPct val="110000"/>
              </a:lnSpc>
            </a:pPr>
            <a:r>
              <a:rPr lang="en-US"/>
              <a:t>Ensure all functionalities are accessible via keyboard</a:t>
            </a:r>
          </a:p>
          <a:p>
            <a:pPr>
              <a:lnSpc>
                <a:spcPct val="110000"/>
              </a:lnSpc>
            </a:pPr>
            <a:r>
              <a:rPr lang="en-US"/>
              <a:t>Design with accessibility in mind</a:t>
            </a:r>
          </a:p>
          <a:p>
            <a:pPr lvl="1">
              <a:lnSpc>
                <a:spcPct val="110000"/>
              </a:lnSpc>
            </a:pPr>
            <a:r>
              <a:rPr lang="en-US"/>
              <a:t>Consider users with disabilities during design</a:t>
            </a:r>
          </a:p>
          <a:p>
            <a:pPr>
              <a:lnSpc>
                <a:spcPct val="110000"/>
              </a:lnSpc>
            </a:pPr>
            <a:r>
              <a:rPr lang="en-US"/>
              <a:t>Avoid visual-only cues</a:t>
            </a:r>
          </a:p>
          <a:p>
            <a:pPr lvl="1">
              <a:lnSpc>
                <a:spcPct val="110000"/>
              </a:lnSpc>
            </a:pPr>
            <a:r>
              <a:rPr lang="en-US"/>
              <a:t>Provide text alternatives for visual elements</a:t>
            </a:r>
          </a:p>
          <a:p>
            <a:pPr>
              <a:lnSpc>
                <a:spcPct val="110000"/>
              </a:lnSpc>
            </a:pPr>
            <a:r>
              <a:rPr lang="en-US"/>
              <a:t>Specify the lang attribute</a:t>
            </a:r>
          </a:p>
          <a:p>
            <a:pPr>
              <a:lnSpc>
                <a:spcPct val="110000"/>
              </a:lnSpc>
            </a:pPr>
            <a:r>
              <a:rPr lang="en-US"/>
              <a:t>Use semantic HTML</a:t>
            </a:r>
          </a:p>
          <a:p>
            <a:pPr>
              <a:lnSpc>
                <a:spcPct val="110000"/>
              </a:lnSpc>
            </a:pPr>
            <a:r>
              <a:rPr lang="en-US"/>
              <a:t>Avoid abbreviations</a:t>
            </a:r>
          </a:p>
          <a:p>
            <a:pPr>
              <a:lnSpc>
                <a:spcPct val="110000"/>
              </a:lnSpc>
            </a:pPr>
            <a:r>
              <a:rPr lang="en-US"/>
              <a:t>Exercise caution when using aria-hidden</a:t>
            </a:r>
          </a:p>
          <a:p>
            <a:pPr>
              <a:lnSpc>
                <a:spcPct val="110000"/>
              </a:lnSpc>
            </a:pPr>
            <a:r>
              <a:rPr lang="en-US"/>
              <a:t>Organize content logically</a:t>
            </a:r>
          </a:p>
          <a:p>
            <a:pPr>
              <a:lnSpc>
                <a:spcPct val="110000"/>
              </a:lnSpc>
            </a:pPr>
            <a:r>
              <a:rPr lang="en-US"/>
              <a:t>Use automated testing tools</a:t>
            </a:r>
            <a:endParaRPr lang="en-IN"/>
          </a:p>
        </p:txBody>
      </p:sp>
    </p:spTree>
    <p:extLst>
      <p:ext uri="{BB962C8B-B14F-4D97-AF65-F5344CB8AC3E}">
        <p14:creationId xmlns:p14="http://schemas.microsoft.com/office/powerpoint/2010/main" val="417122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4A63A7-06C0-5588-59D6-5836F4FD80D8}"/>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b="1" kern="1200">
                <a:solidFill>
                  <a:schemeClr val="tx1"/>
                </a:solidFill>
                <a:latin typeface="+mj-lt"/>
                <a:ea typeface="+mj-ea"/>
                <a:cs typeface="+mj-cs"/>
              </a:rPr>
              <a:t>Conclusion</a:t>
            </a:r>
          </a:p>
        </p:txBody>
      </p:sp>
      <p:sp>
        <p:nvSpPr>
          <p:cNvPr id="4" name="Content Placeholder 3">
            <a:extLst>
              <a:ext uri="{FF2B5EF4-FFF2-40B4-BE49-F238E27FC236}">
                <a16:creationId xmlns:a16="http://schemas.microsoft.com/office/drawing/2014/main" id="{15F3D7A3-F332-5CA9-B4C2-770F75A41E45}"/>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a:t>Testing with Screen Readers</a:t>
            </a:r>
          </a:p>
          <a:p>
            <a:pPr lvl="1">
              <a:lnSpc>
                <a:spcPct val="110000"/>
              </a:lnSpc>
            </a:pPr>
            <a:r>
              <a:rPr lang="en-US" sz="1500"/>
              <a:t>Essential for accessible web applications</a:t>
            </a:r>
          </a:p>
          <a:p>
            <a:pPr>
              <a:lnSpc>
                <a:spcPct val="110000"/>
              </a:lnSpc>
            </a:pPr>
            <a:r>
              <a:rPr lang="en-US" sz="1500"/>
              <a:t>Functionality Across Multiple Screen Readers</a:t>
            </a:r>
          </a:p>
          <a:p>
            <a:pPr lvl="1">
              <a:lnSpc>
                <a:spcPct val="110000"/>
              </a:lnSpc>
            </a:pPr>
            <a:r>
              <a:rPr lang="en-US" sz="1500"/>
              <a:t>Ensure app compatibility with various screen readers</a:t>
            </a:r>
          </a:p>
          <a:p>
            <a:pPr>
              <a:lnSpc>
                <a:spcPct val="110000"/>
              </a:lnSpc>
            </a:pPr>
            <a:r>
              <a:rPr lang="en-US" sz="1500"/>
              <a:t>Real User Testing</a:t>
            </a:r>
          </a:p>
          <a:p>
            <a:pPr lvl="1">
              <a:lnSpc>
                <a:spcPct val="110000"/>
              </a:lnSpc>
            </a:pPr>
            <a:r>
              <a:rPr lang="en-US" sz="1500"/>
              <a:t>Include actual users in the testing process</a:t>
            </a:r>
          </a:p>
        </p:txBody>
      </p:sp>
      <p:pic>
        <p:nvPicPr>
          <p:cNvPr id="5" name="Content Placeholder 4" descr="Electronic book reader with LOREM IPSUM text and thick paper book over white background">
            <a:extLst>
              <a:ext uri="{FF2B5EF4-FFF2-40B4-BE49-F238E27FC236}">
                <a16:creationId xmlns:a16="http://schemas.microsoft.com/office/drawing/2014/main" id="{E817360D-D9A7-4B72-914D-E5AC93469D64}"/>
              </a:ext>
            </a:extLst>
          </p:cNvPr>
          <p:cNvPicPr>
            <a:picLocks noGrp="1" noChangeAspect="1"/>
          </p:cNvPicPr>
          <p:nvPr>
            <p:ph sz="half" idx="1"/>
          </p:nvPr>
        </p:nvPicPr>
        <p:blipFill>
          <a:blip r:embed="rId3"/>
          <a:stretch>
            <a:fillRect/>
          </a:stretch>
        </p:blipFill>
        <p:spPr>
          <a:xfrm>
            <a:off x="5691261" y="1480640"/>
            <a:ext cx="5837780" cy="3896718"/>
          </a:xfrm>
          <a:prstGeom prst="rect">
            <a:avLst/>
          </a:prstGeom>
        </p:spPr>
      </p:pic>
    </p:spTree>
    <p:extLst>
      <p:ext uri="{BB962C8B-B14F-4D97-AF65-F5344CB8AC3E}">
        <p14:creationId xmlns:p14="http://schemas.microsoft.com/office/powerpoint/2010/main" val="185840271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1507</Words>
  <Application>Microsoft Office PowerPoint</Application>
  <PresentationFormat>Widescreen</PresentationFormat>
  <Paragraphs>144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Neue Haas Grotesk Text Pro</vt:lpstr>
      <vt:lpstr>VanillaVTI</vt:lpstr>
      <vt:lpstr>Testing Accessibility with Screen Readers</vt:lpstr>
      <vt:lpstr>Agenda</vt:lpstr>
      <vt:lpstr>Overview</vt:lpstr>
      <vt:lpstr>Introduction to Accessibility</vt:lpstr>
      <vt:lpstr>Screen Reader Usage</vt:lpstr>
      <vt:lpstr>Common Screen Readers</vt:lpstr>
      <vt:lpstr>Screen Reader Modes</vt:lpstr>
      <vt:lpstr>Technical Overview</vt:lpstr>
      <vt:lpstr>Key Elements of the Accessibility Tree</vt:lpstr>
      <vt:lpstr>Testing Web Applications with Screen Readers</vt:lpstr>
      <vt:lpstr>Testing Workflow</vt:lpstr>
      <vt:lpstr>Key Testing Areas</vt:lpstr>
      <vt:lpstr>Tips for Ensuring a Screen Reader Accessible Site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Akhilesh Malani</dc:creator>
  <cp:lastModifiedBy>Akhilesh Malani</cp:lastModifiedBy>
  <cp:revision>1</cp:revision>
  <dcterms:created xsi:type="dcterms:W3CDTF">2025-05-16T10:37:56Z</dcterms:created>
  <dcterms:modified xsi:type="dcterms:W3CDTF">2025-05-16T10:45:28Z</dcterms:modified>
</cp:coreProperties>
</file>