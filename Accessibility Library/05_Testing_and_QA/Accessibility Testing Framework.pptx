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258" r:id="rId2"/>
    <p:sldId id="306" r:id="rId3"/>
    <p:sldId id="295" r:id="rId4"/>
    <p:sldId id="287" r:id="rId5"/>
    <p:sldId id="313" r:id="rId6"/>
    <p:sldId id="316" r:id="rId7"/>
    <p:sldId id="268" r:id="rId8"/>
    <p:sldId id="312" r:id="rId9"/>
    <p:sldId id="302" r:id="rId10"/>
    <p:sldId id="309" r:id="rId11"/>
    <p:sldId id="317" r:id="rId12"/>
    <p:sldId id="303" r:id="rId1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A100"/>
    <a:srgbClr val="5695DC"/>
    <a:srgbClr val="0066FF"/>
    <a:srgbClr val="66FFFF"/>
    <a:srgbClr val="3217D3"/>
    <a:srgbClr val="008080"/>
    <a:srgbClr val="AD9906"/>
    <a:srgbClr val="AACAE2"/>
    <a:srgbClr val="1D5295"/>
    <a:srgbClr val="CCE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88" autoAdjust="0"/>
    <p:restoredTop sz="83422" autoAdjust="0"/>
  </p:normalViewPr>
  <p:slideViewPr>
    <p:cSldViewPr>
      <p:cViewPr>
        <p:scale>
          <a:sx n="61" d="100"/>
          <a:sy n="61" d="100"/>
        </p:scale>
        <p:origin x="-756"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2" d="100"/>
          <a:sy n="52" d="100"/>
        </p:scale>
        <p:origin x="-2892" y="-10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FB7AEE-4E9D-4D0C-B546-B4547499105B}" type="datetimeFigureOut">
              <a:rPr lang="en-US" smtClean="0"/>
              <a:pPr/>
              <a:t>3/7/2011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C37817D-FFCC-4E15-A7F8-865451CB86C7}" type="slidenum">
              <a:rPr lang="en-US" smtClean="0"/>
              <a:pPr/>
              <a:t>‹#›</a:t>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92AB94A-81C0-47C5-8740-F905AD124BBF}" type="datetimeFigureOut">
              <a:rPr lang="en-US" smtClean="0"/>
              <a:pPr/>
              <a:t>3/7/2011</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3BE1AE8-9039-45EE-BE0A-54F943F88BF8}"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3BE1AE8-9039-45EE-BE0A-54F943F88BF8}"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3BE1AE8-9039-45EE-BE0A-54F943F88BF8}"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3BE1AE8-9039-45EE-BE0A-54F943F88BF8}"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Before starting with the performance testing, these are the questions which need to be asked and clarified.</a:t>
            </a:r>
            <a:r>
              <a:rPr lang="en-US" baseline="0" dirty="0" smtClean="0"/>
              <a:t> It is moreover like defining the in scope and out of scope for the project.</a:t>
            </a:r>
          </a:p>
        </p:txBody>
      </p:sp>
      <p:sp>
        <p:nvSpPr>
          <p:cNvPr id="4" name="Slide Number Placeholder 3"/>
          <p:cNvSpPr>
            <a:spLocks noGrp="1"/>
          </p:cNvSpPr>
          <p:nvPr>
            <p:ph type="sldNum" sz="quarter" idx="10"/>
          </p:nvPr>
        </p:nvSpPr>
        <p:spPr/>
        <p:txBody>
          <a:bodyPr/>
          <a:lstStyle/>
          <a:p>
            <a:fld id="{23BE1AE8-9039-45EE-BE0A-54F943F88BF8}"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Performance metrics totally rely on the application and how efficient your test is</a:t>
            </a:r>
            <a:r>
              <a:rPr lang="en-US" baseline="0" dirty="0" smtClean="0"/>
              <a:t> to identify the CPU Utilization, Resource Utilization, Memory </a:t>
            </a:r>
            <a:r>
              <a:rPr lang="en-US" baseline="0" dirty="0" err="1" smtClean="0"/>
              <a:t>Utilization,etc</a:t>
            </a:r>
            <a:r>
              <a:rPr lang="en-US" baseline="0" dirty="0" smtClean="0"/>
              <a:t>.</a:t>
            </a:r>
            <a:endParaRPr lang="en-US" dirty="0"/>
          </a:p>
        </p:txBody>
      </p:sp>
      <p:sp>
        <p:nvSpPr>
          <p:cNvPr id="4" name="Slide Number Placeholder 3"/>
          <p:cNvSpPr>
            <a:spLocks noGrp="1"/>
          </p:cNvSpPr>
          <p:nvPr>
            <p:ph type="sldNum" sz="quarter" idx="10"/>
          </p:nvPr>
        </p:nvSpPr>
        <p:spPr/>
        <p:txBody>
          <a:bodyPr/>
          <a:lstStyle/>
          <a:p>
            <a:fld id="{23BE1AE8-9039-45EE-BE0A-54F943F88BF8}"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Performance metrics totally rely on the application and how efficient your test is</a:t>
            </a:r>
            <a:r>
              <a:rPr lang="en-US" baseline="0" dirty="0" smtClean="0"/>
              <a:t> to identify the CPU Utilization, Resource Utilization, Memory Utilization, etc.</a:t>
            </a:r>
            <a:endParaRPr lang="en-US" dirty="0"/>
          </a:p>
        </p:txBody>
      </p:sp>
      <p:sp>
        <p:nvSpPr>
          <p:cNvPr id="4" name="Slide Number Placeholder 3"/>
          <p:cNvSpPr>
            <a:spLocks noGrp="1"/>
          </p:cNvSpPr>
          <p:nvPr>
            <p:ph type="sldNum" sz="quarter" idx="10"/>
          </p:nvPr>
        </p:nvSpPr>
        <p:spPr/>
        <p:txBody>
          <a:bodyPr/>
          <a:lstStyle/>
          <a:p>
            <a:fld id="{23BE1AE8-9039-45EE-BE0A-54F943F88BF8}"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3BE1AE8-9039-45EE-BE0A-54F943F88BF8}"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smtClean="0"/>
          </a:p>
        </p:txBody>
      </p:sp>
      <p:sp>
        <p:nvSpPr>
          <p:cNvPr id="4" name="Slide Number Placeholder 3"/>
          <p:cNvSpPr>
            <a:spLocks noGrp="1"/>
          </p:cNvSpPr>
          <p:nvPr>
            <p:ph type="sldNum" sz="quarter" idx="10"/>
          </p:nvPr>
        </p:nvSpPr>
        <p:spPr/>
        <p:txBody>
          <a:bodyPr/>
          <a:lstStyle/>
          <a:p>
            <a:fld id="{23BE1AE8-9039-45EE-BE0A-54F943F88BF8}"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3BE1AE8-9039-45EE-BE0A-54F943F88BF8}"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dirty="0" smtClean="0"/>
          </a:p>
        </p:txBody>
      </p:sp>
      <p:sp>
        <p:nvSpPr>
          <p:cNvPr id="4" name="Slide Number Placeholder 3"/>
          <p:cNvSpPr>
            <a:spLocks noGrp="1"/>
          </p:cNvSpPr>
          <p:nvPr>
            <p:ph type="sldNum" sz="quarter" idx="10"/>
          </p:nvPr>
        </p:nvSpPr>
        <p:spPr/>
        <p:txBody>
          <a:bodyPr/>
          <a:lstStyle/>
          <a:p>
            <a:fld id="{23BE1AE8-9039-45EE-BE0A-54F943F88BF8}"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dirty="0" smtClean="0"/>
          </a:p>
        </p:txBody>
      </p:sp>
      <p:sp>
        <p:nvSpPr>
          <p:cNvPr id="4" name="Slide Number Placeholder 3"/>
          <p:cNvSpPr>
            <a:spLocks noGrp="1"/>
          </p:cNvSpPr>
          <p:nvPr>
            <p:ph type="sldNum" sz="quarter" idx="10"/>
          </p:nvPr>
        </p:nvSpPr>
        <p:spPr/>
        <p:txBody>
          <a:bodyPr/>
          <a:lstStyle/>
          <a:p>
            <a:fld id="{23BE1AE8-9039-45EE-BE0A-54F943F88BF8}"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3BE1AE8-9039-45EE-BE0A-54F943F88BF8}" type="slidenum">
              <a:rPr lang="en-US" smtClean="0"/>
              <a:pPr/>
              <a:t>12</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vmlDrawing" Target="../drawings/vmlDrawing1.vml"/><Relationship Id="rId5" Type="http://schemas.openxmlformats.org/officeDocument/2006/relationships/image" Target="../media/image2.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aphicFrame>
        <p:nvGraphicFramePr>
          <p:cNvPr id="3087" name="Object 15"/>
          <p:cNvGraphicFramePr>
            <a:graphicFrameLocks noChangeAspect="1"/>
          </p:cNvGraphicFramePr>
          <p:nvPr/>
        </p:nvGraphicFramePr>
        <p:xfrm>
          <a:off x="44450" y="2393950"/>
          <a:ext cx="9077325" cy="1819275"/>
        </p:xfrm>
        <a:graphic>
          <a:graphicData uri="http://schemas.openxmlformats.org/presentationml/2006/ole">
            <p:oleObj spid="_x0000_s3087" name="Image" r:id="rId3" imgW="10209524" imgH="1815873" progId="">
              <p:embed/>
            </p:oleObj>
          </a:graphicData>
        </a:graphic>
      </p:graphicFrame>
      <p:grpSp>
        <p:nvGrpSpPr>
          <p:cNvPr id="3088" name="Group 16"/>
          <p:cNvGrpSpPr>
            <a:grpSpLocks/>
          </p:cNvGrpSpPr>
          <p:nvPr/>
        </p:nvGrpSpPr>
        <p:grpSpPr bwMode="auto">
          <a:xfrm>
            <a:off x="34925" y="4292600"/>
            <a:ext cx="9074150" cy="2520950"/>
            <a:chOff x="0" y="2640"/>
            <a:chExt cx="5760" cy="1680"/>
          </a:xfrm>
        </p:grpSpPr>
        <p:sp>
          <p:nvSpPr>
            <p:cNvPr id="3089" name="Rectangle 17"/>
            <p:cNvSpPr>
              <a:spLocks noChangeArrowheads="1"/>
            </p:cNvSpPr>
            <p:nvPr userDrawn="1"/>
          </p:nvSpPr>
          <p:spPr bwMode="gray">
            <a:xfrm>
              <a:off x="0" y="2640"/>
              <a:ext cx="5760" cy="1680"/>
            </a:xfrm>
            <a:prstGeom prst="rect">
              <a:avLst/>
            </a:prstGeom>
            <a:solidFill>
              <a:schemeClr val="bg2"/>
            </a:solidFill>
            <a:ln w="9525">
              <a:noFill/>
              <a:miter lim="800000"/>
              <a:headEnd/>
              <a:tailEnd/>
            </a:ln>
            <a:effectLst/>
          </p:spPr>
          <p:txBody>
            <a:bodyPr wrap="none" anchor="ctr"/>
            <a:lstStyle/>
            <a:p>
              <a:endParaRPr lang="en-US" dirty="0"/>
            </a:p>
          </p:txBody>
        </p:sp>
        <p:sp>
          <p:nvSpPr>
            <p:cNvPr id="3090" name="Rectangle 18"/>
            <p:cNvSpPr>
              <a:spLocks noChangeArrowheads="1"/>
            </p:cNvSpPr>
            <p:nvPr userDrawn="1"/>
          </p:nvSpPr>
          <p:spPr bwMode="gray">
            <a:xfrm>
              <a:off x="0" y="2640"/>
              <a:ext cx="5760" cy="96"/>
            </a:xfrm>
            <a:prstGeom prst="rect">
              <a:avLst/>
            </a:prstGeom>
            <a:gradFill rotWithShape="0">
              <a:gsLst>
                <a:gs pos="0">
                  <a:schemeClr val="bg2">
                    <a:gamma/>
                    <a:shade val="46275"/>
                    <a:invGamma/>
                  </a:schemeClr>
                </a:gs>
                <a:gs pos="100000">
                  <a:schemeClr val="bg2"/>
                </a:gs>
              </a:gsLst>
              <a:lin ang="5400000" scaled="1"/>
            </a:gradFill>
            <a:ln w="9525">
              <a:noFill/>
              <a:miter lim="800000"/>
              <a:headEnd/>
              <a:tailEnd/>
            </a:ln>
            <a:effectLst/>
          </p:spPr>
          <p:txBody>
            <a:bodyPr wrap="none" anchor="ctr"/>
            <a:lstStyle/>
            <a:p>
              <a:endParaRPr lang="en-US" dirty="0"/>
            </a:p>
          </p:txBody>
        </p:sp>
      </p:grpSp>
      <p:sp>
        <p:nvSpPr>
          <p:cNvPr id="3091" name="Rectangle 19"/>
          <p:cNvSpPr>
            <a:spLocks noChangeArrowheads="1"/>
          </p:cNvSpPr>
          <p:nvPr/>
        </p:nvSpPr>
        <p:spPr bwMode="gray">
          <a:xfrm>
            <a:off x="34925" y="44450"/>
            <a:ext cx="9074150" cy="2282825"/>
          </a:xfrm>
          <a:prstGeom prst="rect">
            <a:avLst/>
          </a:prstGeom>
          <a:gradFill rotWithShape="0">
            <a:gsLst>
              <a:gs pos="0">
                <a:schemeClr val="tx1"/>
              </a:gs>
              <a:gs pos="100000">
                <a:schemeClr val="tx1">
                  <a:gamma/>
                  <a:shade val="46275"/>
                  <a:invGamma/>
                </a:schemeClr>
              </a:gs>
            </a:gsLst>
            <a:lin ang="5400000" scaled="1"/>
          </a:gradFill>
          <a:ln w="9525">
            <a:noFill/>
            <a:miter lim="800000"/>
            <a:headEnd/>
            <a:tailEnd/>
          </a:ln>
          <a:effectLst/>
        </p:spPr>
        <p:txBody>
          <a:bodyPr wrap="none" anchor="ctr"/>
          <a:lstStyle/>
          <a:p>
            <a:endParaRPr lang="en-US" dirty="0"/>
          </a:p>
        </p:txBody>
      </p:sp>
      <p:grpSp>
        <p:nvGrpSpPr>
          <p:cNvPr id="3092" name="Group 20"/>
          <p:cNvGrpSpPr>
            <a:grpSpLocks/>
          </p:cNvGrpSpPr>
          <p:nvPr/>
        </p:nvGrpSpPr>
        <p:grpSpPr bwMode="auto">
          <a:xfrm>
            <a:off x="-4763" y="0"/>
            <a:ext cx="9148763" cy="6856413"/>
            <a:chOff x="-3" y="0"/>
            <a:chExt cx="5763" cy="4319"/>
          </a:xfrm>
        </p:grpSpPr>
        <p:sp>
          <p:nvSpPr>
            <p:cNvPr id="3093" name="AutoShape 21"/>
            <p:cNvSpPr>
              <a:spLocks noChangeArrowheads="1"/>
            </p:cNvSpPr>
            <p:nvPr userDrawn="1"/>
          </p:nvSpPr>
          <p:spPr bwMode="gray">
            <a:xfrm>
              <a:off x="24" y="24"/>
              <a:ext cx="5712" cy="4272"/>
            </a:xfrm>
            <a:prstGeom prst="roundRect">
              <a:avLst>
                <a:gd name="adj" fmla="val 6227"/>
              </a:avLst>
            </a:prstGeom>
            <a:noFill/>
            <a:ln w="76200">
              <a:solidFill>
                <a:schemeClr val="bg1"/>
              </a:solidFill>
              <a:round/>
              <a:headEnd/>
              <a:tailEnd/>
            </a:ln>
            <a:effectLst/>
          </p:spPr>
          <p:txBody>
            <a:bodyPr wrap="none" anchor="ctr"/>
            <a:lstStyle/>
            <a:p>
              <a:endParaRPr lang="en-US" dirty="0"/>
            </a:p>
          </p:txBody>
        </p:sp>
        <p:sp>
          <p:nvSpPr>
            <p:cNvPr id="3094" name="Freeform 22"/>
            <p:cNvSpPr>
              <a:spLocks/>
            </p:cNvSpPr>
            <p:nvPr userDrawn="1"/>
          </p:nvSpPr>
          <p:spPr bwMode="gray">
            <a:xfrm>
              <a:off x="0" y="0"/>
              <a:ext cx="288" cy="288"/>
            </a:xfrm>
            <a:custGeom>
              <a:avLst/>
              <a:gdLst/>
              <a:ahLst/>
              <a:cxnLst>
                <a:cxn ang="0">
                  <a:pos x="0" y="48"/>
                </a:cxn>
                <a:cxn ang="0">
                  <a:pos x="0" y="384"/>
                </a:cxn>
                <a:cxn ang="0">
                  <a:pos x="96" y="192"/>
                </a:cxn>
                <a:cxn ang="0">
                  <a:pos x="192" y="48"/>
                </a:cxn>
                <a:cxn ang="0">
                  <a:pos x="336" y="0"/>
                </a:cxn>
                <a:cxn ang="0">
                  <a:pos x="0" y="0"/>
                </a:cxn>
              </a:cxnLst>
              <a:rect l="0" t="0" r="r" b="b"/>
              <a:pathLst>
                <a:path w="336" h="384">
                  <a:moveTo>
                    <a:pt x="0" y="48"/>
                  </a:moveTo>
                  <a:lnTo>
                    <a:pt x="0" y="384"/>
                  </a:lnTo>
                  <a:lnTo>
                    <a:pt x="96" y="192"/>
                  </a:lnTo>
                  <a:lnTo>
                    <a:pt x="192" y="48"/>
                  </a:lnTo>
                  <a:lnTo>
                    <a:pt x="336" y="0"/>
                  </a:lnTo>
                  <a:lnTo>
                    <a:pt x="0" y="0"/>
                  </a:lnTo>
                </a:path>
              </a:pathLst>
            </a:custGeom>
            <a:solidFill>
              <a:schemeClr val="bg1"/>
            </a:solidFill>
            <a:ln w="9525">
              <a:noFill/>
              <a:round/>
              <a:headEnd/>
              <a:tailEnd/>
            </a:ln>
            <a:effectLst/>
          </p:spPr>
          <p:txBody>
            <a:bodyPr/>
            <a:lstStyle/>
            <a:p>
              <a:endParaRPr lang="en-US" dirty="0"/>
            </a:p>
          </p:txBody>
        </p:sp>
        <p:sp>
          <p:nvSpPr>
            <p:cNvPr id="3095" name="Freeform 23"/>
            <p:cNvSpPr>
              <a:spLocks/>
            </p:cNvSpPr>
            <p:nvPr userDrawn="1"/>
          </p:nvSpPr>
          <p:spPr bwMode="gray">
            <a:xfrm rot="-5408600">
              <a:off x="-50" y="4030"/>
              <a:ext cx="336" cy="242"/>
            </a:xfrm>
            <a:custGeom>
              <a:avLst/>
              <a:gdLst/>
              <a:ahLst/>
              <a:cxnLst>
                <a:cxn ang="0">
                  <a:pos x="0" y="48"/>
                </a:cxn>
                <a:cxn ang="0">
                  <a:pos x="0" y="384"/>
                </a:cxn>
                <a:cxn ang="0">
                  <a:pos x="96" y="192"/>
                </a:cxn>
                <a:cxn ang="0">
                  <a:pos x="192" y="48"/>
                </a:cxn>
                <a:cxn ang="0">
                  <a:pos x="336" y="0"/>
                </a:cxn>
                <a:cxn ang="0">
                  <a:pos x="0" y="0"/>
                </a:cxn>
              </a:cxnLst>
              <a:rect l="0" t="0" r="r" b="b"/>
              <a:pathLst>
                <a:path w="336" h="384">
                  <a:moveTo>
                    <a:pt x="0" y="48"/>
                  </a:moveTo>
                  <a:lnTo>
                    <a:pt x="0" y="384"/>
                  </a:lnTo>
                  <a:lnTo>
                    <a:pt x="96" y="192"/>
                  </a:lnTo>
                  <a:lnTo>
                    <a:pt x="192" y="48"/>
                  </a:lnTo>
                  <a:lnTo>
                    <a:pt x="336" y="0"/>
                  </a:lnTo>
                  <a:lnTo>
                    <a:pt x="0" y="0"/>
                  </a:lnTo>
                </a:path>
              </a:pathLst>
            </a:custGeom>
            <a:solidFill>
              <a:schemeClr val="bg1"/>
            </a:solidFill>
            <a:ln w="9525">
              <a:noFill/>
              <a:round/>
              <a:headEnd/>
              <a:tailEnd/>
            </a:ln>
            <a:effectLst/>
          </p:spPr>
          <p:txBody>
            <a:bodyPr/>
            <a:lstStyle/>
            <a:p>
              <a:endParaRPr lang="en-US" dirty="0"/>
            </a:p>
          </p:txBody>
        </p:sp>
        <p:sp>
          <p:nvSpPr>
            <p:cNvPr id="3096" name="Freeform 24"/>
            <p:cNvSpPr>
              <a:spLocks/>
            </p:cNvSpPr>
            <p:nvPr userDrawn="1"/>
          </p:nvSpPr>
          <p:spPr bwMode="gray">
            <a:xfrm rot="10769190">
              <a:off x="5519" y="4031"/>
              <a:ext cx="232" cy="287"/>
            </a:xfrm>
            <a:custGeom>
              <a:avLst/>
              <a:gdLst/>
              <a:ahLst/>
              <a:cxnLst>
                <a:cxn ang="0">
                  <a:pos x="0" y="48"/>
                </a:cxn>
                <a:cxn ang="0">
                  <a:pos x="0" y="384"/>
                </a:cxn>
                <a:cxn ang="0">
                  <a:pos x="96" y="192"/>
                </a:cxn>
                <a:cxn ang="0">
                  <a:pos x="192" y="48"/>
                </a:cxn>
                <a:cxn ang="0">
                  <a:pos x="336" y="0"/>
                </a:cxn>
                <a:cxn ang="0">
                  <a:pos x="0" y="0"/>
                </a:cxn>
              </a:cxnLst>
              <a:rect l="0" t="0" r="r" b="b"/>
              <a:pathLst>
                <a:path w="336" h="384">
                  <a:moveTo>
                    <a:pt x="0" y="48"/>
                  </a:moveTo>
                  <a:lnTo>
                    <a:pt x="0" y="384"/>
                  </a:lnTo>
                  <a:lnTo>
                    <a:pt x="96" y="192"/>
                  </a:lnTo>
                  <a:lnTo>
                    <a:pt x="192" y="48"/>
                  </a:lnTo>
                  <a:lnTo>
                    <a:pt x="336" y="0"/>
                  </a:lnTo>
                  <a:lnTo>
                    <a:pt x="0" y="0"/>
                  </a:lnTo>
                </a:path>
              </a:pathLst>
            </a:custGeom>
            <a:solidFill>
              <a:schemeClr val="bg1"/>
            </a:solidFill>
            <a:ln w="9525">
              <a:noFill/>
              <a:round/>
              <a:headEnd/>
              <a:tailEnd/>
            </a:ln>
            <a:effectLst/>
          </p:spPr>
          <p:txBody>
            <a:bodyPr/>
            <a:lstStyle/>
            <a:p>
              <a:endParaRPr lang="en-US" dirty="0"/>
            </a:p>
          </p:txBody>
        </p:sp>
        <p:sp>
          <p:nvSpPr>
            <p:cNvPr id="3097" name="Freeform 25"/>
            <p:cNvSpPr>
              <a:spLocks/>
            </p:cNvSpPr>
            <p:nvPr userDrawn="1"/>
          </p:nvSpPr>
          <p:spPr bwMode="gray">
            <a:xfrm rot="5400000">
              <a:off x="5472" y="0"/>
              <a:ext cx="288" cy="288"/>
            </a:xfrm>
            <a:custGeom>
              <a:avLst/>
              <a:gdLst/>
              <a:ahLst/>
              <a:cxnLst>
                <a:cxn ang="0">
                  <a:pos x="0" y="48"/>
                </a:cxn>
                <a:cxn ang="0">
                  <a:pos x="0" y="384"/>
                </a:cxn>
                <a:cxn ang="0">
                  <a:pos x="96" y="192"/>
                </a:cxn>
                <a:cxn ang="0">
                  <a:pos x="192" y="48"/>
                </a:cxn>
                <a:cxn ang="0">
                  <a:pos x="336" y="0"/>
                </a:cxn>
                <a:cxn ang="0">
                  <a:pos x="0" y="0"/>
                </a:cxn>
              </a:cxnLst>
              <a:rect l="0" t="0" r="r" b="b"/>
              <a:pathLst>
                <a:path w="336" h="384">
                  <a:moveTo>
                    <a:pt x="0" y="48"/>
                  </a:moveTo>
                  <a:lnTo>
                    <a:pt x="0" y="384"/>
                  </a:lnTo>
                  <a:lnTo>
                    <a:pt x="96" y="192"/>
                  </a:lnTo>
                  <a:lnTo>
                    <a:pt x="192" y="48"/>
                  </a:lnTo>
                  <a:lnTo>
                    <a:pt x="336" y="0"/>
                  </a:lnTo>
                  <a:lnTo>
                    <a:pt x="0" y="0"/>
                  </a:lnTo>
                </a:path>
              </a:pathLst>
            </a:custGeom>
            <a:solidFill>
              <a:schemeClr val="bg1"/>
            </a:solidFill>
            <a:ln w="9525">
              <a:noFill/>
              <a:round/>
              <a:headEnd/>
              <a:tailEnd/>
            </a:ln>
            <a:effectLst/>
          </p:spPr>
          <p:txBody>
            <a:bodyPr/>
            <a:lstStyle/>
            <a:p>
              <a:endParaRPr lang="en-US" dirty="0"/>
            </a:p>
          </p:txBody>
        </p:sp>
      </p:grpSp>
      <p:sp>
        <p:nvSpPr>
          <p:cNvPr id="3074" name="Rectangle 2"/>
          <p:cNvSpPr>
            <a:spLocks noGrp="1" noChangeArrowheads="1"/>
          </p:cNvSpPr>
          <p:nvPr>
            <p:ph type="ctrTitle"/>
          </p:nvPr>
        </p:nvSpPr>
        <p:spPr bwMode="ltGray">
          <a:xfrm>
            <a:off x="762000" y="990600"/>
            <a:ext cx="7772400" cy="1066800"/>
          </a:xfrm>
        </p:spPr>
        <p:txBody>
          <a:bodyPr/>
          <a:lstStyle>
            <a:lvl1pPr algn="ctr">
              <a:defRPr sz="4400"/>
            </a:lvl1pPr>
          </a:lstStyle>
          <a:p>
            <a:r>
              <a:rPr lang="en-US" smtClean="0"/>
              <a:t>Click to edit Master title style</a:t>
            </a:r>
            <a:endParaRPr lang="en-US"/>
          </a:p>
        </p:txBody>
      </p:sp>
      <p:sp>
        <p:nvSpPr>
          <p:cNvPr id="3075" name="Rectangle 3"/>
          <p:cNvSpPr>
            <a:spLocks noGrp="1" noChangeArrowheads="1"/>
          </p:cNvSpPr>
          <p:nvPr>
            <p:ph type="subTitle" idx="1"/>
          </p:nvPr>
        </p:nvSpPr>
        <p:spPr>
          <a:xfrm>
            <a:off x="1371600" y="4953000"/>
            <a:ext cx="6400800" cy="533400"/>
          </a:xfrm>
        </p:spPr>
        <p:txBody>
          <a:bodyPr/>
          <a:lstStyle>
            <a:lvl1pPr marL="0" indent="0" algn="ctr">
              <a:buFontTx/>
              <a:buNone/>
              <a:defRPr sz="2800">
                <a:solidFill>
                  <a:schemeClr val="tx2"/>
                </a:solidFill>
              </a:defRPr>
            </a:lvl1pPr>
          </a:lstStyle>
          <a:p>
            <a:r>
              <a:rPr lang="en-US" smtClean="0"/>
              <a:t>Click to edit Master subtitle style</a:t>
            </a:r>
            <a:endParaRPr lang="en-US"/>
          </a:p>
        </p:txBody>
      </p:sp>
      <p:sp>
        <p:nvSpPr>
          <p:cNvPr id="3076" name="Rectangle 4"/>
          <p:cNvSpPr>
            <a:spLocks noGrp="1" noChangeArrowheads="1"/>
          </p:cNvSpPr>
          <p:nvPr>
            <p:ph type="dt" sz="half" idx="2"/>
          </p:nvPr>
        </p:nvSpPr>
        <p:spPr>
          <a:xfrm>
            <a:off x="457200" y="6245225"/>
            <a:ext cx="2133600" cy="476250"/>
          </a:xfrm>
          <a:prstGeom prst="rect">
            <a:avLst/>
          </a:prstGeom>
        </p:spPr>
        <p:txBody>
          <a:bodyPr/>
          <a:lstStyle>
            <a:lvl1pPr>
              <a:defRPr/>
            </a:lvl1pPr>
          </a:lstStyle>
          <a:p>
            <a:endParaRPr lang="en-US" dirty="0"/>
          </a:p>
        </p:txBody>
      </p:sp>
      <p:sp>
        <p:nvSpPr>
          <p:cNvPr id="3077" name="Rectangle 5"/>
          <p:cNvSpPr>
            <a:spLocks noGrp="1" noChangeArrowheads="1"/>
          </p:cNvSpPr>
          <p:nvPr>
            <p:ph type="ftr" sz="quarter" idx="3"/>
          </p:nvPr>
        </p:nvSpPr>
        <p:spPr>
          <a:xfrm>
            <a:off x="3124200" y="6245225"/>
            <a:ext cx="2895600" cy="476250"/>
          </a:xfrm>
          <a:prstGeom prst="rect">
            <a:avLst/>
          </a:prstGeom>
        </p:spPr>
        <p:txBody>
          <a:bodyPr/>
          <a:lstStyle>
            <a:lvl1pPr>
              <a:defRPr/>
            </a:lvl1pPr>
          </a:lstStyle>
          <a:p>
            <a:r>
              <a:rPr lang="en-US" dirty="0" smtClean="0"/>
              <a:t>4</a:t>
            </a:r>
            <a:endParaRPr lang="en-US" dirty="0"/>
          </a:p>
        </p:txBody>
      </p:sp>
      <p:sp>
        <p:nvSpPr>
          <p:cNvPr id="3078" name="Rectangle 6"/>
          <p:cNvSpPr>
            <a:spLocks noGrp="1" noChangeArrowheads="1"/>
          </p:cNvSpPr>
          <p:nvPr>
            <p:ph type="sldNum" sz="quarter" idx="4"/>
          </p:nvPr>
        </p:nvSpPr>
        <p:spPr>
          <a:xfrm>
            <a:off x="6553200" y="6245225"/>
            <a:ext cx="2133600" cy="476250"/>
          </a:xfrm>
        </p:spPr>
        <p:txBody>
          <a:bodyPr/>
          <a:lstStyle>
            <a:lvl1pPr>
              <a:defRPr/>
            </a:lvl1pPr>
          </a:lstStyle>
          <a:p>
            <a:fld id="{7630FEEC-E79C-4FE6-92DC-7DB507548918}" type="slidenum">
              <a:rPr lang="en-US"/>
              <a:pPr/>
              <a:t>‹#›</a:t>
            </a:fld>
            <a:endParaRPr lang="en-US" dirty="0"/>
          </a:p>
        </p:txBody>
      </p:sp>
      <p:grpSp>
        <p:nvGrpSpPr>
          <p:cNvPr id="3098" name="Group 26"/>
          <p:cNvGrpSpPr>
            <a:grpSpLocks/>
          </p:cNvGrpSpPr>
          <p:nvPr/>
        </p:nvGrpSpPr>
        <p:grpSpPr bwMode="auto">
          <a:xfrm>
            <a:off x="2482850" y="2895600"/>
            <a:ext cx="2698750" cy="1041400"/>
            <a:chOff x="1610" y="1965"/>
            <a:chExt cx="1700" cy="656"/>
          </a:xfrm>
        </p:grpSpPr>
        <p:pic>
          <p:nvPicPr>
            <p:cNvPr id="3099" name="Picture 27" descr="Untitled-1 copy"/>
            <p:cNvPicPr>
              <a:picLocks noChangeAspect="1" noChangeArrowheads="1"/>
            </p:cNvPicPr>
            <p:nvPr userDrawn="1"/>
          </p:nvPicPr>
          <p:blipFill>
            <a:blip r:embed="rId4" cstate="print"/>
            <a:srcRect/>
            <a:stretch>
              <a:fillRect/>
            </a:stretch>
          </p:blipFill>
          <p:spPr bwMode="gray">
            <a:xfrm>
              <a:off x="2426" y="1965"/>
              <a:ext cx="590" cy="590"/>
            </a:xfrm>
            <a:prstGeom prst="rect">
              <a:avLst/>
            </a:prstGeom>
            <a:noFill/>
          </p:spPr>
        </p:pic>
        <p:pic>
          <p:nvPicPr>
            <p:cNvPr id="3100" name="Picture 28" descr="Untitled-1 copy"/>
            <p:cNvPicPr>
              <a:picLocks noChangeAspect="1" noChangeArrowheads="1"/>
            </p:cNvPicPr>
            <p:nvPr userDrawn="1"/>
          </p:nvPicPr>
          <p:blipFill>
            <a:blip r:embed="rId5" cstate="print"/>
            <a:srcRect/>
            <a:stretch>
              <a:fillRect/>
            </a:stretch>
          </p:blipFill>
          <p:spPr bwMode="gray">
            <a:xfrm>
              <a:off x="3061" y="2372"/>
              <a:ext cx="249" cy="249"/>
            </a:xfrm>
            <a:prstGeom prst="rect">
              <a:avLst/>
            </a:prstGeom>
            <a:noFill/>
          </p:spPr>
        </p:pic>
        <p:pic>
          <p:nvPicPr>
            <p:cNvPr id="3101" name="Picture 29" descr="Untitled-1 copy"/>
            <p:cNvPicPr>
              <a:picLocks noChangeAspect="1" noChangeArrowheads="1"/>
            </p:cNvPicPr>
            <p:nvPr userDrawn="1"/>
          </p:nvPicPr>
          <p:blipFill>
            <a:blip r:embed="rId4" cstate="print"/>
            <a:srcRect/>
            <a:stretch>
              <a:fillRect/>
            </a:stretch>
          </p:blipFill>
          <p:spPr bwMode="gray">
            <a:xfrm>
              <a:off x="1610" y="2237"/>
              <a:ext cx="363" cy="363"/>
            </a:xfrm>
            <a:prstGeom prst="rect">
              <a:avLst/>
            </a:prstGeom>
            <a:noFill/>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a:xfrm>
            <a:off x="3505200" y="6477000"/>
            <a:ext cx="2133600" cy="244475"/>
          </a:xfrm>
        </p:spPr>
        <p:txBody>
          <a:bodyPr/>
          <a:lstStyle>
            <a:lvl1pPr algn="ctr">
              <a:defRPr sz="1200"/>
            </a:lvl1pPr>
          </a:lstStyle>
          <a:p>
            <a:fld id="{47045A9F-F6A1-4722-A856-3E4BA1F52BF6}"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6" name="Slide Number Placeholder 5"/>
          <p:cNvSpPr>
            <a:spLocks noGrp="1"/>
          </p:cNvSpPr>
          <p:nvPr>
            <p:ph type="sldNum" sz="quarter" idx="12"/>
          </p:nvPr>
        </p:nvSpPr>
        <p:spPr>
          <a:xfrm>
            <a:off x="3505200" y="6477000"/>
            <a:ext cx="2133600" cy="244475"/>
          </a:xfrm>
        </p:spPr>
        <p:txBody>
          <a:bodyPr/>
          <a:lstStyle>
            <a:lvl1pPr algn="ctr">
              <a:defRPr sz="1200"/>
            </a:lvl1pPr>
          </a:lstStyle>
          <a:p>
            <a:fld id="{303D92A4-0910-47E8-8438-305CD50B8BF6}"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447800"/>
            <a:ext cx="4038600" cy="49498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47800"/>
            <a:ext cx="4038600" cy="49498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6"/>
          <p:cNvSpPr>
            <a:spLocks noGrp="1"/>
          </p:cNvSpPr>
          <p:nvPr>
            <p:ph type="sldNum" sz="quarter" idx="12"/>
          </p:nvPr>
        </p:nvSpPr>
        <p:spPr>
          <a:xfrm>
            <a:off x="3505200" y="6477000"/>
            <a:ext cx="2133600" cy="244475"/>
          </a:xfrm>
        </p:spPr>
        <p:txBody>
          <a:bodyPr/>
          <a:lstStyle>
            <a:lvl1pPr algn="ctr">
              <a:defRPr sz="1200"/>
            </a:lvl1pPr>
          </a:lstStyle>
          <a:p>
            <a:fld id="{7BC933A0-51FE-4C25-8C56-853460226052}"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Slide Number Placeholder 8"/>
          <p:cNvSpPr>
            <a:spLocks noGrp="1"/>
          </p:cNvSpPr>
          <p:nvPr>
            <p:ph type="sldNum" sz="quarter" idx="12"/>
          </p:nvPr>
        </p:nvSpPr>
        <p:spPr>
          <a:xfrm>
            <a:off x="3505200" y="6477000"/>
            <a:ext cx="2133600" cy="244475"/>
          </a:xfrm>
        </p:spPr>
        <p:txBody>
          <a:bodyPr/>
          <a:lstStyle>
            <a:lvl1pPr algn="ctr">
              <a:defRPr sz="1200"/>
            </a:lvl1pPr>
          </a:lstStyle>
          <a:p>
            <a:fld id="{8F9828DE-0AAE-485D-A16A-0F9C3C5DD216}"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smtClean="0"/>
              <a:t>Click to edit Master title style</a:t>
            </a:r>
            <a:endParaRPr lang="en-US"/>
          </a:p>
        </p:txBody>
      </p:sp>
      <p:sp>
        <p:nvSpPr>
          <p:cNvPr id="6" name="Slide Number Placeholder 3"/>
          <p:cNvSpPr>
            <a:spLocks noGrp="1"/>
          </p:cNvSpPr>
          <p:nvPr>
            <p:ph type="sldNum" sz="quarter" idx="12"/>
          </p:nvPr>
        </p:nvSpPr>
        <p:spPr>
          <a:xfrm>
            <a:off x="3505200" y="6477000"/>
            <a:ext cx="2133600" cy="244475"/>
          </a:xfrm>
        </p:spPr>
        <p:txBody>
          <a:bodyPr/>
          <a:lstStyle>
            <a:lvl1pPr algn="ctr">
              <a:defRPr sz="1200"/>
            </a:lvl1pPr>
          </a:lstStyle>
          <a:p>
            <a:fld id="{64894E68-D2D4-4B40-8E14-DB1F50DC8A18}" type="slidenum">
              <a:rPr lang="en-US" smtClean="0"/>
              <a:pPr/>
              <a:t>‹#›</a:t>
            </a:fld>
            <a:endParaRPr lang="en-US"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3505200" y="6477000"/>
            <a:ext cx="2133600" cy="244475"/>
          </a:xfrm>
        </p:spPr>
        <p:txBody>
          <a:bodyPr/>
          <a:lstStyle>
            <a:lvl1pPr algn="ctr">
              <a:defRPr sz="1200"/>
            </a:lvl1pPr>
          </a:lstStyle>
          <a:p>
            <a:fld id="{64894E68-D2D4-4B40-8E14-DB1F50DC8A18}"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Slide Number Placeholder 6"/>
          <p:cNvSpPr>
            <a:spLocks noGrp="1"/>
          </p:cNvSpPr>
          <p:nvPr>
            <p:ph type="sldNum" sz="quarter" idx="12"/>
          </p:nvPr>
        </p:nvSpPr>
        <p:spPr>
          <a:xfrm>
            <a:off x="3505200" y="6477000"/>
            <a:ext cx="2133600" cy="244475"/>
          </a:xfrm>
        </p:spPr>
        <p:txBody>
          <a:bodyPr/>
          <a:lstStyle>
            <a:lvl1pPr algn="ctr">
              <a:defRPr sz="1200"/>
            </a:lvl1pPr>
          </a:lstStyle>
          <a:p>
            <a:fld id="{671812DD-8893-481F-A8E5-DBFD558D7042}"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Slide Number Placeholder 6"/>
          <p:cNvSpPr>
            <a:spLocks noGrp="1"/>
          </p:cNvSpPr>
          <p:nvPr>
            <p:ph type="sldNum" sz="quarter" idx="12"/>
          </p:nvPr>
        </p:nvSpPr>
        <p:spPr>
          <a:xfrm>
            <a:off x="3505200" y="6477000"/>
            <a:ext cx="2133600" cy="244475"/>
          </a:xfrm>
        </p:spPr>
        <p:txBody>
          <a:bodyPr/>
          <a:lstStyle>
            <a:lvl1pPr algn="ctr">
              <a:defRPr sz="1200"/>
            </a:lvl1pPr>
          </a:lstStyle>
          <a:p>
            <a:fld id="{3D40DE1B-67E9-4C13-806F-92145D8736B3}"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a:xfrm>
            <a:off x="3505200" y="6477000"/>
            <a:ext cx="2133600" cy="244475"/>
          </a:xfrm>
        </p:spPr>
        <p:txBody>
          <a:bodyPr/>
          <a:lstStyle>
            <a:lvl1pPr algn="ctr">
              <a:defRPr sz="1200"/>
            </a:lvl1pPr>
          </a:lstStyle>
          <a:p>
            <a:fld id="{3B61711B-7A2F-4866-8794-951437BA6EF6}"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61229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61229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a:xfrm>
            <a:off x="3505200" y="6477000"/>
            <a:ext cx="2133600" cy="244475"/>
          </a:xfrm>
        </p:spPr>
        <p:txBody>
          <a:bodyPr/>
          <a:lstStyle>
            <a:lvl1pPr algn="ctr">
              <a:defRPr sz="1200"/>
            </a:lvl1pPr>
          </a:lstStyle>
          <a:p>
            <a:fld id="{E7F78565-0222-4B79-86D8-610F2C490EC6}"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676400" y="274638"/>
            <a:ext cx="6629400" cy="868362"/>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447800"/>
            <a:ext cx="8229600" cy="4949825"/>
          </a:xfrm>
        </p:spPr>
        <p:txBody>
          <a:bodyPr/>
          <a:lstStyle/>
          <a:p>
            <a:r>
              <a:rPr lang="en-US" dirty="0" smtClean="0"/>
              <a:t>Click icon to add table</a:t>
            </a:r>
            <a:endParaRPr lang="en-US" dirty="0"/>
          </a:p>
        </p:txBody>
      </p:sp>
      <p:sp>
        <p:nvSpPr>
          <p:cNvPr id="6" name="Slide Number Placeholder 5"/>
          <p:cNvSpPr>
            <a:spLocks noGrp="1"/>
          </p:cNvSpPr>
          <p:nvPr>
            <p:ph type="sldNum" sz="quarter" idx="12"/>
          </p:nvPr>
        </p:nvSpPr>
        <p:spPr>
          <a:xfrm>
            <a:off x="3505200" y="6477000"/>
            <a:ext cx="2133600" cy="244475"/>
          </a:xfrm>
        </p:spPr>
        <p:txBody>
          <a:bodyPr/>
          <a:lstStyle>
            <a:lvl1pPr algn="ctr">
              <a:defRPr sz="1200"/>
            </a:lvl1pPr>
          </a:lstStyle>
          <a:p>
            <a:fld id="{F403B79D-3C58-4CA5-AD57-A48EE2C412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1">
                <a:gamma/>
                <a:tint val="39216"/>
                <a:invGamma/>
              </a:schemeClr>
            </a:gs>
          </a:gsLst>
          <a:lin ang="5400000" scaled="1"/>
        </a:gradFill>
        <a:effectLst/>
      </p:bgPr>
    </p:bg>
    <p:spTree>
      <p:nvGrpSpPr>
        <p:cNvPr id="1" name=""/>
        <p:cNvGrpSpPr/>
        <p:nvPr/>
      </p:nvGrpSpPr>
      <p:grpSpPr>
        <a:xfrm>
          <a:off x="0" y="0"/>
          <a:ext cx="0" cy="0"/>
          <a:chOff x="0" y="0"/>
          <a:chExt cx="0" cy="0"/>
        </a:xfrm>
      </p:grpSpPr>
      <p:grpSp>
        <p:nvGrpSpPr>
          <p:cNvPr id="1035" name="Group 11"/>
          <p:cNvGrpSpPr>
            <a:grpSpLocks/>
          </p:cNvGrpSpPr>
          <p:nvPr/>
        </p:nvGrpSpPr>
        <p:grpSpPr bwMode="auto">
          <a:xfrm>
            <a:off x="0" y="285750"/>
            <a:ext cx="9156700" cy="911225"/>
            <a:chOff x="-1" y="196"/>
            <a:chExt cx="5768" cy="635"/>
          </a:xfrm>
        </p:grpSpPr>
        <p:sp>
          <p:nvSpPr>
            <p:cNvPr id="1036" name="Rectangle 12"/>
            <p:cNvSpPr>
              <a:spLocks noChangeArrowheads="1"/>
            </p:cNvSpPr>
            <p:nvPr userDrawn="1"/>
          </p:nvSpPr>
          <p:spPr bwMode="gray">
            <a:xfrm>
              <a:off x="1" y="196"/>
              <a:ext cx="5766" cy="635"/>
            </a:xfrm>
            <a:prstGeom prst="rect">
              <a:avLst/>
            </a:prstGeom>
            <a:gradFill rotWithShape="1">
              <a:gsLst>
                <a:gs pos="0">
                  <a:schemeClr val="accent1"/>
                </a:gs>
                <a:gs pos="100000">
                  <a:schemeClr val="tx1"/>
                </a:gs>
              </a:gsLst>
              <a:lin ang="0" scaled="1"/>
            </a:gradFill>
            <a:ln w="9525">
              <a:noFill/>
              <a:miter lim="800000"/>
              <a:headEnd/>
              <a:tailEnd/>
            </a:ln>
            <a:effectLst/>
          </p:spPr>
          <p:txBody>
            <a:bodyPr wrap="none" anchor="ctr"/>
            <a:lstStyle/>
            <a:p>
              <a:endParaRPr lang="en-US" dirty="0"/>
            </a:p>
          </p:txBody>
        </p:sp>
        <p:sp>
          <p:nvSpPr>
            <p:cNvPr id="1037" name="Freeform 13"/>
            <p:cNvSpPr>
              <a:spLocks/>
            </p:cNvSpPr>
            <p:nvPr userDrawn="1"/>
          </p:nvSpPr>
          <p:spPr bwMode="gray">
            <a:xfrm flipH="1" flipV="1">
              <a:off x="2265" y="196"/>
              <a:ext cx="3497" cy="226"/>
            </a:xfrm>
            <a:custGeom>
              <a:avLst/>
              <a:gdLst/>
              <a:ahLst/>
              <a:cxnLst>
                <a:cxn ang="0">
                  <a:pos x="45" y="590"/>
                </a:cxn>
                <a:cxn ang="0">
                  <a:pos x="1497" y="590"/>
                </a:cxn>
                <a:cxn ang="0">
                  <a:pos x="0" y="0"/>
                </a:cxn>
                <a:cxn ang="0">
                  <a:pos x="0" y="590"/>
                </a:cxn>
              </a:cxnLst>
              <a:rect l="0" t="0" r="r" b="b"/>
              <a:pathLst>
                <a:path w="1497" h="590">
                  <a:moveTo>
                    <a:pt x="45" y="590"/>
                  </a:moveTo>
                  <a:lnTo>
                    <a:pt x="1497" y="590"/>
                  </a:lnTo>
                  <a:lnTo>
                    <a:pt x="0" y="0"/>
                  </a:lnTo>
                  <a:lnTo>
                    <a:pt x="0" y="590"/>
                  </a:lnTo>
                </a:path>
              </a:pathLst>
            </a:custGeom>
            <a:gradFill rotWithShape="1">
              <a:gsLst>
                <a:gs pos="0">
                  <a:schemeClr val="tx1"/>
                </a:gs>
                <a:gs pos="100000">
                  <a:schemeClr val="tx1">
                    <a:gamma/>
                    <a:shade val="46275"/>
                    <a:invGamma/>
                  </a:schemeClr>
                </a:gs>
              </a:gsLst>
              <a:lin ang="18900000" scaled="1"/>
            </a:gradFill>
            <a:ln w="9525">
              <a:noFill/>
              <a:round/>
              <a:headEnd/>
              <a:tailEnd/>
            </a:ln>
            <a:effectLst/>
          </p:spPr>
          <p:txBody>
            <a:bodyPr/>
            <a:lstStyle/>
            <a:p>
              <a:endParaRPr lang="en-US" dirty="0"/>
            </a:p>
          </p:txBody>
        </p:sp>
        <p:sp>
          <p:nvSpPr>
            <p:cNvPr id="1038" name="Freeform 14"/>
            <p:cNvSpPr>
              <a:spLocks/>
            </p:cNvSpPr>
            <p:nvPr userDrawn="1"/>
          </p:nvSpPr>
          <p:spPr bwMode="gray">
            <a:xfrm>
              <a:off x="-1" y="513"/>
              <a:ext cx="3702" cy="311"/>
            </a:xfrm>
            <a:custGeom>
              <a:avLst/>
              <a:gdLst/>
              <a:ahLst/>
              <a:cxnLst>
                <a:cxn ang="0">
                  <a:pos x="45" y="590"/>
                </a:cxn>
                <a:cxn ang="0">
                  <a:pos x="1497" y="590"/>
                </a:cxn>
                <a:cxn ang="0">
                  <a:pos x="0" y="0"/>
                </a:cxn>
                <a:cxn ang="0">
                  <a:pos x="0" y="590"/>
                </a:cxn>
              </a:cxnLst>
              <a:rect l="0" t="0" r="r" b="b"/>
              <a:pathLst>
                <a:path w="1497" h="590">
                  <a:moveTo>
                    <a:pt x="45" y="590"/>
                  </a:moveTo>
                  <a:lnTo>
                    <a:pt x="1497" y="590"/>
                  </a:lnTo>
                  <a:lnTo>
                    <a:pt x="0" y="0"/>
                  </a:lnTo>
                  <a:lnTo>
                    <a:pt x="0" y="590"/>
                  </a:lnTo>
                </a:path>
              </a:pathLst>
            </a:custGeom>
            <a:gradFill rotWithShape="1">
              <a:gsLst>
                <a:gs pos="0">
                  <a:schemeClr val="accent1"/>
                </a:gs>
                <a:gs pos="100000">
                  <a:schemeClr val="accent1">
                    <a:gamma/>
                    <a:shade val="46275"/>
                    <a:invGamma/>
                  </a:schemeClr>
                </a:gs>
              </a:gsLst>
              <a:lin ang="18900000" scaled="1"/>
            </a:gradFill>
            <a:ln w="9525">
              <a:noFill/>
              <a:round/>
              <a:headEnd/>
              <a:tailEnd/>
            </a:ln>
            <a:effectLst/>
          </p:spPr>
          <p:txBody>
            <a:bodyPr/>
            <a:lstStyle/>
            <a:p>
              <a:endParaRPr lang="en-US" dirty="0"/>
            </a:p>
          </p:txBody>
        </p:sp>
      </p:grpSp>
      <p:sp>
        <p:nvSpPr>
          <p:cNvPr id="1039" name="Rectangle 15"/>
          <p:cNvSpPr>
            <a:spLocks noChangeArrowheads="1"/>
          </p:cNvSpPr>
          <p:nvPr/>
        </p:nvSpPr>
        <p:spPr bwMode="gray">
          <a:xfrm>
            <a:off x="1588" y="0"/>
            <a:ext cx="9144000" cy="241300"/>
          </a:xfrm>
          <a:prstGeom prst="rect">
            <a:avLst/>
          </a:prstGeom>
          <a:gradFill rotWithShape="0">
            <a:gsLst>
              <a:gs pos="0">
                <a:schemeClr val="tx1"/>
              </a:gs>
              <a:gs pos="100000">
                <a:schemeClr val="tx1">
                  <a:gamma/>
                  <a:shade val="46275"/>
                  <a:invGamma/>
                </a:schemeClr>
              </a:gs>
            </a:gsLst>
            <a:lin ang="0" scaled="1"/>
          </a:gradFill>
          <a:ln w="9525">
            <a:noFill/>
            <a:miter lim="800000"/>
            <a:headEnd/>
            <a:tailEnd/>
          </a:ln>
          <a:effectLst/>
        </p:spPr>
        <p:txBody>
          <a:bodyPr wrap="none" anchor="ctr"/>
          <a:lstStyle/>
          <a:p>
            <a:endParaRPr lang="en-US" dirty="0"/>
          </a:p>
        </p:txBody>
      </p:sp>
      <p:sp>
        <p:nvSpPr>
          <p:cNvPr id="1040" name="Rectangle 16"/>
          <p:cNvSpPr>
            <a:spLocks noChangeArrowheads="1"/>
          </p:cNvSpPr>
          <p:nvPr/>
        </p:nvSpPr>
        <p:spPr bwMode="gray">
          <a:xfrm>
            <a:off x="12700" y="1235075"/>
            <a:ext cx="9132888" cy="158750"/>
          </a:xfrm>
          <a:prstGeom prst="rect">
            <a:avLst/>
          </a:prstGeom>
          <a:gradFill rotWithShape="0">
            <a:gsLst>
              <a:gs pos="0">
                <a:schemeClr val="bg2"/>
              </a:gs>
              <a:gs pos="100000">
                <a:schemeClr val="bg2">
                  <a:gamma/>
                  <a:tint val="0"/>
                  <a:invGamma/>
                </a:schemeClr>
              </a:gs>
            </a:gsLst>
            <a:lin ang="5400000" scaled="1"/>
          </a:gradFill>
          <a:ln w="9525">
            <a:noFill/>
            <a:miter lim="800000"/>
            <a:headEnd/>
            <a:tailEnd/>
          </a:ln>
          <a:effectLst/>
        </p:spPr>
        <p:txBody>
          <a:bodyPr wrap="none" anchor="ctr"/>
          <a:lstStyle/>
          <a:p>
            <a:endParaRPr lang="en-US" dirty="0"/>
          </a:p>
        </p:txBody>
      </p:sp>
      <p:pic>
        <p:nvPicPr>
          <p:cNvPr id="1041" name="Picture 17" descr="Untitled-1 copy"/>
          <p:cNvPicPr>
            <a:picLocks noChangeAspect="1" noChangeArrowheads="1"/>
          </p:cNvPicPr>
          <p:nvPr/>
        </p:nvPicPr>
        <p:blipFill>
          <a:blip r:embed="rId14" cstate="print"/>
          <a:srcRect/>
          <a:stretch>
            <a:fillRect/>
          </a:stretch>
        </p:blipFill>
        <p:spPr bwMode="gray">
          <a:xfrm>
            <a:off x="252413" y="382588"/>
            <a:ext cx="720725" cy="720725"/>
          </a:xfrm>
          <a:prstGeom prst="rect">
            <a:avLst/>
          </a:prstGeom>
          <a:noFill/>
        </p:spPr>
      </p:pic>
      <p:pic>
        <p:nvPicPr>
          <p:cNvPr id="1042" name="Picture 18" descr="Untitled-1 copy"/>
          <p:cNvPicPr>
            <a:picLocks noChangeAspect="1" noChangeArrowheads="1"/>
          </p:cNvPicPr>
          <p:nvPr/>
        </p:nvPicPr>
        <p:blipFill>
          <a:blip r:embed="rId15" cstate="print"/>
          <a:srcRect/>
          <a:stretch>
            <a:fillRect/>
          </a:stretch>
        </p:blipFill>
        <p:spPr bwMode="gray">
          <a:xfrm>
            <a:off x="973138" y="765175"/>
            <a:ext cx="358775" cy="358775"/>
          </a:xfrm>
          <a:prstGeom prst="rect">
            <a:avLst/>
          </a:prstGeom>
          <a:noFill/>
        </p:spPr>
      </p:pic>
      <p:sp>
        <p:nvSpPr>
          <p:cNvPr id="1026" name="Rectangle 2"/>
          <p:cNvSpPr>
            <a:spLocks noGrp="1" noChangeArrowheads="1"/>
          </p:cNvSpPr>
          <p:nvPr>
            <p:ph type="title"/>
          </p:nvPr>
        </p:nvSpPr>
        <p:spPr bwMode="gray">
          <a:xfrm>
            <a:off x="1676400" y="274638"/>
            <a:ext cx="6629400" cy="86836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7200" y="1447800"/>
            <a:ext cx="8229600" cy="49498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30" name="Rectangle 6"/>
          <p:cNvSpPr>
            <a:spLocks noGrp="1" noChangeArrowheads="1"/>
          </p:cNvSpPr>
          <p:nvPr>
            <p:ph type="sldNum" sz="quarter" idx="4"/>
          </p:nvPr>
        </p:nvSpPr>
        <p:spPr bwMode="auto">
          <a:xfrm>
            <a:off x="3505200" y="6477000"/>
            <a:ext cx="2133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fld id="{CFB08D8D-A3D6-4A7A-A802-091B49E2F91C}"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rtl="0" eaLnBrk="1" fontAlgn="base" hangingPunct="1">
        <a:spcBef>
          <a:spcPct val="0"/>
        </a:spcBef>
        <a:spcAft>
          <a:spcPct val="0"/>
        </a:spcAft>
        <a:defRPr sz="4000">
          <a:solidFill>
            <a:schemeClr val="bg1"/>
          </a:solidFill>
          <a:latin typeface="+mj-lt"/>
          <a:ea typeface="+mj-ea"/>
          <a:cs typeface="+mj-cs"/>
        </a:defRPr>
      </a:lvl1pPr>
      <a:lvl2pPr algn="l" rtl="0" eaLnBrk="1" fontAlgn="base" hangingPunct="1">
        <a:spcBef>
          <a:spcPct val="0"/>
        </a:spcBef>
        <a:spcAft>
          <a:spcPct val="0"/>
        </a:spcAft>
        <a:defRPr sz="4000">
          <a:solidFill>
            <a:schemeClr val="bg1"/>
          </a:solidFill>
          <a:latin typeface="Arial" charset="0"/>
        </a:defRPr>
      </a:lvl2pPr>
      <a:lvl3pPr algn="l" rtl="0" eaLnBrk="1" fontAlgn="base" hangingPunct="1">
        <a:spcBef>
          <a:spcPct val="0"/>
        </a:spcBef>
        <a:spcAft>
          <a:spcPct val="0"/>
        </a:spcAft>
        <a:defRPr sz="4000">
          <a:solidFill>
            <a:schemeClr val="bg1"/>
          </a:solidFill>
          <a:latin typeface="Arial" charset="0"/>
        </a:defRPr>
      </a:lvl3pPr>
      <a:lvl4pPr algn="l" rtl="0" eaLnBrk="1" fontAlgn="base" hangingPunct="1">
        <a:spcBef>
          <a:spcPct val="0"/>
        </a:spcBef>
        <a:spcAft>
          <a:spcPct val="0"/>
        </a:spcAft>
        <a:defRPr sz="4000">
          <a:solidFill>
            <a:schemeClr val="bg1"/>
          </a:solidFill>
          <a:latin typeface="Arial" charset="0"/>
        </a:defRPr>
      </a:lvl4pPr>
      <a:lvl5pPr algn="l" rtl="0" eaLnBrk="1" fontAlgn="base" hangingPunct="1">
        <a:spcBef>
          <a:spcPct val="0"/>
        </a:spcBef>
        <a:spcAft>
          <a:spcPct val="0"/>
        </a:spcAft>
        <a:defRPr sz="4000">
          <a:solidFill>
            <a:schemeClr val="bg1"/>
          </a:solidFill>
          <a:latin typeface="Arial" charset="0"/>
        </a:defRPr>
      </a:lvl5pPr>
      <a:lvl6pPr marL="457200" algn="l" rtl="0" eaLnBrk="1" fontAlgn="base" hangingPunct="1">
        <a:spcBef>
          <a:spcPct val="0"/>
        </a:spcBef>
        <a:spcAft>
          <a:spcPct val="0"/>
        </a:spcAft>
        <a:defRPr sz="4000">
          <a:solidFill>
            <a:schemeClr val="bg1"/>
          </a:solidFill>
          <a:latin typeface="Arial" charset="0"/>
        </a:defRPr>
      </a:lvl6pPr>
      <a:lvl7pPr marL="914400" algn="l" rtl="0" eaLnBrk="1" fontAlgn="base" hangingPunct="1">
        <a:spcBef>
          <a:spcPct val="0"/>
        </a:spcBef>
        <a:spcAft>
          <a:spcPct val="0"/>
        </a:spcAft>
        <a:defRPr sz="4000">
          <a:solidFill>
            <a:schemeClr val="bg1"/>
          </a:solidFill>
          <a:latin typeface="Arial" charset="0"/>
        </a:defRPr>
      </a:lvl7pPr>
      <a:lvl8pPr marL="1371600" algn="l" rtl="0" eaLnBrk="1" fontAlgn="base" hangingPunct="1">
        <a:spcBef>
          <a:spcPct val="0"/>
        </a:spcBef>
        <a:spcAft>
          <a:spcPct val="0"/>
        </a:spcAft>
        <a:defRPr sz="4000">
          <a:solidFill>
            <a:schemeClr val="bg1"/>
          </a:solidFill>
          <a:latin typeface="Arial" charset="0"/>
        </a:defRPr>
      </a:lvl8pPr>
      <a:lvl9pPr marL="1828800" algn="l" rtl="0" eaLnBrk="1" fontAlgn="base" hangingPunct="1">
        <a:spcBef>
          <a:spcPct val="0"/>
        </a:spcBef>
        <a:spcAft>
          <a:spcPct val="0"/>
        </a:spcAft>
        <a:defRPr sz="4000">
          <a:solidFill>
            <a:schemeClr val="bg1"/>
          </a:solidFill>
          <a:latin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http://www.w3.org/TR/2008/REC-WCAG20-20081211/" TargetMode="External"/><Relationship Id="rId7"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hyperlink" Target="http://glendathegood.com/access/peso/AccessibleProcurementPeso.ppt" TargetMode="External"/><Relationship Id="rId5" Type="http://schemas.openxmlformats.org/officeDocument/2006/relationships/hyperlink" Target="http://alastairc.ac/wp-content/uploads/2009/04/accessibility-usability-notes7.pdf" TargetMode="External"/><Relationship Id="rId4" Type="http://schemas.openxmlformats.org/officeDocument/2006/relationships/hyperlink" Target="http://www.testinggeek.com/.../testing.../testing.../106-accessibility-test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4"/>
          <p:cNvSpPr>
            <a:spLocks noGrp="1" noChangeArrowheads="1"/>
          </p:cNvSpPr>
          <p:nvPr>
            <p:ph type="ctrTitle"/>
          </p:nvPr>
        </p:nvSpPr>
        <p:spPr/>
        <p:txBody>
          <a:bodyPr/>
          <a:lstStyle/>
          <a:p>
            <a:r>
              <a:rPr lang="en-US" dirty="0" smtClean="0"/>
              <a:t>Accessibility Testing</a:t>
            </a:r>
            <a:endParaRPr lang="en-US" dirty="0"/>
          </a:p>
        </p:txBody>
      </p:sp>
      <p:sp>
        <p:nvSpPr>
          <p:cNvPr id="7173" name="Rectangle 5"/>
          <p:cNvSpPr>
            <a:spLocks noGrp="1" noChangeArrowheads="1"/>
          </p:cNvSpPr>
          <p:nvPr>
            <p:ph type="subTitle" idx="1"/>
          </p:nvPr>
        </p:nvSpPr>
        <p:spPr/>
        <p:txBody>
          <a:bodyPr/>
          <a:lstStyle/>
          <a:p>
            <a:r>
              <a:rPr lang="en-US" b="1" dirty="0" smtClean="0">
                <a:solidFill>
                  <a:schemeClr val="tx1">
                    <a:lumMod val="50000"/>
                  </a:schemeClr>
                </a:solidFill>
              </a:rPr>
              <a:t>Prakat Solutions</a:t>
            </a:r>
            <a:endParaRPr lang="en-US" b="1" dirty="0">
              <a:solidFill>
                <a:schemeClr val="tx1">
                  <a:lumMod val="50000"/>
                </a:schemeClr>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4"/>
          <p:cNvSpPr>
            <a:spLocks noGrp="1" noChangeArrowheads="1"/>
          </p:cNvSpPr>
          <p:nvPr>
            <p:ph type="title"/>
          </p:nvPr>
        </p:nvSpPr>
        <p:spPr>
          <a:xfrm>
            <a:off x="1600200" y="274638"/>
            <a:ext cx="6629400" cy="868362"/>
          </a:xfrm>
        </p:spPr>
        <p:txBody>
          <a:bodyPr/>
          <a:lstStyle/>
          <a:p>
            <a:r>
              <a:rPr lang="en-US" sz="3200" dirty="0" smtClean="0"/>
              <a:t>Contents</a:t>
            </a:r>
            <a:endParaRPr lang="en-US" sz="3200" dirty="0"/>
          </a:p>
        </p:txBody>
      </p:sp>
      <p:sp>
        <p:nvSpPr>
          <p:cNvPr id="13319" name="AutoShape 7"/>
          <p:cNvSpPr>
            <a:spLocks noChangeArrowheads="1"/>
          </p:cNvSpPr>
          <p:nvPr/>
        </p:nvSpPr>
        <p:spPr bwMode="gray">
          <a:xfrm>
            <a:off x="381000" y="1447800"/>
            <a:ext cx="7467600" cy="381000"/>
          </a:xfrm>
          <a:prstGeom prst="roundRect">
            <a:avLst>
              <a:gd name="adj" fmla="val 49106"/>
            </a:avLst>
          </a:prstGeom>
          <a:solidFill>
            <a:schemeClr val="bg1"/>
          </a:solidFill>
          <a:ln w="28575">
            <a:solidFill>
              <a:schemeClr val="bg1"/>
            </a:solidFill>
            <a:round/>
            <a:headEnd/>
            <a:tailEnd/>
          </a:ln>
          <a:effectLst>
            <a:outerShdw dist="107763" dir="2700000" algn="ctr" rotWithShape="0">
              <a:schemeClr val="bg2">
                <a:alpha val="50000"/>
              </a:schemeClr>
            </a:outerShdw>
          </a:effectLst>
        </p:spPr>
        <p:txBody>
          <a:bodyPr wrap="none" anchor="ctr"/>
          <a:lstStyle/>
          <a:p>
            <a:pPr lvl="1"/>
            <a:r>
              <a:rPr lang="en-US" b="1" smtClean="0"/>
              <a:t>Introduction</a:t>
            </a:r>
            <a:endParaRPr lang="en-US" b="1" dirty="0" smtClean="0"/>
          </a:p>
        </p:txBody>
      </p:sp>
      <p:sp>
        <p:nvSpPr>
          <p:cNvPr id="13320" name="AutoShape 8"/>
          <p:cNvSpPr>
            <a:spLocks noChangeArrowheads="1"/>
          </p:cNvSpPr>
          <p:nvPr/>
        </p:nvSpPr>
        <p:spPr bwMode="gray">
          <a:xfrm>
            <a:off x="381000" y="1981200"/>
            <a:ext cx="7467600" cy="381000"/>
          </a:xfrm>
          <a:prstGeom prst="roundRect">
            <a:avLst>
              <a:gd name="adj" fmla="val 49106"/>
            </a:avLst>
          </a:prstGeom>
          <a:solidFill>
            <a:schemeClr val="bg1"/>
          </a:solidFill>
          <a:ln w="28575">
            <a:solidFill>
              <a:schemeClr val="bg1"/>
            </a:solidFill>
            <a:round/>
            <a:headEnd/>
            <a:tailEnd/>
          </a:ln>
          <a:effectLst>
            <a:outerShdw dist="107763" dir="2700000" algn="ctr" rotWithShape="0">
              <a:schemeClr val="bg2">
                <a:alpha val="50000"/>
              </a:schemeClr>
            </a:outerShdw>
          </a:effectLst>
        </p:spPr>
        <p:txBody>
          <a:bodyPr wrap="none" anchor="ctr"/>
          <a:lstStyle/>
          <a:p>
            <a:pPr lvl="1"/>
            <a:r>
              <a:rPr lang="en-US" b="1" dirty="0" smtClean="0"/>
              <a:t>Accessibility </a:t>
            </a:r>
            <a:r>
              <a:rPr lang="en-US" b="1" dirty="0" smtClean="0"/>
              <a:t>Principals</a:t>
            </a:r>
          </a:p>
        </p:txBody>
      </p:sp>
      <p:sp>
        <p:nvSpPr>
          <p:cNvPr id="13321" name="AutoShape 9"/>
          <p:cNvSpPr>
            <a:spLocks noChangeArrowheads="1"/>
          </p:cNvSpPr>
          <p:nvPr/>
        </p:nvSpPr>
        <p:spPr bwMode="gray">
          <a:xfrm>
            <a:off x="381000" y="2514600"/>
            <a:ext cx="7467600" cy="381000"/>
          </a:xfrm>
          <a:prstGeom prst="roundRect">
            <a:avLst>
              <a:gd name="adj" fmla="val 49106"/>
            </a:avLst>
          </a:prstGeom>
          <a:solidFill>
            <a:schemeClr val="bg1"/>
          </a:solidFill>
          <a:ln w="28575">
            <a:solidFill>
              <a:schemeClr val="bg1"/>
            </a:solidFill>
            <a:round/>
            <a:headEnd/>
            <a:tailEnd/>
          </a:ln>
          <a:effectLst>
            <a:outerShdw dist="107763" dir="2700000" algn="ctr" rotWithShape="0">
              <a:schemeClr val="bg2">
                <a:alpha val="50000"/>
              </a:schemeClr>
            </a:outerShdw>
          </a:effectLst>
        </p:spPr>
        <p:txBody>
          <a:bodyPr wrap="none" anchor="ctr"/>
          <a:lstStyle/>
          <a:p>
            <a:pPr lvl="1"/>
            <a:r>
              <a:rPr lang="en-US" b="1" dirty="0" smtClean="0"/>
              <a:t>Accessibility Guidelines</a:t>
            </a:r>
          </a:p>
        </p:txBody>
      </p:sp>
      <p:sp>
        <p:nvSpPr>
          <p:cNvPr id="13" name="AutoShape 9"/>
          <p:cNvSpPr>
            <a:spLocks noChangeArrowheads="1"/>
          </p:cNvSpPr>
          <p:nvPr/>
        </p:nvSpPr>
        <p:spPr bwMode="gray">
          <a:xfrm>
            <a:off x="381000" y="3657600"/>
            <a:ext cx="7467600" cy="381000"/>
          </a:xfrm>
          <a:prstGeom prst="roundRect">
            <a:avLst>
              <a:gd name="adj" fmla="val 49106"/>
            </a:avLst>
          </a:prstGeom>
          <a:solidFill>
            <a:schemeClr val="bg1"/>
          </a:solidFill>
          <a:ln w="28575">
            <a:solidFill>
              <a:schemeClr val="bg1"/>
            </a:solidFill>
            <a:round/>
            <a:headEnd/>
            <a:tailEnd/>
          </a:ln>
          <a:effectLst>
            <a:outerShdw dist="107763" dir="2700000" algn="ctr" rotWithShape="0">
              <a:schemeClr val="bg2">
                <a:alpha val="50000"/>
              </a:schemeClr>
            </a:outerShdw>
          </a:effectLst>
        </p:spPr>
        <p:txBody>
          <a:bodyPr wrap="none" anchor="ctr"/>
          <a:lstStyle/>
          <a:p>
            <a:pPr lvl="1"/>
            <a:r>
              <a:rPr lang="en-US" b="1" dirty="0" smtClean="0"/>
              <a:t>Accessibility Testing Framework</a:t>
            </a:r>
            <a:endParaRPr lang="en-US" b="1" dirty="0"/>
          </a:p>
        </p:txBody>
      </p:sp>
      <p:pic>
        <p:nvPicPr>
          <p:cNvPr id="8" name="Picture 2" descr="logo2997193_sm"/>
          <p:cNvPicPr>
            <a:picLocks noChangeAspect="1" noChangeArrowheads="1"/>
          </p:cNvPicPr>
          <p:nvPr/>
        </p:nvPicPr>
        <p:blipFill>
          <a:blip r:embed="rId3" cstate="print"/>
          <a:srcRect/>
          <a:stretch>
            <a:fillRect/>
          </a:stretch>
        </p:blipFill>
        <p:spPr bwMode="auto">
          <a:xfrm>
            <a:off x="0" y="6296025"/>
            <a:ext cx="1905000" cy="561975"/>
          </a:xfrm>
          <a:prstGeom prst="rect">
            <a:avLst/>
          </a:prstGeom>
          <a:noFill/>
          <a:ln w="9525">
            <a:noFill/>
            <a:miter lim="800000"/>
            <a:headEnd/>
            <a:tailEnd/>
          </a:ln>
        </p:spPr>
      </p:pic>
      <p:sp>
        <p:nvSpPr>
          <p:cNvPr id="9" name="AutoShape 9"/>
          <p:cNvSpPr>
            <a:spLocks noChangeArrowheads="1"/>
          </p:cNvSpPr>
          <p:nvPr/>
        </p:nvSpPr>
        <p:spPr bwMode="gray">
          <a:xfrm>
            <a:off x="381000" y="4191000"/>
            <a:ext cx="7467600" cy="381000"/>
          </a:xfrm>
          <a:prstGeom prst="roundRect">
            <a:avLst>
              <a:gd name="adj" fmla="val 49106"/>
            </a:avLst>
          </a:prstGeom>
          <a:solidFill>
            <a:schemeClr val="bg1"/>
          </a:solidFill>
          <a:ln w="28575">
            <a:solidFill>
              <a:schemeClr val="bg1"/>
            </a:solidFill>
            <a:round/>
            <a:headEnd/>
            <a:tailEnd/>
          </a:ln>
          <a:effectLst>
            <a:outerShdw dist="107763" dir="2700000" algn="ctr" rotWithShape="0">
              <a:schemeClr val="bg2">
                <a:alpha val="50000"/>
              </a:schemeClr>
            </a:outerShdw>
          </a:effectLst>
        </p:spPr>
        <p:txBody>
          <a:bodyPr wrap="none" anchor="ctr"/>
          <a:lstStyle/>
          <a:p>
            <a:pPr lvl="1"/>
            <a:r>
              <a:rPr lang="en-US" b="1" dirty="0" smtClean="0"/>
              <a:t>Approach</a:t>
            </a:r>
            <a:endParaRPr lang="en-US" b="1" dirty="0"/>
          </a:p>
        </p:txBody>
      </p:sp>
      <p:sp>
        <p:nvSpPr>
          <p:cNvPr id="10" name="AutoShape 9"/>
          <p:cNvSpPr>
            <a:spLocks noChangeArrowheads="1"/>
          </p:cNvSpPr>
          <p:nvPr/>
        </p:nvSpPr>
        <p:spPr bwMode="gray">
          <a:xfrm>
            <a:off x="381000" y="4724400"/>
            <a:ext cx="7467600" cy="381000"/>
          </a:xfrm>
          <a:prstGeom prst="roundRect">
            <a:avLst>
              <a:gd name="adj" fmla="val 49106"/>
            </a:avLst>
          </a:prstGeom>
          <a:solidFill>
            <a:schemeClr val="bg1"/>
          </a:solidFill>
          <a:ln w="28575">
            <a:solidFill>
              <a:schemeClr val="bg1"/>
            </a:solidFill>
            <a:round/>
            <a:headEnd/>
            <a:tailEnd/>
          </a:ln>
          <a:effectLst>
            <a:outerShdw dist="107763" dir="2700000" algn="ctr" rotWithShape="0">
              <a:schemeClr val="bg2">
                <a:alpha val="50000"/>
              </a:schemeClr>
            </a:outerShdw>
          </a:effectLst>
        </p:spPr>
        <p:txBody>
          <a:bodyPr wrap="none" anchor="ctr"/>
          <a:lstStyle/>
          <a:p>
            <a:pPr lvl="1"/>
            <a:r>
              <a:rPr lang="en-US" b="1" dirty="0" smtClean="0"/>
              <a:t>Conclusion</a:t>
            </a:r>
            <a:endParaRPr lang="en-US" b="1" dirty="0"/>
          </a:p>
        </p:txBody>
      </p:sp>
      <p:sp>
        <p:nvSpPr>
          <p:cNvPr id="14" name="AutoShape 9"/>
          <p:cNvSpPr>
            <a:spLocks noChangeArrowheads="1"/>
          </p:cNvSpPr>
          <p:nvPr/>
        </p:nvSpPr>
        <p:spPr bwMode="gray">
          <a:xfrm>
            <a:off x="381000" y="3124200"/>
            <a:ext cx="7467600" cy="381000"/>
          </a:xfrm>
          <a:prstGeom prst="roundRect">
            <a:avLst>
              <a:gd name="adj" fmla="val 49106"/>
            </a:avLst>
          </a:prstGeom>
          <a:solidFill>
            <a:schemeClr val="bg1"/>
          </a:solidFill>
          <a:ln w="28575">
            <a:solidFill>
              <a:schemeClr val="bg1"/>
            </a:solidFill>
            <a:round/>
            <a:headEnd/>
            <a:tailEnd/>
          </a:ln>
          <a:effectLst>
            <a:outerShdw dist="107763" dir="2700000" algn="ctr" rotWithShape="0">
              <a:schemeClr val="bg2">
                <a:alpha val="50000"/>
              </a:schemeClr>
            </a:outerShdw>
          </a:effectLst>
        </p:spPr>
        <p:txBody>
          <a:bodyPr wrap="none" anchor="ctr"/>
          <a:lstStyle/>
          <a:p>
            <a:pPr lvl="1"/>
            <a:r>
              <a:rPr lang="en-US" b="1" dirty="0" smtClean="0"/>
              <a:t>Prakat’s Value Addition</a:t>
            </a:r>
            <a:endParaRPr lang="en-US" b="1"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4638"/>
            <a:ext cx="6629400" cy="868362"/>
          </a:xfrm>
        </p:spPr>
        <p:txBody>
          <a:bodyPr/>
          <a:lstStyle/>
          <a:p>
            <a:r>
              <a:rPr lang="en-US" sz="3200" dirty="0" smtClean="0"/>
              <a:t>Introduction</a:t>
            </a:r>
            <a:endParaRPr lang="en-US" sz="3200" dirty="0"/>
          </a:p>
        </p:txBody>
      </p:sp>
      <p:sp>
        <p:nvSpPr>
          <p:cNvPr id="3" name="Content Placeholder 2"/>
          <p:cNvSpPr>
            <a:spLocks noGrp="1"/>
          </p:cNvSpPr>
          <p:nvPr>
            <p:ph idx="1"/>
          </p:nvPr>
        </p:nvSpPr>
        <p:spPr>
          <a:xfrm>
            <a:off x="457200" y="1447800"/>
            <a:ext cx="8229600" cy="4572000"/>
          </a:xfrm>
        </p:spPr>
        <p:txBody>
          <a:bodyPr anchor="ctr"/>
          <a:lstStyle/>
          <a:p>
            <a:pPr marL="0" indent="0" algn="just">
              <a:lnSpc>
                <a:spcPct val="150000"/>
              </a:lnSpc>
              <a:spcBef>
                <a:spcPts val="800"/>
              </a:spcBef>
              <a:buNone/>
            </a:pPr>
            <a:r>
              <a:rPr lang="en-US" sz="2200" dirty="0" smtClean="0">
                <a:latin typeface="Times New Roman" pitchFamily="18" charset="0"/>
                <a:cs typeface="Times New Roman" pitchFamily="18" charset="0"/>
              </a:rPr>
              <a:t>	</a:t>
            </a:r>
            <a:r>
              <a:rPr lang="en-US" sz="2000" dirty="0" smtClean="0">
                <a:cs typeface="Times New Roman" pitchFamily="18" charset="0"/>
              </a:rPr>
              <a:t>Accessibility </a:t>
            </a:r>
            <a:r>
              <a:rPr lang="en-US" sz="2000" dirty="0" smtClean="0">
                <a:cs typeface="Times New Roman" pitchFamily="18" charset="0"/>
              </a:rPr>
              <a:t>Testing is an approach to measuring a product's ability to be easily customized or modified for the benefit of users with disabilities. Users should be able to change input and output features, keyboard features, screen colors, sounds, and even the ability to zoom in on text and images. </a:t>
            </a:r>
          </a:p>
          <a:p>
            <a:pPr marL="0" indent="0" algn="just">
              <a:lnSpc>
                <a:spcPct val="150000"/>
              </a:lnSpc>
              <a:spcBef>
                <a:spcPts val="800"/>
              </a:spcBef>
              <a:buNone/>
            </a:pPr>
            <a:r>
              <a:rPr lang="en-US" sz="2000" dirty="0" smtClean="0">
                <a:cs typeface="Times New Roman" pitchFamily="18" charset="0"/>
              </a:rPr>
              <a:t>	It </a:t>
            </a:r>
            <a:r>
              <a:rPr lang="en-US" sz="2000" dirty="0" smtClean="0">
                <a:cs typeface="Times New Roman" pitchFamily="18" charset="0"/>
              </a:rPr>
              <a:t>ensures that people with disabilities can access and use the product as effectively as people without disabilities. </a:t>
            </a:r>
          </a:p>
        </p:txBody>
      </p:sp>
      <p:sp>
        <p:nvSpPr>
          <p:cNvPr id="8" name="Slide Number Placeholder 7"/>
          <p:cNvSpPr>
            <a:spLocks noGrp="1"/>
          </p:cNvSpPr>
          <p:nvPr>
            <p:ph type="sldNum" sz="quarter" idx="12"/>
          </p:nvPr>
        </p:nvSpPr>
        <p:spPr>
          <a:xfrm>
            <a:off x="3505200" y="6537325"/>
            <a:ext cx="2133600" cy="244475"/>
          </a:xfrm>
        </p:spPr>
        <p:txBody>
          <a:bodyPr/>
          <a:lstStyle/>
          <a:p>
            <a:fld id="{47045A9F-F6A1-4722-A856-3E4BA1F52BF6}" type="slidenum">
              <a:rPr lang="en-US" smtClean="0"/>
              <a:pPr/>
              <a:t>3</a:t>
            </a:fld>
            <a:endParaRPr lang="en-US" dirty="0"/>
          </a:p>
        </p:txBody>
      </p:sp>
      <p:pic>
        <p:nvPicPr>
          <p:cNvPr id="5" name="Picture 2" descr="logo2997193_sm"/>
          <p:cNvPicPr>
            <a:picLocks noChangeAspect="1" noChangeArrowheads="1"/>
          </p:cNvPicPr>
          <p:nvPr/>
        </p:nvPicPr>
        <p:blipFill>
          <a:blip r:embed="rId3" cstate="print"/>
          <a:srcRect/>
          <a:stretch>
            <a:fillRect/>
          </a:stretch>
        </p:blipFill>
        <p:spPr bwMode="auto">
          <a:xfrm>
            <a:off x="0" y="6296025"/>
            <a:ext cx="1905000" cy="5619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4638"/>
            <a:ext cx="7239000" cy="868362"/>
          </a:xfrm>
        </p:spPr>
        <p:txBody>
          <a:bodyPr/>
          <a:lstStyle/>
          <a:p>
            <a:r>
              <a:rPr lang="en-US" sz="3200" dirty="0" smtClean="0"/>
              <a:t>Accessibility </a:t>
            </a:r>
            <a:r>
              <a:rPr lang="en-US" sz="3200" dirty="0" smtClean="0"/>
              <a:t>Principles </a:t>
            </a:r>
            <a:endParaRPr lang="en-US" sz="3200" dirty="0"/>
          </a:p>
        </p:txBody>
      </p:sp>
      <p:sp>
        <p:nvSpPr>
          <p:cNvPr id="8" name="Slide Number Placeholder 7"/>
          <p:cNvSpPr>
            <a:spLocks noGrp="1"/>
          </p:cNvSpPr>
          <p:nvPr>
            <p:ph type="sldNum" sz="quarter" idx="12"/>
          </p:nvPr>
        </p:nvSpPr>
        <p:spPr>
          <a:xfrm>
            <a:off x="3505200" y="6537325"/>
            <a:ext cx="2133600" cy="244475"/>
          </a:xfrm>
        </p:spPr>
        <p:txBody>
          <a:bodyPr/>
          <a:lstStyle/>
          <a:p>
            <a:fld id="{7BC933A0-51FE-4C25-8C56-853460226052}" type="slidenum">
              <a:rPr lang="en-US" smtClean="0"/>
              <a:pPr/>
              <a:t>4</a:t>
            </a:fld>
            <a:endParaRPr lang="en-US" dirty="0"/>
          </a:p>
        </p:txBody>
      </p:sp>
      <p:sp>
        <p:nvSpPr>
          <p:cNvPr id="17" name="Content Placeholder 2"/>
          <p:cNvSpPr>
            <a:spLocks noGrp="1"/>
          </p:cNvSpPr>
          <p:nvPr>
            <p:ph idx="1"/>
          </p:nvPr>
        </p:nvSpPr>
        <p:spPr>
          <a:xfrm>
            <a:off x="228600" y="1371600"/>
            <a:ext cx="8686800" cy="4800600"/>
          </a:xfrm>
        </p:spPr>
        <p:txBody>
          <a:bodyPr anchor="ctr"/>
          <a:lstStyle/>
          <a:p>
            <a:pPr>
              <a:buNone/>
            </a:pPr>
            <a:endParaRPr lang="en-US" sz="2200" b="1" dirty="0" smtClean="0">
              <a:latin typeface="Times New Roman" pitchFamily="18" charset="0"/>
              <a:cs typeface="Times New Roman" pitchFamily="18" charset="0"/>
            </a:endParaRPr>
          </a:p>
          <a:p>
            <a:pPr>
              <a:buNone/>
            </a:pPr>
            <a:r>
              <a:rPr lang="en-US" sz="2000" b="1" dirty="0" smtClean="0">
                <a:cs typeface="Times New Roman" pitchFamily="18" charset="0"/>
              </a:rPr>
              <a:t>Principle 1: </a:t>
            </a:r>
            <a:r>
              <a:rPr lang="en-US" sz="2000" b="1" dirty="0" smtClean="0">
                <a:cs typeface="Times New Roman" pitchFamily="18" charset="0"/>
              </a:rPr>
              <a:t>Perceivable </a:t>
            </a:r>
            <a:r>
              <a:rPr lang="en-US" sz="2000" b="1" dirty="0" smtClean="0">
                <a:cs typeface="Times New Roman" pitchFamily="18" charset="0"/>
              </a:rPr>
              <a:t>- </a:t>
            </a:r>
            <a:r>
              <a:rPr lang="en-US" sz="2000" dirty="0" smtClean="0">
                <a:solidFill>
                  <a:schemeClr val="tx2"/>
                </a:solidFill>
                <a:cs typeface="Times New Roman" pitchFamily="18" charset="0"/>
              </a:rPr>
              <a:t>Information and user interface </a:t>
            </a:r>
            <a:r>
              <a:rPr lang="en-US" sz="2000" dirty="0" smtClean="0">
                <a:solidFill>
                  <a:schemeClr val="tx2"/>
                </a:solidFill>
                <a:cs typeface="Times New Roman" pitchFamily="18" charset="0"/>
              </a:rPr>
              <a:t>components must </a:t>
            </a:r>
            <a:r>
              <a:rPr lang="en-US" sz="2000" dirty="0" smtClean="0">
                <a:solidFill>
                  <a:schemeClr val="tx2"/>
                </a:solidFill>
                <a:cs typeface="Times New Roman" pitchFamily="18" charset="0"/>
              </a:rPr>
              <a:t>be presentable to users in ways they can perceive.</a:t>
            </a:r>
          </a:p>
          <a:p>
            <a:pPr>
              <a:buNone/>
            </a:pPr>
            <a:r>
              <a:rPr lang="en-US" sz="2000" b="1" dirty="0" smtClean="0">
                <a:cs typeface="Times New Roman" pitchFamily="18" charset="0"/>
              </a:rPr>
              <a:t>      </a:t>
            </a:r>
          </a:p>
          <a:p>
            <a:pPr>
              <a:buNone/>
            </a:pPr>
            <a:r>
              <a:rPr lang="en-US" sz="2000" b="1" dirty="0" smtClean="0">
                <a:cs typeface="Times New Roman" pitchFamily="18" charset="0"/>
              </a:rPr>
              <a:t> </a:t>
            </a:r>
            <a:r>
              <a:rPr lang="en-US" sz="2000" b="1" dirty="0" smtClean="0">
                <a:cs typeface="Times New Roman" pitchFamily="18" charset="0"/>
              </a:rPr>
              <a:t>Principle </a:t>
            </a:r>
            <a:r>
              <a:rPr lang="en-US" sz="2000" b="1" dirty="0" smtClean="0">
                <a:cs typeface="Times New Roman" pitchFamily="18" charset="0"/>
              </a:rPr>
              <a:t>2: Operable - </a:t>
            </a:r>
            <a:r>
              <a:rPr lang="en-US" sz="2000" dirty="0" smtClean="0">
                <a:solidFill>
                  <a:schemeClr val="tx2"/>
                </a:solidFill>
                <a:cs typeface="Times New Roman" pitchFamily="18" charset="0"/>
              </a:rPr>
              <a:t>User interface components and navigation must be operable.</a:t>
            </a:r>
          </a:p>
          <a:p>
            <a:pPr>
              <a:buNone/>
            </a:pPr>
            <a:r>
              <a:rPr lang="en-US" sz="2000" b="1" dirty="0" smtClean="0">
                <a:cs typeface="Times New Roman" pitchFamily="18" charset="0"/>
              </a:rPr>
              <a:t>      </a:t>
            </a:r>
          </a:p>
          <a:p>
            <a:pPr>
              <a:buNone/>
            </a:pPr>
            <a:r>
              <a:rPr lang="en-US" sz="2000" b="1" dirty="0" smtClean="0">
                <a:cs typeface="Times New Roman" pitchFamily="18" charset="0"/>
              </a:rPr>
              <a:t>Principle </a:t>
            </a:r>
            <a:r>
              <a:rPr lang="en-US" sz="2000" b="1" dirty="0" smtClean="0">
                <a:cs typeface="Times New Roman" pitchFamily="18" charset="0"/>
              </a:rPr>
              <a:t>3: Understandable - </a:t>
            </a:r>
            <a:r>
              <a:rPr lang="en-US" sz="2000" dirty="0" smtClean="0">
                <a:solidFill>
                  <a:schemeClr val="tx2"/>
                </a:solidFill>
                <a:cs typeface="Times New Roman" pitchFamily="18" charset="0"/>
              </a:rPr>
              <a:t>Information and the operation of user interface must be understandable.</a:t>
            </a:r>
          </a:p>
          <a:p>
            <a:pPr>
              <a:buNone/>
            </a:pPr>
            <a:r>
              <a:rPr lang="en-US" sz="2000" b="1" dirty="0" smtClean="0">
                <a:cs typeface="Times New Roman" pitchFamily="18" charset="0"/>
              </a:rPr>
              <a:t>     </a:t>
            </a:r>
            <a:endParaRPr lang="en-US" sz="2000" b="1" dirty="0" smtClean="0">
              <a:cs typeface="Times New Roman" pitchFamily="18" charset="0"/>
            </a:endParaRPr>
          </a:p>
          <a:p>
            <a:pPr>
              <a:buNone/>
            </a:pPr>
            <a:r>
              <a:rPr lang="en-US" sz="2000" b="1" dirty="0" smtClean="0">
                <a:cs typeface="Times New Roman" pitchFamily="18" charset="0"/>
              </a:rPr>
              <a:t>Principle </a:t>
            </a:r>
            <a:r>
              <a:rPr lang="en-US" sz="2000" b="1" dirty="0" smtClean="0">
                <a:cs typeface="Times New Roman" pitchFamily="18" charset="0"/>
              </a:rPr>
              <a:t>4: Robust </a:t>
            </a:r>
            <a:r>
              <a:rPr lang="en-US" sz="2000" dirty="0" smtClean="0">
                <a:solidFill>
                  <a:schemeClr val="tx2"/>
                </a:solidFill>
                <a:cs typeface="Times New Roman" pitchFamily="18" charset="0"/>
              </a:rPr>
              <a:t>- Content must be robust enough that it can be interpreted reliably by a wide variety of user agents, including assistive technologies</a:t>
            </a:r>
            <a:r>
              <a:rPr lang="en-US" sz="2200" dirty="0" smtClean="0">
                <a:solidFill>
                  <a:schemeClr val="tx2"/>
                </a:solidFill>
                <a:latin typeface="Times New Roman" pitchFamily="18" charset="0"/>
                <a:cs typeface="Times New Roman" pitchFamily="18" charset="0"/>
              </a:rPr>
              <a:t>.</a:t>
            </a:r>
            <a:endParaRPr lang="en-US" sz="2200" dirty="0">
              <a:solidFill>
                <a:schemeClr val="tx2"/>
              </a:solidFill>
              <a:latin typeface="Times New Roman" pitchFamily="18" charset="0"/>
              <a:cs typeface="Times New Roman" pitchFamily="18" charset="0"/>
            </a:endParaRPr>
          </a:p>
        </p:txBody>
      </p:sp>
      <p:sp>
        <p:nvSpPr>
          <p:cNvPr id="5" name="TextBox 4"/>
          <p:cNvSpPr txBox="1"/>
          <p:nvPr/>
        </p:nvSpPr>
        <p:spPr>
          <a:xfrm>
            <a:off x="228600" y="1315760"/>
            <a:ext cx="8763000" cy="400110"/>
          </a:xfrm>
          <a:prstGeom prst="rect">
            <a:avLst/>
          </a:prstGeom>
          <a:noFill/>
          <a:ln w="3175">
            <a:noFill/>
          </a:ln>
        </p:spPr>
        <p:txBody>
          <a:bodyPr wrap="square" rtlCol="0">
            <a:spAutoFit/>
          </a:bodyPr>
          <a:lstStyle/>
          <a:p>
            <a:r>
              <a:rPr lang="en-US" sz="2000" b="1" dirty="0" smtClean="0"/>
              <a:t>      </a:t>
            </a:r>
            <a:r>
              <a:rPr lang="en-US" sz="2000" b="1" dirty="0" smtClean="0"/>
              <a:t>Principles</a:t>
            </a:r>
            <a:r>
              <a:rPr lang="en-US" sz="2000" b="1" dirty="0" smtClean="0"/>
              <a:t>:</a:t>
            </a:r>
            <a:endParaRPr lang="en-US" sz="2200" b="1" dirty="0">
              <a:latin typeface="+mn-lt"/>
            </a:endParaRPr>
          </a:p>
        </p:txBody>
      </p:sp>
      <p:pic>
        <p:nvPicPr>
          <p:cNvPr id="6" name="Picture 2" descr="logo2997193_sm"/>
          <p:cNvPicPr>
            <a:picLocks noChangeAspect="1" noChangeArrowheads="1"/>
          </p:cNvPicPr>
          <p:nvPr/>
        </p:nvPicPr>
        <p:blipFill>
          <a:blip r:embed="rId3" cstate="print"/>
          <a:srcRect/>
          <a:stretch>
            <a:fillRect/>
          </a:stretch>
        </p:blipFill>
        <p:spPr bwMode="auto">
          <a:xfrm>
            <a:off x="0" y="6296025"/>
            <a:ext cx="1905000" cy="5619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4638"/>
            <a:ext cx="7239000" cy="868362"/>
          </a:xfrm>
        </p:spPr>
        <p:txBody>
          <a:bodyPr/>
          <a:lstStyle/>
          <a:p>
            <a:r>
              <a:rPr lang="en-US" sz="3200" dirty="0" smtClean="0"/>
              <a:t>Guidelines </a:t>
            </a:r>
            <a:endParaRPr lang="en-US" sz="3200" dirty="0"/>
          </a:p>
        </p:txBody>
      </p:sp>
      <p:sp>
        <p:nvSpPr>
          <p:cNvPr id="8" name="Slide Number Placeholder 7"/>
          <p:cNvSpPr>
            <a:spLocks noGrp="1"/>
          </p:cNvSpPr>
          <p:nvPr>
            <p:ph type="sldNum" sz="quarter" idx="12"/>
          </p:nvPr>
        </p:nvSpPr>
        <p:spPr>
          <a:xfrm>
            <a:off x="3505200" y="6537325"/>
            <a:ext cx="2133600" cy="244475"/>
          </a:xfrm>
        </p:spPr>
        <p:txBody>
          <a:bodyPr/>
          <a:lstStyle/>
          <a:p>
            <a:fld id="{7BC933A0-51FE-4C25-8C56-853460226052}" type="slidenum">
              <a:rPr lang="en-US" smtClean="0"/>
              <a:pPr/>
              <a:t>5</a:t>
            </a:fld>
            <a:endParaRPr lang="en-US" dirty="0"/>
          </a:p>
        </p:txBody>
      </p:sp>
      <p:sp>
        <p:nvSpPr>
          <p:cNvPr id="5" name="TextBox 4"/>
          <p:cNvSpPr txBox="1"/>
          <p:nvPr/>
        </p:nvSpPr>
        <p:spPr>
          <a:xfrm>
            <a:off x="228600" y="1343560"/>
            <a:ext cx="8686800" cy="5324535"/>
          </a:xfrm>
          <a:prstGeom prst="rect">
            <a:avLst/>
          </a:prstGeom>
          <a:noFill/>
          <a:ln w="3175">
            <a:noFill/>
          </a:ln>
        </p:spPr>
        <p:txBody>
          <a:bodyPr wrap="square" rtlCol="0">
            <a:spAutoFit/>
          </a:bodyPr>
          <a:lstStyle/>
          <a:p>
            <a:r>
              <a:rPr lang="en-US" sz="2000" b="1" dirty="0" smtClean="0">
                <a:latin typeface="+mn-lt"/>
              </a:rPr>
              <a:t>Text Alternatives: </a:t>
            </a:r>
            <a:r>
              <a:rPr lang="en-US" sz="2000" dirty="0" smtClean="0">
                <a:solidFill>
                  <a:schemeClr val="tx2"/>
                </a:solidFill>
                <a:latin typeface="+mn-lt"/>
              </a:rPr>
              <a:t>Provide text alternatives for any non-text content so    that it can be changed into other forms people need, such as large print, </a:t>
            </a:r>
            <a:r>
              <a:rPr lang="en-US" sz="2000" dirty="0" err="1" smtClean="0">
                <a:solidFill>
                  <a:schemeClr val="tx2"/>
                </a:solidFill>
                <a:latin typeface="+mn-lt"/>
              </a:rPr>
              <a:t>braille</a:t>
            </a:r>
            <a:r>
              <a:rPr lang="en-US" sz="2000" dirty="0" smtClean="0">
                <a:solidFill>
                  <a:schemeClr val="tx2"/>
                </a:solidFill>
                <a:latin typeface="+mn-lt"/>
              </a:rPr>
              <a:t>, speech, symbols or simpler language</a:t>
            </a:r>
            <a:r>
              <a:rPr lang="en-US" sz="2000" b="1" dirty="0" smtClean="0">
                <a:latin typeface="+mn-lt"/>
              </a:rPr>
              <a:t>.</a:t>
            </a:r>
          </a:p>
          <a:p>
            <a:endParaRPr lang="en-US" sz="2000" b="1" dirty="0" smtClean="0">
              <a:latin typeface="+mn-lt"/>
            </a:endParaRPr>
          </a:p>
          <a:p>
            <a:r>
              <a:rPr lang="en-US" sz="2000" b="1" dirty="0" smtClean="0">
                <a:latin typeface="+mn-lt"/>
              </a:rPr>
              <a:t>Time-based Media: </a:t>
            </a:r>
            <a:r>
              <a:rPr lang="en-US" sz="2000" dirty="0" smtClean="0">
                <a:solidFill>
                  <a:schemeClr val="tx2"/>
                </a:solidFill>
                <a:latin typeface="+mn-lt"/>
              </a:rPr>
              <a:t>Provide alternatives for time-based media.</a:t>
            </a:r>
          </a:p>
          <a:p>
            <a:endParaRPr lang="en-US" sz="2000" b="1" dirty="0" smtClean="0">
              <a:latin typeface="+mn-lt"/>
            </a:endParaRPr>
          </a:p>
          <a:p>
            <a:r>
              <a:rPr lang="en-US" sz="2000" b="1" dirty="0" smtClean="0">
                <a:latin typeface="+mn-lt"/>
              </a:rPr>
              <a:t>Adaptable: </a:t>
            </a:r>
            <a:r>
              <a:rPr lang="en-US" sz="2000" dirty="0" smtClean="0">
                <a:solidFill>
                  <a:schemeClr val="tx2"/>
                </a:solidFill>
                <a:latin typeface="+mn-lt"/>
              </a:rPr>
              <a:t>Create content that can be presented in different ways (for example simpler layout) without losing information or structure. </a:t>
            </a:r>
          </a:p>
          <a:p>
            <a:endParaRPr lang="en-US" sz="2000" b="1" dirty="0" smtClean="0">
              <a:latin typeface="+mn-lt"/>
            </a:endParaRPr>
          </a:p>
          <a:p>
            <a:r>
              <a:rPr lang="en-US" sz="2000" b="1" dirty="0" smtClean="0">
                <a:latin typeface="+mn-lt"/>
              </a:rPr>
              <a:t>Distinguishable: </a:t>
            </a:r>
            <a:r>
              <a:rPr lang="en-US" sz="2000" dirty="0" smtClean="0">
                <a:solidFill>
                  <a:schemeClr val="tx2"/>
                </a:solidFill>
                <a:latin typeface="+mn-lt"/>
              </a:rPr>
              <a:t>Make it easier for users to see and hear content including separating foreground from background.</a:t>
            </a:r>
          </a:p>
          <a:p>
            <a:endParaRPr lang="en-US" sz="2000" b="1" dirty="0" smtClean="0">
              <a:latin typeface="+mn-lt"/>
            </a:endParaRPr>
          </a:p>
          <a:p>
            <a:r>
              <a:rPr lang="en-US" sz="2000" b="1" dirty="0" smtClean="0">
                <a:latin typeface="+mn-lt"/>
              </a:rPr>
              <a:t>Keyboard Accessible: </a:t>
            </a:r>
            <a:r>
              <a:rPr lang="en-US" sz="2000" dirty="0" smtClean="0">
                <a:solidFill>
                  <a:schemeClr val="tx2"/>
                </a:solidFill>
                <a:latin typeface="+mn-lt"/>
              </a:rPr>
              <a:t>Make all functionality available from a keyboard. </a:t>
            </a:r>
          </a:p>
          <a:p>
            <a:endParaRPr lang="en-US" sz="2000" b="1" dirty="0" smtClean="0">
              <a:latin typeface="+mn-lt"/>
            </a:endParaRPr>
          </a:p>
          <a:p>
            <a:r>
              <a:rPr lang="en-US" sz="2000" b="1" dirty="0" smtClean="0">
                <a:latin typeface="+mn-lt"/>
              </a:rPr>
              <a:t>Enough Time: </a:t>
            </a:r>
            <a:r>
              <a:rPr lang="en-US" sz="2000" dirty="0" smtClean="0">
                <a:solidFill>
                  <a:schemeClr val="tx2"/>
                </a:solidFill>
                <a:latin typeface="+mn-lt"/>
              </a:rPr>
              <a:t>Provide users enough time to read and use content. </a:t>
            </a:r>
          </a:p>
          <a:p>
            <a:r>
              <a:rPr lang="en-US" sz="2000" dirty="0" smtClean="0">
                <a:solidFill>
                  <a:schemeClr val="tx2"/>
                </a:solidFill>
                <a:latin typeface="+mn-lt"/>
              </a:rPr>
              <a:t> </a:t>
            </a:r>
          </a:p>
          <a:p>
            <a:endParaRPr lang="en-US" sz="2000" dirty="0">
              <a:latin typeface="+mn-lt"/>
            </a:endParaRPr>
          </a:p>
        </p:txBody>
      </p:sp>
      <p:pic>
        <p:nvPicPr>
          <p:cNvPr id="6" name="Picture 2" descr="logo2997193_sm"/>
          <p:cNvPicPr>
            <a:picLocks noChangeAspect="1" noChangeArrowheads="1"/>
          </p:cNvPicPr>
          <p:nvPr/>
        </p:nvPicPr>
        <p:blipFill>
          <a:blip r:embed="rId3" cstate="print"/>
          <a:srcRect/>
          <a:stretch>
            <a:fillRect/>
          </a:stretch>
        </p:blipFill>
        <p:spPr bwMode="auto">
          <a:xfrm>
            <a:off x="0" y="6296025"/>
            <a:ext cx="1905000" cy="5619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4638"/>
            <a:ext cx="7239000" cy="868362"/>
          </a:xfrm>
        </p:spPr>
        <p:txBody>
          <a:bodyPr/>
          <a:lstStyle/>
          <a:p>
            <a:r>
              <a:rPr lang="en-US" sz="3200" dirty="0" smtClean="0"/>
              <a:t>Guidelines</a:t>
            </a:r>
            <a:endParaRPr lang="en-US" sz="3200" dirty="0"/>
          </a:p>
        </p:txBody>
      </p:sp>
      <p:sp>
        <p:nvSpPr>
          <p:cNvPr id="8" name="Slide Number Placeholder 7"/>
          <p:cNvSpPr>
            <a:spLocks noGrp="1"/>
          </p:cNvSpPr>
          <p:nvPr>
            <p:ph type="sldNum" sz="quarter" idx="12"/>
          </p:nvPr>
        </p:nvSpPr>
        <p:spPr>
          <a:xfrm>
            <a:off x="3505200" y="6537325"/>
            <a:ext cx="2133600" cy="244475"/>
          </a:xfrm>
        </p:spPr>
        <p:txBody>
          <a:bodyPr/>
          <a:lstStyle/>
          <a:p>
            <a:fld id="{7BC933A0-51FE-4C25-8C56-853460226052}" type="slidenum">
              <a:rPr lang="en-US" smtClean="0"/>
              <a:pPr/>
              <a:t>6</a:t>
            </a:fld>
            <a:endParaRPr lang="en-US" dirty="0"/>
          </a:p>
        </p:txBody>
      </p:sp>
      <p:pic>
        <p:nvPicPr>
          <p:cNvPr id="6" name="Picture 2" descr="logo2997193_sm"/>
          <p:cNvPicPr>
            <a:picLocks noChangeAspect="1" noChangeArrowheads="1"/>
          </p:cNvPicPr>
          <p:nvPr/>
        </p:nvPicPr>
        <p:blipFill>
          <a:blip r:embed="rId3" cstate="print"/>
          <a:srcRect/>
          <a:stretch>
            <a:fillRect/>
          </a:stretch>
        </p:blipFill>
        <p:spPr bwMode="auto">
          <a:xfrm>
            <a:off x="0" y="6296025"/>
            <a:ext cx="1905000" cy="561975"/>
          </a:xfrm>
          <a:prstGeom prst="rect">
            <a:avLst/>
          </a:prstGeom>
          <a:noFill/>
          <a:ln w="9525">
            <a:noFill/>
            <a:miter lim="800000"/>
            <a:headEnd/>
            <a:tailEnd/>
          </a:ln>
        </p:spPr>
      </p:pic>
      <p:sp>
        <p:nvSpPr>
          <p:cNvPr id="13" name="TextBox 12"/>
          <p:cNvSpPr txBox="1"/>
          <p:nvPr/>
        </p:nvSpPr>
        <p:spPr>
          <a:xfrm>
            <a:off x="228600" y="1343561"/>
            <a:ext cx="8763000" cy="5016758"/>
          </a:xfrm>
          <a:prstGeom prst="rect">
            <a:avLst/>
          </a:prstGeom>
          <a:noFill/>
          <a:ln w="3175">
            <a:noFill/>
          </a:ln>
        </p:spPr>
        <p:txBody>
          <a:bodyPr wrap="square" rtlCol="0">
            <a:spAutoFit/>
          </a:bodyPr>
          <a:lstStyle/>
          <a:p>
            <a:r>
              <a:rPr lang="en-US" sz="2000" b="1" dirty="0" smtClean="0">
                <a:latin typeface="+mn-lt"/>
              </a:rPr>
              <a:t>Seizures: </a:t>
            </a:r>
            <a:r>
              <a:rPr lang="en-US" sz="2000" dirty="0" smtClean="0">
                <a:solidFill>
                  <a:schemeClr val="tx2"/>
                </a:solidFill>
                <a:latin typeface="+mn-lt"/>
              </a:rPr>
              <a:t>Do not design content in a way that is known to cause seizures.</a:t>
            </a:r>
          </a:p>
          <a:p>
            <a:endParaRPr lang="en-US" sz="2000" b="1" dirty="0" smtClean="0">
              <a:latin typeface="+mn-lt"/>
            </a:endParaRPr>
          </a:p>
          <a:p>
            <a:r>
              <a:rPr lang="en-US" sz="2000" b="1" dirty="0" smtClean="0">
                <a:latin typeface="+mn-lt"/>
              </a:rPr>
              <a:t>Navigable: </a:t>
            </a:r>
            <a:r>
              <a:rPr lang="en-US" sz="2000" dirty="0" smtClean="0">
                <a:solidFill>
                  <a:schemeClr val="tx2"/>
                </a:solidFill>
                <a:latin typeface="+mn-lt"/>
              </a:rPr>
              <a:t>Provide ways to help users navigate, find content, and determine where they are. </a:t>
            </a:r>
          </a:p>
          <a:p>
            <a:endParaRPr lang="en-US" sz="2000" dirty="0" smtClean="0">
              <a:solidFill>
                <a:schemeClr val="tx2"/>
              </a:solidFill>
              <a:latin typeface="+mn-lt"/>
            </a:endParaRPr>
          </a:p>
          <a:p>
            <a:r>
              <a:rPr lang="en-US" sz="2000" b="1" dirty="0" smtClean="0">
                <a:latin typeface="+mn-lt"/>
              </a:rPr>
              <a:t>Readable: </a:t>
            </a:r>
            <a:r>
              <a:rPr lang="en-US" sz="2000" dirty="0" smtClean="0">
                <a:solidFill>
                  <a:schemeClr val="tx2"/>
                </a:solidFill>
                <a:latin typeface="+mn-lt"/>
              </a:rPr>
              <a:t>Make text content readable and understandable.</a:t>
            </a:r>
          </a:p>
          <a:p>
            <a:r>
              <a:rPr lang="en-US" sz="2000" b="1" dirty="0" smtClean="0">
                <a:latin typeface="+mn-lt"/>
              </a:rPr>
              <a:t>  </a:t>
            </a:r>
          </a:p>
          <a:p>
            <a:r>
              <a:rPr lang="en-US" sz="2000" b="1" dirty="0" smtClean="0">
                <a:latin typeface="+mn-lt"/>
              </a:rPr>
              <a:t>Predictable: </a:t>
            </a:r>
            <a:r>
              <a:rPr lang="en-US" sz="2000" dirty="0" smtClean="0">
                <a:solidFill>
                  <a:schemeClr val="tx2"/>
                </a:solidFill>
                <a:latin typeface="+mn-lt"/>
              </a:rPr>
              <a:t>Make Web pages appear and operate in predictable ways.  </a:t>
            </a:r>
          </a:p>
          <a:p>
            <a:endParaRPr lang="en-US" sz="2000" b="1" dirty="0" smtClean="0">
              <a:latin typeface="+mn-lt"/>
            </a:endParaRPr>
          </a:p>
          <a:p>
            <a:r>
              <a:rPr lang="en-US" sz="2000" b="1" dirty="0" smtClean="0">
                <a:latin typeface="+mn-lt"/>
              </a:rPr>
              <a:t>Input Assistance: </a:t>
            </a:r>
            <a:r>
              <a:rPr lang="en-US" sz="2000" dirty="0" smtClean="0">
                <a:solidFill>
                  <a:schemeClr val="tx2"/>
                </a:solidFill>
                <a:latin typeface="+mn-lt"/>
              </a:rPr>
              <a:t>Help users avoid and correct mistakes.</a:t>
            </a:r>
          </a:p>
          <a:p>
            <a:endParaRPr lang="en-US" sz="2000" b="1" dirty="0" smtClean="0">
              <a:latin typeface="+mn-lt"/>
            </a:endParaRPr>
          </a:p>
          <a:p>
            <a:r>
              <a:rPr lang="en-US" sz="2000" b="1" dirty="0" smtClean="0">
                <a:latin typeface="+mn-lt"/>
              </a:rPr>
              <a:t>Compatible: </a:t>
            </a:r>
            <a:r>
              <a:rPr lang="en-US" sz="2000" dirty="0" smtClean="0">
                <a:solidFill>
                  <a:schemeClr val="tx2"/>
                </a:solidFill>
                <a:latin typeface="+mn-lt"/>
              </a:rPr>
              <a:t>Maximize compatibility with current and future user agents, including assistive technologies.</a:t>
            </a:r>
          </a:p>
          <a:p>
            <a:endParaRPr lang="en-US" sz="2000" dirty="0" smtClean="0">
              <a:solidFill>
                <a:schemeClr val="tx2"/>
              </a:solidFill>
              <a:latin typeface="+mn-lt"/>
            </a:endParaRPr>
          </a:p>
          <a:p>
            <a:endParaRPr lang="en-US" sz="2000" dirty="0" smtClean="0">
              <a:solidFill>
                <a:schemeClr val="tx2"/>
              </a:solidFill>
              <a:latin typeface="+mn-lt"/>
            </a:endParaRPr>
          </a:p>
          <a:p>
            <a:r>
              <a:rPr lang="en-US" sz="2000" i="1" dirty="0" smtClean="0">
                <a:latin typeface="+mn-lt"/>
              </a:rPr>
              <a:t>.</a:t>
            </a:r>
            <a:endParaRPr lang="en-US" sz="2200" b="1" dirty="0">
              <a:latin typeface="+mn-lt"/>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304800"/>
            <a:ext cx="6629400" cy="868362"/>
          </a:xfrm>
        </p:spPr>
        <p:txBody>
          <a:bodyPr/>
          <a:lstStyle/>
          <a:p>
            <a:r>
              <a:rPr lang="en-US" sz="3200" dirty="0" smtClean="0"/>
              <a:t>Prakat’s Value Addition</a:t>
            </a:r>
            <a:endParaRPr lang="en-US" sz="3200" dirty="0"/>
          </a:p>
        </p:txBody>
      </p:sp>
      <p:sp>
        <p:nvSpPr>
          <p:cNvPr id="3" name="Content Placeholder 2"/>
          <p:cNvSpPr>
            <a:spLocks noGrp="1"/>
          </p:cNvSpPr>
          <p:nvPr>
            <p:ph idx="1"/>
          </p:nvPr>
        </p:nvSpPr>
        <p:spPr>
          <a:xfrm>
            <a:off x="228600" y="2133600"/>
            <a:ext cx="5181600" cy="4495800"/>
          </a:xfrm>
        </p:spPr>
        <p:txBody>
          <a:bodyPr/>
          <a:lstStyle/>
          <a:p>
            <a:pPr>
              <a:buFont typeface="Wingdings" pitchFamily="2" charset="2"/>
              <a:buChar char="§"/>
              <a:defRPr/>
            </a:pPr>
            <a:r>
              <a:rPr lang="en-US" sz="1800" b="1" dirty="0" smtClean="0"/>
              <a:t>Socializes</a:t>
            </a:r>
            <a:r>
              <a:rPr lang="en-US" sz="1800" dirty="0" smtClean="0"/>
              <a:t> and </a:t>
            </a:r>
            <a:r>
              <a:rPr lang="en-US" sz="1800" b="1" dirty="0" smtClean="0"/>
              <a:t>institutionalizes </a:t>
            </a:r>
            <a:r>
              <a:rPr lang="en-US" sz="1800" dirty="0" smtClean="0"/>
              <a:t>accessibility product development and design processes.</a:t>
            </a:r>
          </a:p>
          <a:p>
            <a:pPr>
              <a:buFont typeface="Wingdings" pitchFamily="2" charset="2"/>
              <a:buChar char="§"/>
              <a:defRPr/>
            </a:pPr>
            <a:r>
              <a:rPr lang="en-US" sz="1800" dirty="0" smtClean="0"/>
              <a:t>Allows companies to continue to engage persons with disabilities within the product development process (design, testing, marketing). </a:t>
            </a:r>
          </a:p>
          <a:p>
            <a:pPr lvl="0">
              <a:buFont typeface="Wingdings" pitchFamily="2" charset="2"/>
              <a:buChar char="§"/>
              <a:defRPr/>
            </a:pPr>
            <a:r>
              <a:rPr lang="en-US" sz="1800" b="1" dirty="0" smtClean="0"/>
              <a:t>Reinforces</a:t>
            </a:r>
            <a:r>
              <a:rPr lang="en-US" sz="1800" dirty="0" smtClean="0"/>
              <a:t> and </a:t>
            </a:r>
            <a:r>
              <a:rPr lang="en-US" sz="1800" b="1" dirty="0" smtClean="0"/>
              <a:t>magnifies</a:t>
            </a:r>
            <a:r>
              <a:rPr lang="en-US" sz="1800" dirty="0" smtClean="0"/>
              <a:t> Accessibility as a product feature into core business practices. </a:t>
            </a:r>
          </a:p>
          <a:p>
            <a:pPr>
              <a:buFont typeface="Wingdings" pitchFamily="2" charset="2"/>
              <a:buChar char="§"/>
              <a:defRPr/>
            </a:pPr>
            <a:r>
              <a:rPr lang="en-US" sz="1800" dirty="0" smtClean="0"/>
              <a:t>Uncovers </a:t>
            </a:r>
            <a:r>
              <a:rPr lang="en-US" sz="1800" b="1" dirty="0" smtClean="0"/>
              <a:t>technical</a:t>
            </a:r>
            <a:r>
              <a:rPr lang="en-US" sz="1800" dirty="0" smtClean="0"/>
              <a:t> gaps and highlights areas where </a:t>
            </a:r>
            <a:r>
              <a:rPr lang="en-US" sz="1800" b="1" dirty="0" smtClean="0"/>
              <a:t>standards</a:t>
            </a:r>
            <a:r>
              <a:rPr lang="en-US" sz="1800" dirty="0" smtClean="0"/>
              <a:t> are not met and solutions need to be developed.</a:t>
            </a:r>
          </a:p>
          <a:p>
            <a:pPr>
              <a:buFont typeface="Wingdings" pitchFamily="2" charset="2"/>
              <a:buChar char="§"/>
              <a:defRPr/>
            </a:pPr>
            <a:r>
              <a:rPr lang="en-US" sz="1800" dirty="0" smtClean="0"/>
              <a:t>Encourages </a:t>
            </a:r>
            <a:r>
              <a:rPr lang="en-US" sz="1800" b="1" dirty="0" smtClean="0"/>
              <a:t>collaborative</a:t>
            </a:r>
            <a:r>
              <a:rPr lang="en-US" sz="1800" dirty="0" smtClean="0"/>
              <a:t> problem solving between hardware, software and assistive technology developers and vendors.</a:t>
            </a:r>
          </a:p>
        </p:txBody>
      </p:sp>
      <p:sp>
        <p:nvSpPr>
          <p:cNvPr id="7" name="Slide Number Placeholder 6"/>
          <p:cNvSpPr>
            <a:spLocks noGrp="1"/>
          </p:cNvSpPr>
          <p:nvPr>
            <p:ph type="sldNum" sz="quarter" idx="12"/>
          </p:nvPr>
        </p:nvSpPr>
        <p:spPr>
          <a:xfrm>
            <a:off x="3633859" y="6553200"/>
            <a:ext cx="2133600" cy="244475"/>
          </a:xfrm>
        </p:spPr>
        <p:txBody>
          <a:bodyPr/>
          <a:lstStyle/>
          <a:p>
            <a:fld id="{47045A9F-F6A1-4722-A856-3E4BA1F52BF6}" type="slidenum">
              <a:rPr lang="en-US" smtClean="0"/>
              <a:pPr/>
              <a:t>7</a:t>
            </a:fld>
            <a:endParaRPr lang="en-US" dirty="0"/>
          </a:p>
        </p:txBody>
      </p:sp>
      <p:sp>
        <p:nvSpPr>
          <p:cNvPr id="6" name="TextBox 5"/>
          <p:cNvSpPr txBox="1"/>
          <p:nvPr/>
        </p:nvSpPr>
        <p:spPr>
          <a:xfrm>
            <a:off x="609600" y="1371600"/>
            <a:ext cx="7239000" cy="646331"/>
          </a:xfrm>
          <a:prstGeom prst="rect">
            <a:avLst/>
          </a:prstGeom>
          <a:noFill/>
          <a:ln w="3175">
            <a:noFill/>
          </a:ln>
        </p:spPr>
        <p:txBody>
          <a:bodyPr wrap="square" rtlCol="0">
            <a:spAutoFit/>
          </a:bodyPr>
          <a:lstStyle/>
          <a:p>
            <a:r>
              <a:rPr lang="en-US" b="1" dirty="0" smtClean="0"/>
              <a:t>Some of the Accessibility Testing Value-adds provided to Enterprises</a:t>
            </a:r>
            <a:endParaRPr lang="en-US" b="1" dirty="0"/>
          </a:p>
        </p:txBody>
      </p:sp>
      <p:pic>
        <p:nvPicPr>
          <p:cNvPr id="9" name="Picture 2" descr="logo2997193_sm"/>
          <p:cNvPicPr>
            <a:picLocks noChangeAspect="1" noChangeArrowheads="1"/>
          </p:cNvPicPr>
          <p:nvPr/>
        </p:nvPicPr>
        <p:blipFill>
          <a:blip r:embed="rId3" cstate="print"/>
          <a:srcRect/>
          <a:stretch>
            <a:fillRect/>
          </a:stretch>
        </p:blipFill>
        <p:spPr bwMode="auto">
          <a:xfrm>
            <a:off x="0" y="6296025"/>
            <a:ext cx="1905000" cy="561975"/>
          </a:xfrm>
          <a:prstGeom prst="rect">
            <a:avLst/>
          </a:prstGeom>
          <a:noFill/>
          <a:ln w="9525">
            <a:noFill/>
            <a:miter lim="800000"/>
            <a:headEnd/>
            <a:tailEnd/>
          </a:ln>
        </p:spPr>
      </p:pic>
      <p:grpSp>
        <p:nvGrpSpPr>
          <p:cNvPr id="10" name="Group 2"/>
          <p:cNvGrpSpPr>
            <a:grpSpLocks/>
          </p:cNvGrpSpPr>
          <p:nvPr/>
        </p:nvGrpSpPr>
        <p:grpSpPr bwMode="auto">
          <a:xfrm>
            <a:off x="5638800" y="2286000"/>
            <a:ext cx="2981325" cy="3436938"/>
            <a:chOff x="6465" y="8070"/>
            <a:chExt cx="4695" cy="5130"/>
          </a:xfrm>
        </p:grpSpPr>
        <p:sp>
          <p:nvSpPr>
            <p:cNvPr id="11" name="Oval 3"/>
            <p:cNvSpPr>
              <a:spLocks noChangeArrowheads="1"/>
            </p:cNvSpPr>
            <p:nvPr/>
          </p:nvSpPr>
          <p:spPr bwMode="auto">
            <a:xfrm>
              <a:off x="7335" y="9328"/>
              <a:ext cx="2880" cy="3872"/>
            </a:xfrm>
            <a:prstGeom prst="ellipse">
              <a:avLst/>
            </a:prstGeom>
            <a:gradFill rotWithShape="1">
              <a:gsLst>
                <a:gs pos="0">
                  <a:srgbClr val="D99594">
                    <a:gamma/>
                    <a:tint val="42745"/>
                    <a:invGamma/>
                  </a:srgbClr>
                </a:gs>
                <a:gs pos="50000">
                  <a:srgbClr val="D99594">
                    <a:alpha val="42000"/>
                  </a:srgbClr>
                </a:gs>
                <a:gs pos="100000">
                  <a:srgbClr val="D99594">
                    <a:gamma/>
                    <a:tint val="42745"/>
                    <a:invGamma/>
                  </a:srgbClr>
                </a:gs>
              </a:gsLst>
              <a:lin ang="5400000" scaled="1"/>
            </a:gradFill>
            <a:ln w="9525">
              <a:solidFill>
                <a:srgbClr val="D99594"/>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endParaRPr kumimoji="0" lang="en-US" sz="1100" b="1" i="0" u="none" strike="noStrike" cap="none" normalizeH="0" baseline="0" dirty="0" smtClean="0">
                <a:ln>
                  <a:noFill/>
                </a:ln>
                <a:solidFill>
                  <a:schemeClr val="tx1"/>
                </a:solidFill>
                <a:effectLst/>
                <a:latin typeface="Times New Roman" pitchFamily="18" charset="0"/>
              </a:endParaRPr>
            </a:p>
            <a:p>
              <a:pPr marL="0" marR="0" lvl="0" indent="0" algn="l" defTabSz="914400" rtl="0" eaLnBrk="1" fontAlgn="base" latinLnBrk="0" hangingPunct="1">
                <a:lnSpc>
                  <a:spcPct val="100000"/>
                </a:lnSpc>
                <a:spcBef>
                  <a:spcPct val="0"/>
                </a:spcBef>
                <a:spcAft>
                  <a:spcPts val="1000"/>
                </a:spcAft>
                <a:buClrTx/>
                <a:buSzTx/>
                <a:buFontTx/>
                <a:buNone/>
                <a:tabLst/>
              </a:pPr>
              <a:endParaRPr kumimoji="0" lang="en-US" sz="1100" b="1" i="0" u="none" strike="noStrike" cap="none" normalizeH="0" baseline="0" dirty="0" smtClean="0">
                <a:ln>
                  <a:noFill/>
                </a:ln>
                <a:solidFill>
                  <a:schemeClr val="tx1"/>
                </a:solidFill>
                <a:effectLst/>
                <a:latin typeface="Times New Roman" pitchFamily="18" charset="0"/>
              </a:endParaRPr>
            </a:p>
            <a:p>
              <a:pPr marL="0" marR="0" lvl="0" indent="0" algn="l" defTabSz="914400" rtl="0" eaLnBrk="1" fontAlgn="base" latinLnBrk="0" hangingPunct="1">
                <a:lnSpc>
                  <a:spcPct val="100000"/>
                </a:lnSpc>
                <a:spcBef>
                  <a:spcPct val="0"/>
                </a:spcBef>
                <a:spcAft>
                  <a:spcPts val="1000"/>
                </a:spcAft>
                <a:buClrTx/>
                <a:buSzTx/>
                <a:buFontTx/>
                <a:buNone/>
                <a:tabLst/>
              </a:pPr>
              <a:endParaRPr kumimoji="0" lang="en-US" sz="1100" b="1" i="0" u="none" strike="noStrike" cap="none" normalizeH="0" baseline="0" dirty="0" smtClean="0">
                <a:ln>
                  <a:noFill/>
                </a:ln>
                <a:solidFill>
                  <a:schemeClr val="tx1"/>
                </a:solidFill>
                <a:effectLst/>
                <a:latin typeface="Times New Roman" pitchFamily="18" charset="0"/>
              </a:endParaRPr>
            </a:p>
            <a:p>
              <a:pPr marL="0" marR="0" lvl="0" indent="0" algn="l" defTabSz="914400" rtl="0" eaLnBrk="1" fontAlgn="base" latinLnBrk="0" hangingPunct="1">
                <a:lnSpc>
                  <a:spcPct val="100000"/>
                </a:lnSpc>
                <a:spcBef>
                  <a:spcPct val="0"/>
                </a:spcBef>
                <a:spcAft>
                  <a:spcPts val="1000"/>
                </a:spcAft>
                <a:buClrTx/>
                <a:buSzTx/>
                <a:buFontTx/>
                <a:buNone/>
                <a:tabLst/>
              </a:pPr>
              <a:endParaRPr kumimoji="0" lang="en-US" sz="1100" b="1" i="0" u="none" strike="noStrike" cap="none" normalizeH="0" baseline="0" dirty="0" smtClean="0">
                <a:ln>
                  <a:noFill/>
                </a:ln>
                <a:solidFill>
                  <a:schemeClr val="tx1"/>
                </a:solidFill>
                <a:effectLst/>
                <a:latin typeface="Times New Roman" pitchFamily="18"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200" b="1" i="0" u="none" strike="noStrike" cap="none" normalizeH="0" baseline="0" dirty="0" smtClean="0">
                  <a:ln>
                    <a:noFill/>
                  </a:ln>
                  <a:solidFill>
                    <a:schemeClr val="tx1"/>
                  </a:solidFill>
                  <a:effectLst/>
                  <a:latin typeface="Calibri" pitchFamily="34" charset="0"/>
                </a:rPr>
                <a:t>Access Technologies</a:t>
              </a:r>
              <a:r>
                <a:rPr kumimoji="0" lang="en-US" sz="1100" b="1" i="0" u="none" strike="noStrike" cap="none" normalizeH="0" baseline="0" dirty="0" smtClean="0">
                  <a:ln>
                    <a:noFill/>
                  </a:ln>
                  <a:solidFill>
                    <a:schemeClr val="tx1"/>
                  </a:solidFill>
                  <a:effectLst/>
                  <a:latin typeface="Calibri" pitchFamily="34" charset="0"/>
                </a:rPr>
                <a:t>	</a:t>
              </a:r>
              <a:endParaRPr kumimoji="0" lang="en-US" sz="1800" b="0" i="0" u="none" strike="noStrike" cap="none" normalizeH="0" baseline="0" dirty="0" smtClean="0">
                <a:ln>
                  <a:noFill/>
                </a:ln>
                <a:solidFill>
                  <a:schemeClr val="tx1"/>
                </a:solidFill>
                <a:effectLst/>
                <a:latin typeface="Arial" pitchFamily="34" charset="0"/>
              </a:endParaRPr>
            </a:p>
          </p:txBody>
        </p:sp>
        <p:sp>
          <p:nvSpPr>
            <p:cNvPr id="12" name="Oval 4"/>
            <p:cNvSpPr>
              <a:spLocks noChangeArrowheads="1"/>
            </p:cNvSpPr>
            <p:nvPr/>
          </p:nvSpPr>
          <p:spPr bwMode="auto">
            <a:xfrm>
              <a:off x="7950" y="8070"/>
              <a:ext cx="3210" cy="3585"/>
            </a:xfrm>
            <a:prstGeom prst="ellipse">
              <a:avLst/>
            </a:prstGeom>
            <a:gradFill rotWithShape="1">
              <a:gsLst>
                <a:gs pos="0">
                  <a:srgbClr val="FABF8F">
                    <a:alpha val="42000"/>
                  </a:srgbClr>
                </a:gs>
                <a:gs pos="100000">
                  <a:srgbClr val="FABF8F">
                    <a:gamma/>
                    <a:tint val="92941"/>
                    <a:invGamma/>
                    <a:alpha val="75000"/>
                  </a:srgbClr>
                </a:gs>
              </a:gsLst>
              <a:lin ang="5400000" scaled="1"/>
            </a:gradFill>
            <a:ln w="9525">
              <a:solidFill>
                <a:srgbClr val="FABF8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3" name="Oval 5"/>
            <p:cNvSpPr>
              <a:spLocks noChangeArrowheads="1"/>
            </p:cNvSpPr>
            <p:nvPr/>
          </p:nvSpPr>
          <p:spPr bwMode="auto">
            <a:xfrm>
              <a:off x="6465" y="8070"/>
              <a:ext cx="2955" cy="3660"/>
            </a:xfrm>
            <a:prstGeom prst="ellipse">
              <a:avLst/>
            </a:prstGeom>
            <a:gradFill rotWithShape="0">
              <a:gsLst>
                <a:gs pos="0">
                  <a:srgbClr val="B2A1C7">
                    <a:gamma/>
                    <a:shade val="97647"/>
                    <a:invGamma/>
                  </a:srgbClr>
                </a:gs>
                <a:gs pos="100000">
                  <a:srgbClr val="B2A1C7">
                    <a:alpha val="0"/>
                  </a:srgbClr>
                </a:gs>
              </a:gsLst>
              <a:lin ang="5400000" scaled="1"/>
            </a:gradFill>
            <a:ln w="9525">
              <a:solidFill>
                <a:srgbClr val="B2A1C7"/>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200" i="0" u="none" strike="noStrike" cap="none" normalizeH="0" baseline="0" dirty="0" smtClean="0">
                  <a:ln>
                    <a:noFill/>
                  </a:ln>
                  <a:solidFill>
                    <a:schemeClr val="tx1"/>
                  </a:solidFill>
                  <a:effectLst/>
                  <a:latin typeface="Calibri" pitchFamily="34" charset="0"/>
                </a:rPr>
                <a:t>Usability</a:t>
              </a:r>
              <a:endParaRPr kumimoji="0" lang="en-US" sz="1200" i="0" u="none" strike="noStrike" cap="none" normalizeH="0" baseline="0" dirty="0" smtClean="0">
                <a:ln>
                  <a:noFill/>
                </a:ln>
                <a:solidFill>
                  <a:schemeClr val="tx1"/>
                </a:solidFill>
                <a:effectLst/>
                <a:latin typeface="Arial" pitchFamily="34" charset="0"/>
              </a:endParaRPr>
            </a:p>
          </p:txBody>
        </p:sp>
        <p:sp>
          <p:nvSpPr>
            <p:cNvPr id="14" name="Text Box 6"/>
            <p:cNvSpPr txBox="1">
              <a:spLocks noChangeArrowheads="1"/>
            </p:cNvSpPr>
            <p:nvPr/>
          </p:nvSpPr>
          <p:spPr bwMode="auto">
            <a:xfrm>
              <a:off x="7815" y="9825"/>
              <a:ext cx="1605" cy="1035"/>
            </a:xfrm>
            <a:prstGeom prst="rect">
              <a:avLst/>
            </a:prstGeom>
            <a:solidFill>
              <a:srgbClr val="FFFFF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1" i="0" u="none" strike="noStrike" cap="none" normalizeH="0" baseline="0" dirty="0" smtClean="0">
                  <a:ln>
                    <a:noFill/>
                  </a:ln>
                  <a:solidFill>
                    <a:schemeClr val="tx1"/>
                  </a:solidFill>
                  <a:effectLst/>
                  <a:latin typeface="Calibri" pitchFamily="34" charset="0"/>
                </a:rPr>
                <a:t>        Web                                                           </a:t>
              </a:r>
              <a:r>
                <a:rPr kumimoji="0" lang="en-US" sz="1200" b="1" i="0" u="none" strike="noStrike" cap="none" normalizeH="0" baseline="0" dirty="0" smtClean="0">
                  <a:ln>
                    <a:noFill/>
                  </a:ln>
                  <a:solidFill>
                    <a:schemeClr val="tx1"/>
                  </a:solidFill>
                  <a:effectLst/>
                  <a:latin typeface="Calibri" pitchFamily="34" charset="0"/>
                </a:rPr>
                <a:t>Accessibility</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endParaRPr>
            </a:p>
          </p:txBody>
        </p:sp>
        <p:sp>
          <p:nvSpPr>
            <p:cNvPr id="15" name="Text Box 7"/>
            <p:cNvSpPr txBox="1">
              <a:spLocks noChangeArrowheads="1"/>
            </p:cNvSpPr>
            <p:nvPr/>
          </p:nvSpPr>
          <p:spPr bwMode="auto">
            <a:xfrm>
              <a:off x="9345" y="8535"/>
              <a:ext cx="1380" cy="1035"/>
            </a:xfrm>
            <a:prstGeom prst="rect">
              <a:avLst/>
            </a:prstGeom>
            <a:solidFill>
              <a:srgbClr val="FABF8F">
                <a:alpha val="0"/>
              </a:srgbClr>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200" b="1" i="0" u="none" strike="noStrike" cap="none" normalizeH="0" baseline="0" smtClean="0">
                  <a:ln>
                    <a:noFill/>
                  </a:ln>
                  <a:solidFill>
                    <a:schemeClr val="tx1"/>
                  </a:solidFill>
                  <a:effectLst/>
                  <a:latin typeface="Calibri" pitchFamily="34" charset="0"/>
                </a:rPr>
                <a:t>Web Standards</a:t>
              </a:r>
              <a:endParaRPr kumimoji="0" lang="en-US" sz="1200" b="0" i="0" u="none" strike="noStrike" cap="none" normalizeH="0" baseline="0" smtClean="0">
                <a:ln>
                  <a:noFill/>
                </a:ln>
                <a:solidFill>
                  <a:schemeClr val="tx1"/>
                </a:solidFill>
                <a:effectLst/>
                <a:latin typeface="Arial"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strips(down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strips(down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strips(down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strips(downLeft)">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Accessibility Testing Framework</a:t>
            </a:r>
            <a:endParaRPr lang="en-US" sz="3200" dirty="0"/>
          </a:p>
        </p:txBody>
      </p:sp>
      <p:sp>
        <p:nvSpPr>
          <p:cNvPr id="5" name="Slide Number Placeholder 4"/>
          <p:cNvSpPr>
            <a:spLocks noGrp="1"/>
          </p:cNvSpPr>
          <p:nvPr>
            <p:ph type="sldNum" sz="quarter" idx="12"/>
          </p:nvPr>
        </p:nvSpPr>
        <p:spPr>
          <a:xfrm>
            <a:off x="3352800" y="6537325"/>
            <a:ext cx="2133600" cy="244475"/>
          </a:xfrm>
        </p:spPr>
        <p:txBody>
          <a:bodyPr/>
          <a:lstStyle/>
          <a:p>
            <a:fld id="{7BC933A0-51FE-4C25-8C56-853460226052}" type="slidenum">
              <a:rPr lang="en-US" smtClean="0"/>
              <a:pPr/>
              <a:t>8</a:t>
            </a:fld>
            <a:endParaRPr lang="en-US" dirty="0"/>
          </a:p>
        </p:txBody>
      </p:sp>
      <p:pic>
        <p:nvPicPr>
          <p:cNvPr id="26" name="Picture 2" descr="logo2997193_sm"/>
          <p:cNvPicPr>
            <a:picLocks noChangeAspect="1" noChangeArrowheads="1"/>
          </p:cNvPicPr>
          <p:nvPr/>
        </p:nvPicPr>
        <p:blipFill>
          <a:blip r:embed="rId3" cstate="print"/>
          <a:srcRect/>
          <a:stretch>
            <a:fillRect/>
          </a:stretch>
        </p:blipFill>
        <p:spPr bwMode="auto">
          <a:xfrm>
            <a:off x="0" y="6296025"/>
            <a:ext cx="1905000" cy="561975"/>
          </a:xfrm>
          <a:prstGeom prst="rect">
            <a:avLst/>
          </a:prstGeom>
          <a:noFill/>
          <a:ln w="9525">
            <a:noFill/>
            <a:miter lim="800000"/>
            <a:headEnd/>
            <a:tailEnd/>
          </a:ln>
        </p:spPr>
      </p:pic>
      <p:grpSp>
        <p:nvGrpSpPr>
          <p:cNvPr id="18451" name="Group 19"/>
          <p:cNvGrpSpPr>
            <a:grpSpLocks/>
          </p:cNvGrpSpPr>
          <p:nvPr/>
        </p:nvGrpSpPr>
        <p:grpSpPr bwMode="auto">
          <a:xfrm>
            <a:off x="781050" y="1752600"/>
            <a:ext cx="7524750" cy="4495800"/>
            <a:chOff x="1230" y="2616"/>
            <a:chExt cx="9675" cy="5334"/>
          </a:xfrm>
        </p:grpSpPr>
        <p:sp>
          <p:nvSpPr>
            <p:cNvPr id="18452" name="AutoShape 20"/>
            <p:cNvSpPr>
              <a:spLocks noChangeArrowheads="1"/>
            </p:cNvSpPr>
            <p:nvPr/>
          </p:nvSpPr>
          <p:spPr bwMode="auto">
            <a:xfrm>
              <a:off x="1230" y="2616"/>
              <a:ext cx="9675" cy="5334"/>
            </a:xfrm>
            <a:prstGeom prst="roundRect">
              <a:avLst>
                <a:gd name="adj" fmla="val 16667"/>
              </a:avLst>
            </a:prstGeom>
            <a:solidFill>
              <a:srgbClr val="4F81BD"/>
            </a:solidFill>
            <a:ln w="9525">
              <a:solidFill>
                <a:srgbClr val="548DD4"/>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453" name="AutoShape 21"/>
            <p:cNvSpPr>
              <a:spLocks noChangeArrowheads="1"/>
            </p:cNvSpPr>
            <p:nvPr/>
          </p:nvSpPr>
          <p:spPr bwMode="auto">
            <a:xfrm>
              <a:off x="1432" y="3013"/>
              <a:ext cx="9247" cy="4525"/>
            </a:xfrm>
            <a:prstGeom prst="roundRect">
              <a:avLst>
                <a:gd name="adj" fmla="val 16667"/>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454" name="AutoShape 22"/>
            <p:cNvSpPr>
              <a:spLocks noChangeArrowheads="1"/>
            </p:cNvSpPr>
            <p:nvPr/>
          </p:nvSpPr>
          <p:spPr bwMode="auto">
            <a:xfrm>
              <a:off x="2969" y="5509"/>
              <a:ext cx="7566" cy="1875"/>
            </a:xfrm>
            <a:prstGeom prst="roundRect">
              <a:avLst>
                <a:gd name="adj" fmla="val 16667"/>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endParaRPr kumimoji="0" lang="en-US" sz="1100" b="0" i="0" u="none" strike="noStrike" cap="none" normalizeH="0" baseline="0" dirty="0" smtClean="0">
                <a:ln>
                  <a:noFill/>
                </a:ln>
                <a:solidFill>
                  <a:schemeClr val="tx1"/>
                </a:solidFill>
                <a:effectLst/>
                <a:latin typeface="Times New Roman" pitchFamily="18"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dirty="0" smtClean="0">
                  <a:ln>
                    <a:noFill/>
                  </a:ln>
                  <a:solidFill>
                    <a:schemeClr val="tx1"/>
                  </a:solidFill>
                  <a:effectLst/>
                  <a:latin typeface="Calibri" pitchFamily="34" charset="0"/>
                </a:rPr>
                <a:t>                                                                                                                               </a:t>
              </a:r>
              <a:r>
                <a:rPr kumimoji="0" lang="en-US" sz="900" b="0" i="0" u="none" strike="noStrike" cap="none" normalizeH="0" baseline="0" dirty="0" smtClean="0">
                  <a:ln>
                    <a:noFill/>
                  </a:ln>
                  <a:solidFill>
                    <a:schemeClr val="tx1"/>
                  </a:solidFill>
                  <a:effectLst/>
                  <a:latin typeface="Calibri" pitchFamily="34" charset="0"/>
                </a:rPr>
                <a:t>Pass n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dirty="0" smtClean="0">
                  <a:ln>
                    <a:noFill/>
                  </a:ln>
                  <a:solidFill>
                    <a:schemeClr val="tx1"/>
                  </a:solidFill>
                  <a:effectLst/>
                  <a:latin typeface="Calibri" pitchFamily="34" charset="0"/>
                </a:rPr>
                <a:t>   </a:t>
              </a:r>
              <a:r>
                <a:rPr kumimoji="0" lang="en-US" sz="1200" b="1" i="0" u="none" strike="noStrike" cap="none" normalizeH="0" baseline="0" dirty="0" smtClean="0">
                  <a:ln>
                    <a:noFill/>
                  </a:ln>
                  <a:solidFill>
                    <a:schemeClr val="tx1"/>
                  </a:solidFill>
                  <a:effectLst/>
                  <a:latin typeface="Calibri" pitchFamily="34" charset="0"/>
                </a:rPr>
                <a:t>Pass n                                                                                                      </a:t>
              </a:r>
              <a:r>
                <a:rPr kumimoji="0" lang="en-US" sz="1200" b="1" i="0" u="none" strike="noStrike" cap="none" normalizeH="0" baseline="0" dirty="0" err="1" smtClean="0">
                  <a:ln>
                    <a:noFill/>
                  </a:ln>
                  <a:solidFill>
                    <a:schemeClr val="tx1"/>
                  </a:solidFill>
                  <a:effectLst/>
                  <a:latin typeface="Calibri" pitchFamily="34" charset="0"/>
                </a:rPr>
                <a:t>pppa</a:t>
              </a:r>
              <a:endParaRPr kumimoji="0" lang="en-US" sz="1800" b="0" i="0" u="none" strike="noStrike" cap="none" normalizeH="0" baseline="0" dirty="0" smtClean="0">
                <a:ln>
                  <a:noFill/>
                </a:ln>
                <a:solidFill>
                  <a:schemeClr val="tx1"/>
                </a:solidFill>
                <a:effectLst/>
                <a:latin typeface="Arial" pitchFamily="34" charset="0"/>
              </a:endParaRPr>
            </a:p>
          </p:txBody>
        </p:sp>
        <p:sp>
          <p:nvSpPr>
            <p:cNvPr id="18455" name="AutoShape 23"/>
            <p:cNvSpPr>
              <a:spLocks noChangeArrowheads="1"/>
            </p:cNvSpPr>
            <p:nvPr/>
          </p:nvSpPr>
          <p:spPr bwMode="auto">
            <a:xfrm>
              <a:off x="2410" y="4479"/>
              <a:ext cx="7956" cy="2316"/>
            </a:xfrm>
            <a:prstGeom prst="roundRect">
              <a:avLst>
                <a:gd name="adj" fmla="val 16667"/>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456" name="AutoShape 24"/>
            <p:cNvSpPr>
              <a:spLocks noChangeArrowheads="1"/>
            </p:cNvSpPr>
            <p:nvPr/>
          </p:nvSpPr>
          <p:spPr bwMode="auto">
            <a:xfrm>
              <a:off x="2084" y="3225"/>
              <a:ext cx="8118" cy="3168"/>
            </a:xfrm>
            <a:prstGeom prst="roundRect">
              <a:avLst>
                <a:gd name="adj" fmla="val 16667"/>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endParaRPr kumimoji="0" lang="en-US" sz="1100" b="0" i="0" u="none" strike="noStrike" cap="none" normalizeH="0" baseline="0" dirty="0" smtClean="0">
                <a:ln>
                  <a:noFill/>
                </a:ln>
                <a:solidFill>
                  <a:schemeClr val="tx1"/>
                </a:solidFill>
                <a:effectLst/>
                <a:latin typeface="Times New Roman" pitchFamily="18" charset="0"/>
              </a:endParaRPr>
            </a:p>
            <a:p>
              <a:pPr marL="0" marR="0" lvl="0" indent="0" algn="l" defTabSz="914400" rtl="0" eaLnBrk="1" fontAlgn="base" latinLnBrk="0" hangingPunct="1">
                <a:lnSpc>
                  <a:spcPct val="100000"/>
                </a:lnSpc>
                <a:spcBef>
                  <a:spcPct val="0"/>
                </a:spcBef>
                <a:spcAft>
                  <a:spcPts val="1000"/>
                </a:spcAft>
                <a:buClrTx/>
                <a:buSzTx/>
                <a:buFontTx/>
                <a:buNone/>
                <a:tabLst/>
              </a:pPr>
              <a:endParaRPr kumimoji="0" lang="en-US" sz="1100" b="0" i="0" u="none" strike="noStrike" cap="none" normalizeH="0" baseline="0" dirty="0" smtClean="0">
                <a:ln>
                  <a:noFill/>
                </a:ln>
                <a:solidFill>
                  <a:schemeClr val="tx1"/>
                </a:solidFill>
                <a:effectLst/>
                <a:latin typeface="Times New Roman" pitchFamily="18"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dirty="0" smtClean="0">
                  <a:ln>
                    <a:noFill/>
                  </a:ln>
                  <a:solidFill>
                    <a:schemeClr val="tx1"/>
                  </a:solidFill>
                  <a:effectLst/>
                  <a:latin typeface="Calibri"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dirty="0" smtClean="0">
                  <a:ln>
                    <a:noFill/>
                  </a:ln>
                  <a:solidFill>
                    <a:schemeClr val="tx1"/>
                  </a:solidFill>
                  <a:effectLst/>
                  <a:latin typeface="Calibri"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endParaRPr kumimoji="0" lang="en-US" sz="1100" b="0" i="0" u="none" strike="noStrike" cap="none" normalizeH="0" baseline="0" dirty="0" smtClean="0">
                <a:ln>
                  <a:noFill/>
                </a:ln>
                <a:solidFill>
                  <a:schemeClr val="tx1"/>
                </a:solidFill>
                <a:effectLst/>
                <a:latin typeface="Calibri"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200" b="1" i="0" u="none" strike="noStrike" cap="none" normalizeH="0" baseline="0" dirty="0" smtClean="0">
                  <a:ln>
                    <a:noFill/>
                  </a:ln>
                  <a:solidFill>
                    <a:schemeClr val="tx1"/>
                  </a:solidFill>
                  <a:effectLst/>
                  <a:latin typeface="Calibri"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lang="en-US" sz="1200" b="1" dirty="0" smtClean="0">
                  <a:latin typeface="Calibri" pitchFamily="34" charset="0"/>
                </a:rPr>
                <a:t>                                             </a:t>
              </a:r>
              <a:r>
                <a:rPr lang="en-US" sz="1200" b="1" dirty="0" smtClean="0">
                  <a:latin typeface="Calibri" pitchFamily="34" charset="0"/>
                </a:rPr>
                <a:t>  </a:t>
              </a:r>
              <a:r>
                <a:rPr kumimoji="0" lang="en-US" sz="1600" b="1" i="0" u="none" strike="noStrike" cap="none" normalizeH="0" baseline="0" dirty="0" smtClean="0">
                  <a:ln>
                    <a:noFill/>
                  </a:ln>
                  <a:solidFill>
                    <a:srgbClr val="000000"/>
                  </a:solidFill>
                  <a:effectLst/>
                  <a:latin typeface="Times New Roman" pitchFamily="18" charset="0"/>
                  <a:cs typeface="Times New Roman" pitchFamily="18" charset="0"/>
                </a:rPr>
                <a:t>Week 1 </a:t>
              </a:r>
              <a:r>
                <a:rPr kumimoji="0" lang="en-US" sz="1600" b="1" i="0" u="none" strike="noStrike" cap="none" normalizeH="0" baseline="0" dirty="0" smtClean="0">
                  <a:ln>
                    <a:noFill/>
                  </a:ln>
                  <a:solidFill>
                    <a:srgbClr val="000000"/>
                  </a:solidFill>
                  <a:effectLst/>
                  <a:latin typeface="Times New Roman" pitchFamily="18" charset="0"/>
                  <a:cs typeface="Times New Roman" pitchFamily="18" charset="0"/>
                </a:rPr>
                <a:t>               </a:t>
              </a:r>
              <a:r>
                <a:rPr kumimoji="0" lang="en-US" sz="1600" b="1" i="0" u="none" strike="noStrike" cap="none" normalizeH="0" baseline="0" dirty="0" smtClean="0">
                  <a:ln>
                    <a:noFill/>
                  </a:ln>
                  <a:solidFill>
                    <a:srgbClr val="000000"/>
                  </a:solidFill>
                  <a:effectLst/>
                  <a:latin typeface="Times New Roman" pitchFamily="18" charset="0"/>
                  <a:cs typeface="Times New Roman" pitchFamily="18" charset="0"/>
                </a:rPr>
                <a:t>Approach </a:t>
              </a:r>
              <a:r>
                <a:rPr kumimoji="0" lang="en-US" sz="1600" b="1" i="0" u="none" strike="noStrike" cap="none" normalizeH="0" baseline="0" dirty="0" smtClean="0">
                  <a:ln>
                    <a:noFill/>
                  </a:ln>
                  <a:solidFill>
                    <a:srgbClr val="000000"/>
                  </a:solidFill>
                  <a:effectLst/>
                  <a:latin typeface="Times New Roman" pitchFamily="18" charset="0"/>
                  <a:cs typeface="Times New Roman" pitchFamily="18" charset="0"/>
                </a:rPr>
                <a:t>   </a:t>
              </a:r>
              <a:r>
                <a:rPr kumimoji="0" lang="en-US" sz="1600" b="1" i="0" u="none" strike="noStrike" cap="none" normalizeH="0" dirty="0" smtClean="0">
                  <a:ln>
                    <a:noFill/>
                  </a:ln>
                  <a:solidFill>
                    <a:srgbClr val="000000"/>
                  </a:solidFill>
                  <a:effectLst/>
                  <a:latin typeface="Times New Roman" pitchFamily="18" charset="0"/>
                  <a:cs typeface="Times New Roman" pitchFamily="18" charset="0"/>
                </a:rPr>
                <a:t>               </a:t>
              </a:r>
              <a:r>
                <a:rPr kumimoji="0" lang="en-US" sz="1600" b="1" i="0" u="none" strike="noStrike" cap="none" normalizeH="0" baseline="0" dirty="0" smtClean="0">
                  <a:ln>
                    <a:noFill/>
                  </a:ln>
                  <a:solidFill>
                    <a:srgbClr val="000000"/>
                  </a:solidFill>
                  <a:effectLst/>
                  <a:latin typeface="Times New Roman" pitchFamily="18" charset="0"/>
                  <a:cs typeface="Times New Roman" pitchFamily="18" charset="0"/>
                </a:rPr>
                <a:t>Week n</a:t>
              </a:r>
            </a:p>
            <a:p>
              <a:pPr marL="0" marR="0" lvl="0" indent="0" algn="l" defTabSz="914400" rtl="0" eaLnBrk="1" fontAlgn="base" latinLnBrk="0" hangingPunct="1">
                <a:lnSpc>
                  <a:spcPct val="100000"/>
                </a:lnSpc>
                <a:spcBef>
                  <a:spcPct val="0"/>
                </a:spcBef>
                <a:spcAft>
                  <a:spcPts val="1000"/>
                </a:spcAft>
                <a:buClrTx/>
                <a:buSzTx/>
                <a:buFontTx/>
                <a:buNone/>
                <a:tabLst/>
              </a:pPr>
              <a:r>
                <a:rPr lang="en-US" b="1" dirty="0" smtClean="0">
                  <a:solidFill>
                    <a:srgbClr val="000000"/>
                  </a:solidFill>
                  <a:latin typeface="Times New Roman" pitchFamily="18" charset="0"/>
                  <a:cs typeface="Times New Roman" pitchFamily="18" charset="0"/>
                </a:rPr>
                <a:t>Pass 1</a:t>
              </a:r>
              <a:endParaRPr kumimoji="0" lang="en-US" b="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18457" name="AutoShape 25"/>
            <p:cNvSpPr>
              <a:spLocks noChangeArrowheads="1"/>
            </p:cNvSpPr>
            <p:nvPr/>
          </p:nvSpPr>
          <p:spPr bwMode="auto">
            <a:xfrm>
              <a:off x="2605" y="3423"/>
              <a:ext cx="1468" cy="976"/>
            </a:xfrm>
            <a:prstGeom prst="roundRect">
              <a:avLst>
                <a:gd name="adj" fmla="val 16667"/>
              </a:avLst>
            </a:prstGeom>
            <a:solidFill>
              <a:srgbClr val="17365D"/>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smtClean="0">
                  <a:ln>
                    <a:noFill/>
                  </a:ln>
                  <a:solidFill>
                    <a:schemeClr val="bg1"/>
                  </a:solidFill>
                  <a:effectLst/>
                  <a:latin typeface="Calibri" pitchFamily="34" charset="0"/>
                </a:rPr>
                <a:t>Accessibility objectives</a:t>
              </a:r>
              <a:endParaRPr kumimoji="0" lang="en-US" sz="1200" b="0" i="0" u="none" strike="noStrike" cap="none" normalizeH="0" baseline="0" dirty="0" smtClean="0">
                <a:ln>
                  <a:noFill/>
                </a:ln>
                <a:solidFill>
                  <a:schemeClr val="bg1"/>
                </a:solidFill>
                <a:effectLst/>
                <a:latin typeface="Arial" pitchFamily="34" charset="0"/>
              </a:endParaRPr>
            </a:p>
          </p:txBody>
        </p:sp>
        <p:grpSp>
          <p:nvGrpSpPr>
            <p:cNvPr id="18458" name="Group 26"/>
            <p:cNvGrpSpPr>
              <a:grpSpLocks/>
            </p:cNvGrpSpPr>
            <p:nvPr/>
          </p:nvGrpSpPr>
          <p:grpSpPr bwMode="auto">
            <a:xfrm>
              <a:off x="4073" y="4110"/>
              <a:ext cx="5798" cy="1096"/>
              <a:chOff x="4192" y="4110"/>
              <a:chExt cx="5798" cy="1096"/>
            </a:xfrm>
          </p:grpSpPr>
          <p:sp>
            <p:nvSpPr>
              <p:cNvPr id="18459" name="AutoShape 27"/>
              <p:cNvSpPr>
                <a:spLocks noChangeArrowheads="1"/>
              </p:cNvSpPr>
              <p:nvPr/>
            </p:nvSpPr>
            <p:spPr bwMode="auto">
              <a:xfrm>
                <a:off x="4192" y="4110"/>
                <a:ext cx="1480" cy="1096"/>
              </a:xfrm>
              <a:prstGeom prst="roundRect">
                <a:avLst>
                  <a:gd name="adj" fmla="val 16667"/>
                </a:avLst>
              </a:prstGeom>
              <a:solidFill>
                <a:srgbClr val="17365D"/>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bg1"/>
                    </a:solidFill>
                    <a:effectLst/>
                    <a:latin typeface="Calibri" pitchFamily="34" charset="0"/>
                  </a:rPr>
                  <a:t>Accessibility Principals  &amp; Guidelines</a:t>
                </a:r>
                <a:endParaRPr kumimoji="0" lang="en-US" sz="1200" b="0" i="0" u="none" strike="noStrike" cap="none" normalizeH="0" baseline="0" dirty="0" smtClean="0">
                  <a:ln>
                    <a:noFill/>
                  </a:ln>
                  <a:solidFill>
                    <a:schemeClr val="bg1"/>
                  </a:solidFill>
                  <a:effectLst/>
                  <a:latin typeface="Arial" pitchFamily="34" charset="0"/>
                </a:endParaRPr>
              </a:p>
            </p:txBody>
          </p:sp>
          <p:sp>
            <p:nvSpPr>
              <p:cNvPr id="18460" name="AutoShape 28"/>
              <p:cNvSpPr>
                <a:spLocks noChangeArrowheads="1"/>
              </p:cNvSpPr>
              <p:nvPr/>
            </p:nvSpPr>
            <p:spPr bwMode="auto">
              <a:xfrm>
                <a:off x="5672" y="4110"/>
                <a:ext cx="1466" cy="1096"/>
              </a:xfrm>
              <a:prstGeom prst="roundRect">
                <a:avLst>
                  <a:gd name="adj" fmla="val 16667"/>
                </a:avLst>
              </a:prstGeom>
              <a:solidFill>
                <a:srgbClr val="17365D"/>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bg1"/>
                    </a:solidFill>
                    <a:effectLst/>
                    <a:latin typeface="Calibri" pitchFamily="34" charset="0"/>
                  </a:rPr>
                  <a:t>Test Plan &amp; Test Design</a:t>
                </a:r>
                <a:endParaRPr kumimoji="0" lang="en-US" sz="1200" b="0" i="0" u="none" strike="noStrike" cap="none" normalizeH="0" baseline="0" dirty="0" smtClean="0">
                  <a:ln>
                    <a:noFill/>
                  </a:ln>
                  <a:solidFill>
                    <a:schemeClr val="bg1"/>
                  </a:solidFill>
                  <a:effectLst/>
                  <a:latin typeface="Arial" pitchFamily="34" charset="0"/>
                </a:endParaRPr>
              </a:p>
            </p:txBody>
          </p:sp>
          <p:sp>
            <p:nvSpPr>
              <p:cNvPr id="18461" name="AutoShape 29"/>
              <p:cNvSpPr>
                <a:spLocks noChangeArrowheads="1"/>
              </p:cNvSpPr>
              <p:nvPr/>
            </p:nvSpPr>
            <p:spPr bwMode="auto">
              <a:xfrm>
                <a:off x="7138" y="4110"/>
                <a:ext cx="1400" cy="1096"/>
              </a:xfrm>
              <a:prstGeom prst="roundRect">
                <a:avLst>
                  <a:gd name="adj" fmla="val 16667"/>
                </a:avLst>
              </a:prstGeom>
              <a:solidFill>
                <a:srgbClr val="17365D"/>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bg1"/>
                    </a:solidFill>
                    <a:effectLst/>
                    <a:latin typeface="Calibri" pitchFamily="34" charset="0"/>
                  </a:rPr>
                  <a:t>Test Execution</a:t>
                </a:r>
                <a:endParaRPr kumimoji="0" lang="en-US" sz="1200" b="0" i="0" u="none" strike="noStrike" cap="none" normalizeH="0" baseline="0" dirty="0" smtClean="0">
                  <a:ln>
                    <a:noFill/>
                  </a:ln>
                  <a:solidFill>
                    <a:schemeClr val="bg1"/>
                  </a:solidFill>
                  <a:effectLst/>
                  <a:latin typeface="Arial" pitchFamily="34" charset="0"/>
                </a:endParaRPr>
              </a:p>
            </p:txBody>
          </p:sp>
          <p:sp>
            <p:nvSpPr>
              <p:cNvPr id="18462" name="AutoShape 30"/>
              <p:cNvSpPr>
                <a:spLocks noChangeArrowheads="1"/>
              </p:cNvSpPr>
              <p:nvPr/>
            </p:nvSpPr>
            <p:spPr bwMode="auto">
              <a:xfrm>
                <a:off x="8538" y="4110"/>
                <a:ext cx="1452" cy="1096"/>
              </a:xfrm>
              <a:prstGeom prst="roundRect">
                <a:avLst>
                  <a:gd name="adj" fmla="val 16667"/>
                </a:avLst>
              </a:prstGeom>
              <a:solidFill>
                <a:srgbClr val="17365D"/>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bg1"/>
                    </a:solidFill>
                    <a:effectLst/>
                    <a:latin typeface="Calibri" pitchFamily="34" charset="0"/>
                  </a:rPr>
                  <a:t>Analysis, Reporting &amp; Retest</a:t>
                </a:r>
                <a:endParaRPr kumimoji="0" lang="en-US" sz="1200" b="0" i="0" u="none" strike="noStrike" cap="none" normalizeH="0" baseline="0" dirty="0" smtClean="0">
                  <a:ln>
                    <a:noFill/>
                  </a:ln>
                  <a:solidFill>
                    <a:schemeClr val="bg1"/>
                  </a:solidFill>
                  <a:effectLst/>
                  <a:latin typeface="Arial" pitchFamily="34" charset="0"/>
                </a:endParaRPr>
              </a:p>
            </p:txBody>
          </p:sp>
        </p:grpSp>
        <p:sp>
          <p:nvSpPr>
            <p:cNvPr id="18463" name="AutoShape 31"/>
            <p:cNvSpPr>
              <a:spLocks/>
            </p:cNvSpPr>
            <p:nvPr/>
          </p:nvSpPr>
          <p:spPr bwMode="auto">
            <a:xfrm rot="5400000">
              <a:off x="4697" y="4800"/>
              <a:ext cx="257" cy="1268"/>
            </a:xfrm>
            <a:prstGeom prst="rightBrace">
              <a:avLst>
                <a:gd name="adj1" fmla="val 41115"/>
                <a:gd name="adj2" fmla="val 49917"/>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464" name="AutoShape 32"/>
            <p:cNvSpPr>
              <a:spLocks/>
            </p:cNvSpPr>
            <p:nvPr/>
          </p:nvSpPr>
          <p:spPr bwMode="auto">
            <a:xfrm rot="5480068" flipV="1">
              <a:off x="8981" y="4827"/>
              <a:ext cx="257" cy="1214"/>
            </a:xfrm>
            <a:prstGeom prst="rightBrace">
              <a:avLst>
                <a:gd name="adj1" fmla="val 39364"/>
                <a:gd name="adj2" fmla="val 51542"/>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465" name="AutoShape 33"/>
            <p:cNvSpPr>
              <a:spLocks noChangeArrowheads="1"/>
            </p:cNvSpPr>
            <p:nvPr/>
          </p:nvSpPr>
          <p:spPr bwMode="auto">
            <a:xfrm>
              <a:off x="5175" y="3893"/>
              <a:ext cx="752" cy="213"/>
            </a:xfrm>
            <a:prstGeom prst="curvedDownArrow">
              <a:avLst>
                <a:gd name="adj1" fmla="val 70610"/>
                <a:gd name="adj2" fmla="val 141221"/>
                <a:gd name="adj3" fmla="val 33333"/>
              </a:avLst>
            </a:prstGeom>
            <a:solidFill>
              <a:srgbClr val="0070C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8466" name="AutoShape 34"/>
            <p:cNvSpPr>
              <a:spLocks noChangeArrowheads="1"/>
            </p:cNvSpPr>
            <p:nvPr/>
          </p:nvSpPr>
          <p:spPr bwMode="auto">
            <a:xfrm>
              <a:off x="6722" y="3893"/>
              <a:ext cx="715" cy="217"/>
            </a:xfrm>
            <a:prstGeom prst="curvedDownArrow">
              <a:avLst>
                <a:gd name="adj1" fmla="val 65899"/>
                <a:gd name="adj2" fmla="val 131797"/>
                <a:gd name="adj3" fmla="val 33333"/>
              </a:avLst>
            </a:prstGeom>
            <a:solidFill>
              <a:srgbClr val="0070C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8467" name="AutoShape 35"/>
            <p:cNvSpPr>
              <a:spLocks noChangeArrowheads="1"/>
            </p:cNvSpPr>
            <p:nvPr/>
          </p:nvSpPr>
          <p:spPr bwMode="auto">
            <a:xfrm>
              <a:off x="8147" y="3895"/>
              <a:ext cx="715" cy="215"/>
            </a:xfrm>
            <a:prstGeom prst="curvedDownArrow">
              <a:avLst>
                <a:gd name="adj1" fmla="val 66512"/>
                <a:gd name="adj2" fmla="val 133023"/>
                <a:gd name="adj3" fmla="val 33333"/>
              </a:avLst>
            </a:prstGeom>
            <a:solidFill>
              <a:srgbClr val="0070C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extBox 21"/>
          <p:cNvSpPr txBox="1"/>
          <p:nvPr/>
        </p:nvSpPr>
        <p:spPr>
          <a:xfrm>
            <a:off x="2286000" y="5410200"/>
            <a:ext cx="1143000" cy="369332"/>
          </a:xfrm>
          <a:prstGeom prst="rect">
            <a:avLst/>
          </a:prstGeom>
          <a:noFill/>
        </p:spPr>
        <p:txBody>
          <a:bodyPr wrap="square" rtlCol="0">
            <a:spAutoFit/>
          </a:bodyPr>
          <a:lstStyle/>
          <a:p>
            <a:r>
              <a:rPr lang="en-US" b="1" dirty="0" smtClean="0">
                <a:solidFill>
                  <a:schemeClr val="tx2"/>
                </a:solidFill>
                <a:latin typeface="Times New Roman" pitchFamily="18" charset="0"/>
                <a:cs typeface="Times New Roman" pitchFamily="18" charset="0"/>
              </a:rPr>
              <a:t>Pass n</a:t>
            </a:r>
            <a:endParaRPr lang="en-US" b="1" dirty="0">
              <a:solidFill>
                <a:schemeClr val="tx2"/>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4638"/>
            <a:ext cx="7696200" cy="868362"/>
          </a:xfrm>
        </p:spPr>
        <p:txBody>
          <a:bodyPr/>
          <a:lstStyle/>
          <a:p>
            <a:r>
              <a:rPr lang="en-US" smtClean="0"/>
              <a:t>Test Pass</a:t>
            </a:r>
            <a:endParaRPr lang="en-US" dirty="0"/>
          </a:p>
        </p:txBody>
      </p:sp>
      <p:sp>
        <p:nvSpPr>
          <p:cNvPr id="40" name="Slide Number Placeholder 8"/>
          <p:cNvSpPr>
            <a:spLocks noGrp="1"/>
          </p:cNvSpPr>
          <p:nvPr>
            <p:ph type="sldNum" sz="quarter" idx="12"/>
          </p:nvPr>
        </p:nvSpPr>
        <p:spPr>
          <a:xfrm>
            <a:off x="3505200" y="6553200"/>
            <a:ext cx="2133600" cy="244475"/>
          </a:xfrm>
        </p:spPr>
        <p:txBody>
          <a:bodyPr/>
          <a:lstStyle/>
          <a:p>
            <a:fld id="{64894E68-D2D4-4B40-8E14-DB1F50DC8A18}" type="slidenum">
              <a:rPr lang="en-US" smtClean="0"/>
              <a:pPr/>
              <a:t>9</a:t>
            </a:fld>
            <a:endParaRPr lang="en-US" dirty="0"/>
          </a:p>
        </p:txBody>
      </p:sp>
      <p:pic>
        <p:nvPicPr>
          <p:cNvPr id="29" name="Picture 2" descr="logo2997193_sm"/>
          <p:cNvPicPr>
            <a:picLocks noChangeAspect="1" noChangeArrowheads="1"/>
          </p:cNvPicPr>
          <p:nvPr/>
        </p:nvPicPr>
        <p:blipFill>
          <a:blip r:embed="rId3" cstate="print"/>
          <a:srcRect/>
          <a:stretch>
            <a:fillRect/>
          </a:stretch>
        </p:blipFill>
        <p:spPr bwMode="auto">
          <a:xfrm>
            <a:off x="0" y="6296025"/>
            <a:ext cx="1905000" cy="561975"/>
          </a:xfrm>
          <a:prstGeom prst="rect">
            <a:avLst/>
          </a:prstGeom>
          <a:noFill/>
          <a:ln w="9525">
            <a:noFill/>
            <a:miter lim="800000"/>
            <a:headEnd/>
            <a:tailEnd/>
          </a:ln>
        </p:spPr>
      </p:pic>
      <p:sp>
        <p:nvSpPr>
          <p:cNvPr id="6" name="TextBox 5"/>
          <p:cNvSpPr txBox="1"/>
          <p:nvPr/>
        </p:nvSpPr>
        <p:spPr>
          <a:xfrm>
            <a:off x="381000" y="4267200"/>
            <a:ext cx="8153400" cy="2554545"/>
          </a:xfrm>
          <a:prstGeom prst="rect">
            <a:avLst/>
          </a:prstGeom>
          <a:noFill/>
        </p:spPr>
        <p:txBody>
          <a:bodyPr wrap="square" rtlCol="0">
            <a:spAutoFit/>
          </a:bodyPr>
          <a:lstStyle/>
          <a:p>
            <a:endParaRPr lang="en-US" sz="2000" dirty="0" smtClean="0">
              <a:latin typeface="+mn-lt"/>
            </a:endParaRPr>
          </a:p>
          <a:p>
            <a:r>
              <a:rPr lang="en-US" sz="2000" dirty="0" smtClean="0">
                <a:latin typeface="+mn-lt"/>
              </a:rPr>
              <a:t>Each pass is a test cycle by itself, which constitute multiple test phases. A pass can be configured as fulfilling the guidelines for accessibility and the time by the testing team according to the system and business requirement. </a:t>
            </a:r>
          </a:p>
          <a:p>
            <a:r>
              <a:rPr lang="en-US" sz="2000" dirty="0" smtClean="0">
                <a:latin typeface="+mn-lt"/>
              </a:rPr>
              <a:t/>
            </a:r>
            <a:br>
              <a:rPr lang="en-US" sz="2000" dirty="0" smtClean="0">
                <a:latin typeface="+mn-lt"/>
              </a:rPr>
            </a:br>
            <a:endParaRPr lang="en-GB" sz="2000" dirty="0" smtClean="0">
              <a:latin typeface="+mn-lt"/>
            </a:endParaRPr>
          </a:p>
          <a:p>
            <a:pPr algn="just"/>
            <a:endParaRPr lang="en-GB" sz="2000" dirty="0" smtClean="0">
              <a:latin typeface="+mn-lt"/>
            </a:endParaRPr>
          </a:p>
        </p:txBody>
      </p:sp>
      <p:grpSp>
        <p:nvGrpSpPr>
          <p:cNvPr id="19482" name="Group 26"/>
          <p:cNvGrpSpPr>
            <a:grpSpLocks/>
          </p:cNvGrpSpPr>
          <p:nvPr/>
        </p:nvGrpSpPr>
        <p:grpSpPr bwMode="auto">
          <a:xfrm>
            <a:off x="304800" y="1524000"/>
            <a:ext cx="8458200" cy="2514600"/>
            <a:chOff x="3529" y="1887"/>
            <a:chExt cx="6561" cy="2108"/>
          </a:xfrm>
        </p:grpSpPr>
        <p:sp>
          <p:nvSpPr>
            <p:cNvPr id="19483" name="AutoShape 27"/>
            <p:cNvSpPr>
              <a:spLocks noChangeArrowheads="1"/>
            </p:cNvSpPr>
            <p:nvPr/>
          </p:nvSpPr>
          <p:spPr bwMode="auto">
            <a:xfrm>
              <a:off x="3529" y="1887"/>
              <a:ext cx="6561" cy="2108"/>
            </a:xfrm>
            <a:prstGeom prst="roundRect">
              <a:avLst>
                <a:gd name="adj" fmla="val 16667"/>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endParaRPr kumimoji="0" lang="en-US" sz="1100" b="0" i="0" u="none" strike="noStrike" cap="none" normalizeH="0" baseline="0" dirty="0" smtClean="0">
                <a:ln>
                  <a:noFill/>
                </a:ln>
                <a:solidFill>
                  <a:schemeClr val="tx1"/>
                </a:solidFill>
                <a:effectLst/>
                <a:latin typeface="Times New Roman" pitchFamily="18" charset="0"/>
              </a:endParaRPr>
            </a:p>
            <a:p>
              <a:pPr marL="0" marR="0" lvl="0" indent="0" algn="l" defTabSz="914400" rtl="0" eaLnBrk="1" fontAlgn="base" latinLnBrk="0" hangingPunct="1">
                <a:lnSpc>
                  <a:spcPct val="100000"/>
                </a:lnSpc>
                <a:spcBef>
                  <a:spcPct val="0"/>
                </a:spcBef>
                <a:spcAft>
                  <a:spcPts val="1000"/>
                </a:spcAft>
                <a:buClrTx/>
                <a:buSzTx/>
                <a:buFontTx/>
                <a:buNone/>
                <a:tabLst/>
              </a:pPr>
              <a:endParaRPr kumimoji="0" lang="en-US" sz="1100" b="0" i="0" u="none" strike="noStrike" cap="none" normalizeH="0" baseline="0" dirty="0" smtClean="0">
                <a:ln>
                  <a:noFill/>
                </a:ln>
                <a:solidFill>
                  <a:schemeClr val="tx1"/>
                </a:solidFill>
                <a:effectLst/>
                <a:latin typeface="Times New Roman" pitchFamily="18"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dirty="0" smtClean="0">
                  <a:ln>
                    <a:noFill/>
                  </a:ln>
                  <a:solidFill>
                    <a:schemeClr val="tx1"/>
                  </a:solidFill>
                  <a:effectLst/>
                  <a:latin typeface="Calibri"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dirty="0" smtClean="0">
                  <a:ln>
                    <a:noFill/>
                  </a:ln>
                  <a:solidFill>
                    <a:schemeClr val="tx1"/>
                  </a:solidFill>
                  <a:effectLst/>
                  <a:latin typeface="Calibri"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endParaRPr lang="en-US" sz="1100" dirty="0" smtClean="0">
                <a:latin typeface="Calibri"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dirty="0" smtClean="0">
                  <a:ln>
                    <a:noFill/>
                  </a:ln>
                  <a:solidFill>
                    <a:schemeClr val="tx1"/>
                  </a:solidFill>
                  <a:effectLst/>
                  <a:latin typeface="Calibri"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b="1" i="0" u="none" strike="noStrike" cap="none" normalizeH="0" baseline="0" dirty="0" smtClean="0">
                  <a:ln>
                    <a:noFill/>
                  </a:ln>
                  <a:solidFill>
                    <a:schemeClr val="tx2"/>
                  </a:solidFill>
                  <a:effectLst/>
                  <a:latin typeface="Arial" pitchFamily="34" charset="0"/>
                </a:rPr>
                <a:t>Pass  	</a:t>
              </a:r>
              <a:r>
                <a:rPr kumimoji="0" lang="en-US" b="1" i="0" u="none" strike="noStrike" cap="none" normalizeH="0" dirty="0" smtClean="0">
                  <a:ln>
                    <a:noFill/>
                  </a:ln>
                  <a:solidFill>
                    <a:schemeClr val="tx2"/>
                  </a:solidFill>
                  <a:effectLst/>
                  <a:latin typeface="Arial" pitchFamily="34" charset="0"/>
                </a:rPr>
                <a:t>     </a:t>
              </a:r>
              <a:r>
                <a:rPr kumimoji="0" lang="en-US" b="1" i="0" u="none" strike="noStrike" cap="none" normalizeH="0" baseline="0" dirty="0" smtClean="0">
                  <a:ln>
                    <a:noFill/>
                  </a:ln>
                  <a:solidFill>
                    <a:schemeClr val="tx2"/>
                  </a:solidFill>
                  <a:effectLst/>
                  <a:latin typeface="Calibri" pitchFamily="34" charset="0"/>
                </a:rPr>
                <a:t>                </a:t>
              </a:r>
              <a:r>
                <a:rPr kumimoji="0" lang="en-US" b="1" i="0" u="none" strike="noStrike" cap="none" normalizeH="0" dirty="0" smtClean="0">
                  <a:ln>
                    <a:noFill/>
                  </a:ln>
                  <a:solidFill>
                    <a:schemeClr val="tx2"/>
                  </a:solidFill>
                  <a:effectLst/>
                  <a:latin typeface="Calibri" pitchFamily="34" charset="0"/>
                </a:rPr>
                <a:t>   </a:t>
              </a:r>
              <a:r>
                <a:rPr kumimoji="0" lang="en-US" b="1" i="0" u="none" strike="noStrike" cap="none" normalizeH="0" baseline="0" dirty="0" smtClean="0">
                  <a:ln>
                    <a:noFill/>
                  </a:ln>
                  <a:solidFill>
                    <a:schemeClr val="tx2"/>
                  </a:solidFill>
                  <a:effectLst/>
                  <a:latin typeface="Arial" pitchFamily="34" charset="0"/>
                </a:rPr>
                <a:t>Week 1               Approach                    Week n</a:t>
              </a:r>
            </a:p>
          </p:txBody>
        </p:sp>
        <p:sp>
          <p:nvSpPr>
            <p:cNvPr id="19484" name="AutoShape 28"/>
            <p:cNvSpPr>
              <a:spLocks noChangeArrowheads="1"/>
            </p:cNvSpPr>
            <p:nvPr/>
          </p:nvSpPr>
          <p:spPr bwMode="auto">
            <a:xfrm>
              <a:off x="3950" y="1967"/>
              <a:ext cx="1187" cy="649"/>
            </a:xfrm>
            <a:prstGeom prst="roundRect">
              <a:avLst>
                <a:gd name="adj" fmla="val 16667"/>
              </a:avLst>
            </a:prstGeom>
            <a:solidFill>
              <a:srgbClr val="17365D"/>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smtClean="0">
                  <a:ln>
                    <a:noFill/>
                  </a:ln>
                  <a:solidFill>
                    <a:schemeClr val="bg1"/>
                  </a:solidFill>
                  <a:effectLst/>
                  <a:latin typeface="Arial" pitchFamily="34" charset="0"/>
                </a:rPr>
                <a:t>Accessibility objectives</a:t>
              </a:r>
            </a:p>
          </p:txBody>
        </p:sp>
        <p:sp>
          <p:nvSpPr>
            <p:cNvPr id="19485" name="AutoShape 29"/>
            <p:cNvSpPr>
              <a:spLocks noChangeArrowheads="1"/>
            </p:cNvSpPr>
            <p:nvPr/>
          </p:nvSpPr>
          <p:spPr bwMode="auto">
            <a:xfrm>
              <a:off x="5137" y="2424"/>
              <a:ext cx="1045" cy="639"/>
            </a:xfrm>
            <a:prstGeom prst="roundRect">
              <a:avLst>
                <a:gd name="adj" fmla="val 16667"/>
              </a:avLst>
            </a:prstGeom>
            <a:solidFill>
              <a:srgbClr val="17365D"/>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smtClean="0">
                  <a:ln>
                    <a:noFill/>
                  </a:ln>
                  <a:solidFill>
                    <a:schemeClr val="bg1"/>
                  </a:solidFill>
                  <a:effectLst/>
                  <a:latin typeface="Arial" pitchFamily="34" charset="0"/>
                </a:rPr>
                <a:t>Accessibility Principals &amp; Guidelines</a:t>
              </a:r>
            </a:p>
          </p:txBody>
        </p:sp>
        <p:sp>
          <p:nvSpPr>
            <p:cNvPr id="19486" name="AutoShape 30"/>
            <p:cNvSpPr>
              <a:spLocks noChangeArrowheads="1"/>
            </p:cNvSpPr>
            <p:nvPr/>
          </p:nvSpPr>
          <p:spPr bwMode="auto">
            <a:xfrm>
              <a:off x="6182" y="2424"/>
              <a:ext cx="1045" cy="639"/>
            </a:xfrm>
            <a:prstGeom prst="roundRect">
              <a:avLst>
                <a:gd name="adj" fmla="val 16667"/>
              </a:avLst>
            </a:prstGeom>
            <a:solidFill>
              <a:srgbClr val="17365D"/>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smtClean="0">
                  <a:ln>
                    <a:noFill/>
                  </a:ln>
                  <a:solidFill>
                    <a:schemeClr val="bg1"/>
                  </a:solidFill>
                  <a:effectLst/>
                  <a:latin typeface="Arial" pitchFamily="34" charset="0"/>
                </a:rPr>
                <a:t>Test Plan &amp; Test Design</a:t>
              </a:r>
            </a:p>
          </p:txBody>
        </p:sp>
        <p:sp>
          <p:nvSpPr>
            <p:cNvPr id="19487" name="AutoShape 31"/>
            <p:cNvSpPr>
              <a:spLocks noChangeArrowheads="1"/>
            </p:cNvSpPr>
            <p:nvPr/>
          </p:nvSpPr>
          <p:spPr bwMode="auto">
            <a:xfrm>
              <a:off x="7227" y="2424"/>
              <a:ext cx="1045" cy="639"/>
            </a:xfrm>
            <a:prstGeom prst="roundRect">
              <a:avLst>
                <a:gd name="adj" fmla="val 16667"/>
              </a:avLst>
            </a:prstGeom>
            <a:solidFill>
              <a:srgbClr val="17365D"/>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smtClean="0">
                  <a:ln>
                    <a:noFill/>
                  </a:ln>
                  <a:solidFill>
                    <a:schemeClr val="bg1"/>
                  </a:solidFill>
                  <a:effectLst/>
                  <a:latin typeface="Arial" pitchFamily="34" charset="0"/>
                </a:rPr>
                <a:t>Test Execution</a:t>
              </a:r>
            </a:p>
          </p:txBody>
        </p:sp>
        <p:sp>
          <p:nvSpPr>
            <p:cNvPr id="19488" name="AutoShape 32"/>
            <p:cNvSpPr>
              <a:spLocks noChangeArrowheads="1"/>
            </p:cNvSpPr>
            <p:nvPr/>
          </p:nvSpPr>
          <p:spPr bwMode="auto">
            <a:xfrm>
              <a:off x="8272" y="2424"/>
              <a:ext cx="1045" cy="639"/>
            </a:xfrm>
            <a:prstGeom prst="roundRect">
              <a:avLst>
                <a:gd name="adj" fmla="val 16667"/>
              </a:avLst>
            </a:prstGeom>
            <a:solidFill>
              <a:srgbClr val="17365D"/>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smtClean="0">
                  <a:ln>
                    <a:noFill/>
                  </a:ln>
                  <a:solidFill>
                    <a:schemeClr val="bg1"/>
                  </a:solidFill>
                  <a:effectLst/>
                  <a:latin typeface="Arial" pitchFamily="34" charset="0"/>
                </a:rPr>
                <a:t>Analysis, Reporting &amp; Retest</a:t>
              </a:r>
            </a:p>
          </p:txBody>
        </p:sp>
        <p:sp>
          <p:nvSpPr>
            <p:cNvPr id="19489" name="AutoShape 33"/>
            <p:cNvSpPr>
              <a:spLocks/>
            </p:cNvSpPr>
            <p:nvPr/>
          </p:nvSpPr>
          <p:spPr bwMode="auto">
            <a:xfrm rot="5400000">
              <a:off x="5537" y="2849"/>
              <a:ext cx="254" cy="862"/>
            </a:xfrm>
            <a:prstGeom prst="rightBrace">
              <a:avLst>
                <a:gd name="adj1" fmla="val 28281"/>
                <a:gd name="adj2" fmla="val 50000"/>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490" name="AutoShape 34"/>
            <p:cNvSpPr>
              <a:spLocks/>
            </p:cNvSpPr>
            <p:nvPr/>
          </p:nvSpPr>
          <p:spPr bwMode="auto">
            <a:xfrm rot="5480068" flipV="1">
              <a:off x="8693" y="2820"/>
              <a:ext cx="172" cy="839"/>
            </a:xfrm>
            <a:prstGeom prst="rightBrace">
              <a:avLst>
                <a:gd name="adj1" fmla="val 40649"/>
                <a:gd name="adj2" fmla="val 50000"/>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491" name="AutoShape 35"/>
            <p:cNvSpPr>
              <a:spLocks noChangeArrowheads="1"/>
            </p:cNvSpPr>
            <p:nvPr/>
          </p:nvSpPr>
          <p:spPr bwMode="auto">
            <a:xfrm>
              <a:off x="5821" y="2282"/>
              <a:ext cx="608" cy="142"/>
            </a:xfrm>
            <a:prstGeom prst="curvedDownArrow">
              <a:avLst>
                <a:gd name="adj1" fmla="val 85634"/>
                <a:gd name="adj2" fmla="val 171268"/>
                <a:gd name="adj3" fmla="val 33333"/>
              </a:avLst>
            </a:prstGeom>
            <a:solidFill>
              <a:srgbClr val="0070C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9492" name="AutoShape 36"/>
            <p:cNvSpPr>
              <a:spLocks noChangeArrowheads="1"/>
            </p:cNvSpPr>
            <p:nvPr/>
          </p:nvSpPr>
          <p:spPr bwMode="auto">
            <a:xfrm>
              <a:off x="6926" y="2281"/>
              <a:ext cx="578" cy="143"/>
            </a:xfrm>
            <a:prstGeom prst="curvedDownArrow">
              <a:avLst>
                <a:gd name="adj1" fmla="val 80839"/>
                <a:gd name="adj2" fmla="val 161678"/>
                <a:gd name="adj3" fmla="val 33333"/>
              </a:avLst>
            </a:prstGeom>
            <a:solidFill>
              <a:srgbClr val="0070C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9493" name="AutoShape 37"/>
            <p:cNvSpPr>
              <a:spLocks noChangeArrowheads="1"/>
            </p:cNvSpPr>
            <p:nvPr/>
          </p:nvSpPr>
          <p:spPr bwMode="auto">
            <a:xfrm>
              <a:off x="8008" y="2281"/>
              <a:ext cx="578" cy="143"/>
            </a:xfrm>
            <a:prstGeom prst="curvedDownArrow">
              <a:avLst>
                <a:gd name="adj1" fmla="val 80839"/>
                <a:gd name="adj2" fmla="val 161678"/>
                <a:gd name="adj3" fmla="val 33333"/>
              </a:avLst>
            </a:prstGeom>
            <a:solidFill>
              <a:srgbClr val="0070C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4638"/>
            <a:ext cx="7696200" cy="868362"/>
          </a:xfrm>
        </p:spPr>
        <p:txBody>
          <a:bodyPr/>
          <a:lstStyle/>
          <a:p>
            <a:r>
              <a:rPr lang="en-US" dirty="0" smtClean="0"/>
              <a:t>Approach</a:t>
            </a:r>
            <a:endParaRPr lang="en-US" dirty="0"/>
          </a:p>
        </p:txBody>
      </p:sp>
      <p:sp>
        <p:nvSpPr>
          <p:cNvPr id="40" name="Slide Number Placeholder 8"/>
          <p:cNvSpPr>
            <a:spLocks noGrp="1"/>
          </p:cNvSpPr>
          <p:nvPr>
            <p:ph type="sldNum" sz="quarter" idx="12"/>
          </p:nvPr>
        </p:nvSpPr>
        <p:spPr>
          <a:xfrm>
            <a:off x="3505200" y="6553200"/>
            <a:ext cx="2133600" cy="244475"/>
          </a:xfrm>
        </p:spPr>
        <p:txBody>
          <a:bodyPr/>
          <a:lstStyle/>
          <a:p>
            <a:fld id="{64894E68-D2D4-4B40-8E14-DB1F50DC8A18}" type="slidenum">
              <a:rPr lang="en-US" smtClean="0"/>
              <a:pPr/>
              <a:t>10</a:t>
            </a:fld>
            <a:endParaRPr lang="en-US" dirty="0"/>
          </a:p>
        </p:txBody>
      </p:sp>
      <p:graphicFrame>
        <p:nvGraphicFramePr>
          <p:cNvPr id="7" name="Table 6"/>
          <p:cNvGraphicFramePr>
            <a:graphicFrameLocks noGrp="1"/>
          </p:cNvGraphicFramePr>
          <p:nvPr/>
        </p:nvGraphicFramePr>
        <p:xfrm>
          <a:off x="152400" y="1523999"/>
          <a:ext cx="8763000" cy="4667789"/>
        </p:xfrm>
        <a:graphic>
          <a:graphicData uri="http://schemas.openxmlformats.org/drawingml/2006/table">
            <a:tbl>
              <a:tblPr firstRow="1" bandRow="1">
                <a:tableStyleId>{793D81CF-94F2-401A-BA57-92F5A7B2D0C5}</a:tableStyleId>
              </a:tblPr>
              <a:tblGrid>
                <a:gridCol w="1752600"/>
                <a:gridCol w="7010400"/>
              </a:tblGrid>
              <a:tr h="426851">
                <a:tc>
                  <a:txBody>
                    <a:bodyPr/>
                    <a:lstStyle/>
                    <a:p>
                      <a:pPr algn="ctr">
                        <a:buFontTx/>
                        <a:buNone/>
                      </a:pPr>
                      <a:r>
                        <a:rPr lang="en-US" sz="1600" b="1" dirty="0" smtClean="0">
                          <a:latin typeface="+mn-lt"/>
                        </a:rPr>
                        <a:t>Module</a:t>
                      </a:r>
                      <a:r>
                        <a:rPr lang="en-US" sz="1600" b="1" baseline="0" dirty="0" smtClean="0">
                          <a:latin typeface="+mn-lt"/>
                        </a:rPr>
                        <a:t> Phase</a:t>
                      </a:r>
                      <a:endParaRPr lang="en-US" sz="1600" b="1"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FontTx/>
                        <a:buNone/>
                      </a:pPr>
                      <a:r>
                        <a:rPr lang="en-US" sz="1600" b="1" dirty="0" smtClean="0">
                          <a:latin typeface="+mn-lt"/>
                        </a:rPr>
                        <a:t>Activities</a:t>
                      </a:r>
                      <a:endParaRPr lang="en-US" sz="1600" b="1"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428212">
                <a:tc>
                  <a:txBody>
                    <a:bodyPr/>
                    <a:lstStyle/>
                    <a:p>
                      <a:pPr>
                        <a:buFontTx/>
                        <a:buNone/>
                      </a:pPr>
                      <a:r>
                        <a:rPr lang="en-US" sz="1400" b="1" dirty="0" smtClean="0">
                          <a:latin typeface="+mn-lt"/>
                        </a:rPr>
                        <a:t>Accessibility</a:t>
                      </a:r>
                    </a:p>
                    <a:p>
                      <a:pPr>
                        <a:buFontTx/>
                        <a:buNone/>
                      </a:pPr>
                      <a:r>
                        <a:rPr lang="en-US" sz="1400" b="1" dirty="0" smtClean="0">
                          <a:latin typeface="+mn-lt"/>
                        </a:rPr>
                        <a:t>Objectives</a:t>
                      </a:r>
                      <a:endParaRPr lang="en-US" sz="1400" b="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12713" indent="-112713">
                        <a:buFont typeface="Wingdings" pitchFamily="2" charset="2"/>
                        <a:buChar char="§"/>
                      </a:pPr>
                      <a:r>
                        <a:rPr lang="en-US" sz="1600" kern="1600" dirty="0" smtClean="0">
                          <a:latin typeface="+mn-lt"/>
                          <a:ea typeface="MS Mincho"/>
                          <a:cs typeface="Times New Roman" pitchFamily="18" charset="0"/>
                        </a:rPr>
                        <a:t>Accessibility Testing is an approach to measuring a product's ability to be easily customized or modified for the benefit of users with disabilities.</a:t>
                      </a:r>
                      <a:endParaRPr lang="en-US" sz="1600" b="0" kern="1600" dirty="0">
                        <a:latin typeface="+mn-lt"/>
                        <a:ea typeface="MS Mincho"/>
                        <a:cs typeface="Times New Roman" pitchFamily="18" charset="0"/>
                      </a:endParaRPr>
                    </a:p>
                    <a:p>
                      <a:pPr marL="112713" marR="0" indent="-112713" algn="l" defTabSz="914400" rtl="0" eaLnBrk="1" fontAlgn="auto" latinLnBrk="0" hangingPunct="1">
                        <a:lnSpc>
                          <a:spcPct val="100000"/>
                        </a:lnSpc>
                        <a:spcBef>
                          <a:spcPts val="0"/>
                        </a:spcBef>
                        <a:spcAft>
                          <a:spcPts val="0"/>
                        </a:spcAft>
                        <a:buClrTx/>
                        <a:buSzTx/>
                        <a:buFont typeface="Wingdings" pitchFamily="2" charset="2"/>
                        <a:buChar char="§"/>
                        <a:tabLst/>
                        <a:defRPr/>
                      </a:pPr>
                      <a:r>
                        <a:rPr lang="en-US" sz="1600" kern="1200" dirty="0" smtClean="0">
                          <a:solidFill>
                            <a:schemeClr val="dk1"/>
                          </a:solidFill>
                          <a:latin typeface="+mn-lt"/>
                          <a:ea typeface="+mn-ea"/>
                          <a:cs typeface="Times New Roman" pitchFamily="18" charset="0"/>
                        </a:rPr>
                        <a:t>Users should be able to change input and output features, keyboard features, screen colors, sounds, and even the ability to zoom in on text and images. </a:t>
                      </a:r>
                    </a:p>
                    <a:p>
                      <a:pPr marL="112713" indent="-112713">
                        <a:buFont typeface="Wingdings" pitchFamily="2" charset="2"/>
                        <a:buChar char="§"/>
                      </a:pPr>
                      <a:endParaRPr lang="en-US" sz="1400" kern="1600" dirty="0" smtClean="0">
                        <a:latin typeface="+mn-lt"/>
                        <a:ea typeface="MS Mincho"/>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151820">
                <a:tc>
                  <a:txBody>
                    <a:bodyPr/>
                    <a:lstStyle/>
                    <a:p>
                      <a:pPr marL="0" marR="0" indent="0" algn="l" defTabSz="914400" rtl="0" eaLnBrk="1" fontAlgn="auto" latinLnBrk="0" hangingPunct="1">
                        <a:lnSpc>
                          <a:spcPct val="100000"/>
                        </a:lnSpc>
                        <a:spcBef>
                          <a:spcPts val="0"/>
                        </a:spcBef>
                        <a:spcAft>
                          <a:spcPts val="0"/>
                        </a:spcAft>
                        <a:buClrTx/>
                        <a:buSzTx/>
                        <a:buFont typeface="Wingdings" pitchFamily="2" charset="2"/>
                        <a:buNone/>
                        <a:tabLst/>
                        <a:defRPr/>
                      </a:pPr>
                      <a:r>
                        <a:rPr lang="en-US" sz="1400" b="1" dirty="0" smtClean="0">
                          <a:latin typeface="+mn-lt"/>
                        </a:rPr>
                        <a:t>Accessibility</a:t>
                      </a:r>
                      <a:r>
                        <a:rPr lang="en-US" sz="1400" b="1" baseline="0" dirty="0" smtClean="0">
                          <a:latin typeface="+mn-lt"/>
                        </a:rPr>
                        <a:t> Principals &amp; Guidelines</a:t>
                      </a:r>
                      <a:endParaRPr lang="en-US" sz="1400" b="0" dirty="0" smtClean="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12713" marR="0" indent="-112713" algn="l" defTabSz="914400" rtl="0" eaLnBrk="1" fontAlgn="auto" latinLnBrk="0" hangingPunct="1">
                        <a:lnSpc>
                          <a:spcPct val="100000"/>
                        </a:lnSpc>
                        <a:spcBef>
                          <a:spcPts val="0"/>
                        </a:spcBef>
                        <a:spcAft>
                          <a:spcPts val="0"/>
                        </a:spcAft>
                        <a:buClrTx/>
                        <a:buSzTx/>
                        <a:buFont typeface="Wingdings" pitchFamily="2" charset="2"/>
                        <a:buChar char="§"/>
                        <a:tabLst/>
                        <a:defRPr/>
                      </a:pPr>
                      <a:r>
                        <a:rPr lang="en-US" sz="1600" dirty="0" smtClean="0">
                          <a:solidFill>
                            <a:schemeClr val="tx1"/>
                          </a:solidFill>
                          <a:latin typeface="+mn-lt"/>
                          <a:ea typeface="MS Mincho"/>
                          <a:cs typeface="Times New Roman" pitchFamily="18" charset="0"/>
                        </a:rPr>
                        <a:t>Accessibility is achieved by following accessibility principals</a:t>
                      </a:r>
                      <a:r>
                        <a:rPr lang="en-US" sz="1600" baseline="0" dirty="0" smtClean="0">
                          <a:solidFill>
                            <a:schemeClr val="tx1"/>
                          </a:solidFill>
                          <a:latin typeface="+mn-lt"/>
                          <a:ea typeface="MS Mincho"/>
                          <a:cs typeface="Times New Roman" pitchFamily="18" charset="0"/>
                        </a:rPr>
                        <a:t> standards developed by access board of </a:t>
                      </a:r>
                      <a:r>
                        <a:rPr lang="en-US" sz="1600" dirty="0" smtClean="0">
                          <a:solidFill>
                            <a:schemeClr val="tx1"/>
                          </a:solidFill>
                          <a:latin typeface="+mn-lt"/>
                          <a:ea typeface="MS Mincho"/>
                          <a:cs typeface="Times New Roman" pitchFamily="18" charset="0"/>
                        </a:rPr>
                        <a:t>Section 508 of the U. S. Rehabilitation Act.</a:t>
                      </a:r>
                    </a:p>
                    <a:p>
                      <a:pPr marL="112713" marR="0" indent="-112713" algn="l" defTabSz="914400" rtl="0" eaLnBrk="1" fontAlgn="auto" latinLnBrk="0" hangingPunct="1">
                        <a:lnSpc>
                          <a:spcPct val="100000"/>
                        </a:lnSpc>
                        <a:spcBef>
                          <a:spcPts val="0"/>
                        </a:spcBef>
                        <a:spcAft>
                          <a:spcPts val="0"/>
                        </a:spcAft>
                        <a:buClrTx/>
                        <a:buSzTx/>
                        <a:buFont typeface="Wingdings" pitchFamily="2" charset="2"/>
                        <a:buChar char="§"/>
                        <a:tabLst/>
                        <a:defRPr/>
                      </a:pPr>
                      <a:r>
                        <a:rPr lang="en-US" sz="1600" b="0" dirty="0" smtClean="0">
                          <a:solidFill>
                            <a:schemeClr val="tx1"/>
                          </a:solidFill>
                          <a:latin typeface="+mn-lt"/>
                          <a:ea typeface="MS Mincho"/>
                          <a:cs typeface="Times New Roman" pitchFamily="18" charset="0"/>
                        </a:rPr>
                        <a:t>These principals</a:t>
                      </a:r>
                      <a:r>
                        <a:rPr lang="en-US" sz="1600" b="0" baseline="0" dirty="0" smtClean="0">
                          <a:solidFill>
                            <a:schemeClr val="tx1"/>
                          </a:solidFill>
                          <a:latin typeface="+mn-lt"/>
                          <a:ea typeface="MS Mincho"/>
                          <a:cs typeface="Times New Roman" pitchFamily="18" charset="0"/>
                        </a:rPr>
                        <a:t> and guidelines should be followed in the early in the design stage. </a:t>
                      </a:r>
                      <a:endParaRPr lang="en-US" sz="1600" b="0" dirty="0" smtClean="0">
                        <a:solidFill>
                          <a:schemeClr val="tx1"/>
                        </a:solidFill>
                        <a:latin typeface="+mn-lt"/>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565118">
                <a:tc>
                  <a:txBody>
                    <a:bodyPr/>
                    <a:lstStyle/>
                    <a:p>
                      <a:pPr marL="0" marR="0" indent="0" algn="l" defTabSz="914400" rtl="0" eaLnBrk="1" fontAlgn="auto" latinLnBrk="0" hangingPunct="1">
                        <a:lnSpc>
                          <a:spcPct val="100000"/>
                        </a:lnSpc>
                        <a:spcBef>
                          <a:spcPts val="0"/>
                        </a:spcBef>
                        <a:spcAft>
                          <a:spcPts val="0"/>
                        </a:spcAft>
                        <a:buClrTx/>
                        <a:buSzTx/>
                        <a:buFont typeface="Wingdings" pitchFamily="2" charset="2"/>
                        <a:buNone/>
                        <a:tabLst/>
                        <a:defRPr/>
                      </a:pPr>
                      <a:r>
                        <a:rPr lang="en-US" sz="1400" b="1" dirty="0" smtClean="0">
                          <a:latin typeface="+mn-lt"/>
                        </a:rPr>
                        <a:t>Test Plan &amp; Test Design</a:t>
                      </a:r>
                      <a:endParaRPr lang="en-US" sz="1400" b="0" dirty="0" smtClean="0">
                        <a:latin typeface="+mn-lt"/>
                      </a:endParaRPr>
                    </a:p>
                    <a:p>
                      <a:pPr>
                        <a:buFont typeface="Wingdings" pitchFamily="2" charset="2"/>
                        <a:buNone/>
                      </a:pPr>
                      <a:endParaRPr lang="en-US" sz="1400" b="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12713" indent="-112713">
                        <a:buFont typeface="Wingdings" pitchFamily="2" charset="2"/>
                        <a:buChar char="§"/>
                      </a:pPr>
                      <a:r>
                        <a:rPr lang="en-US" sz="1600" b="0" dirty="0" smtClean="0">
                          <a:latin typeface="+mn-lt"/>
                          <a:cs typeface="Times New Roman" pitchFamily="18" charset="0"/>
                        </a:rPr>
                        <a:t>Identify key</a:t>
                      </a:r>
                      <a:r>
                        <a:rPr lang="en-US" sz="1600" b="0" baseline="0" dirty="0" smtClean="0">
                          <a:latin typeface="+mn-lt"/>
                          <a:cs typeface="Times New Roman" pitchFamily="18" charset="0"/>
                        </a:rPr>
                        <a:t> </a:t>
                      </a:r>
                      <a:r>
                        <a:rPr lang="en-US" sz="1600" b="0" dirty="0" smtClean="0">
                          <a:latin typeface="+mn-lt"/>
                          <a:cs typeface="Times New Roman" pitchFamily="18" charset="0"/>
                        </a:rPr>
                        <a:t>scenarios, determine variability among representative users and how to simulate that variability, define test data and establish metrics to be collected</a:t>
                      </a:r>
                      <a:r>
                        <a:rPr lang="en-US" sz="1600" b="0" dirty="0" smtClean="0">
                          <a:latin typeface="+mn-lt"/>
                          <a:cs typeface="Times New Roman" pitchFamily="18" charset="0"/>
                        </a:rPr>
                        <a:t>.</a:t>
                      </a:r>
                      <a:endParaRPr lang="en-US" sz="1600" b="0" dirty="0" smtClean="0">
                        <a:latin typeface="+mn-lt"/>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pic>
        <p:nvPicPr>
          <p:cNvPr id="6" name="Picture 2" descr="logo2997193_sm"/>
          <p:cNvPicPr>
            <a:picLocks noChangeAspect="1" noChangeArrowheads="1"/>
          </p:cNvPicPr>
          <p:nvPr/>
        </p:nvPicPr>
        <p:blipFill>
          <a:blip r:embed="rId3" cstate="print"/>
          <a:srcRect/>
          <a:stretch>
            <a:fillRect/>
          </a:stretch>
        </p:blipFill>
        <p:spPr bwMode="auto">
          <a:xfrm>
            <a:off x="0" y="6296025"/>
            <a:ext cx="1905000" cy="5619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4638"/>
            <a:ext cx="7696200" cy="868362"/>
          </a:xfrm>
        </p:spPr>
        <p:txBody>
          <a:bodyPr/>
          <a:lstStyle/>
          <a:p>
            <a:r>
              <a:rPr lang="en-US" dirty="0" smtClean="0"/>
              <a:t>Approach</a:t>
            </a:r>
            <a:endParaRPr lang="en-US" dirty="0"/>
          </a:p>
        </p:txBody>
      </p:sp>
      <p:sp>
        <p:nvSpPr>
          <p:cNvPr id="40" name="Slide Number Placeholder 8"/>
          <p:cNvSpPr>
            <a:spLocks noGrp="1"/>
          </p:cNvSpPr>
          <p:nvPr>
            <p:ph type="sldNum" sz="quarter" idx="12"/>
          </p:nvPr>
        </p:nvSpPr>
        <p:spPr>
          <a:xfrm>
            <a:off x="3505200" y="6553200"/>
            <a:ext cx="2133600" cy="244475"/>
          </a:xfrm>
        </p:spPr>
        <p:txBody>
          <a:bodyPr/>
          <a:lstStyle/>
          <a:p>
            <a:fld id="{64894E68-D2D4-4B40-8E14-DB1F50DC8A18}" type="slidenum">
              <a:rPr lang="en-US" smtClean="0"/>
              <a:pPr/>
              <a:t>11</a:t>
            </a:fld>
            <a:endParaRPr lang="en-US" dirty="0"/>
          </a:p>
        </p:txBody>
      </p:sp>
      <p:graphicFrame>
        <p:nvGraphicFramePr>
          <p:cNvPr id="7" name="Table 6"/>
          <p:cNvGraphicFramePr>
            <a:graphicFrameLocks noGrp="1"/>
          </p:cNvGraphicFramePr>
          <p:nvPr/>
        </p:nvGraphicFramePr>
        <p:xfrm>
          <a:off x="304800" y="1447800"/>
          <a:ext cx="8610600" cy="2226915"/>
        </p:xfrm>
        <a:graphic>
          <a:graphicData uri="http://schemas.openxmlformats.org/drawingml/2006/table">
            <a:tbl>
              <a:tblPr firstRow="1" bandRow="1">
                <a:tableStyleId>{793D81CF-94F2-401A-BA57-92F5A7B2D0C5}</a:tableStyleId>
              </a:tblPr>
              <a:tblGrid>
                <a:gridCol w="2057400"/>
                <a:gridCol w="6553200"/>
              </a:tblGrid>
              <a:tr h="496170">
                <a:tc>
                  <a:txBody>
                    <a:bodyPr/>
                    <a:lstStyle/>
                    <a:p>
                      <a:pPr algn="ctr">
                        <a:buFontTx/>
                        <a:buNone/>
                      </a:pPr>
                      <a:r>
                        <a:rPr lang="en-US" sz="1600" b="1" dirty="0" smtClean="0"/>
                        <a:t>Module</a:t>
                      </a:r>
                      <a:r>
                        <a:rPr lang="en-US" sz="1600" b="1" baseline="0" dirty="0" smtClean="0"/>
                        <a:t> Phase</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FontTx/>
                        <a:buNone/>
                      </a:pPr>
                      <a:r>
                        <a:rPr lang="en-US" sz="1600" b="1" dirty="0" smtClean="0"/>
                        <a:t>Activities</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95314">
                <a:tc>
                  <a:txBody>
                    <a:bodyPr/>
                    <a:lstStyle/>
                    <a:p>
                      <a:pPr marL="0" marR="0" indent="0" algn="l" defTabSz="914400" rtl="0" eaLnBrk="1" fontAlgn="auto" latinLnBrk="0" hangingPunct="1">
                        <a:lnSpc>
                          <a:spcPct val="100000"/>
                        </a:lnSpc>
                        <a:spcBef>
                          <a:spcPts val="0"/>
                        </a:spcBef>
                        <a:spcAft>
                          <a:spcPts val="0"/>
                        </a:spcAft>
                        <a:buClrTx/>
                        <a:buSzTx/>
                        <a:buFont typeface="Wingdings" pitchFamily="2" charset="2"/>
                        <a:buNone/>
                        <a:tabLst/>
                        <a:defRPr/>
                      </a:pPr>
                      <a:r>
                        <a:rPr lang="en-US" sz="1400" b="1" dirty="0" smtClean="0"/>
                        <a:t>Test Execution</a:t>
                      </a:r>
                      <a:endParaRPr lang="en-US" sz="1400" b="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12713" marR="0" indent="-112713" algn="l" defTabSz="914400" rtl="0" eaLnBrk="1" fontAlgn="auto" latinLnBrk="0" hangingPunct="1">
                        <a:lnSpc>
                          <a:spcPct val="100000"/>
                        </a:lnSpc>
                        <a:spcBef>
                          <a:spcPts val="0"/>
                        </a:spcBef>
                        <a:spcAft>
                          <a:spcPts val="0"/>
                        </a:spcAft>
                        <a:buClrTx/>
                        <a:buSzTx/>
                        <a:buFont typeface="Wingdings" pitchFamily="2" charset="2"/>
                        <a:buChar char="§"/>
                        <a:tabLst/>
                        <a:defRPr/>
                      </a:pPr>
                      <a:r>
                        <a:rPr lang="en-US" sz="1400" b="0" dirty="0" smtClean="0"/>
                        <a:t>Validate </a:t>
                      </a:r>
                      <a:r>
                        <a:rPr lang="en-US" sz="1400" b="0" dirty="0" smtClean="0"/>
                        <a:t>the tests, test </a:t>
                      </a:r>
                      <a:r>
                        <a:rPr lang="en-US" sz="1400" b="0" dirty="0" smtClean="0"/>
                        <a:t>data.</a:t>
                      </a:r>
                    </a:p>
                    <a:p>
                      <a:pPr marL="112713" marR="0" indent="-112713" algn="l" defTabSz="914400" rtl="0" eaLnBrk="1" fontAlgn="auto" latinLnBrk="0" hangingPunct="1">
                        <a:lnSpc>
                          <a:spcPct val="100000"/>
                        </a:lnSpc>
                        <a:spcBef>
                          <a:spcPts val="0"/>
                        </a:spcBef>
                        <a:spcAft>
                          <a:spcPts val="0"/>
                        </a:spcAft>
                        <a:buClrTx/>
                        <a:buSzTx/>
                        <a:buFont typeface="Wingdings" pitchFamily="2" charset="2"/>
                        <a:buChar char="§"/>
                        <a:tabLst/>
                        <a:defRPr/>
                      </a:pPr>
                      <a:r>
                        <a:rPr lang="en-US" sz="1400" b="0" dirty="0" smtClean="0"/>
                        <a:t>Execute the test cases</a:t>
                      </a:r>
                      <a:r>
                        <a:rPr lang="en-US" sz="1400" b="0" baseline="0" dirty="0" smtClean="0"/>
                        <a:t>.</a:t>
                      </a:r>
                      <a:r>
                        <a:rPr lang="en-US" sz="1400" b="0" dirty="0" smtClean="0"/>
                        <a:t> </a:t>
                      </a:r>
                    </a:p>
                    <a:p>
                      <a:pPr marL="112713" marR="0" indent="-112713" algn="l" defTabSz="914400" rtl="0" eaLnBrk="1" fontAlgn="auto" latinLnBrk="0" hangingPunct="1">
                        <a:lnSpc>
                          <a:spcPct val="100000"/>
                        </a:lnSpc>
                        <a:spcBef>
                          <a:spcPts val="0"/>
                        </a:spcBef>
                        <a:spcAft>
                          <a:spcPts val="0"/>
                        </a:spcAft>
                        <a:buClrTx/>
                        <a:buSzTx/>
                        <a:buFont typeface="Wingdings" pitchFamily="2" charset="2"/>
                        <a:buChar char="§"/>
                        <a:tabLst/>
                        <a:defRPr/>
                      </a:pPr>
                      <a:endParaRPr lang="en-US" sz="1400" b="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35431">
                <a:tc>
                  <a:txBody>
                    <a:bodyPr/>
                    <a:lstStyle/>
                    <a:p>
                      <a:pPr>
                        <a:buFont typeface="Wingdings" pitchFamily="2" charset="2"/>
                        <a:buNone/>
                      </a:pPr>
                      <a:r>
                        <a:rPr lang="en-US" sz="1400" b="1" dirty="0" smtClean="0"/>
                        <a:t>Analyze, Report and Retest</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12713" indent="-112713">
                        <a:buFont typeface="Wingdings" pitchFamily="2" charset="2"/>
                        <a:buChar char="§"/>
                      </a:pPr>
                      <a:r>
                        <a:rPr lang="en-US" sz="1400" dirty="0" smtClean="0"/>
                        <a:t>Consolidate and share test results. Analyze the data both individually and as a cross-functional team. Reprioritize the remaining tests and re-execute them as needed.</a:t>
                      </a:r>
                      <a:endParaRPr lang="en-US" sz="1400" b="0" kern="1200" baseline="0" dirty="0" smtClean="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pic>
        <p:nvPicPr>
          <p:cNvPr id="6" name="Picture 2" descr="logo2997193_sm"/>
          <p:cNvPicPr>
            <a:picLocks noChangeAspect="1" noChangeArrowheads="1"/>
          </p:cNvPicPr>
          <p:nvPr/>
        </p:nvPicPr>
        <p:blipFill>
          <a:blip r:embed="rId3" cstate="print"/>
          <a:srcRect/>
          <a:stretch>
            <a:fillRect/>
          </a:stretch>
        </p:blipFill>
        <p:spPr bwMode="auto">
          <a:xfrm>
            <a:off x="0" y="6296025"/>
            <a:ext cx="1905000" cy="5619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4638"/>
            <a:ext cx="7696200" cy="868362"/>
          </a:xfrm>
        </p:spPr>
        <p:txBody>
          <a:bodyPr/>
          <a:lstStyle/>
          <a:p>
            <a:r>
              <a:rPr lang="en-US" dirty="0" smtClean="0"/>
              <a:t>Conclusion</a:t>
            </a:r>
            <a:endParaRPr lang="en-US" dirty="0"/>
          </a:p>
        </p:txBody>
      </p:sp>
      <p:sp>
        <p:nvSpPr>
          <p:cNvPr id="40" name="Slide Number Placeholder 8"/>
          <p:cNvSpPr>
            <a:spLocks noGrp="1"/>
          </p:cNvSpPr>
          <p:nvPr>
            <p:ph type="sldNum" sz="quarter" idx="12"/>
          </p:nvPr>
        </p:nvSpPr>
        <p:spPr>
          <a:xfrm>
            <a:off x="3505200" y="6553200"/>
            <a:ext cx="2133600" cy="244475"/>
          </a:xfrm>
        </p:spPr>
        <p:txBody>
          <a:bodyPr/>
          <a:lstStyle/>
          <a:p>
            <a:fld id="{64894E68-D2D4-4B40-8E14-DB1F50DC8A18}" type="slidenum">
              <a:rPr lang="en-US" smtClean="0"/>
              <a:pPr/>
              <a:t>12</a:t>
            </a:fld>
            <a:endParaRPr lang="en-US" dirty="0"/>
          </a:p>
        </p:txBody>
      </p:sp>
      <p:sp>
        <p:nvSpPr>
          <p:cNvPr id="4" name="TextBox 3"/>
          <p:cNvSpPr txBox="1"/>
          <p:nvPr/>
        </p:nvSpPr>
        <p:spPr>
          <a:xfrm>
            <a:off x="457200" y="1665745"/>
            <a:ext cx="8305800" cy="4478149"/>
          </a:xfrm>
          <a:prstGeom prst="rect">
            <a:avLst/>
          </a:prstGeom>
          <a:noFill/>
        </p:spPr>
        <p:txBody>
          <a:bodyPr wrap="square" rtlCol="0">
            <a:spAutoFit/>
          </a:bodyPr>
          <a:lstStyle/>
          <a:p>
            <a:pPr marL="0" marR="0">
              <a:lnSpc>
                <a:spcPct val="125000"/>
              </a:lnSpc>
              <a:spcBef>
                <a:spcPts val="600"/>
              </a:spcBef>
              <a:spcAft>
                <a:spcPts val="600"/>
              </a:spcAft>
              <a:tabLst>
                <a:tab pos="720090" algn="l"/>
              </a:tabLst>
            </a:pPr>
            <a:r>
              <a:rPr lang="en-US" sz="2000" dirty="0" smtClean="0">
                <a:latin typeface="+mn-lt"/>
                <a:ea typeface="MS Mincho"/>
                <a:cs typeface="Times New Roman"/>
              </a:rPr>
              <a:t>Making your organization more accessible to citizens, employees and other businesses is as promising as it is challenging.  While various sets of guidelines are already available to Web procedures – W3C’s WAI guidelines being the most generally accepted. </a:t>
            </a:r>
            <a:endParaRPr lang="en-US" sz="1400" dirty="0" smtClean="0">
              <a:latin typeface="+mn-lt"/>
              <a:ea typeface="MS Mincho"/>
              <a:cs typeface="Times New Roman"/>
            </a:endParaRPr>
          </a:p>
          <a:p>
            <a:pPr algn="just"/>
            <a:endParaRPr lang="en-US" sz="2000" dirty="0" smtClean="0">
              <a:latin typeface="+mn-lt"/>
            </a:endParaRPr>
          </a:p>
          <a:p>
            <a:pPr algn="just"/>
            <a:endParaRPr lang="en-GB" sz="2000" dirty="0" smtClean="0"/>
          </a:p>
          <a:p>
            <a:pPr algn="just"/>
            <a:r>
              <a:rPr lang="en-GB" sz="2000" dirty="0" smtClean="0"/>
              <a:t>Reference:</a:t>
            </a:r>
          </a:p>
          <a:p>
            <a:pPr lvl="0"/>
            <a:r>
              <a:rPr lang="en-US" sz="2000" u="sng" dirty="0" smtClean="0">
                <a:hlinkClick r:id="rId3"/>
              </a:rPr>
              <a:t>http://www.w3.org/TR/2008/REC-WCAG20-20081211/</a:t>
            </a:r>
            <a:endParaRPr lang="en-US" sz="2000" dirty="0" smtClean="0"/>
          </a:p>
          <a:p>
            <a:pPr lvl="0"/>
            <a:r>
              <a:rPr lang="en-US" sz="2000" u="sng" dirty="0" smtClean="0">
                <a:hlinkClick r:id="rId4"/>
              </a:rPr>
              <a:t>www.testinggeek.com/.../testing.../testing.../106-accessibility-testing</a:t>
            </a:r>
            <a:endParaRPr lang="en-US" sz="2000" dirty="0" smtClean="0"/>
          </a:p>
          <a:p>
            <a:pPr lvl="0"/>
            <a:r>
              <a:rPr lang="en-US" sz="2000" u="sng" dirty="0" smtClean="0">
                <a:hlinkClick r:id="rId5"/>
              </a:rPr>
              <a:t>http://alastairc.ac/wp-content/uploads/2009/04/accessibility-usability-notes7.pdf</a:t>
            </a:r>
            <a:endParaRPr lang="en-US" sz="2000" dirty="0" smtClean="0"/>
          </a:p>
          <a:p>
            <a:pPr lvl="0"/>
            <a:r>
              <a:rPr lang="en-US" sz="2000" u="sng" dirty="0" smtClean="0">
                <a:hlinkClick r:id="rId6"/>
              </a:rPr>
              <a:t>http://glendathegood.com/access/peso/AccessibleProcurementPeso.ppt</a:t>
            </a:r>
            <a:endParaRPr lang="en-US" sz="2000" dirty="0" smtClean="0"/>
          </a:p>
          <a:p>
            <a:r>
              <a:rPr lang="en-US" sz="2000" dirty="0" smtClean="0"/>
              <a:t> </a:t>
            </a:r>
            <a:endParaRPr lang="en-US" sz="2000" dirty="0">
              <a:latin typeface="+mn-lt"/>
            </a:endParaRPr>
          </a:p>
        </p:txBody>
      </p:sp>
      <p:pic>
        <p:nvPicPr>
          <p:cNvPr id="5" name="Picture 2" descr="logo2997193_sm"/>
          <p:cNvPicPr>
            <a:picLocks noChangeAspect="1" noChangeArrowheads="1"/>
          </p:cNvPicPr>
          <p:nvPr/>
        </p:nvPicPr>
        <p:blipFill>
          <a:blip r:embed="rId7" cstate="print"/>
          <a:srcRect/>
          <a:stretch>
            <a:fillRect/>
          </a:stretch>
        </p:blipFill>
        <p:spPr bwMode="auto">
          <a:xfrm>
            <a:off x="0" y="6296025"/>
            <a:ext cx="1905000" cy="5619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Sample presentation slides">
  <a:themeElements>
    <a:clrScheme name="ms01_1 1">
      <a:dk1>
        <a:srgbClr val="1D528D"/>
      </a:dk1>
      <a:lt1>
        <a:srgbClr val="FFFFFF"/>
      </a:lt1>
      <a:dk2>
        <a:srgbClr val="000000"/>
      </a:dk2>
      <a:lt2>
        <a:srgbClr val="CACACA"/>
      </a:lt2>
      <a:accent1>
        <a:srgbClr val="0099CC"/>
      </a:accent1>
      <a:accent2>
        <a:srgbClr val="BFA907"/>
      </a:accent2>
      <a:accent3>
        <a:srgbClr val="FFFFFF"/>
      </a:accent3>
      <a:accent4>
        <a:srgbClr val="174578"/>
      </a:accent4>
      <a:accent5>
        <a:srgbClr val="AACAE2"/>
      </a:accent5>
      <a:accent6>
        <a:srgbClr val="AD9906"/>
      </a:accent6>
      <a:hlink>
        <a:srgbClr val="6E81E0"/>
      </a:hlink>
      <a:folHlink>
        <a:srgbClr val="009999"/>
      </a:folHlink>
    </a:clrScheme>
    <a:fontScheme name="ms01_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ms01_1 1">
        <a:dk1>
          <a:srgbClr val="1D528D"/>
        </a:dk1>
        <a:lt1>
          <a:srgbClr val="FFFFFF"/>
        </a:lt1>
        <a:dk2>
          <a:srgbClr val="000000"/>
        </a:dk2>
        <a:lt2>
          <a:srgbClr val="CACACA"/>
        </a:lt2>
        <a:accent1>
          <a:srgbClr val="0099CC"/>
        </a:accent1>
        <a:accent2>
          <a:srgbClr val="BFA907"/>
        </a:accent2>
        <a:accent3>
          <a:srgbClr val="FFFFFF"/>
        </a:accent3>
        <a:accent4>
          <a:srgbClr val="174578"/>
        </a:accent4>
        <a:accent5>
          <a:srgbClr val="AACAE2"/>
        </a:accent5>
        <a:accent6>
          <a:srgbClr val="AD9906"/>
        </a:accent6>
        <a:hlink>
          <a:srgbClr val="6E81E0"/>
        </a:hlink>
        <a:folHlink>
          <a:srgbClr val="009999"/>
        </a:folHlink>
      </a:clrScheme>
      <a:clrMap bg1="lt1" tx1="dk1" bg2="lt2" tx2="dk2" accent1="accent1" accent2="accent2" accent3="accent3" accent4="accent4" accent5="accent5" accent6="accent6" hlink="hlink" folHlink="folHlink"/>
    </a:extraClrScheme>
    <a:extraClrScheme>
      <a:clrScheme name="ms01_1 2">
        <a:dk1>
          <a:srgbClr val="4E40A4"/>
        </a:dk1>
        <a:lt1>
          <a:srgbClr val="FFFFFF"/>
        </a:lt1>
        <a:dk2>
          <a:srgbClr val="000000"/>
        </a:dk2>
        <a:lt2>
          <a:srgbClr val="CACACA"/>
        </a:lt2>
        <a:accent1>
          <a:srgbClr val="8B65E9"/>
        </a:accent1>
        <a:accent2>
          <a:srgbClr val="008080"/>
        </a:accent2>
        <a:accent3>
          <a:srgbClr val="FFFFFF"/>
        </a:accent3>
        <a:accent4>
          <a:srgbClr val="41358B"/>
        </a:accent4>
        <a:accent5>
          <a:srgbClr val="C4B8F2"/>
        </a:accent5>
        <a:accent6>
          <a:srgbClr val="007373"/>
        </a:accent6>
        <a:hlink>
          <a:srgbClr val="0066CC"/>
        </a:hlink>
        <a:folHlink>
          <a:srgbClr val="8AB151"/>
        </a:folHlink>
      </a:clrScheme>
      <a:clrMap bg1="lt1" tx1="dk1" bg2="lt2" tx2="dk2" accent1="accent1" accent2="accent2" accent3="accent3" accent4="accent4" accent5="accent5" accent6="accent6" hlink="hlink" folHlink="folHlink"/>
    </a:extraClrScheme>
    <a:extraClrScheme>
      <a:clrScheme name="ms01_1 3">
        <a:dk1>
          <a:srgbClr val="666699"/>
        </a:dk1>
        <a:lt1>
          <a:srgbClr val="FFFFFF"/>
        </a:lt1>
        <a:dk2>
          <a:srgbClr val="000000"/>
        </a:dk2>
        <a:lt2>
          <a:srgbClr val="CACACA"/>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Sample presentation slides</Template>
  <TotalTime>8439</TotalTime>
  <Words>860</Words>
  <Application>Microsoft Office PowerPoint</Application>
  <PresentationFormat>On-screen Show (4:3)</PresentationFormat>
  <Paragraphs>155</Paragraphs>
  <Slides>12</Slides>
  <Notes>12</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14" baseType="lpstr">
      <vt:lpstr>Sample presentation slides</vt:lpstr>
      <vt:lpstr>Image</vt:lpstr>
      <vt:lpstr>Accessibility Testing</vt:lpstr>
      <vt:lpstr>Contents</vt:lpstr>
      <vt:lpstr>Introduction</vt:lpstr>
      <vt:lpstr>Accessibility Principles </vt:lpstr>
      <vt:lpstr>Guidelines </vt:lpstr>
      <vt:lpstr>Guidelines</vt:lpstr>
      <vt:lpstr>Prakat’s Value Addition</vt:lpstr>
      <vt:lpstr>Accessibility Testing Framework</vt:lpstr>
      <vt:lpstr>Test Pass</vt:lpstr>
      <vt:lpstr>Approach</vt:lpstr>
      <vt:lpstr>Approach</vt:lpstr>
      <vt:lpstr>Conclusion</vt:lpstr>
    </vt:vector>
  </TitlesOfParts>
  <Company>Prakat Solutions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Click to add title</dc:title>
  <dc:creator>Rajakumari</dc:creator>
  <cp:lastModifiedBy>Prakat</cp:lastModifiedBy>
  <cp:revision>592</cp:revision>
  <dcterms:created xsi:type="dcterms:W3CDTF">2009-10-22T23:46:38Z</dcterms:created>
  <dcterms:modified xsi:type="dcterms:W3CDTF">2011-03-07T09:33:49Z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TC011367961033</vt:lpwstr>
  </property>
</Properties>
</file>